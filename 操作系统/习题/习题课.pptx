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3"/>
    <p:sldId id="259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3"/>
    <p:sldId id="320" r:id="rId24"/>
    <p:sldId id="321" r:id="rId25"/>
    <p:sldId id="322" r:id="rId26"/>
    <p:sldId id="323" r:id="rId27"/>
    <p:sldId id="329" r:id="rId28"/>
    <p:sldId id="325" r:id="rId29"/>
    <p:sldId id="326" r:id="rId30"/>
    <p:sldId id="327" r:id="rId31"/>
    <p:sldId id="328" r:id="rId3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5" userDrawn="1">
          <p15:clr>
            <a:srgbClr val="A4A3A4"/>
          </p15:clr>
        </p15:guide>
        <p15:guide id="2" pos="2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90" d="100"/>
          <a:sy n="90" d="100"/>
        </p:scale>
        <p:origin x="-798" y="594"/>
      </p:cViewPr>
      <p:guideLst>
        <p:guide orient="horz" pos="2185"/>
        <p:guide pos="28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管程和信号量在表达能力上是等价的（理论上可以相互替代）。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但在实际中：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管程依赖编程语言或编译器支持（如</a:t>
            </a:r>
            <a:r>
              <a:rPr lang="en-US" altLang="zh-CN"/>
              <a:t> Java </a:t>
            </a:r>
            <a:r>
              <a:rPr lang="zh-CN" altLang="en-US"/>
              <a:t>的</a:t>
            </a:r>
            <a:r>
              <a:rPr lang="en-US" altLang="zh-CN"/>
              <a:t> synchronized</a:t>
            </a:r>
            <a:r>
              <a:rPr lang="zh-CN" altLang="en-US"/>
              <a:t>、</a:t>
            </a:r>
            <a:r>
              <a:rPr lang="en-US" altLang="zh-CN"/>
              <a:t>Pascal </a:t>
            </a:r>
            <a:r>
              <a:rPr lang="zh-CN" altLang="en-US"/>
              <a:t>的管程）。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信号量是更底层的原语，适用性更广（如</a:t>
            </a:r>
            <a:r>
              <a:rPr lang="en-US" altLang="zh-CN"/>
              <a:t> C </a:t>
            </a:r>
            <a:r>
              <a:rPr lang="zh-CN" altLang="en-US"/>
              <a:t>语言</a:t>
            </a:r>
            <a:r>
              <a:rPr lang="en-US" altLang="zh-CN"/>
              <a:t> + </a:t>
            </a:r>
            <a:r>
              <a:rPr lang="zh-CN" altLang="en-US"/>
              <a:t>操作系统</a:t>
            </a:r>
            <a:r>
              <a:rPr lang="en-US" altLang="zh-CN"/>
              <a:t> API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“</a:t>
            </a:r>
            <a:r>
              <a:rPr lang="zh-CN" altLang="en-US"/>
              <a:t>完全替代</a:t>
            </a:r>
            <a:r>
              <a:rPr lang="en-US" altLang="zh-CN"/>
              <a:t>”</a:t>
            </a:r>
            <a:r>
              <a:rPr lang="zh-CN" altLang="en-US"/>
              <a:t>并不现实，因为很多环境（如</a:t>
            </a:r>
            <a:r>
              <a:rPr lang="en-US" altLang="zh-CN"/>
              <a:t> Linux </a:t>
            </a:r>
            <a:r>
              <a:rPr lang="zh-CN" altLang="en-US"/>
              <a:t>内核、嵌入式系统）仍直接使用信号量。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所以该说法过于绝对，因此判断为错误。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管程和信号量在表达能力上是等价的（理论上可以相互替代）。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但在实际中：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管程依赖编程语言或编译器支持（如</a:t>
            </a:r>
            <a:r>
              <a:rPr lang="en-US" altLang="zh-CN"/>
              <a:t> Java </a:t>
            </a:r>
            <a:r>
              <a:rPr lang="zh-CN" altLang="en-US"/>
              <a:t>的</a:t>
            </a:r>
            <a:r>
              <a:rPr lang="en-US" altLang="zh-CN"/>
              <a:t> synchronized</a:t>
            </a:r>
            <a:r>
              <a:rPr lang="zh-CN" altLang="en-US"/>
              <a:t>、</a:t>
            </a:r>
            <a:r>
              <a:rPr lang="en-US" altLang="zh-CN"/>
              <a:t>Pascal </a:t>
            </a:r>
            <a:r>
              <a:rPr lang="zh-CN" altLang="en-US"/>
              <a:t>的管程）。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信号量是更底层的原语，适用性更广（如</a:t>
            </a:r>
            <a:r>
              <a:rPr lang="en-US" altLang="zh-CN"/>
              <a:t> C </a:t>
            </a:r>
            <a:r>
              <a:rPr lang="zh-CN" altLang="en-US"/>
              <a:t>语言</a:t>
            </a:r>
            <a:r>
              <a:rPr lang="en-US" altLang="zh-CN"/>
              <a:t> + </a:t>
            </a:r>
            <a:r>
              <a:rPr lang="zh-CN" altLang="en-US"/>
              <a:t>操作系统</a:t>
            </a:r>
            <a:r>
              <a:rPr lang="en-US" altLang="zh-CN"/>
              <a:t> API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“</a:t>
            </a:r>
            <a:r>
              <a:rPr lang="zh-CN" altLang="en-US"/>
              <a:t>完全替代</a:t>
            </a:r>
            <a:r>
              <a:rPr lang="en-US" altLang="zh-CN"/>
              <a:t>”</a:t>
            </a:r>
            <a:r>
              <a:rPr lang="zh-CN" altLang="en-US"/>
              <a:t>并不现实，因为很多环境（如</a:t>
            </a:r>
            <a:r>
              <a:rPr lang="en-US" altLang="zh-CN"/>
              <a:t> Linux </a:t>
            </a:r>
            <a:r>
              <a:rPr lang="zh-CN" altLang="en-US"/>
              <a:t>内核、嵌入式系统）仍直接使用信号量。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所以该说法过于绝对，因此判断为错误。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管程和信号量在表达能力上是等价的（理论上可以相互替代）。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但在实际中：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管程依赖编程语言或编译器支持（如</a:t>
            </a:r>
            <a:r>
              <a:rPr lang="en-US" altLang="zh-CN"/>
              <a:t> Java </a:t>
            </a:r>
            <a:r>
              <a:rPr lang="zh-CN" altLang="en-US"/>
              <a:t>的</a:t>
            </a:r>
            <a:r>
              <a:rPr lang="en-US" altLang="zh-CN"/>
              <a:t> synchronized</a:t>
            </a:r>
            <a:r>
              <a:rPr lang="zh-CN" altLang="en-US"/>
              <a:t>、</a:t>
            </a:r>
            <a:r>
              <a:rPr lang="en-US" altLang="zh-CN"/>
              <a:t>Pascal </a:t>
            </a:r>
            <a:r>
              <a:rPr lang="zh-CN" altLang="en-US"/>
              <a:t>的管程）。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信号量是更底层的原语，适用性更广（如</a:t>
            </a:r>
            <a:r>
              <a:rPr lang="en-US" altLang="zh-CN"/>
              <a:t> C </a:t>
            </a:r>
            <a:r>
              <a:rPr lang="zh-CN" altLang="en-US"/>
              <a:t>语言</a:t>
            </a:r>
            <a:r>
              <a:rPr lang="en-US" altLang="zh-CN"/>
              <a:t> + </a:t>
            </a:r>
            <a:r>
              <a:rPr lang="zh-CN" altLang="en-US"/>
              <a:t>操作系统</a:t>
            </a:r>
            <a:r>
              <a:rPr lang="en-US" altLang="zh-CN"/>
              <a:t> API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“</a:t>
            </a:r>
            <a:r>
              <a:rPr lang="zh-CN" altLang="en-US"/>
              <a:t>完全替代</a:t>
            </a:r>
            <a:r>
              <a:rPr lang="en-US" altLang="zh-CN"/>
              <a:t>”</a:t>
            </a:r>
            <a:r>
              <a:rPr lang="zh-CN" altLang="en-US"/>
              <a:t>并不现实，因为很多环境（如</a:t>
            </a:r>
            <a:r>
              <a:rPr lang="en-US" altLang="zh-CN"/>
              <a:t> Linux </a:t>
            </a:r>
            <a:r>
              <a:rPr lang="zh-CN" altLang="en-US"/>
              <a:t>内核、嵌入式系统）仍直接使用信号量。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所以该说法过于绝对，因此判断为错误。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管程和信号量在表达能力上是等价的（理论上可以相互替代）。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但在实际中：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管程依赖编程语言或编译器支持（如</a:t>
            </a:r>
            <a:r>
              <a:rPr lang="en-US" altLang="zh-CN"/>
              <a:t> Java </a:t>
            </a:r>
            <a:r>
              <a:rPr lang="zh-CN" altLang="en-US"/>
              <a:t>的</a:t>
            </a:r>
            <a:r>
              <a:rPr lang="en-US" altLang="zh-CN"/>
              <a:t> synchronized</a:t>
            </a:r>
            <a:r>
              <a:rPr lang="zh-CN" altLang="en-US"/>
              <a:t>、</a:t>
            </a:r>
            <a:r>
              <a:rPr lang="en-US" altLang="zh-CN"/>
              <a:t>Pascal </a:t>
            </a:r>
            <a:r>
              <a:rPr lang="zh-CN" altLang="en-US"/>
              <a:t>的管程）。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信号量是更底层的原语，适用性更广（如</a:t>
            </a:r>
            <a:r>
              <a:rPr lang="en-US" altLang="zh-CN"/>
              <a:t> C </a:t>
            </a:r>
            <a:r>
              <a:rPr lang="zh-CN" altLang="en-US"/>
              <a:t>语言</a:t>
            </a:r>
            <a:r>
              <a:rPr lang="en-US" altLang="zh-CN"/>
              <a:t> + </a:t>
            </a:r>
            <a:r>
              <a:rPr lang="zh-CN" altLang="en-US"/>
              <a:t>操作系统</a:t>
            </a:r>
            <a:r>
              <a:rPr lang="en-US" altLang="zh-CN"/>
              <a:t> API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“</a:t>
            </a:r>
            <a:r>
              <a:rPr lang="zh-CN" altLang="en-US"/>
              <a:t>完全替代</a:t>
            </a:r>
            <a:r>
              <a:rPr lang="en-US" altLang="zh-CN"/>
              <a:t>”</a:t>
            </a:r>
            <a:r>
              <a:rPr lang="zh-CN" altLang="en-US"/>
              <a:t>并不现实，因为很多环境（如</a:t>
            </a:r>
            <a:r>
              <a:rPr lang="en-US" altLang="zh-CN"/>
              <a:t> Linux </a:t>
            </a:r>
            <a:r>
              <a:rPr lang="zh-CN" altLang="en-US"/>
              <a:t>内核、嵌入式系统）仍直接使用信号量。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所以该说法过于绝对，因此判断为错误。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管程和信号量在表达能力上是等价的（理论上可以相互替代）。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但在实际中：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管程依赖编程语言或编译器支持（如</a:t>
            </a:r>
            <a:r>
              <a:rPr lang="en-US" altLang="zh-CN"/>
              <a:t> Java </a:t>
            </a:r>
            <a:r>
              <a:rPr lang="zh-CN" altLang="en-US"/>
              <a:t>的</a:t>
            </a:r>
            <a:r>
              <a:rPr lang="en-US" altLang="zh-CN"/>
              <a:t> synchronized</a:t>
            </a:r>
            <a:r>
              <a:rPr lang="zh-CN" altLang="en-US"/>
              <a:t>、</a:t>
            </a:r>
            <a:r>
              <a:rPr lang="en-US" altLang="zh-CN"/>
              <a:t>Pascal </a:t>
            </a:r>
            <a:r>
              <a:rPr lang="zh-CN" altLang="en-US"/>
              <a:t>的管程）。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信号量是更底层的原语，适用性更广（如</a:t>
            </a:r>
            <a:r>
              <a:rPr lang="en-US" altLang="zh-CN"/>
              <a:t> C </a:t>
            </a:r>
            <a:r>
              <a:rPr lang="zh-CN" altLang="en-US"/>
              <a:t>语言</a:t>
            </a:r>
            <a:r>
              <a:rPr lang="en-US" altLang="zh-CN"/>
              <a:t> + </a:t>
            </a:r>
            <a:r>
              <a:rPr lang="zh-CN" altLang="en-US"/>
              <a:t>操作系统</a:t>
            </a:r>
            <a:r>
              <a:rPr lang="en-US" altLang="zh-CN"/>
              <a:t> API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“</a:t>
            </a:r>
            <a:r>
              <a:rPr lang="zh-CN" altLang="en-US"/>
              <a:t>完全替代</a:t>
            </a:r>
            <a:r>
              <a:rPr lang="en-US" altLang="zh-CN"/>
              <a:t>”</a:t>
            </a:r>
            <a:r>
              <a:rPr lang="zh-CN" altLang="en-US"/>
              <a:t>并不现实，因为很多环境（如</a:t>
            </a:r>
            <a:r>
              <a:rPr lang="en-US" altLang="zh-CN"/>
              <a:t> Linux </a:t>
            </a:r>
            <a:r>
              <a:rPr lang="zh-CN" altLang="en-US"/>
              <a:t>内核、嵌入式系统）仍直接使用信号量。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所以该说法过于绝对，因此判断为错误。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管程和信号量在表达能力上是等价的（理论上可以相互替代）。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但在实际中：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管程依赖编程语言或编译器支持（如</a:t>
            </a:r>
            <a:r>
              <a:rPr lang="en-US" altLang="zh-CN"/>
              <a:t> Java </a:t>
            </a:r>
            <a:r>
              <a:rPr lang="zh-CN" altLang="en-US"/>
              <a:t>的</a:t>
            </a:r>
            <a:r>
              <a:rPr lang="en-US" altLang="zh-CN"/>
              <a:t> synchronized</a:t>
            </a:r>
            <a:r>
              <a:rPr lang="zh-CN" altLang="en-US"/>
              <a:t>、</a:t>
            </a:r>
            <a:r>
              <a:rPr lang="en-US" altLang="zh-CN"/>
              <a:t>Pascal </a:t>
            </a:r>
            <a:r>
              <a:rPr lang="zh-CN" altLang="en-US"/>
              <a:t>的管程）。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信号量是更底层的原语，适用性更广（如</a:t>
            </a:r>
            <a:r>
              <a:rPr lang="en-US" altLang="zh-CN"/>
              <a:t> C </a:t>
            </a:r>
            <a:r>
              <a:rPr lang="zh-CN" altLang="en-US"/>
              <a:t>语言</a:t>
            </a:r>
            <a:r>
              <a:rPr lang="en-US" altLang="zh-CN"/>
              <a:t> + </a:t>
            </a:r>
            <a:r>
              <a:rPr lang="zh-CN" altLang="en-US"/>
              <a:t>操作系统</a:t>
            </a:r>
            <a:r>
              <a:rPr lang="en-US" altLang="zh-CN"/>
              <a:t> API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“</a:t>
            </a:r>
            <a:r>
              <a:rPr lang="zh-CN" altLang="en-US"/>
              <a:t>完全替代</a:t>
            </a:r>
            <a:r>
              <a:rPr lang="en-US" altLang="zh-CN"/>
              <a:t>”</a:t>
            </a:r>
            <a:r>
              <a:rPr lang="zh-CN" altLang="en-US"/>
              <a:t>并不现实，因为很多环境（如</a:t>
            </a:r>
            <a:r>
              <a:rPr lang="en-US" altLang="zh-CN"/>
              <a:t> Linux </a:t>
            </a:r>
            <a:r>
              <a:rPr lang="zh-CN" altLang="en-US"/>
              <a:t>内核、嵌入式系统）仍直接使用信号量。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所以该说法过于绝对，因此判断为错误。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管程和信号量在表达能力上是等价的（理论上可以相互替代）。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但在实际中：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管程依赖编程语言或编译器支持（如</a:t>
            </a:r>
            <a:r>
              <a:rPr lang="en-US" altLang="zh-CN"/>
              <a:t> Java </a:t>
            </a:r>
            <a:r>
              <a:rPr lang="zh-CN" altLang="en-US"/>
              <a:t>的</a:t>
            </a:r>
            <a:r>
              <a:rPr lang="en-US" altLang="zh-CN"/>
              <a:t> synchronized</a:t>
            </a:r>
            <a:r>
              <a:rPr lang="zh-CN" altLang="en-US"/>
              <a:t>、</a:t>
            </a:r>
            <a:r>
              <a:rPr lang="en-US" altLang="zh-CN"/>
              <a:t>Pascal </a:t>
            </a:r>
            <a:r>
              <a:rPr lang="zh-CN" altLang="en-US"/>
              <a:t>的管程）。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信号量是更底层的原语，适用性更广（如</a:t>
            </a:r>
            <a:r>
              <a:rPr lang="en-US" altLang="zh-CN"/>
              <a:t> C </a:t>
            </a:r>
            <a:r>
              <a:rPr lang="zh-CN" altLang="en-US"/>
              <a:t>语言</a:t>
            </a:r>
            <a:r>
              <a:rPr lang="en-US" altLang="zh-CN"/>
              <a:t> + </a:t>
            </a:r>
            <a:r>
              <a:rPr lang="zh-CN" altLang="en-US"/>
              <a:t>操作系统</a:t>
            </a:r>
            <a:r>
              <a:rPr lang="en-US" altLang="zh-CN"/>
              <a:t> API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“</a:t>
            </a:r>
            <a:r>
              <a:rPr lang="zh-CN" altLang="en-US"/>
              <a:t>完全替代</a:t>
            </a:r>
            <a:r>
              <a:rPr lang="en-US" altLang="zh-CN"/>
              <a:t>”</a:t>
            </a:r>
            <a:r>
              <a:rPr lang="zh-CN" altLang="en-US"/>
              <a:t>并不现实，因为很多环境（如</a:t>
            </a:r>
            <a:r>
              <a:rPr lang="en-US" altLang="zh-CN"/>
              <a:t> Linux </a:t>
            </a:r>
            <a:r>
              <a:rPr lang="zh-CN" altLang="en-US"/>
              <a:t>内核、嵌入式系统）仍直接使用信号量。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所以该说法过于绝对，因此判断为错误。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管程和信号量在表达能力上是等价的（理论上可以相互替代）。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但在实际中：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管程依赖编程语言或编译器支持（如</a:t>
            </a:r>
            <a:r>
              <a:rPr lang="en-US" altLang="zh-CN"/>
              <a:t> Java </a:t>
            </a:r>
            <a:r>
              <a:rPr lang="zh-CN" altLang="en-US"/>
              <a:t>的</a:t>
            </a:r>
            <a:r>
              <a:rPr lang="en-US" altLang="zh-CN"/>
              <a:t> synchronized</a:t>
            </a:r>
            <a:r>
              <a:rPr lang="zh-CN" altLang="en-US"/>
              <a:t>、</a:t>
            </a:r>
            <a:r>
              <a:rPr lang="en-US" altLang="zh-CN"/>
              <a:t>Pascal </a:t>
            </a:r>
            <a:r>
              <a:rPr lang="zh-CN" altLang="en-US"/>
              <a:t>的管程）。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信号量是更底层的原语，适用性更广（如</a:t>
            </a:r>
            <a:r>
              <a:rPr lang="en-US" altLang="zh-CN"/>
              <a:t> C </a:t>
            </a:r>
            <a:r>
              <a:rPr lang="zh-CN" altLang="en-US"/>
              <a:t>语言</a:t>
            </a:r>
            <a:r>
              <a:rPr lang="en-US" altLang="zh-CN"/>
              <a:t> + </a:t>
            </a:r>
            <a:r>
              <a:rPr lang="zh-CN" altLang="en-US"/>
              <a:t>操作系统</a:t>
            </a:r>
            <a:r>
              <a:rPr lang="en-US" altLang="zh-CN"/>
              <a:t> API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“</a:t>
            </a:r>
            <a:r>
              <a:rPr lang="zh-CN" altLang="en-US"/>
              <a:t>完全替代</a:t>
            </a:r>
            <a:r>
              <a:rPr lang="en-US" altLang="zh-CN"/>
              <a:t>”</a:t>
            </a:r>
            <a:r>
              <a:rPr lang="zh-CN" altLang="en-US"/>
              <a:t>并不现实，因为很多环境（如</a:t>
            </a:r>
            <a:r>
              <a:rPr lang="en-US" altLang="zh-CN"/>
              <a:t> Linux </a:t>
            </a:r>
            <a:r>
              <a:rPr lang="zh-CN" altLang="en-US"/>
              <a:t>内核、嵌入式系统）仍直接使用信号量。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所以该说法过于绝对，因此判断为错误。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管程和信号量在表达能力上是等价的（理论上可以相互替代）。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但在实际中：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管程依赖编程语言或编译器支持（如</a:t>
            </a:r>
            <a:r>
              <a:rPr lang="en-US" altLang="zh-CN"/>
              <a:t> Java </a:t>
            </a:r>
            <a:r>
              <a:rPr lang="zh-CN" altLang="en-US"/>
              <a:t>的</a:t>
            </a:r>
            <a:r>
              <a:rPr lang="en-US" altLang="zh-CN"/>
              <a:t> synchronized</a:t>
            </a:r>
            <a:r>
              <a:rPr lang="zh-CN" altLang="en-US"/>
              <a:t>、</a:t>
            </a:r>
            <a:r>
              <a:rPr lang="en-US" altLang="zh-CN"/>
              <a:t>Pascal </a:t>
            </a:r>
            <a:r>
              <a:rPr lang="zh-CN" altLang="en-US"/>
              <a:t>的管程）。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信号量是更底层的原语，适用性更广（如</a:t>
            </a:r>
            <a:r>
              <a:rPr lang="en-US" altLang="zh-CN"/>
              <a:t> C </a:t>
            </a:r>
            <a:r>
              <a:rPr lang="zh-CN" altLang="en-US"/>
              <a:t>语言</a:t>
            </a:r>
            <a:r>
              <a:rPr lang="en-US" altLang="zh-CN"/>
              <a:t> + </a:t>
            </a:r>
            <a:r>
              <a:rPr lang="zh-CN" altLang="en-US"/>
              <a:t>操作系统</a:t>
            </a:r>
            <a:r>
              <a:rPr lang="en-US" altLang="zh-CN"/>
              <a:t> API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“</a:t>
            </a:r>
            <a:r>
              <a:rPr lang="zh-CN" altLang="en-US"/>
              <a:t>完全替代</a:t>
            </a:r>
            <a:r>
              <a:rPr lang="en-US" altLang="zh-CN"/>
              <a:t>”</a:t>
            </a:r>
            <a:r>
              <a:rPr lang="zh-CN" altLang="en-US"/>
              <a:t>并不现实，因为很多环境（如</a:t>
            </a:r>
            <a:r>
              <a:rPr lang="en-US" altLang="zh-CN"/>
              <a:t> Linux </a:t>
            </a:r>
            <a:r>
              <a:rPr lang="zh-CN" altLang="en-US"/>
              <a:t>内核、嵌入式系统）仍直接使用信号量。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所以该说法过于绝对，因此判断为错误。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管程和信号量在表达能力上是等价的（理论上可以相互替代）。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但在实际中：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管程依赖编程语言或编译器支持（如</a:t>
            </a:r>
            <a:r>
              <a:rPr lang="en-US" altLang="zh-CN"/>
              <a:t> Java </a:t>
            </a:r>
            <a:r>
              <a:rPr lang="zh-CN" altLang="en-US"/>
              <a:t>的</a:t>
            </a:r>
            <a:r>
              <a:rPr lang="en-US" altLang="zh-CN"/>
              <a:t> synchronized</a:t>
            </a:r>
            <a:r>
              <a:rPr lang="zh-CN" altLang="en-US"/>
              <a:t>、</a:t>
            </a:r>
            <a:r>
              <a:rPr lang="en-US" altLang="zh-CN"/>
              <a:t>Pascal </a:t>
            </a:r>
            <a:r>
              <a:rPr lang="zh-CN" altLang="en-US"/>
              <a:t>的管程）。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信号量是更底层的原语，适用性更广（如</a:t>
            </a:r>
            <a:r>
              <a:rPr lang="en-US" altLang="zh-CN"/>
              <a:t> C </a:t>
            </a:r>
            <a:r>
              <a:rPr lang="zh-CN" altLang="en-US"/>
              <a:t>语言</a:t>
            </a:r>
            <a:r>
              <a:rPr lang="en-US" altLang="zh-CN"/>
              <a:t> + </a:t>
            </a:r>
            <a:r>
              <a:rPr lang="zh-CN" altLang="en-US"/>
              <a:t>操作系统</a:t>
            </a:r>
            <a:r>
              <a:rPr lang="en-US" altLang="zh-CN"/>
              <a:t> API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“</a:t>
            </a:r>
            <a:r>
              <a:rPr lang="zh-CN" altLang="en-US"/>
              <a:t>完全替代</a:t>
            </a:r>
            <a:r>
              <a:rPr lang="en-US" altLang="zh-CN"/>
              <a:t>”</a:t>
            </a:r>
            <a:r>
              <a:rPr lang="zh-CN" altLang="en-US"/>
              <a:t>并不现实，因为很多环境（如</a:t>
            </a:r>
            <a:r>
              <a:rPr lang="en-US" altLang="zh-CN"/>
              <a:t> Linux </a:t>
            </a:r>
            <a:r>
              <a:rPr lang="zh-CN" altLang="en-US"/>
              <a:t>内核、嵌入式系统）仍直接使用信号量。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所以该说法过于绝对，因此判断为错误。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管程和信号量在表达能力上是等价的（理论上可以相互替代）。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但在实际中：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管程依赖编程语言或编译器支持（如</a:t>
            </a:r>
            <a:r>
              <a:rPr lang="en-US" altLang="zh-CN"/>
              <a:t> Java </a:t>
            </a:r>
            <a:r>
              <a:rPr lang="zh-CN" altLang="en-US"/>
              <a:t>的</a:t>
            </a:r>
            <a:r>
              <a:rPr lang="en-US" altLang="zh-CN"/>
              <a:t> synchronized</a:t>
            </a:r>
            <a:r>
              <a:rPr lang="zh-CN" altLang="en-US"/>
              <a:t>、</a:t>
            </a:r>
            <a:r>
              <a:rPr lang="en-US" altLang="zh-CN"/>
              <a:t>Pascal </a:t>
            </a:r>
            <a:r>
              <a:rPr lang="zh-CN" altLang="en-US"/>
              <a:t>的管程）。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信号量是更底层的原语，适用性更广（如</a:t>
            </a:r>
            <a:r>
              <a:rPr lang="en-US" altLang="zh-CN"/>
              <a:t> C </a:t>
            </a:r>
            <a:r>
              <a:rPr lang="zh-CN" altLang="en-US"/>
              <a:t>语言</a:t>
            </a:r>
            <a:r>
              <a:rPr lang="en-US" altLang="zh-CN"/>
              <a:t> + </a:t>
            </a:r>
            <a:r>
              <a:rPr lang="zh-CN" altLang="en-US"/>
              <a:t>操作系统</a:t>
            </a:r>
            <a:r>
              <a:rPr lang="en-US" altLang="zh-CN"/>
              <a:t> API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“</a:t>
            </a:r>
            <a:r>
              <a:rPr lang="zh-CN" altLang="en-US"/>
              <a:t>完全替代</a:t>
            </a:r>
            <a:r>
              <a:rPr lang="en-US" altLang="zh-CN"/>
              <a:t>”</a:t>
            </a:r>
            <a:r>
              <a:rPr lang="zh-CN" altLang="en-US"/>
              <a:t>并不现实，因为很多环境（如</a:t>
            </a:r>
            <a:r>
              <a:rPr lang="en-US" altLang="zh-CN"/>
              <a:t> Linux </a:t>
            </a:r>
            <a:r>
              <a:rPr lang="zh-CN" altLang="en-US"/>
              <a:t>内核、嵌入式系统）仍直接使用信号量。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所以该说法过于绝对，因此判断为错误。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207" y="118394"/>
            <a:ext cx="5526904" cy="1279276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909465" y="4070722"/>
          <a:ext cx="3252470" cy="115189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3252470"/>
              </a:tblGrid>
              <a:tr h="11518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8"/>
          <p:cNvSpPr/>
          <p:nvPr/>
        </p:nvSpPr>
        <p:spPr>
          <a:xfrm>
            <a:off x="3691890" y="2582545"/>
            <a:ext cx="1505585" cy="503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lang="zh-CN" sz="3600" kern="0" spc="-4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习题课</a:t>
            </a:r>
            <a:endParaRPr lang="zh-CN" sz="3600" kern="0" spc="-4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7682391" y="6398667"/>
            <a:ext cx="1226820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b="1" kern="0" spc="0" dirty="0">
                <a:solidFill>
                  <a:srgbClr val="7F7F7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Spring</a:t>
            </a:r>
            <a:r>
              <a:rPr sz="1500" b="1" kern="0" spc="60" dirty="0">
                <a:solidFill>
                  <a:srgbClr val="7F7F7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,</a:t>
            </a:r>
            <a:r>
              <a:rPr sz="1500" kern="0" spc="60" dirty="0">
                <a:solidFill>
                  <a:srgbClr val="7F7F7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1500" b="1" kern="0" spc="60" dirty="0">
                <a:solidFill>
                  <a:srgbClr val="7F7F7F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2024</a:t>
            </a:r>
            <a:endParaRPr sz="15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44345" y="2306320"/>
            <a:ext cx="6491605" cy="2245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下列哪个是进程存在的唯一标志？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A.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程序代码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B.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堆栈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C.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进程控制块（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PCB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）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D.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数据段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44345" y="2306320"/>
            <a:ext cx="6491605" cy="2245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下列哪个是进程存在的唯一标志？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A.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程序代码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B.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堆栈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0" i="0">
                <a:solidFill>
                  <a:srgbClr val="FF0000"/>
                </a:solidFill>
                <a:latin typeface="quote-cjk-patch"/>
                <a:ea typeface="quote-cjk-patch"/>
              </a:rPr>
              <a:t>C. </a:t>
            </a:r>
            <a:r>
              <a:rPr lang="zh-CN" altLang="en-US" sz="2800" b="0" i="0">
                <a:solidFill>
                  <a:srgbClr val="FF0000"/>
                </a:solidFill>
                <a:latin typeface="quote-cjk-patch"/>
                <a:ea typeface="quote-cjk-patch"/>
              </a:rPr>
              <a:t>进程控制块（</a:t>
            </a:r>
            <a:r>
              <a:rPr lang="en-US" altLang="zh-CN" sz="2800" b="0" i="0">
                <a:solidFill>
                  <a:srgbClr val="FF0000"/>
                </a:solidFill>
                <a:latin typeface="quote-cjk-patch"/>
                <a:ea typeface="quote-cjk-patch"/>
              </a:rPr>
              <a:t>PCB</a:t>
            </a:r>
            <a:r>
              <a:rPr lang="zh-CN" altLang="en-US" sz="2800" b="0" i="0">
                <a:solidFill>
                  <a:srgbClr val="FF0000"/>
                </a:solidFill>
                <a:latin typeface="quote-cjk-patch"/>
                <a:ea typeface="quote-cjk-patch"/>
              </a:rPr>
              <a:t>）</a:t>
            </a:r>
            <a:endParaRPr lang="zh-CN" altLang="en-US" sz="2800" b="0" i="0">
              <a:solidFill>
                <a:srgbClr val="FF0000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D.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数据段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5050" y="2306320"/>
            <a:ext cx="7576820" cy="2245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2.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下列哪种调度算法最容易产生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“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饥饿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”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现象？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A.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时间片轮转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B.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多级反馈队列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C.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静态优先级调度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D.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先来先服务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5050" y="2306320"/>
            <a:ext cx="7576820" cy="2245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2.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下列哪种调度算法最容易产生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“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饥饿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”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现象？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A.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时间片轮转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B.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多级反馈队列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FF0000"/>
                </a:solidFill>
                <a:latin typeface="quote-cjk-patch"/>
                <a:ea typeface="quote-cjk-patch"/>
              </a:rPr>
              <a:t>C. </a:t>
            </a:r>
            <a:r>
              <a:rPr lang="zh-CN" altLang="en-US" sz="2800" b="0" i="0">
                <a:solidFill>
                  <a:srgbClr val="FF0000"/>
                </a:solidFill>
                <a:latin typeface="quote-cjk-patch"/>
                <a:ea typeface="quote-cjk-patch"/>
              </a:rPr>
              <a:t>静态优先级调度</a:t>
            </a:r>
            <a:endParaRPr lang="zh-CN" altLang="en-US" sz="2800" b="0" i="0">
              <a:solidFill>
                <a:srgbClr val="FF0000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D.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先来先服务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5050" y="2306320"/>
            <a:ext cx="7576820" cy="2245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3. P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、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V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操作是对哪种数据结构进行操作？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A.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信号量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B.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管程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C.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锁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D.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消息队列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5050" y="2306320"/>
            <a:ext cx="7576820" cy="2245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3. P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、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V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操作是对哪种数据结构进行操作？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FF0000"/>
                </a:solidFill>
                <a:latin typeface="quote-cjk-patch"/>
                <a:ea typeface="quote-cjk-patch"/>
              </a:rPr>
              <a:t>A. </a:t>
            </a:r>
            <a:r>
              <a:rPr lang="zh-CN" altLang="en-US" sz="2800" b="0" i="0">
                <a:solidFill>
                  <a:srgbClr val="FF0000"/>
                </a:solidFill>
                <a:latin typeface="quote-cjk-patch"/>
                <a:ea typeface="quote-cjk-patch"/>
              </a:rPr>
              <a:t>信号量</a:t>
            </a:r>
            <a:endParaRPr lang="zh-CN" altLang="en-US" sz="2800" b="0" i="0">
              <a:solidFill>
                <a:srgbClr val="FF0000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B.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管程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C.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锁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D.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消息队列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5050" y="2306320"/>
            <a:ext cx="7576820" cy="2676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4.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死锁产生的四个必要条件中，哪一个是可以通过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“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按序申请资源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”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来破坏的？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A.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互斥条件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B.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不可剥夺条件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C.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零散请求与保持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D.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循环等待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5050" y="2306320"/>
            <a:ext cx="7576820" cy="2676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4.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死锁产生的四个必要条件中，哪一个是可以通过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“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按序申请资源</a:t>
            </a: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”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来破坏的？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A.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互斥条件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B.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不可剥夺条件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0F1115"/>
                </a:solidFill>
                <a:latin typeface="quote-cjk-patch"/>
                <a:ea typeface="quote-cjk-patch"/>
              </a:rPr>
              <a:t>C. </a:t>
            </a:r>
            <a:r>
              <a:rPr lang="zh-CN" altLang="en-US" sz="2800" b="0" i="0">
                <a:solidFill>
                  <a:srgbClr val="0F1115"/>
                </a:solidFill>
                <a:latin typeface="quote-cjk-patch"/>
                <a:ea typeface="quote-cjk-patch"/>
              </a:rPr>
              <a:t>零散请求与保持</a:t>
            </a:r>
            <a:endParaRPr lang="zh-CN" altLang="en-US" sz="2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FF0000"/>
                </a:solidFill>
                <a:latin typeface="quote-cjk-patch"/>
                <a:ea typeface="quote-cjk-patch"/>
              </a:rPr>
              <a:t>D. </a:t>
            </a:r>
            <a:r>
              <a:rPr lang="zh-CN" altLang="en-US" sz="2800" b="0" i="0">
                <a:solidFill>
                  <a:srgbClr val="FF0000"/>
                </a:solidFill>
                <a:latin typeface="quote-cjk-patch"/>
                <a:ea typeface="quote-cjk-patch"/>
              </a:rPr>
              <a:t>循环等待</a:t>
            </a:r>
            <a:endParaRPr lang="zh-CN" altLang="en-US" sz="2800" b="0" i="0">
              <a:solidFill>
                <a:srgbClr val="FF0000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5050" y="2306320"/>
            <a:ext cx="7576820" cy="2245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5.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银行家算法属于哪种死锁处理策略？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A.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死锁预防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B.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死锁避免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C.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死锁检测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D.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死锁解除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5050" y="2306320"/>
            <a:ext cx="7576820" cy="2245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5.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银行家算法属于哪种死锁处理策略？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A.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死锁预防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FF0000"/>
                </a:solidFill>
                <a:latin typeface="quote-cjk-patch"/>
                <a:ea typeface="quote-cjk-patch"/>
              </a:rPr>
              <a:t>B. </a:t>
            </a:r>
            <a:r>
              <a:rPr lang="zh-CN" altLang="en-US" sz="2800" b="0" i="0">
                <a:solidFill>
                  <a:srgbClr val="FF0000"/>
                </a:solidFill>
                <a:latin typeface="quote-cjk-patch"/>
                <a:ea typeface="quote-cjk-patch"/>
              </a:rPr>
              <a:t>死锁避免</a:t>
            </a:r>
            <a:endParaRPr lang="zh-CN" altLang="en-US" sz="2800" b="0" i="0">
              <a:solidFill>
                <a:srgbClr val="FF0000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C.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死锁检测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D.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死锁解除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5050" y="2306320"/>
            <a:ext cx="7576820" cy="2676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6.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关于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P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、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V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操作的描述，正确的是：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A. P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操作和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V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操作必须成对出现在同一个进程中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B.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执行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P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操作时，如果信号量值小于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0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，则进程继续运行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C.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信号量的初始值为整数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，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表示可用资源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数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D. P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操作和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V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操作都可以在任何时候中断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5050" y="2306320"/>
            <a:ext cx="7576820" cy="2676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6.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关于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P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、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V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操作的描述，正确的是：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A. P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操作和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V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操作必须成对出现在同一个进程中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B.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执行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P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操作时，如果信号量值小于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0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，则进程继续运行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FF0000"/>
                </a:solidFill>
                <a:latin typeface="quote-cjk-patch"/>
                <a:ea typeface="quote-cjk-patch"/>
              </a:rPr>
              <a:t>C. </a:t>
            </a:r>
            <a:r>
              <a:rPr lang="zh-CN" altLang="en-US" sz="2800" b="0" i="0">
                <a:solidFill>
                  <a:srgbClr val="FF0000"/>
                </a:solidFill>
                <a:latin typeface="quote-cjk-patch"/>
                <a:ea typeface="quote-cjk-patch"/>
              </a:rPr>
              <a:t>信号量的初始值为整数</a:t>
            </a:r>
            <a:r>
              <a:rPr lang="en-US" altLang="zh-CN" sz="2800" b="0" i="0">
                <a:solidFill>
                  <a:srgbClr val="FF0000"/>
                </a:solidFill>
                <a:latin typeface="quote-cjk-patch"/>
                <a:ea typeface="quote-cjk-patch"/>
              </a:rPr>
              <a:t>，</a:t>
            </a:r>
            <a:r>
              <a:rPr lang="zh-CN" altLang="en-US" sz="2800" b="0" i="0">
                <a:solidFill>
                  <a:srgbClr val="FF0000"/>
                </a:solidFill>
                <a:latin typeface="quote-cjk-patch"/>
                <a:ea typeface="quote-cjk-patch"/>
              </a:rPr>
              <a:t>表示可用资源数</a:t>
            </a:r>
            <a:endParaRPr lang="zh-CN" altLang="en-US" sz="2800" b="0" i="0">
              <a:solidFill>
                <a:srgbClr val="FF0000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D. P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操作和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V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操作都可以在任何时候中断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5050" y="2306320"/>
            <a:ext cx="7576820" cy="2676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7.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在银行家算法中，系统处于安全状态意味着：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A.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所有进程都能立即获得所需全部资源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B.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存在一个进程执行顺序，使得每个进程都能顺利完成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C.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系统不会发生任何资源竞争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D.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系统已经发生了死锁但可以解除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5050" y="2306320"/>
            <a:ext cx="7576820" cy="2676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7.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在银行家算法中，系统处于安全状态意味着：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A.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所有进程都能立即获得所需全部资源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FF0000"/>
                </a:solidFill>
                <a:latin typeface="quote-cjk-patch"/>
                <a:ea typeface="quote-cjk-patch"/>
              </a:rPr>
              <a:t>B. </a:t>
            </a:r>
            <a:r>
              <a:rPr lang="zh-CN" altLang="en-US" sz="2800" b="0" i="0">
                <a:solidFill>
                  <a:srgbClr val="FF0000"/>
                </a:solidFill>
                <a:latin typeface="quote-cjk-patch"/>
                <a:ea typeface="quote-cjk-patch"/>
              </a:rPr>
              <a:t>存在一个进程执行顺序，使得每个进程都能顺利完成</a:t>
            </a:r>
            <a:endParaRPr lang="zh-CN" altLang="en-US" sz="2800" b="0" i="0">
              <a:solidFill>
                <a:srgbClr val="FF0000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C.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系统不会发生任何资源竞争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D.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系统已经发生了死锁但可以解除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5050" y="2306320"/>
            <a:ext cx="7576820" cy="31076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8.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以下关于死锁检测与解除的说法，正确的是：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A.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资源分配图中只要有环路就一定会死锁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B.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一次性撤销所有死锁进程是最经济的解除方法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C.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进程回退需要定期设置检查点（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Checkpoint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）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D.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剥夺资源时，不需要考虑被剥夺进程的优先级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5050" y="2306320"/>
            <a:ext cx="7576820" cy="31076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8.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以下关于死锁检测与解除的说法，正确的是：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A.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资源分配图中只要有环路就一定会死锁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B.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一次性撤销所有死锁进程是最经济的解除方法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rgbClr val="FF0000"/>
                </a:solidFill>
                <a:latin typeface="quote-cjk-patch"/>
                <a:ea typeface="quote-cjk-patch"/>
              </a:rPr>
              <a:t>C. </a:t>
            </a:r>
            <a:r>
              <a:rPr lang="zh-CN" altLang="en-US" sz="2800" b="0" i="0">
                <a:solidFill>
                  <a:srgbClr val="FF0000"/>
                </a:solidFill>
                <a:latin typeface="quote-cjk-patch"/>
                <a:ea typeface="quote-cjk-patch"/>
              </a:rPr>
              <a:t>进程回退需要定期设置检查点（</a:t>
            </a:r>
            <a:r>
              <a:rPr lang="en-US" altLang="zh-CN" sz="2800" b="0" i="0">
                <a:solidFill>
                  <a:srgbClr val="FF0000"/>
                </a:solidFill>
                <a:latin typeface="quote-cjk-patch"/>
                <a:ea typeface="quote-cjk-patch"/>
              </a:rPr>
              <a:t>Checkpoint</a:t>
            </a:r>
            <a:r>
              <a:rPr lang="zh-CN" altLang="en-US" sz="2800" b="0" i="0">
                <a:solidFill>
                  <a:srgbClr val="FF0000"/>
                </a:solidFill>
                <a:latin typeface="quote-cjk-patch"/>
                <a:ea typeface="quote-cjk-patch"/>
              </a:rPr>
              <a:t>）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D.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剥夺资源时，不需要考虑被剥夺进程的优先级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二</a:t>
            </a: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填空题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75665" y="1270635"/>
            <a:ext cx="7576820" cy="9531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1.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进程是程序的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________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，程序是静态的，进程是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________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的。</a:t>
            </a:r>
            <a:endParaRPr lang="en-US" altLang="zh-CN" sz="28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5665" y="2420620"/>
            <a:ext cx="7576820" cy="9531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2.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在多级反馈队列调度算法中，优先级越高的队列，时间片越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________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。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75665" y="3500755"/>
            <a:ext cx="7576820" cy="9531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3. P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操作对信号量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S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执行：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S = S - 1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，若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S &lt; 0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，则进程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________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。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5665" y="4453890"/>
            <a:ext cx="7576820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4.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死锁的检测工具是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________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图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。</a:t>
            </a:r>
            <a:endParaRPr lang="en-US" altLang="zh-CN" sz="28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</a:t>
            </a: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判断题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75665" y="1270635"/>
            <a:ext cx="7576820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1.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所有操作系统都必须处理死锁问题。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5665" y="1972945"/>
            <a:ext cx="7576820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2.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管程可以完全替代信号量解决所有同步问题。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5665" y="2753360"/>
            <a:ext cx="7576820" cy="9531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3.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如果一个资源分配图是可完全化简的，则系统一定不会死锁。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6940" y="3749675"/>
            <a:ext cx="7576820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4.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进程回退是一种死锁解除方法。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7" grpId="0"/>
      <p:bldP spid="7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</a:t>
            </a: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解答题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75665" y="1270635"/>
            <a:ext cx="7576820" cy="13836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1.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简述进程与程序的区别与联系。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8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7471" y="1769871"/>
            <a:ext cx="15621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8485" algn="l"/>
              </a:tabLst>
            </a:pPr>
            <a:r>
              <a:rPr sz="2800" spc="1090" dirty="0">
                <a:solidFill>
                  <a:srgbClr val="3333CC"/>
                </a:solidFill>
                <a:latin typeface="Arial" panose="020B0604020202090204"/>
                <a:cs typeface="Arial" panose="020B0604020202090204"/>
              </a:rPr>
              <a:t>v</a:t>
            </a:r>
            <a:r>
              <a:rPr sz="2800" spc="1090" dirty="0">
                <a:solidFill>
                  <a:srgbClr val="3333CC"/>
                </a:solidFill>
                <a:latin typeface="Arial" panose="020B0604020202090204"/>
                <a:cs typeface="Arial" panose="020B0604020202090204"/>
              </a:rPr>
              <a:t>	</a:t>
            </a:r>
            <a:r>
              <a:rPr sz="2500" spc="40" dirty="0">
                <a:solidFill>
                  <a:srgbClr val="0033CC"/>
                </a:solidFill>
                <a:latin typeface="宋体"/>
                <a:cs typeface="宋体"/>
              </a:rPr>
              <a:t>区别：</a:t>
            </a:r>
            <a:endParaRPr sz="25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2611" y="2178785"/>
            <a:ext cx="5362575" cy="311975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p>
            <a:pPr marL="497840" marR="975360" indent="-485140">
              <a:lnSpc>
                <a:spcPct val="138000"/>
              </a:lnSpc>
              <a:spcBef>
                <a:spcPts val="145"/>
              </a:spcBef>
              <a:tabLst>
                <a:tab pos="497205" algn="l"/>
              </a:tabLst>
            </a:pPr>
            <a:r>
              <a:rPr sz="2000" dirty="0">
                <a:solidFill>
                  <a:srgbClr val="3333CC"/>
                </a:solidFill>
                <a:latin typeface="宋体"/>
                <a:cs typeface="宋体"/>
              </a:rPr>
              <a:t>①	</a:t>
            </a:r>
            <a:r>
              <a:rPr sz="1900" spc="5" dirty="0">
                <a:latin typeface="宋体"/>
                <a:cs typeface="宋体"/>
              </a:rPr>
              <a:t>程序</a:t>
            </a:r>
            <a:r>
              <a:rPr sz="1900" spc="0" dirty="0">
                <a:latin typeface="宋体"/>
                <a:cs typeface="宋体"/>
              </a:rPr>
              <a:t>是</a:t>
            </a:r>
            <a:r>
              <a:rPr sz="1900" spc="5" dirty="0">
                <a:solidFill>
                  <a:srgbClr val="FF6600"/>
                </a:solidFill>
                <a:latin typeface="宋体"/>
                <a:cs typeface="宋体"/>
              </a:rPr>
              <a:t>静</a:t>
            </a:r>
            <a:r>
              <a:rPr sz="1900" spc="0" dirty="0">
                <a:solidFill>
                  <a:srgbClr val="FF6600"/>
                </a:solidFill>
                <a:latin typeface="宋体"/>
                <a:cs typeface="宋体"/>
              </a:rPr>
              <a:t>态</a:t>
            </a:r>
            <a:r>
              <a:rPr sz="1900" spc="5" dirty="0">
                <a:latin typeface="宋体"/>
                <a:cs typeface="宋体"/>
              </a:rPr>
              <a:t>的，是有序代码的集合； 进程</a:t>
            </a:r>
            <a:r>
              <a:rPr sz="1900" spc="0" dirty="0">
                <a:latin typeface="宋体"/>
                <a:cs typeface="宋体"/>
              </a:rPr>
              <a:t>是</a:t>
            </a:r>
            <a:r>
              <a:rPr sz="1900" spc="5" dirty="0">
                <a:solidFill>
                  <a:srgbClr val="FF6600"/>
                </a:solidFill>
                <a:latin typeface="宋体"/>
                <a:cs typeface="宋体"/>
              </a:rPr>
              <a:t>动</a:t>
            </a:r>
            <a:r>
              <a:rPr sz="1900" spc="0" dirty="0">
                <a:solidFill>
                  <a:srgbClr val="FF6600"/>
                </a:solidFill>
                <a:latin typeface="宋体"/>
                <a:cs typeface="宋体"/>
              </a:rPr>
              <a:t>态</a:t>
            </a:r>
            <a:r>
              <a:rPr sz="1900" spc="5" dirty="0">
                <a:latin typeface="宋体"/>
                <a:cs typeface="宋体"/>
              </a:rPr>
              <a:t>的，是程序的一次执行。</a:t>
            </a:r>
            <a:endParaRPr sz="1900">
              <a:latin typeface="宋体"/>
              <a:cs typeface="宋体"/>
            </a:endParaRPr>
          </a:p>
          <a:p>
            <a:pPr marL="497840" marR="5080" indent="-485140" algn="just">
              <a:lnSpc>
                <a:spcPct val="120000"/>
              </a:lnSpc>
              <a:spcBef>
                <a:spcPts val="340"/>
              </a:spcBef>
            </a:pPr>
            <a:r>
              <a:rPr sz="2000" dirty="0">
                <a:solidFill>
                  <a:srgbClr val="3333CC"/>
                </a:solidFill>
                <a:latin typeface="宋体"/>
                <a:cs typeface="宋体"/>
              </a:rPr>
              <a:t>②</a:t>
            </a:r>
            <a:r>
              <a:rPr sz="2000" spc="810" dirty="0">
                <a:solidFill>
                  <a:srgbClr val="3333CC"/>
                </a:solidFill>
                <a:latin typeface="宋体"/>
                <a:cs typeface="宋体"/>
              </a:rPr>
              <a:t> </a:t>
            </a:r>
            <a:r>
              <a:rPr sz="1900" spc="0" dirty="0">
                <a:latin typeface="宋体"/>
                <a:cs typeface="宋体"/>
              </a:rPr>
              <a:t>程序</a:t>
            </a:r>
            <a:r>
              <a:rPr sz="1900" dirty="0">
                <a:latin typeface="宋体"/>
                <a:cs typeface="宋体"/>
              </a:rPr>
              <a:t>的</a:t>
            </a:r>
            <a:r>
              <a:rPr sz="1900" spc="0" dirty="0">
                <a:solidFill>
                  <a:srgbClr val="FF6600"/>
                </a:solidFill>
                <a:latin typeface="宋体"/>
                <a:cs typeface="宋体"/>
              </a:rPr>
              <a:t>永</a:t>
            </a:r>
            <a:r>
              <a:rPr sz="1900" dirty="0">
                <a:solidFill>
                  <a:srgbClr val="FF6600"/>
                </a:solidFill>
                <a:latin typeface="宋体"/>
                <a:cs typeface="宋体"/>
              </a:rPr>
              <a:t>久</a:t>
            </a:r>
            <a:r>
              <a:rPr sz="1900" spc="0" dirty="0">
                <a:latin typeface="宋体"/>
                <a:cs typeface="宋体"/>
              </a:rPr>
              <a:t>的，没有生命周期，可长久保存；  进程</a:t>
            </a:r>
            <a:r>
              <a:rPr sz="1900" dirty="0">
                <a:latin typeface="宋体"/>
                <a:cs typeface="宋体"/>
              </a:rPr>
              <a:t>是</a:t>
            </a:r>
            <a:r>
              <a:rPr sz="1900" spc="0" dirty="0">
                <a:solidFill>
                  <a:srgbClr val="FF6600"/>
                </a:solidFill>
                <a:latin typeface="宋体"/>
                <a:cs typeface="宋体"/>
              </a:rPr>
              <a:t>暂</a:t>
            </a:r>
            <a:r>
              <a:rPr sz="1900" dirty="0">
                <a:solidFill>
                  <a:srgbClr val="FF6600"/>
                </a:solidFill>
                <a:latin typeface="宋体"/>
                <a:cs typeface="宋体"/>
              </a:rPr>
              <a:t>时</a:t>
            </a:r>
            <a:r>
              <a:rPr sz="1900" spc="0" dirty="0">
                <a:latin typeface="宋体"/>
                <a:cs typeface="宋体"/>
              </a:rPr>
              <a:t>的，有生命周期，是一个动态不断 变化的过程。</a:t>
            </a:r>
            <a:endParaRPr sz="1900">
              <a:latin typeface="宋体"/>
              <a:cs typeface="宋体"/>
            </a:endParaRPr>
          </a:p>
          <a:p>
            <a:pPr marL="497840" marR="6350" indent="-485140" algn="just">
              <a:lnSpc>
                <a:spcPct val="116000"/>
              </a:lnSpc>
              <a:spcBef>
                <a:spcPts val="445"/>
              </a:spcBef>
            </a:pPr>
            <a:r>
              <a:rPr sz="2000" dirty="0">
                <a:solidFill>
                  <a:srgbClr val="3333CC"/>
                </a:solidFill>
                <a:latin typeface="宋体"/>
                <a:cs typeface="宋体"/>
              </a:rPr>
              <a:t>③</a:t>
            </a:r>
            <a:r>
              <a:rPr sz="2000" spc="805" dirty="0">
                <a:solidFill>
                  <a:srgbClr val="3333CC"/>
                </a:solidFill>
                <a:latin typeface="宋体"/>
                <a:cs typeface="宋体"/>
              </a:rPr>
              <a:t> </a:t>
            </a:r>
            <a:r>
              <a:rPr sz="1900" spc="0" dirty="0">
                <a:latin typeface="宋体"/>
                <a:cs typeface="宋体"/>
              </a:rPr>
              <a:t>进程是操作系</a:t>
            </a:r>
            <a:r>
              <a:rPr sz="1900" dirty="0">
                <a:latin typeface="宋体"/>
                <a:cs typeface="宋体"/>
              </a:rPr>
              <a:t>统</a:t>
            </a:r>
            <a:r>
              <a:rPr sz="1900" spc="0" dirty="0">
                <a:solidFill>
                  <a:srgbClr val="FF6600"/>
                </a:solidFill>
                <a:latin typeface="宋体"/>
                <a:cs typeface="宋体"/>
              </a:rPr>
              <a:t>资源分配和保护的基本单</a:t>
            </a:r>
            <a:r>
              <a:rPr sz="1900" dirty="0">
                <a:solidFill>
                  <a:srgbClr val="FF6600"/>
                </a:solidFill>
                <a:latin typeface="宋体"/>
                <a:cs typeface="宋体"/>
              </a:rPr>
              <a:t>位</a:t>
            </a:r>
            <a:r>
              <a:rPr sz="1900" dirty="0">
                <a:latin typeface="宋体"/>
                <a:cs typeface="宋体"/>
              </a:rPr>
              <a:t>；  </a:t>
            </a:r>
            <a:r>
              <a:rPr sz="1900" spc="0" dirty="0">
                <a:latin typeface="宋体"/>
                <a:cs typeface="宋体"/>
              </a:rPr>
              <a:t>程序没有此功能。</a:t>
            </a:r>
            <a:endParaRPr sz="19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  <a:tabLst>
                <a:tab pos="497205" algn="l"/>
              </a:tabLst>
            </a:pPr>
            <a:r>
              <a:rPr sz="2000" dirty="0">
                <a:solidFill>
                  <a:srgbClr val="3333CC"/>
                </a:solidFill>
                <a:latin typeface="宋体"/>
                <a:cs typeface="宋体"/>
              </a:rPr>
              <a:t>④	</a:t>
            </a:r>
            <a:r>
              <a:rPr sz="1900" spc="0" dirty="0">
                <a:latin typeface="宋体"/>
                <a:cs typeface="宋体"/>
              </a:rPr>
              <a:t>进程与程序</a:t>
            </a:r>
            <a:r>
              <a:rPr sz="1900" dirty="0">
                <a:latin typeface="宋体"/>
                <a:cs typeface="宋体"/>
              </a:rPr>
              <a:t>的</a:t>
            </a:r>
            <a:r>
              <a:rPr sz="1900" spc="0" dirty="0">
                <a:solidFill>
                  <a:srgbClr val="FF6600"/>
                </a:solidFill>
                <a:latin typeface="宋体"/>
                <a:cs typeface="宋体"/>
              </a:rPr>
              <a:t>结构不</a:t>
            </a:r>
            <a:r>
              <a:rPr sz="1900" dirty="0">
                <a:solidFill>
                  <a:srgbClr val="FF6600"/>
                </a:solidFill>
                <a:latin typeface="宋体"/>
                <a:cs typeface="宋体"/>
              </a:rPr>
              <a:t>同</a:t>
            </a:r>
            <a:r>
              <a:rPr sz="1900" dirty="0">
                <a:latin typeface="宋体"/>
                <a:cs typeface="宋体"/>
              </a:rPr>
              <a:t>。</a:t>
            </a:r>
            <a:endParaRPr sz="19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7471" y="5224881"/>
            <a:ext cx="5605145" cy="142113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p>
            <a:pPr marL="12700">
              <a:lnSpc>
                <a:spcPct val="100000"/>
              </a:lnSpc>
              <a:spcBef>
                <a:spcPts val="1285"/>
              </a:spcBef>
              <a:tabLst>
                <a:tab pos="578485" algn="l"/>
              </a:tabLst>
            </a:pPr>
            <a:r>
              <a:rPr sz="2800" spc="1090" dirty="0">
                <a:solidFill>
                  <a:srgbClr val="3333CC"/>
                </a:solidFill>
                <a:latin typeface="Arial" panose="020B0604020202090204"/>
                <a:cs typeface="Arial" panose="020B0604020202090204"/>
              </a:rPr>
              <a:t>v	</a:t>
            </a:r>
            <a:r>
              <a:rPr sz="2500" spc="35" dirty="0">
                <a:solidFill>
                  <a:srgbClr val="0033CC"/>
                </a:solidFill>
                <a:latin typeface="宋体"/>
                <a:cs typeface="宋体"/>
              </a:rPr>
              <a:t>联系：</a:t>
            </a:r>
            <a:endParaRPr sz="2500">
              <a:latin typeface="宋体"/>
              <a:cs typeface="宋体"/>
            </a:endParaRPr>
          </a:p>
          <a:p>
            <a:pPr marL="497205">
              <a:lnSpc>
                <a:spcPct val="100000"/>
              </a:lnSpc>
              <a:spcBef>
                <a:spcPts val="850"/>
              </a:spcBef>
              <a:tabLst>
                <a:tab pos="981710" algn="l"/>
              </a:tabLst>
            </a:pPr>
            <a:r>
              <a:rPr sz="2000" dirty="0">
                <a:solidFill>
                  <a:srgbClr val="3333CC"/>
                </a:solidFill>
                <a:latin typeface="宋体"/>
                <a:cs typeface="宋体"/>
              </a:rPr>
              <a:t>①	</a:t>
            </a:r>
            <a:r>
              <a:rPr sz="1900" spc="5" dirty="0">
                <a:latin typeface="宋体"/>
                <a:cs typeface="宋体"/>
              </a:rPr>
              <a:t>通过多次执行，一个程序可对应多个进程；</a:t>
            </a:r>
            <a:endParaRPr sz="1900">
              <a:latin typeface="宋体"/>
              <a:cs typeface="宋体"/>
            </a:endParaRPr>
          </a:p>
          <a:p>
            <a:pPr marL="497205">
              <a:lnSpc>
                <a:spcPct val="100000"/>
              </a:lnSpc>
              <a:spcBef>
                <a:spcPts val="790"/>
              </a:spcBef>
              <a:tabLst>
                <a:tab pos="981710" algn="l"/>
              </a:tabLst>
            </a:pPr>
            <a:r>
              <a:rPr sz="2000" dirty="0">
                <a:solidFill>
                  <a:srgbClr val="3333CC"/>
                </a:solidFill>
                <a:latin typeface="宋体"/>
                <a:cs typeface="宋体"/>
              </a:rPr>
              <a:t>②	</a:t>
            </a:r>
            <a:r>
              <a:rPr sz="1900" spc="5" dirty="0">
                <a:latin typeface="宋体"/>
                <a:cs typeface="宋体"/>
              </a:rPr>
              <a:t>通过调用关系，一个进程可包括多个程序。</a:t>
            </a:r>
            <a:endParaRPr sz="1900">
              <a:latin typeface="宋体"/>
              <a:cs typeface="宋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8" grpId="1"/>
      <p:bldP spid="10" grpId="1"/>
      <p:bldP spid="11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</a:t>
            </a: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解答题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5665" y="1250950"/>
            <a:ext cx="7576820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2.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什么是临界资源？举例说明。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40460" y="2061845"/>
            <a:ext cx="6028690" cy="9702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96520" marR="142875">
              <a:lnSpc>
                <a:spcPct val="103000"/>
              </a:lnSpc>
              <a:spcBef>
                <a:spcPts val="345"/>
              </a:spcBef>
            </a:pPr>
            <a:r>
              <a:rPr sz="1850" b="1" spc="50" dirty="0">
                <a:solidFill>
                  <a:srgbClr val="FF3300"/>
                </a:solidFill>
                <a:latin typeface="宋体"/>
                <a:cs typeface="宋体"/>
                <a:sym typeface="+mn-ea"/>
              </a:rPr>
              <a:t>临界资源</a:t>
            </a:r>
            <a:r>
              <a:rPr sz="1850" b="1" spc="50" dirty="0">
                <a:latin typeface="宋体"/>
                <a:cs typeface="宋体"/>
                <a:sym typeface="+mn-ea"/>
              </a:rPr>
              <a:t>：也称独占资源，是指 在一段时间内只允许一个进程访 问的资源。例如打印机，磁带 机，也可以是进程共享的数据、 变量等。</a:t>
            </a:r>
            <a:endParaRPr lang="zh-CN" altLang="en-US" sz="1850" b="1" spc="50" dirty="0">
              <a:latin typeface="宋体"/>
              <a:cs typeface="宋体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83590" y="3161030"/>
            <a:ext cx="7576820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3.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简述银行家算法的基本思想。</a:t>
            </a:r>
            <a:endParaRPr lang="en-US" altLang="zh-CN" sz="28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10590" y="3967480"/>
            <a:ext cx="7576820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b="0" i="0">
                <a:solidFill>
                  <a:schemeClr val="tx1"/>
                </a:solidFill>
                <a:latin typeface="quote-cjk-patch"/>
                <a:ea typeface="quote-cjk-patch"/>
              </a:rPr>
              <a:t>银行家算法的基本思想是：操作系统像银行家一样，在每次为进程分配资源之前，先试探性地分配，然后判断分配后系统是否处于</a:t>
            </a:r>
            <a:r>
              <a:rPr lang="en-US" altLang="zh-CN" b="0" i="0">
                <a:solidFill>
                  <a:schemeClr val="tx1"/>
                </a:solidFill>
                <a:latin typeface="quote-cjk-patch"/>
                <a:ea typeface="quote-cjk-patch"/>
              </a:rPr>
              <a:t>“</a:t>
            </a:r>
            <a:r>
              <a:rPr lang="zh-CN" altLang="en-US" b="0" i="0">
                <a:solidFill>
                  <a:schemeClr val="tx1"/>
                </a:solidFill>
                <a:latin typeface="quote-cjk-patch"/>
                <a:ea typeface="quote-cjk-patch"/>
              </a:rPr>
              <a:t>安全状态</a:t>
            </a:r>
            <a:r>
              <a:rPr lang="en-US" altLang="zh-CN" b="0" i="0">
                <a:solidFill>
                  <a:schemeClr val="tx1"/>
                </a:solidFill>
                <a:latin typeface="quote-cjk-patch"/>
                <a:ea typeface="quote-cjk-patch"/>
              </a:rPr>
              <a:t>”</a:t>
            </a:r>
            <a:r>
              <a:rPr lang="zh-CN" altLang="en-US" b="0" i="0">
                <a:solidFill>
                  <a:schemeClr val="tx1"/>
                </a:solidFill>
                <a:latin typeface="quote-cjk-patch"/>
                <a:ea typeface="quote-cjk-patch"/>
              </a:rPr>
              <a:t>，即是否存在一个安全序列，使得所有进程都能按某种顺序依次获得所需资源并顺利执行完毕；如果存在这样的安全序列，就正式分配资源，否则拒绝本次请求，让进程等待。通过这种方式，系统始终在不安全状态到来之前就阻止可能导致死锁的分配，从而避免死锁的发生。</a:t>
            </a:r>
            <a:endParaRPr lang="zh-CN" altLang="en-US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4" grpId="0"/>
      <p:bldP spid="4" grpId="1"/>
      <p:bldP spid="8" grpId="0"/>
      <p:bldP spid="8" grpId="1"/>
      <p:bldP spid="9" grpId="0"/>
      <p:bldP spid="9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</a:t>
            </a: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综合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应用题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0260" y="1183640"/>
            <a:ext cx="7576820" cy="2245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1.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设有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 5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个缓冲区，用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 P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、</a:t>
            </a:r>
            <a:r>
              <a:rPr lang="en-US" altLang="zh-CN" sz="2800" b="0" i="0">
                <a:solidFill>
                  <a:schemeClr val="tx1"/>
                </a:solidFill>
                <a:latin typeface="quote-cjk-patch"/>
                <a:ea typeface="quote-cjk-patch"/>
              </a:rPr>
              <a:t>V </a:t>
            </a:r>
            <a:r>
              <a:rPr lang="zh-CN" altLang="en-US" sz="2800" b="0" i="0">
                <a:solidFill>
                  <a:schemeClr val="tx1"/>
                </a:solidFill>
                <a:latin typeface="quote-cjk-patch"/>
                <a:ea typeface="quote-cjk-patch"/>
              </a:rPr>
              <a:t>操作实现一个生产者进程和一个消费者进程的同步与互斥。请写出伪代码，并说明信号量的初始值和含义。</a:t>
            </a:r>
            <a:endParaRPr lang="zh-CN" altLang="en-US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8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8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3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</a:t>
            </a: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综合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应用题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0260" y="1183640"/>
            <a:ext cx="7576820" cy="37846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2. 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问题描述</a:t>
            </a:r>
            <a:endParaRPr lang="zh-CN" altLang="en-US" sz="20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有一个盘子（缓冲区），可以同时放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 m 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个水果（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m &gt; 1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）。父亲进程每次向盘子中放一个苹果。母亲进程每次向盘子中放一个橘子。儿子进程每次从盘子中取一个橘子吃。女儿进程每次从盘子中取一个苹果吃。</a:t>
            </a:r>
            <a:endParaRPr lang="zh-CN" altLang="en-US" sz="20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要求：</a:t>
            </a:r>
            <a:endParaRPr lang="zh-CN" altLang="en-US" sz="20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盘子满时不能再放水果。</a:t>
            </a:r>
            <a:endParaRPr lang="zh-CN" altLang="en-US" sz="20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盘子空时不能取水果。</a:t>
            </a:r>
            <a:endParaRPr lang="zh-CN" altLang="en-US" sz="20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每次只能有一个进程对盘子进行操作（放或取）。</a:t>
            </a:r>
            <a:endParaRPr lang="zh-CN" altLang="en-US" sz="20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请用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 P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、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V 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操作实现四个进程的同步与互斥，说明信号量含义与初始值。</a:t>
            </a:r>
            <a:endParaRPr lang="zh-CN" altLang="en-US" sz="20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0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3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</a:t>
            </a: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综合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应用题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0260" y="1183640"/>
            <a:ext cx="7576820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3. 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某系统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 T0 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时刻的资源分配图如下图所示：</a:t>
            </a:r>
            <a:endParaRPr lang="zh-CN" altLang="en-US" sz="20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0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  <p:pic>
        <p:nvPicPr>
          <p:cNvPr id="2" name="图片 1"/>
          <p:cNvPicPr/>
          <p:nvPr/>
        </p:nvPicPr>
        <p:blipFill>
          <a:blip r:embed="rId4"/>
          <a:stretch>
            <a:fillRect/>
          </a:stretch>
        </p:blipFill>
        <p:spPr>
          <a:xfrm>
            <a:off x="1981835" y="1750060"/>
            <a:ext cx="4307205" cy="24072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15365" y="4293870"/>
            <a:ext cx="587883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（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1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）请问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T0 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时刻该系统是否已经发生死锁？给出判断过程。</a:t>
            </a:r>
            <a:endParaRPr lang="zh-CN" altLang="en-US" sz="1600" b="0" i="0">
              <a:solidFill>
                <a:srgbClr val="191B1F"/>
              </a:solidFill>
              <a:latin typeface="-apple-system"/>
              <a:ea typeface="-apple-system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5365" y="4767580"/>
            <a:ext cx="587883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（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2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）若此时进程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P2 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申请一个 </a:t>
            </a:r>
            <a:r>
              <a:rPr lang="en-US" altLang="zh-CN" sz="1600" b="0" i="0">
                <a:solidFill>
                  <a:srgbClr val="191B1F"/>
                </a:solidFill>
                <a:latin typeface="-apple-system"/>
                <a:ea typeface="-apple-system"/>
              </a:rPr>
              <a:t>R4 </a:t>
            </a:r>
            <a:r>
              <a:rPr lang="zh-CN" altLang="en-US" sz="1600" b="0" i="0">
                <a:solidFill>
                  <a:srgbClr val="191B1F"/>
                </a:solidFill>
                <a:latin typeface="-apple-system"/>
                <a:ea typeface="-apple-system"/>
              </a:rPr>
              <a:t>资源，按照银行家算法，系统是否可以进行分配？为什么？（给出判断过程）</a:t>
            </a:r>
            <a:endParaRPr lang="zh-CN" altLang="en-US" sz="1600" b="0" i="0">
              <a:solidFill>
                <a:srgbClr val="191B1F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3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</a:t>
            </a: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综合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应用题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0520" y="1183640"/>
            <a:ext cx="8549005" cy="25533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4. 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一个系统中有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T1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、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T2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、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T3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、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T4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共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4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个进程，永久性资源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R1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有两个、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R2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有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3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个，临时性资源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 S1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、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S2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各一个。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 </a:t>
            </a:r>
            <a:endParaRPr lang="en-US" altLang="zh-CN" sz="20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（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1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）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T1 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产生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 S1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，申请两个单位的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 R2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。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 </a:t>
            </a:r>
            <a:endParaRPr lang="en-US" altLang="zh-CN" sz="20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（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2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）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T2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占有两个单位的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 R1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和一个单位的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 R2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，同时申请两个单位的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 S2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。</a:t>
            </a:r>
            <a:endParaRPr lang="zh-CN" altLang="en-US" sz="20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（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3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）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 T3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占有一个单位的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 R2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，同时申请一个单位的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 S1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。</a:t>
            </a:r>
            <a:endParaRPr lang="zh-CN" altLang="en-US" sz="20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（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4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）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 T4 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生产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S2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，申请一个单位的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S1 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和一个单位的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R1</a:t>
            </a: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。</a:t>
            </a: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 </a:t>
            </a:r>
            <a:endParaRPr lang="en-US" altLang="zh-CN" sz="20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b="0" i="0">
                <a:solidFill>
                  <a:schemeClr val="tx1"/>
                </a:solidFill>
                <a:latin typeface="quote-cjk-patch"/>
                <a:ea typeface="quote-cjk-patch"/>
              </a:rPr>
              <a:t>根据以上的叙述画出资源分配图，并说明是否有死锁，如果有，请指出涉及哪些进程。</a:t>
            </a:r>
            <a:endParaRPr lang="en-US" altLang="zh-CN" sz="20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3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</a:t>
            </a: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综合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应用题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0260" y="1183640"/>
            <a:ext cx="7576820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5. </a:t>
            </a:r>
            <a:endParaRPr lang="zh-CN" altLang="en-US" sz="20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0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  <p:pic>
        <p:nvPicPr>
          <p:cNvPr id="7" name="图片 6" descr="852580653a5dce8ce495d793ab3373b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9390" y="1762125"/>
            <a:ext cx="6594475" cy="3246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3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667" y="240842"/>
            <a:ext cx="3215640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</a:t>
            </a:r>
            <a:r>
              <a:rPr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综合</a:t>
            </a: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应用题</a:t>
            </a:r>
            <a:endParaRPr 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0260" y="1183640"/>
            <a:ext cx="7576820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b="0" i="0">
                <a:solidFill>
                  <a:schemeClr val="tx1"/>
                </a:solidFill>
                <a:latin typeface="quote-cjk-patch"/>
                <a:ea typeface="quote-cjk-patch"/>
              </a:rPr>
              <a:t>6. </a:t>
            </a:r>
            <a:endParaRPr lang="zh-CN" altLang="en-US" sz="20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0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  <p:pic>
        <p:nvPicPr>
          <p:cNvPr id="2" name="图片 1" descr="93895bf2c99934df8878d309ee2fc36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125" y="1890395"/>
            <a:ext cx="6689725" cy="3328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3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375" y="240665"/>
            <a:ext cx="5680075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翻转课堂作业</a:t>
            </a:r>
            <a:r>
              <a:rPr lang="en-US" alt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（</a:t>
            </a:r>
            <a:r>
              <a:rPr lang="zh-CN" altLang="en-US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计入一次平时成绩</a:t>
            </a:r>
            <a:r>
              <a:rPr lang="en-US" alt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</a:t>
            </a:r>
            <a:endParaRPr lang="en-US" alt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3055" y="1101090"/>
            <a:ext cx="8608695" cy="453390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ts val="3200"/>
              </a:lnSpc>
              <a:spcBef>
                <a:spcPts val="3200"/>
              </a:spcBef>
              <a:spcAft>
                <a:spcPts val="1600"/>
              </a:spcAft>
            </a:pPr>
            <a:r>
              <a:rPr lang="zh-CN" altLang="en-US" sz="2200" b="1">
                <a:solidFill>
                  <a:srgbClr val="0F1115"/>
                </a:solidFill>
                <a:latin typeface="quote-cjk-patch"/>
                <a:ea typeface="quote-cjk-patch"/>
              </a:rPr>
              <a:t>题目 </a:t>
            </a:r>
            <a:r>
              <a:rPr lang="en-US" altLang="zh-CN" sz="2200" b="1">
                <a:solidFill>
                  <a:srgbClr val="0F1115"/>
                </a:solidFill>
                <a:latin typeface="quote-cjk-patch"/>
                <a:ea typeface="quote-cjk-patch"/>
              </a:rPr>
              <a:t>1</a:t>
            </a:r>
            <a:r>
              <a:rPr lang="zh-CN" altLang="en-US" sz="2200" b="1">
                <a:solidFill>
                  <a:srgbClr val="0F1115"/>
                </a:solidFill>
                <a:latin typeface="quote-cjk-patch"/>
                <a:ea typeface="quote-cjk-patch"/>
              </a:rPr>
              <a:t>：单车道桥梁会车</a:t>
            </a:r>
            <a:endParaRPr lang="zh-CN" altLang="en-US" sz="2200" b="1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indent="0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某老城区有一座狭窄的桥梁，同一时间只允许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一个方向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的车辆通行（即要么全部由东向西，要么全部由西向东），但同向车辆可以连续通过。桥梁承重有限，最多同时容纳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 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K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 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辆车（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K&gt;0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）。每辆车到达桥头时：</a:t>
            </a:r>
            <a:endParaRPr lang="zh-CN"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342900" indent="-342900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如果当前桥梁通行方向与自己相同，且桥上车辆数未满 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K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，则直接上桥；</a:t>
            </a:r>
            <a:endParaRPr lang="zh-CN"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342900" indent="-342900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如果方向相反，必须等待对向车辆全部驶出、桥梁变为空置后，才能改变通行方向。</a:t>
            </a:r>
            <a:endParaRPr lang="zh-CN"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indent="0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+mj-ea"/>
              <a:buNone/>
            </a:pP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要求：</a:t>
            </a:r>
            <a:endParaRPr lang="zh-CN"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342900" indent="-342900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双向车辆绝不能同时出现在桥上（防止碰撞）</a:t>
            </a:r>
            <a:endParaRPr lang="zh-CN"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342900" indent="-342900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不允许某一方向因对方持续来车而无限期等待（防止饥饿）。</a:t>
            </a:r>
            <a:endParaRPr lang="zh-CN"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342900" indent="-342900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严格遵守桥梁容量 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K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。</a:t>
            </a:r>
            <a:endParaRPr lang="zh-CN"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</a:pP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任务</a:t>
            </a:r>
            <a:endParaRPr lang="zh-CN"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定义需要的信号量及普通变量，说明每个变量的初值与作用。</a:t>
            </a:r>
            <a:endParaRPr lang="zh-CN"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用伪代码（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P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、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V 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操作）分别实现东行车辆和西行车辆的行为。</a:t>
            </a:r>
            <a:endParaRPr lang="zh-CN"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解释你的方案如何防止饥饿（例如采用“轮流通行”或“等待计数器”）。</a:t>
            </a:r>
            <a:endParaRPr lang="zh-CN"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如果取消桥梁容量限制（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K → ∞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），仅保留单向通行约束，代码应如何简化？</a:t>
            </a:r>
            <a:endParaRPr lang="zh-CN"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0" y="39370"/>
            <a:ext cx="9144000" cy="6858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569074"/>
            <a:ext cx="9109075" cy="2889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3059112" y="6669087"/>
            <a:ext cx="6084887" cy="188911"/>
            <a:chOff x="0" y="0"/>
            <a:chExt cx="6084887" cy="188911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084887" cy="188911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6110605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78865" algn="l" rtl="0" eaLnBrk="0">
                <a:lnSpc>
                  <a:spcPct val="74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OS Curriculum                                     </a:t>
              </a:r>
              <a:r>
                <a:rPr sz="1200" kern="0" spc="-10" dirty="0">
                  <a:solidFill>
                    <a:srgbClr val="80808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                            </a:t>
              </a:r>
              <a:r>
                <a:rPr sz="1200" kern="0" spc="-10" dirty="0">
                  <a:solidFill>
                    <a:srgbClr val="B2B2B2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-4-</a:t>
              </a:r>
              <a:endParaRPr sz="12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60375" y="240665"/>
            <a:ext cx="5680075" cy="391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翻转课堂作业</a:t>
            </a:r>
            <a:r>
              <a:rPr lang="en-US" alt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（</a:t>
            </a:r>
            <a:r>
              <a:rPr lang="zh-CN" altLang="en-US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计入一次平时成绩</a:t>
            </a:r>
            <a:r>
              <a:rPr lang="en-US" altLang="zh-CN" sz="2800" kern="0" spc="-10" dirty="0">
                <a:solidFill>
                  <a:srgbClr val="FFFF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</a:t>
            </a:r>
            <a:endParaRPr lang="en-US" altLang="zh-CN" sz="2800" kern="0" spc="-10" dirty="0">
              <a:solidFill>
                <a:srgbClr val="FFFF00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68647" y="6706006"/>
            <a:ext cx="1123315" cy="18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Xidian Univers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ity</a:t>
            </a:r>
            <a:endParaRPr sz="1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3055" y="1101090"/>
            <a:ext cx="8608695" cy="453390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ts val="3200"/>
              </a:lnSpc>
              <a:spcBef>
                <a:spcPts val="3200"/>
              </a:spcBef>
              <a:spcAft>
                <a:spcPts val="1600"/>
              </a:spcAft>
            </a:pPr>
            <a:r>
              <a:rPr lang="zh-CN" altLang="en-US" sz="1600" b="1" i="0">
                <a:solidFill>
                  <a:srgbClr val="0F1115"/>
                </a:solidFill>
                <a:latin typeface="quote-cjk-patch"/>
                <a:ea typeface="quote-cjk-patch"/>
              </a:rPr>
              <a:t>题目</a:t>
            </a:r>
            <a:r>
              <a:rPr lang="en-US" altLang="zh-CN" sz="1600" b="1" i="0">
                <a:solidFill>
                  <a:srgbClr val="0F1115"/>
                </a:solidFill>
                <a:latin typeface="quote-cjk-patch"/>
                <a:ea typeface="quote-cjk-patch"/>
              </a:rPr>
              <a:t> 2</a:t>
            </a:r>
            <a:r>
              <a:rPr lang="zh-CN" altLang="en-US" sz="1600" b="1" i="0">
                <a:solidFill>
                  <a:srgbClr val="0F1115"/>
                </a:solidFill>
                <a:latin typeface="quote-cjk-patch"/>
                <a:ea typeface="quote-cjk-patch"/>
              </a:rPr>
              <a:t>：医院取药窗口</a:t>
            </a:r>
            <a:endParaRPr lang="zh-CN" altLang="en-US" sz="1600" b="1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indent="0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某医院药房设有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 C 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个取药窗口（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C ≥ 1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）。同一时间有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 M 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个病人（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M &gt; C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）需要取药，每个病人由一个独立线程模拟。病人具有优先级：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1 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级（急诊）最高，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2 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级（老人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/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孕妇），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3 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级（普通）。当所有窗口繁忙时，新到达的病人必须排队等待。调度规则：一旦有窗口空闲，从等待队列中选出优先级最高的病人取药；同优先级按先到先服务（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FIFO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）。</a:t>
            </a:r>
            <a:endParaRPr lang="zh-CN"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indent="0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注意：这不是生产者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‑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消费者问题，而是有限个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“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服务许可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”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的动态分配。</a:t>
            </a:r>
            <a:endParaRPr lang="zh-CN"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indent="0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任务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：</a:t>
            </a:r>
            <a:endParaRPr lang="zh-CN"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indent="0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1. 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设计信号量和数据结构（如计数器、优先级队列）实现该调度，说明每个信号量的初值。</a:t>
            </a:r>
            <a:endParaRPr lang="zh-CN"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indent="0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2. 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写出病人线程的入口函数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 take_medicine(patient_id, priority)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，包含申请窗口、取药、释放窗口的过程。</a:t>
            </a:r>
            <a:endParaRPr lang="zh-CN"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indent="0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3. 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当窗口释放时，如何正确唤醒最高优先级的等待病人？请用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 PV 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操作模拟（可用多个信号量或一个互斥锁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 + 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一个条件变量，但优先尝试纯信号量方案）。</a:t>
            </a:r>
            <a:endParaRPr lang="zh-CN"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indent="0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4. 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分析本方案是否存在优先级反转问题？若存在，给出避免方法。</a:t>
            </a:r>
            <a:endParaRPr lang="zh-CN"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6427</Words>
  <Application>WPS 文字</Application>
  <PresentationFormat>全屏显示(4:3)</PresentationFormat>
  <Paragraphs>363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51" baseType="lpstr">
      <vt:lpstr>Arial</vt:lpstr>
      <vt:lpstr>宋体</vt:lpstr>
      <vt:lpstr>Wingdings</vt:lpstr>
      <vt:lpstr>Arial</vt:lpstr>
      <vt:lpstr>PingFang SC</vt:lpstr>
      <vt:lpstr>Times New Roman</vt:lpstr>
      <vt:lpstr>quote-cjk-patch</vt:lpstr>
      <vt:lpstr>Thonburi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宋体</vt:lpstr>
      <vt:lpstr>-apple-system</vt:lpstr>
      <vt:lpstr>-apple-system</vt:lpstr>
      <vt:lpstr>Times New Roman</vt:lpstr>
      <vt:lpstr>quote-cjk-patch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赵佩</cp:lastModifiedBy>
  <cp:revision>64</cp:revision>
  <dcterms:created xsi:type="dcterms:W3CDTF">2026-04-13T08:14:33Z</dcterms:created>
  <dcterms:modified xsi:type="dcterms:W3CDTF">2026-04-13T08:14:33Z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2026-04-03T09:12:42Z</vt:filetime>
  </property>
  <property fmtid="{D5CDD505-2E9C-101B-9397-08002B2CF9AE}" pid="4" name="ICV">
    <vt:lpwstr>8191D164B67276AB57C3CD69A45197B2_42</vt:lpwstr>
  </property>
  <property fmtid="{D5CDD505-2E9C-101B-9397-08002B2CF9AE}" pid="5" name="KSOProductBuildVer">
    <vt:lpwstr>2052-12.1.22553.22553</vt:lpwstr>
  </property>
</Properties>
</file>