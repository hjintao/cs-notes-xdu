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9" r:id="rId3"/>
    <p:sldId id="334" r:id="rId4"/>
    <p:sldId id="335" r:id="rId5"/>
    <p:sldId id="330" r:id="rId6"/>
    <p:sldId id="331" r:id="rId7"/>
    <p:sldId id="332" r:id="rId8"/>
    <p:sldId id="333" r:id="rId9"/>
    <p:sldId id="337" r:id="rId10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5" userDrawn="1">
          <p15:clr>
            <a:srgbClr val="A4A3A4"/>
          </p15:clr>
        </p15:guide>
        <p15:guide id="2" pos="288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69" d="100"/>
          <a:sy n="69" d="100"/>
        </p:scale>
        <p:origin x="1184" y="32"/>
      </p:cViewPr>
      <p:guideLst>
        <p:guide orient="horz" pos="2185"/>
        <p:guide pos="288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9144000" cy="6858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3207" y="118394"/>
            <a:ext cx="5526904" cy="1279276"/>
          </a:xfrm>
          <a:prstGeom prst="rect">
            <a:avLst/>
          </a:prstGeom>
        </p:spPr>
      </p:pic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2909465" y="4070722"/>
          <a:ext cx="3252470" cy="115189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</a:tblPr>
              <a:tblGrid>
                <a:gridCol w="32524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5189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textbox 8"/>
          <p:cNvSpPr/>
          <p:nvPr/>
        </p:nvSpPr>
        <p:spPr>
          <a:xfrm>
            <a:off x="3691890" y="2582545"/>
            <a:ext cx="1505585" cy="5035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lang="zh-CN" sz="3600" kern="0" spc="-40" dirty="0">
                <a:solidFill>
                  <a:srgbClr val="FFFF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习题课</a:t>
            </a:r>
          </a:p>
        </p:txBody>
      </p:sp>
      <p:sp>
        <p:nvSpPr>
          <p:cNvPr id="10" name="textbox 10"/>
          <p:cNvSpPr/>
          <p:nvPr/>
        </p:nvSpPr>
        <p:spPr>
          <a:xfrm>
            <a:off x="7682391" y="6398667"/>
            <a:ext cx="1226820" cy="2228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500" b="1" kern="0" spc="0" dirty="0">
                <a:solidFill>
                  <a:srgbClr val="7F7F7F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Spring</a:t>
            </a:r>
            <a:r>
              <a:rPr sz="1500" b="1" kern="0" spc="60" dirty="0">
                <a:solidFill>
                  <a:srgbClr val="7F7F7F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,</a:t>
            </a:r>
            <a:r>
              <a:rPr sz="1500" kern="0" spc="60" dirty="0">
                <a:solidFill>
                  <a:srgbClr val="7F7F7F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500" b="1" kern="0" spc="60" dirty="0">
                <a:solidFill>
                  <a:srgbClr val="7F7F7F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2024</a:t>
            </a:r>
            <a:endParaRPr sz="15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700" y="39370"/>
            <a:ext cx="9144000" cy="68580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569074"/>
            <a:ext cx="9109075" cy="288925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 rot="21600000">
            <a:off x="3059112" y="6669087"/>
            <a:ext cx="6084887" cy="188911"/>
            <a:chOff x="0" y="0"/>
            <a:chExt cx="6084887" cy="188911"/>
          </a:xfrm>
        </p:grpSpPr>
        <p:pic>
          <p:nvPicPr>
            <p:cNvPr id="46" name="picture 4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6084887" cy="188911"/>
            </a:xfrm>
            <a:prstGeom prst="rect">
              <a:avLst/>
            </a:prstGeom>
          </p:spPr>
        </p:pic>
        <p:sp>
          <p:nvSpPr>
            <p:cNvPr id="48" name="textbox 48"/>
            <p:cNvSpPr/>
            <p:nvPr/>
          </p:nvSpPr>
          <p:spPr>
            <a:xfrm>
              <a:off x="-12700" y="-12700"/>
              <a:ext cx="6110605" cy="2413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</a:pPr>
              <a:endParaRPr sz="4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078865" algn="l" rtl="0" eaLnBrk="0">
                <a:lnSpc>
                  <a:spcPct val="74000"/>
                </a:lnSpc>
                <a:spcBef>
                  <a:spcPts val="5"/>
                </a:spcBef>
              </a:pPr>
              <a:r>
                <a:rPr sz="1200" kern="0" spc="0" dirty="0">
                  <a:solidFill>
                    <a:srgbClr val="80808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OS Curriculum                                     </a:t>
              </a:r>
              <a:r>
                <a:rPr sz="1200" kern="0" spc="-10" dirty="0">
                  <a:solidFill>
                    <a:srgbClr val="80808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                                 </a:t>
              </a:r>
              <a:r>
                <a:rPr sz="1200" kern="0" spc="-10" dirty="0">
                  <a:solidFill>
                    <a:srgbClr val="B2B2B2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-4-</a:t>
              </a:r>
              <a:endParaRPr sz="12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</p:grpSp>
      <p:sp>
        <p:nvSpPr>
          <p:cNvPr id="50" name="textbox 50"/>
          <p:cNvSpPr/>
          <p:nvPr/>
        </p:nvSpPr>
        <p:spPr>
          <a:xfrm>
            <a:off x="460667" y="240842"/>
            <a:ext cx="3215640" cy="3911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r>
              <a:rPr lang="zh-CN" sz="2800" kern="0" spc="-10" dirty="0">
                <a:solidFill>
                  <a:srgbClr val="FFFF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习题</a:t>
            </a:r>
          </a:p>
        </p:txBody>
      </p:sp>
      <p:sp>
        <p:nvSpPr>
          <p:cNvPr id="54" name="textbox 54"/>
          <p:cNvSpPr/>
          <p:nvPr/>
        </p:nvSpPr>
        <p:spPr>
          <a:xfrm>
            <a:off x="968647" y="6706006"/>
            <a:ext cx="1123315" cy="1860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1200" kern="0" spc="0" dirty="0">
                <a:solidFill>
                  <a:srgbClr val="5F5F5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Xidian Univers</a:t>
            </a:r>
            <a:r>
              <a:rPr sz="1200" kern="0" spc="-10" dirty="0">
                <a:solidFill>
                  <a:srgbClr val="5F5F5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ity</a:t>
            </a:r>
            <a:endParaRPr sz="12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99085" y="1061085"/>
            <a:ext cx="8565515" cy="43999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zh-CN" altLang="en-US" sz="2800" b="0" i="0">
                <a:solidFill>
                  <a:srgbClr val="0F1115"/>
                </a:solidFill>
                <a:latin typeface="quote-cjk-patch"/>
                <a:ea typeface="quote-cjk-patch"/>
              </a:rPr>
              <a:t>在</a:t>
            </a:r>
            <a:r>
              <a:rPr lang="en-US" altLang="zh-CN" sz="2800" b="0" i="0">
                <a:solidFill>
                  <a:srgbClr val="0F1115"/>
                </a:solidFill>
                <a:latin typeface="quote-cjk-patch"/>
                <a:ea typeface="quote-cjk-patch"/>
              </a:rPr>
              <a:t> UNIX </a:t>
            </a:r>
            <a:r>
              <a:rPr lang="zh-CN" altLang="en-US" sz="2800" b="0" i="0">
                <a:solidFill>
                  <a:srgbClr val="0F1115"/>
                </a:solidFill>
                <a:latin typeface="quote-cjk-patch"/>
                <a:ea typeface="quote-cjk-patch"/>
              </a:rPr>
              <a:t>系统中，文件</a:t>
            </a:r>
            <a:r>
              <a:rPr lang="en-US" altLang="zh-CN" sz="2800" b="0" i="0">
                <a:solidFill>
                  <a:srgbClr val="0F1115"/>
                </a:solidFill>
                <a:latin typeface="quote-cjk-patch"/>
                <a:ea typeface="quote-cjk-patch"/>
              </a:rPr>
              <a:t> File </a:t>
            </a:r>
            <a:r>
              <a:rPr lang="zh-CN" altLang="en-US" sz="2800" b="0" i="0">
                <a:solidFill>
                  <a:srgbClr val="0F1115"/>
                </a:solidFill>
                <a:latin typeface="quote-cjk-patch"/>
                <a:ea typeface="quote-cjk-patch"/>
              </a:rPr>
              <a:t>的</a:t>
            </a:r>
            <a:r>
              <a:rPr lang="en-US" altLang="zh-CN" sz="2800" b="0" i="0">
                <a:solidFill>
                  <a:srgbClr val="0F1115"/>
                </a:solidFill>
                <a:latin typeface="quote-cjk-patch"/>
                <a:ea typeface="quote-cjk-patch"/>
              </a:rPr>
              <a:t>i</a:t>
            </a:r>
            <a:r>
              <a:rPr lang="zh-CN" altLang="en-US" sz="2800" b="0" i="0">
                <a:solidFill>
                  <a:srgbClr val="0F1115"/>
                </a:solidFill>
                <a:latin typeface="quote-cjk-patch"/>
                <a:ea typeface="quote-cjk-patch"/>
              </a:rPr>
              <a:t>节点中有</a:t>
            </a:r>
            <a:r>
              <a:rPr lang="en-US" altLang="zh-CN" sz="2800" b="0" i="0">
                <a:solidFill>
                  <a:srgbClr val="0F1115"/>
                </a:solidFill>
                <a:latin typeface="quote-cjk-patch"/>
                <a:ea typeface="quote-cjk-patch"/>
              </a:rPr>
              <a:t>10</a:t>
            </a:r>
            <a:r>
              <a:rPr lang="zh-CN" altLang="en-US" sz="2800" b="0" i="0">
                <a:solidFill>
                  <a:srgbClr val="0F1115"/>
                </a:solidFill>
                <a:latin typeface="quote-cjk-patch"/>
                <a:ea typeface="quote-cjk-patch"/>
              </a:rPr>
              <a:t>个直接地址，一级、二级和三级间接索引地址分别为一个。如果盘块大小为</a:t>
            </a:r>
            <a:r>
              <a:rPr lang="en-US" altLang="zh-CN" sz="2800" b="0" i="0">
                <a:solidFill>
                  <a:srgbClr val="0F1115"/>
                </a:solidFill>
                <a:latin typeface="quote-cjk-patch"/>
                <a:ea typeface="quote-cjk-patch"/>
              </a:rPr>
              <a:t>1KB</a:t>
            </a:r>
            <a:r>
              <a:rPr lang="zh-CN" altLang="en-US" sz="2800" b="0" i="0">
                <a:solidFill>
                  <a:srgbClr val="0F1115"/>
                </a:solidFill>
                <a:latin typeface="quote-cjk-patch"/>
                <a:ea typeface="quote-cjk-patch"/>
              </a:rPr>
              <a:t>，间接盘块可以存放</a:t>
            </a:r>
            <a:r>
              <a:rPr lang="en-US" altLang="zh-CN" sz="2800" b="0" i="0">
                <a:solidFill>
                  <a:srgbClr val="0F1115"/>
                </a:solidFill>
                <a:latin typeface="quote-cjk-patch"/>
                <a:ea typeface="quote-cjk-patch"/>
              </a:rPr>
              <a:t> 256</a:t>
            </a:r>
            <a:r>
              <a:rPr lang="zh-CN" altLang="en-US" sz="2800" b="0" i="0">
                <a:solidFill>
                  <a:srgbClr val="0F1115"/>
                </a:solidFill>
                <a:latin typeface="quote-cjk-patch"/>
                <a:ea typeface="quote-cjk-patch"/>
              </a:rPr>
              <a:t>个盘块地址，每个盘块地址长度为</a:t>
            </a:r>
            <a:r>
              <a:rPr lang="en-US" altLang="zh-CN" sz="2800" b="0" i="0">
                <a:solidFill>
                  <a:srgbClr val="0F1115"/>
                </a:solidFill>
                <a:latin typeface="quote-cjk-patch"/>
                <a:ea typeface="quote-cjk-patch"/>
              </a:rPr>
              <a:t>4B</a:t>
            </a:r>
            <a:r>
              <a:rPr lang="zh-CN" altLang="en-US" sz="2800" b="0" i="0">
                <a:solidFill>
                  <a:srgbClr val="0F1115"/>
                </a:solidFill>
                <a:latin typeface="quote-cjk-patch"/>
                <a:ea typeface="quote-cjk-patch"/>
              </a:rPr>
              <a:t>。请回答</a:t>
            </a:r>
            <a:r>
              <a:rPr lang="en-US" altLang="zh-CN" sz="2800" b="0" i="0">
                <a:solidFill>
                  <a:srgbClr val="0F1115"/>
                </a:solidFill>
                <a:latin typeface="quote-cjk-patch"/>
                <a:ea typeface="quote-cjk-patch"/>
              </a:rPr>
              <a:t>∶ 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2800" b="0" i="0">
                <a:solidFill>
                  <a:srgbClr val="0F1115"/>
                </a:solidFill>
                <a:latin typeface="quote-cjk-patch"/>
                <a:ea typeface="quote-cjk-patch"/>
              </a:rPr>
              <a:t>（</a:t>
            </a:r>
            <a:r>
              <a:rPr lang="en-US" altLang="zh-CN" sz="2800" b="0" i="0">
                <a:solidFill>
                  <a:srgbClr val="0F1115"/>
                </a:solidFill>
                <a:latin typeface="quote-cjk-patch"/>
                <a:ea typeface="quote-cjk-patch"/>
              </a:rPr>
              <a:t>1</a:t>
            </a:r>
            <a:r>
              <a:rPr lang="zh-CN" altLang="en-US" sz="2800" b="0" i="0">
                <a:solidFill>
                  <a:srgbClr val="0F1115"/>
                </a:solidFill>
                <a:latin typeface="quote-cjk-patch"/>
                <a:ea typeface="quote-cjk-patch"/>
              </a:rPr>
              <a:t>）若文件</a:t>
            </a:r>
            <a:r>
              <a:rPr lang="en-US" altLang="zh-CN" sz="2800" b="0" i="0">
                <a:solidFill>
                  <a:srgbClr val="0F1115"/>
                </a:solidFill>
                <a:latin typeface="quote-cjk-patch"/>
                <a:ea typeface="quote-cjk-patch"/>
              </a:rPr>
              <a:t>File</a:t>
            </a:r>
            <a:r>
              <a:rPr lang="zh-CN" altLang="en-US" sz="2800" b="0" i="0">
                <a:solidFill>
                  <a:srgbClr val="0F1115"/>
                </a:solidFill>
                <a:latin typeface="quote-cjk-patch"/>
                <a:ea typeface="quote-cjk-patch"/>
              </a:rPr>
              <a:t>的大小为</a:t>
            </a:r>
            <a:r>
              <a:rPr lang="en-US" altLang="zh-CN" sz="2800" b="0" i="0">
                <a:solidFill>
                  <a:srgbClr val="0F1115"/>
                </a:solidFill>
                <a:latin typeface="quote-cjk-patch"/>
                <a:ea typeface="quote-cjk-patch"/>
              </a:rPr>
              <a:t>2MB</a:t>
            </a:r>
            <a:r>
              <a:rPr lang="zh-CN" altLang="en-US" sz="2800" b="0" i="0">
                <a:solidFill>
                  <a:srgbClr val="0F1115"/>
                </a:solidFill>
                <a:latin typeface="quote-cjk-patch"/>
                <a:ea typeface="quote-cjk-patch"/>
              </a:rPr>
              <a:t>，那么分别占了多少个直接盘块和间接盘块</a:t>
            </a:r>
            <a:r>
              <a:rPr lang="en-US" altLang="zh-CN" sz="2800" b="0" i="0">
                <a:solidFill>
                  <a:srgbClr val="0F1115"/>
                </a:solidFill>
                <a:latin typeface="quote-cjk-patch"/>
                <a:ea typeface="quote-cjk-patch"/>
              </a:rPr>
              <a:t>?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2800" b="0" i="0">
                <a:solidFill>
                  <a:srgbClr val="0F1115"/>
                </a:solidFill>
                <a:latin typeface="quote-cjk-patch"/>
                <a:ea typeface="quote-cjk-patch"/>
              </a:rPr>
              <a:t>（</a:t>
            </a:r>
            <a:r>
              <a:rPr lang="en-US" altLang="zh-CN" sz="2800" b="0" i="0">
                <a:solidFill>
                  <a:srgbClr val="0F1115"/>
                </a:solidFill>
                <a:latin typeface="quote-cjk-patch"/>
                <a:ea typeface="quote-cjk-patch"/>
              </a:rPr>
              <a:t>2</a:t>
            </a:r>
            <a:r>
              <a:rPr lang="zh-CN" altLang="en-US" sz="2800" b="0" i="0">
                <a:solidFill>
                  <a:srgbClr val="0F1115"/>
                </a:solidFill>
                <a:latin typeface="quote-cjk-patch"/>
                <a:ea typeface="quote-cjk-patch"/>
              </a:rPr>
              <a:t>）若文件</a:t>
            </a:r>
            <a:r>
              <a:rPr lang="en-US" altLang="zh-CN" sz="2800" b="0" i="0">
                <a:solidFill>
                  <a:srgbClr val="0F1115"/>
                </a:solidFill>
                <a:latin typeface="quote-cjk-patch"/>
                <a:ea typeface="quote-cjk-patch"/>
              </a:rPr>
              <a:t>File</a:t>
            </a:r>
            <a:r>
              <a:rPr lang="zh-CN" altLang="en-US" sz="2800" b="0" i="0">
                <a:solidFill>
                  <a:srgbClr val="0F1115"/>
                </a:solidFill>
                <a:latin typeface="quote-cjk-patch"/>
                <a:ea typeface="quote-cjk-patch"/>
              </a:rPr>
              <a:t>的大小为</a:t>
            </a:r>
            <a:r>
              <a:rPr lang="en-US" altLang="zh-CN" sz="2800" b="0" i="0">
                <a:solidFill>
                  <a:srgbClr val="0F1115"/>
                </a:solidFill>
                <a:latin typeface="quote-cjk-patch"/>
                <a:ea typeface="quote-cjk-patch"/>
              </a:rPr>
              <a:t>10MB</a:t>
            </a:r>
            <a:r>
              <a:rPr lang="zh-CN" altLang="en-US" sz="2800" b="0" i="0">
                <a:solidFill>
                  <a:srgbClr val="0F1115"/>
                </a:solidFill>
                <a:latin typeface="quote-cjk-patch"/>
                <a:ea typeface="quote-cjk-patch"/>
              </a:rPr>
              <a:t>，那么分别占了多少个直接盘块和间接盘块</a:t>
            </a:r>
            <a:r>
              <a:rPr lang="en-US" altLang="zh-CN" sz="2800" b="0" i="0">
                <a:solidFill>
                  <a:srgbClr val="0F1115"/>
                </a:solidFill>
                <a:latin typeface="quote-cjk-patch"/>
                <a:ea typeface="quote-cjk-patch"/>
              </a:rPr>
              <a:t>?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2800" b="0" i="0">
                <a:solidFill>
                  <a:srgbClr val="0F1115"/>
                </a:solidFill>
                <a:latin typeface="quote-cjk-patch"/>
                <a:ea typeface="quote-cjk-patch"/>
              </a:rPr>
              <a:t>（</a:t>
            </a:r>
            <a:r>
              <a:rPr lang="en-US" altLang="zh-CN" sz="2800" b="0" i="0">
                <a:solidFill>
                  <a:srgbClr val="0F1115"/>
                </a:solidFill>
                <a:latin typeface="quote-cjk-patch"/>
                <a:ea typeface="quote-cjk-patch"/>
              </a:rPr>
              <a:t>3</a:t>
            </a:r>
            <a:r>
              <a:rPr lang="zh-CN" altLang="en-US" sz="2800" b="0" i="0">
                <a:solidFill>
                  <a:srgbClr val="0F1115"/>
                </a:solidFill>
                <a:latin typeface="quote-cjk-patch"/>
                <a:ea typeface="quote-cjk-patch"/>
              </a:rPr>
              <a:t>）若文件</a:t>
            </a:r>
            <a:r>
              <a:rPr lang="en-US" altLang="zh-CN" sz="2800" b="0" i="0">
                <a:solidFill>
                  <a:srgbClr val="0F1115"/>
                </a:solidFill>
                <a:latin typeface="quote-cjk-patch"/>
                <a:ea typeface="quote-cjk-patch"/>
              </a:rPr>
              <a:t>File</a:t>
            </a:r>
            <a:r>
              <a:rPr lang="zh-CN" altLang="en-US" sz="2800" b="0" i="0">
                <a:solidFill>
                  <a:srgbClr val="0F1115"/>
                </a:solidFill>
                <a:latin typeface="quote-cjk-patch"/>
                <a:ea typeface="quote-cjk-patch"/>
              </a:rPr>
              <a:t>的大小为</a:t>
            </a:r>
            <a:r>
              <a:rPr lang="en-US" altLang="zh-CN" sz="2800" b="0" i="0">
                <a:solidFill>
                  <a:srgbClr val="0F1115"/>
                </a:solidFill>
                <a:latin typeface="quote-cjk-patch"/>
                <a:ea typeface="quote-cjk-patch"/>
              </a:rPr>
              <a:t>25MB</a:t>
            </a:r>
            <a:r>
              <a:rPr lang="zh-CN" altLang="en-US" sz="2800" b="0" i="0">
                <a:solidFill>
                  <a:srgbClr val="0F1115"/>
                </a:solidFill>
                <a:latin typeface="quote-cjk-patch"/>
                <a:ea typeface="quote-cjk-patch"/>
              </a:rPr>
              <a:t>，那么分别占了多少个直接盘块和间接盘块</a:t>
            </a:r>
            <a:r>
              <a:rPr lang="en-US" altLang="zh-CN" sz="2800" b="0" i="0">
                <a:solidFill>
                  <a:srgbClr val="0F1115"/>
                </a:solidFill>
                <a:latin typeface="quote-cjk-patch"/>
                <a:ea typeface="quote-cjk-patch"/>
              </a:rPr>
              <a:t>?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700" y="39370"/>
            <a:ext cx="9144000" cy="68580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569074"/>
            <a:ext cx="9109075" cy="288925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 rot="21600000">
            <a:off x="3059112" y="6669087"/>
            <a:ext cx="6084887" cy="188911"/>
            <a:chOff x="0" y="0"/>
            <a:chExt cx="6084887" cy="188911"/>
          </a:xfrm>
        </p:grpSpPr>
        <p:pic>
          <p:nvPicPr>
            <p:cNvPr id="46" name="picture 4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6084887" cy="188911"/>
            </a:xfrm>
            <a:prstGeom prst="rect">
              <a:avLst/>
            </a:prstGeom>
          </p:spPr>
        </p:pic>
        <p:sp>
          <p:nvSpPr>
            <p:cNvPr id="48" name="textbox 48"/>
            <p:cNvSpPr/>
            <p:nvPr/>
          </p:nvSpPr>
          <p:spPr>
            <a:xfrm>
              <a:off x="-12700" y="-12700"/>
              <a:ext cx="6110605" cy="2413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</a:pPr>
              <a:endParaRPr sz="4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078865" algn="l" rtl="0" eaLnBrk="0">
                <a:lnSpc>
                  <a:spcPct val="74000"/>
                </a:lnSpc>
                <a:spcBef>
                  <a:spcPts val="5"/>
                </a:spcBef>
              </a:pPr>
              <a:r>
                <a:rPr sz="1200" kern="0" spc="0" dirty="0">
                  <a:solidFill>
                    <a:srgbClr val="80808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OS Curriculum                                     </a:t>
              </a:r>
              <a:r>
                <a:rPr sz="1200" kern="0" spc="-10" dirty="0">
                  <a:solidFill>
                    <a:srgbClr val="80808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                                 </a:t>
              </a:r>
              <a:r>
                <a:rPr sz="1200" kern="0" spc="-10" dirty="0">
                  <a:solidFill>
                    <a:srgbClr val="B2B2B2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-4-</a:t>
              </a:r>
              <a:endParaRPr sz="12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</p:grpSp>
      <p:sp>
        <p:nvSpPr>
          <p:cNvPr id="50" name="textbox 50"/>
          <p:cNvSpPr/>
          <p:nvPr/>
        </p:nvSpPr>
        <p:spPr>
          <a:xfrm>
            <a:off x="460667" y="240842"/>
            <a:ext cx="3215640" cy="3911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r>
              <a:rPr lang="zh-CN" sz="2800" kern="0" spc="-10" dirty="0">
                <a:solidFill>
                  <a:srgbClr val="FFFF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习题</a:t>
            </a:r>
          </a:p>
        </p:txBody>
      </p:sp>
      <p:sp>
        <p:nvSpPr>
          <p:cNvPr id="54" name="textbox 54"/>
          <p:cNvSpPr/>
          <p:nvPr/>
        </p:nvSpPr>
        <p:spPr>
          <a:xfrm>
            <a:off x="968647" y="6706006"/>
            <a:ext cx="1123315" cy="1860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1200" kern="0" spc="0" dirty="0">
                <a:solidFill>
                  <a:srgbClr val="5F5F5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Xidian Univers</a:t>
            </a:r>
            <a:r>
              <a:rPr sz="1200" kern="0" spc="-10" dirty="0">
                <a:solidFill>
                  <a:srgbClr val="5F5F5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ity</a:t>
            </a:r>
            <a:endParaRPr sz="12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99085" y="1061085"/>
            <a:ext cx="8565515" cy="43999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000" b="0" i="0">
                <a:solidFill>
                  <a:srgbClr val="0F1115"/>
                </a:solidFill>
                <a:latin typeface="quote-cjk-patch"/>
                <a:ea typeface="quote-cjk-patch"/>
              </a:rPr>
              <a:t>2. </a:t>
            </a:r>
            <a:r>
              <a:rPr lang="zh-CN" altLang="en-US" sz="2000" b="0" i="0">
                <a:solidFill>
                  <a:srgbClr val="0F1115"/>
                </a:solidFill>
                <a:latin typeface="quote-cjk-patch"/>
                <a:ea typeface="quote-cjk-patch"/>
              </a:rPr>
              <a:t>某文件系统采用混合索引分配方式，磁盘块大小为 2 </a:t>
            </a:r>
            <a:r>
              <a:rPr lang="en-US" altLang="zh-CN" sz="2000" b="0" i="0">
                <a:solidFill>
                  <a:srgbClr val="0F1115"/>
                </a:solidFill>
                <a:latin typeface="quote-cjk-patch"/>
                <a:ea typeface="quote-cjk-patch"/>
              </a:rPr>
              <a:t>KB，</a:t>
            </a:r>
            <a:r>
              <a:rPr lang="zh-CN" altLang="en-US" sz="2000" b="0" i="0">
                <a:solidFill>
                  <a:srgbClr val="0F1115"/>
                </a:solidFill>
                <a:latin typeface="quote-cjk-patch"/>
                <a:ea typeface="quote-cjk-patch"/>
              </a:rPr>
              <a:t>每个盘块号占 4 字节。索引节点中包含：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endParaRPr lang="en-US" altLang="zh-CN" sz="2000" b="0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2000" b="0" i="0">
                <a:solidFill>
                  <a:srgbClr val="0F1115"/>
                </a:solidFill>
                <a:latin typeface="quote-cjk-patch"/>
                <a:ea typeface="quote-cjk-patch"/>
              </a:rPr>
              <a:t>直接地址项 8 个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endParaRPr lang="en-US" altLang="zh-CN" sz="2000" b="0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2000" b="0" i="0">
                <a:solidFill>
                  <a:srgbClr val="0F1115"/>
                </a:solidFill>
                <a:latin typeface="quote-cjk-patch"/>
                <a:ea typeface="quote-cjk-patch"/>
              </a:rPr>
              <a:t>一级间接索引 1 个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endParaRPr lang="en-US" altLang="zh-CN" sz="2000" b="0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2000" b="0" i="0">
                <a:solidFill>
                  <a:srgbClr val="0F1115"/>
                </a:solidFill>
                <a:latin typeface="quote-cjk-patch"/>
                <a:ea typeface="quote-cjk-patch"/>
              </a:rPr>
              <a:t>二级间接索引 1 个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endParaRPr lang="en-US" altLang="zh-CN" sz="2000" b="0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2000" b="0" i="0">
                <a:solidFill>
                  <a:srgbClr val="0F1115"/>
                </a:solidFill>
                <a:latin typeface="quote-cjk-patch"/>
                <a:ea typeface="quote-cjk-patch"/>
              </a:rPr>
              <a:t>三级间接索引 1 个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2000" b="0" i="0">
                <a:solidFill>
                  <a:srgbClr val="0F1115"/>
                </a:solidFill>
                <a:latin typeface="quote-cjk-patch"/>
                <a:ea typeface="quote-cjk-patch"/>
              </a:rPr>
              <a:t>求：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2000" b="0" i="0">
                <a:solidFill>
                  <a:srgbClr val="0F1115"/>
                </a:solidFill>
                <a:latin typeface="quote-cjk-patch"/>
                <a:ea typeface="quote-cjk-patch"/>
              </a:rPr>
              <a:t>（1）单个文件的最大长度（写出计算过程，结果用 </a:t>
            </a:r>
            <a:r>
              <a:rPr lang="en-US" altLang="zh-CN" sz="2000" b="0" i="0">
                <a:solidFill>
                  <a:srgbClr val="0F1115"/>
                </a:solidFill>
                <a:latin typeface="quote-cjk-patch"/>
                <a:ea typeface="quote-cjk-patch"/>
              </a:rPr>
              <a:t>MB </a:t>
            </a:r>
            <a:r>
              <a:rPr lang="zh-CN" altLang="en-US" sz="2000" b="0" i="0">
                <a:solidFill>
                  <a:srgbClr val="0F1115"/>
                </a:solidFill>
                <a:latin typeface="quote-cjk-patch"/>
                <a:ea typeface="quote-cjk-patch"/>
              </a:rPr>
              <a:t>或 </a:t>
            </a:r>
            <a:r>
              <a:rPr lang="en-US" altLang="zh-CN" sz="2000" b="0" i="0">
                <a:solidFill>
                  <a:srgbClr val="0F1115"/>
                </a:solidFill>
                <a:latin typeface="quote-cjk-patch"/>
                <a:ea typeface="quote-cjk-patch"/>
              </a:rPr>
              <a:t>GB </a:t>
            </a:r>
            <a:r>
              <a:rPr lang="zh-CN" altLang="en-US" sz="2000" b="0" i="0">
                <a:solidFill>
                  <a:srgbClr val="0F1115"/>
                </a:solidFill>
                <a:latin typeface="quote-cjk-patch"/>
                <a:ea typeface="quote-cjk-patch"/>
              </a:rPr>
              <a:t>表示）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2000" b="0" i="0">
                <a:solidFill>
                  <a:srgbClr val="0F1115"/>
                </a:solidFill>
                <a:latin typeface="quote-cjk-patch"/>
                <a:ea typeface="quote-cjk-patch"/>
              </a:rPr>
              <a:t>（2）若文件实际大小为 100 </a:t>
            </a:r>
            <a:r>
              <a:rPr lang="en-US" altLang="zh-CN" sz="2000" b="0" i="0">
                <a:solidFill>
                  <a:srgbClr val="0F1115"/>
                </a:solidFill>
                <a:latin typeface="quote-cjk-patch"/>
                <a:ea typeface="quote-cjk-patch"/>
              </a:rPr>
              <a:t>MB，</a:t>
            </a:r>
            <a:r>
              <a:rPr lang="zh-CN" altLang="en-US" sz="2000" b="0" i="0">
                <a:solidFill>
                  <a:srgbClr val="0F1115"/>
                </a:solidFill>
                <a:latin typeface="quote-cjk-patch"/>
                <a:ea typeface="quote-cjk-patch"/>
              </a:rPr>
              <a:t>大约需要访问几次磁盘才能读取文件末尾的一个字节？（假设所有元数据已在内存）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700" y="39370"/>
            <a:ext cx="9144000" cy="68580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569074"/>
            <a:ext cx="9109075" cy="288925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 rot="21600000">
            <a:off x="3059112" y="6669087"/>
            <a:ext cx="6084887" cy="188911"/>
            <a:chOff x="0" y="0"/>
            <a:chExt cx="6084887" cy="188911"/>
          </a:xfrm>
        </p:grpSpPr>
        <p:pic>
          <p:nvPicPr>
            <p:cNvPr id="46" name="picture 4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6084887" cy="188911"/>
            </a:xfrm>
            <a:prstGeom prst="rect">
              <a:avLst/>
            </a:prstGeom>
          </p:spPr>
        </p:pic>
        <p:sp>
          <p:nvSpPr>
            <p:cNvPr id="48" name="textbox 48"/>
            <p:cNvSpPr/>
            <p:nvPr/>
          </p:nvSpPr>
          <p:spPr>
            <a:xfrm>
              <a:off x="-12700" y="-12700"/>
              <a:ext cx="6110605" cy="2413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</a:pPr>
              <a:endParaRPr sz="4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078865" algn="l" rtl="0" eaLnBrk="0">
                <a:lnSpc>
                  <a:spcPct val="74000"/>
                </a:lnSpc>
                <a:spcBef>
                  <a:spcPts val="5"/>
                </a:spcBef>
              </a:pPr>
              <a:r>
                <a:rPr sz="1200" kern="0" spc="0" dirty="0">
                  <a:solidFill>
                    <a:srgbClr val="80808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OS Curriculum                                     </a:t>
              </a:r>
              <a:r>
                <a:rPr sz="1200" kern="0" spc="-10" dirty="0">
                  <a:solidFill>
                    <a:srgbClr val="80808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                                 </a:t>
              </a:r>
              <a:r>
                <a:rPr sz="1200" kern="0" spc="-10" dirty="0">
                  <a:solidFill>
                    <a:srgbClr val="B2B2B2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-4-</a:t>
              </a:r>
              <a:endParaRPr sz="12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</p:grpSp>
      <p:sp>
        <p:nvSpPr>
          <p:cNvPr id="50" name="textbox 50"/>
          <p:cNvSpPr/>
          <p:nvPr/>
        </p:nvSpPr>
        <p:spPr>
          <a:xfrm>
            <a:off x="460667" y="240842"/>
            <a:ext cx="3215640" cy="3911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r>
              <a:rPr lang="zh-CN" sz="2800" kern="0" spc="-10" dirty="0">
                <a:solidFill>
                  <a:srgbClr val="FFFF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习题</a:t>
            </a:r>
          </a:p>
        </p:txBody>
      </p:sp>
      <p:sp>
        <p:nvSpPr>
          <p:cNvPr id="54" name="textbox 54"/>
          <p:cNvSpPr/>
          <p:nvPr/>
        </p:nvSpPr>
        <p:spPr>
          <a:xfrm>
            <a:off x="968647" y="6706006"/>
            <a:ext cx="1123315" cy="1860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1200" kern="0" spc="0" dirty="0">
                <a:solidFill>
                  <a:srgbClr val="5F5F5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Xidian Univers</a:t>
            </a:r>
            <a:r>
              <a:rPr sz="1200" kern="0" spc="-10" dirty="0">
                <a:solidFill>
                  <a:srgbClr val="5F5F5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ity</a:t>
            </a:r>
            <a:endParaRPr sz="12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99085" y="1061085"/>
            <a:ext cx="8565515" cy="2245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000" b="0" i="0">
                <a:solidFill>
                  <a:srgbClr val="0F1115"/>
                </a:solidFill>
                <a:latin typeface="quote-cjk-patch"/>
                <a:ea typeface="quote-cjk-patch"/>
              </a:rPr>
              <a:t>3. </a:t>
            </a:r>
            <a:r>
              <a:rPr lang="zh-CN" altLang="en-US" sz="2000" b="0" i="0">
                <a:solidFill>
                  <a:srgbClr val="0F1115"/>
                </a:solidFill>
                <a:latin typeface="quote-cjk-patch"/>
                <a:ea typeface="quote-cjk-patch"/>
              </a:rPr>
              <a:t>某磁盘共有 5000 个磁盘块，系统采用位示图管理空闲块，每个字的字长为 32 位。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2000" b="0" i="0">
                <a:solidFill>
                  <a:srgbClr val="0F1115"/>
                </a:solidFill>
                <a:latin typeface="quote-cjk-patch"/>
                <a:ea typeface="quote-cjk-patch"/>
              </a:rPr>
              <a:t>（1）位示图需要多少个字？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2000" b="0" i="0">
                <a:solidFill>
                  <a:srgbClr val="0F1115"/>
                </a:solidFill>
                <a:latin typeface="quote-cjk-patch"/>
                <a:ea typeface="quote-cjk-patch"/>
              </a:rPr>
              <a:t>（2）若某字的第 18 位（从 0 开始编号）为 0，表示哪个盘块空闲？写出计算过程。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2000" b="0" i="0">
                <a:solidFill>
                  <a:srgbClr val="0F1115"/>
                </a:solidFill>
                <a:latin typeface="quote-cjk-patch"/>
                <a:ea typeface="quote-cjk-patch"/>
              </a:rPr>
              <a:t>（3）当要分配第 2345 号盘块时，应如何找到对应的字和位？写出映射公式。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700" y="39370"/>
            <a:ext cx="9144000" cy="68580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569074"/>
            <a:ext cx="9109075" cy="288925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 rot="21600000">
            <a:off x="3059112" y="6669087"/>
            <a:ext cx="6084887" cy="188911"/>
            <a:chOff x="0" y="0"/>
            <a:chExt cx="6084887" cy="188911"/>
          </a:xfrm>
        </p:grpSpPr>
        <p:pic>
          <p:nvPicPr>
            <p:cNvPr id="46" name="picture 4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6084887" cy="188911"/>
            </a:xfrm>
            <a:prstGeom prst="rect">
              <a:avLst/>
            </a:prstGeom>
          </p:spPr>
        </p:pic>
        <p:sp>
          <p:nvSpPr>
            <p:cNvPr id="48" name="textbox 48"/>
            <p:cNvSpPr/>
            <p:nvPr/>
          </p:nvSpPr>
          <p:spPr>
            <a:xfrm>
              <a:off x="-12700" y="-12700"/>
              <a:ext cx="6110605" cy="2413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</a:pPr>
              <a:endParaRPr sz="4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078865" algn="l" rtl="0" eaLnBrk="0">
                <a:lnSpc>
                  <a:spcPct val="74000"/>
                </a:lnSpc>
                <a:spcBef>
                  <a:spcPts val="5"/>
                </a:spcBef>
              </a:pPr>
              <a:r>
                <a:rPr sz="1200" kern="0" spc="0" dirty="0">
                  <a:solidFill>
                    <a:srgbClr val="80808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OS Curriculum                                     </a:t>
              </a:r>
              <a:r>
                <a:rPr sz="1200" kern="0" spc="-10" dirty="0">
                  <a:solidFill>
                    <a:srgbClr val="80808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                                 </a:t>
              </a:r>
              <a:r>
                <a:rPr sz="1200" kern="0" spc="-10" dirty="0">
                  <a:solidFill>
                    <a:srgbClr val="B2B2B2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-4-</a:t>
              </a:r>
              <a:endParaRPr sz="12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</p:grpSp>
      <p:sp>
        <p:nvSpPr>
          <p:cNvPr id="50" name="textbox 50"/>
          <p:cNvSpPr/>
          <p:nvPr/>
        </p:nvSpPr>
        <p:spPr>
          <a:xfrm>
            <a:off x="460667" y="240842"/>
            <a:ext cx="3215640" cy="3911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r>
              <a:rPr lang="zh-CN" sz="2800" kern="0" spc="-10" dirty="0">
                <a:solidFill>
                  <a:srgbClr val="FFFF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习题</a:t>
            </a:r>
          </a:p>
        </p:txBody>
      </p:sp>
      <p:sp>
        <p:nvSpPr>
          <p:cNvPr id="54" name="textbox 54"/>
          <p:cNvSpPr/>
          <p:nvPr/>
        </p:nvSpPr>
        <p:spPr>
          <a:xfrm>
            <a:off x="968647" y="6706006"/>
            <a:ext cx="1123315" cy="1860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1200" kern="0" spc="0" dirty="0">
                <a:solidFill>
                  <a:srgbClr val="5F5F5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Xidian Univers</a:t>
            </a:r>
            <a:r>
              <a:rPr sz="1200" kern="0" spc="-10" dirty="0">
                <a:solidFill>
                  <a:srgbClr val="5F5F5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ity</a:t>
            </a:r>
            <a:endParaRPr sz="12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99085" y="1061085"/>
            <a:ext cx="8565515" cy="40925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000" b="0" i="0">
                <a:solidFill>
                  <a:srgbClr val="0F1115"/>
                </a:solidFill>
                <a:latin typeface="quote-cjk-patch"/>
                <a:ea typeface="quote-cjk-patch"/>
              </a:rPr>
              <a:t>4.</a:t>
            </a:r>
            <a:r>
              <a:rPr lang="zh-CN" altLang="en-US" sz="2000" b="0" i="0">
                <a:solidFill>
                  <a:srgbClr val="0F1115"/>
                </a:solidFill>
                <a:latin typeface="quote-cjk-patch"/>
                <a:ea typeface="quote-cjk-patch"/>
              </a:rPr>
              <a:t>某磁盘系统，磁头初始位置在 100 号磁道，方向向磁道号增加方向（向大号移动）。现收到如下磁盘</a:t>
            </a:r>
            <a:r>
              <a:rPr lang="en-US" altLang="zh-CN" sz="2000" b="0" i="0">
                <a:solidFill>
                  <a:srgbClr val="0F1115"/>
                </a:solidFill>
                <a:latin typeface="quote-cjk-patch"/>
                <a:ea typeface="quote-cjk-patch"/>
              </a:rPr>
              <a:t>I/O</a:t>
            </a:r>
            <a:r>
              <a:rPr lang="zh-CN" altLang="en-US" sz="2000" b="0" i="0">
                <a:solidFill>
                  <a:srgbClr val="0F1115"/>
                </a:solidFill>
                <a:latin typeface="quote-cjk-patch"/>
                <a:ea typeface="quote-cjk-patch"/>
              </a:rPr>
              <a:t>请求序列（按到达时间顺序）：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000" b="0" i="0">
                <a:solidFill>
                  <a:srgbClr val="0F1115"/>
                </a:solidFill>
                <a:latin typeface="quote-cjk-patch"/>
                <a:ea typeface="quote-cjk-patch"/>
              </a:rPr>
              <a:t>55, 58, 39, 18, 90, 160, 150, 38, 184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endParaRPr lang="en-US" altLang="zh-CN" sz="2000" b="0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2000" b="0" i="0">
                <a:solidFill>
                  <a:srgbClr val="0F1115"/>
                </a:solidFill>
                <a:latin typeface="quote-cjk-patch"/>
                <a:ea typeface="quote-cjk-patch"/>
              </a:rPr>
              <a:t>分别计算采用以下调度算法时的寻道总长度（移动磁道总数）：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endParaRPr lang="en-US" altLang="zh-CN" sz="2000" b="0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2000" b="0" i="0">
                <a:solidFill>
                  <a:srgbClr val="0F1115"/>
                </a:solidFill>
                <a:latin typeface="quote-cjk-patch"/>
                <a:ea typeface="quote-cjk-patch"/>
              </a:rPr>
              <a:t>先来先服务（</a:t>
            </a:r>
            <a:r>
              <a:rPr lang="en-US" altLang="zh-CN" sz="2000" b="0" i="0">
                <a:solidFill>
                  <a:srgbClr val="0F1115"/>
                </a:solidFill>
                <a:latin typeface="quote-cjk-patch"/>
                <a:ea typeface="quote-cjk-patch"/>
              </a:rPr>
              <a:t>FCFS）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endParaRPr lang="en-US" altLang="zh-CN" sz="2000" b="0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2000" b="0" i="0">
                <a:solidFill>
                  <a:srgbClr val="0F1115"/>
                </a:solidFill>
                <a:latin typeface="quote-cjk-patch"/>
                <a:ea typeface="quote-cjk-patch"/>
              </a:rPr>
              <a:t>最短寻道时间优先（</a:t>
            </a:r>
            <a:r>
              <a:rPr lang="en-US" altLang="zh-CN" sz="2000" b="0" i="0">
                <a:solidFill>
                  <a:srgbClr val="0F1115"/>
                </a:solidFill>
                <a:latin typeface="quote-cjk-patch"/>
                <a:ea typeface="quote-cjk-patch"/>
              </a:rPr>
              <a:t>SSTF）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endParaRPr lang="en-US" altLang="zh-CN" sz="2000" b="0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2000" b="0" i="0">
                <a:solidFill>
                  <a:srgbClr val="0F1115"/>
                </a:solidFill>
                <a:latin typeface="quote-cjk-patch"/>
                <a:ea typeface="quote-cjk-patch"/>
              </a:rPr>
              <a:t>扫描算法（</a:t>
            </a:r>
            <a:r>
              <a:rPr lang="en-US" altLang="zh-CN" sz="2000" b="0" i="0">
                <a:solidFill>
                  <a:srgbClr val="0F1115"/>
                </a:solidFill>
                <a:latin typeface="quote-cjk-patch"/>
                <a:ea typeface="quote-cjk-patch"/>
              </a:rPr>
              <a:t>SCAN，</a:t>
            </a:r>
            <a:r>
              <a:rPr lang="zh-CN" altLang="en-US" sz="2000" b="0" i="0">
                <a:solidFill>
                  <a:srgbClr val="0F1115"/>
                </a:solidFill>
                <a:latin typeface="quote-cjk-patch"/>
                <a:ea typeface="quote-cjk-patch"/>
              </a:rPr>
              <a:t>电梯算法）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endParaRPr lang="en-US" altLang="zh-CN" sz="2000" b="0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2000" b="0" i="0">
                <a:solidFill>
                  <a:srgbClr val="0F1115"/>
                </a:solidFill>
                <a:latin typeface="quote-cjk-patch"/>
                <a:ea typeface="quote-cjk-patch"/>
              </a:rPr>
              <a:t>循环扫描算法（</a:t>
            </a:r>
            <a:r>
              <a:rPr lang="en-US" altLang="zh-CN" sz="2000" b="0" i="0">
                <a:solidFill>
                  <a:srgbClr val="0F1115"/>
                </a:solidFill>
                <a:latin typeface="quote-cjk-patch"/>
                <a:ea typeface="quote-cjk-patch"/>
              </a:rPr>
              <a:t>C-SCAN）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700" y="39370"/>
            <a:ext cx="9144000" cy="68580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569074"/>
            <a:ext cx="9109075" cy="288925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 rot="21600000">
            <a:off x="3059112" y="6669087"/>
            <a:ext cx="6084887" cy="188911"/>
            <a:chOff x="0" y="0"/>
            <a:chExt cx="6084887" cy="188911"/>
          </a:xfrm>
        </p:grpSpPr>
        <p:pic>
          <p:nvPicPr>
            <p:cNvPr id="46" name="picture 4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6084887" cy="188911"/>
            </a:xfrm>
            <a:prstGeom prst="rect">
              <a:avLst/>
            </a:prstGeom>
          </p:spPr>
        </p:pic>
        <p:sp>
          <p:nvSpPr>
            <p:cNvPr id="48" name="textbox 48"/>
            <p:cNvSpPr/>
            <p:nvPr/>
          </p:nvSpPr>
          <p:spPr>
            <a:xfrm>
              <a:off x="-12700" y="-12700"/>
              <a:ext cx="6110605" cy="2413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</a:pPr>
              <a:endParaRPr sz="4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078865" algn="l" rtl="0" eaLnBrk="0">
                <a:lnSpc>
                  <a:spcPct val="74000"/>
                </a:lnSpc>
                <a:spcBef>
                  <a:spcPts val="5"/>
                </a:spcBef>
              </a:pPr>
              <a:r>
                <a:rPr sz="1200" kern="0" spc="0" dirty="0">
                  <a:solidFill>
                    <a:srgbClr val="80808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OS Curriculum                                     </a:t>
              </a:r>
              <a:r>
                <a:rPr sz="1200" kern="0" spc="-10" dirty="0">
                  <a:solidFill>
                    <a:srgbClr val="80808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                                 </a:t>
              </a:r>
              <a:r>
                <a:rPr sz="1200" kern="0" spc="-10" dirty="0">
                  <a:solidFill>
                    <a:srgbClr val="B2B2B2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-4-</a:t>
              </a:r>
              <a:endParaRPr sz="12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</p:grpSp>
      <p:sp>
        <p:nvSpPr>
          <p:cNvPr id="50" name="textbox 50"/>
          <p:cNvSpPr/>
          <p:nvPr/>
        </p:nvSpPr>
        <p:spPr>
          <a:xfrm>
            <a:off x="460667" y="240842"/>
            <a:ext cx="3215640" cy="3911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r>
              <a:rPr lang="zh-CN" sz="2800" kern="0" spc="-10" dirty="0">
                <a:solidFill>
                  <a:srgbClr val="FFFF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习题</a:t>
            </a:r>
          </a:p>
        </p:txBody>
      </p:sp>
      <p:sp>
        <p:nvSpPr>
          <p:cNvPr id="54" name="textbox 54"/>
          <p:cNvSpPr/>
          <p:nvPr/>
        </p:nvSpPr>
        <p:spPr>
          <a:xfrm>
            <a:off x="968647" y="6706006"/>
            <a:ext cx="1123315" cy="1860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1200" kern="0" spc="0" dirty="0">
                <a:solidFill>
                  <a:srgbClr val="5F5F5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Xidian Univers</a:t>
            </a:r>
            <a:r>
              <a:rPr sz="1200" kern="0" spc="-10" dirty="0">
                <a:solidFill>
                  <a:srgbClr val="5F5F5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ity</a:t>
            </a:r>
            <a:endParaRPr sz="12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99085" y="1061085"/>
            <a:ext cx="8565515" cy="50774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b="0" i="0">
                <a:solidFill>
                  <a:srgbClr val="0F1115"/>
                </a:solidFill>
                <a:latin typeface="quote-cjk-patch"/>
                <a:ea typeface="quote-cjk-patch"/>
              </a:rPr>
              <a:t>5. </a:t>
            </a:r>
            <a:r>
              <a:rPr lang="zh-CN" altLang="en-US" b="0" i="0">
                <a:solidFill>
                  <a:srgbClr val="0F1115"/>
                </a:solidFill>
                <a:latin typeface="quote-cjk-patch"/>
                <a:ea typeface="quote-cjk-patch"/>
              </a:rPr>
              <a:t>在</a:t>
            </a:r>
            <a:r>
              <a:rPr lang="en-US" altLang="zh-CN" b="0" i="0">
                <a:solidFill>
                  <a:srgbClr val="0F1115"/>
                </a:solidFill>
                <a:latin typeface="quote-cjk-patch"/>
                <a:ea typeface="quote-cjk-patch"/>
              </a:rPr>
              <a:t>UNIX</a:t>
            </a:r>
            <a:r>
              <a:rPr lang="zh-CN" altLang="en-US" b="0" i="0">
                <a:solidFill>
                  <a:srgbClr val="0F1115"/>
                </a:solidFill>
                <a:latin typeface="quote-cjk-patch"/>
                <a:ea typeface="quote-cjk-patch"/>
              </a:rPr>
              <a:t>系统中，若有如下三种情况</a:t>
            </a:r>
            <a:r>
              <a:rPr lang="en-US" altLang="zh-CN" b="0" i="0">
                <a:solidFill>
                  <a:srgbClr val="0F1115"/>
                </a:solidFill>
                <a:latin typeface="quote-cjk-patch"/>
                <a:ea typeface="quote-cjk-patch"/>
              </a:rPr>
              <a:t>∶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endParaRPr lang="en-US" altLang="zh-CN" b="0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b="0" i="0">
                <a:solidFill>
                  <a:srgbClr val="0F1115"/>
                </a:solidFill>
                <a:latin typeface="quote-cjk-patch"/>
                <a:ea typeface="quote-cjk-patch"/>
              </a:rPr>
              <a:t>（</a:t>
            </a:r>
            <a:r>
              <a:rPr lang="en-US" altLang="zh-CN" b="0" i="0">
                <a:solidFill>
                  <a:srgbClr val="0F1115"/>
                </a:solidFill>
                <a:latin typeface="quote-cjk-patch"/>
                <a:ea typeface="quote-cjk-patch"/>
              </a:rPr>
              <a:t>1</a:t>
            </a:r>
            <a:r>
              <a:rPr lang="zh-CN" altLang="en-US" b="0" i="0">
                <a:solidFill>
                  <a:srgbClr val="0F1115"/>
                </a:solidFill>
                <a:latin typeface="quote-cjk-patch"/>
                <a:ea typeface="quote-cjk-patch"/>
              </a:rPr>
              <a:t>）</a:t>
            </a:r>
            <a:r>
              <a:rPr lang="en-US" altLang="zh-CN" b="0" i="0">
                <a:solidFill>
                  <a:srgbClr val="0F1115"/>
                </a:solidFill>
                <a:latin typeface="quote-cjk-patch"/>
                <a:ea typeface="quote-cjk-patch"/>
              </a:rPr>
              <a:t>P1</a:t>
            </a:r>
            <a:r>
              <a:rPr lang="zh-CN" altLang="en-US" b="0" i="0">
                <a:solidFill>
                  <a:srgbClr val="0F1115"/>
                </a:solidFill>
                <a:latin typeface="quote-cjk-patch"/>
                <a:ea typeface="quote-cjk-patch"/>
              </a:rPr>
              <a:t>进程执行如下代码</a:t>
            </a:r>
            <a:r>
              <a:rPr lang="en-US" altLang="zh-CN" b="0" i="0">
                <a:solidFill>
                  <a:srgbClr val="0F1115"/>
                </a:solidFill>
                <a:latin typeface="quote-cjk-patch"/>
                <a:ea typeface="quote-cjk-patch"/>
              </a:rPr>
              <a:t>∶ 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endParaRPr lang="en-US" altLang="zh-CN" b="0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b="0" i="0">
                <a:solidFill>
                  <a:srgbClr val="0F1115"/>
                </a:solidFill>
                <a:latin typeface="quote-cjk-patch"/>
                <a:ea typeface="quote-cjk-patch"/>
              </a:rPr>
              <a:t>        fd1=open("/bin/test",o_RDONLY); 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endParaRPr lang="en-US" altLang="zh-CN" b="0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b="0" i="0">
                <a:solidFill>
                  <a:srgbClr val="0F1115"/>
                </a:solidFill>
                <a:latin typeface="quote-cjk-patch"/>
                <a:ea typeface="quote-cjk-patch"/>
              </a:rPr>
              <a:t>        fd2=open("/usr/bin/wangproc", o_RDWR);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endParaRPr lang="en-US" altLang="zh-CN" b="0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b="0" i="0">
                <a:solidFill>
                  <a:srgbClr val="0F1115"/>
                </a:solidFill>
                <a:latin typeface="quote-cjk-patch"/>
                <a:ea typeface="quote-cjk-patch"/>
              </a:rPr>
              <a:t>（</a:t>
            </a:r>
            <a:r>
              <a:rPr lang="en-US" altLang="zh-CN" b="0" i="0">
                <a:solidFill>
                  <a:srgbClr val="0F1115"/>
                </a:solidFill>
                <a:latin typeface="quote-cjk-patch"/>
                <a:ea typeface="quote-cjk-patch"/>
              </a:rPr>
              <a:t>2</a:t>
            </a:r>
            <a:r>
              <a:rPr lang="zh-CN" altLang="en-US" b="0" i="0">
                <a:solidFill>
                  <a:srgbClr val="0F1115"/>
                </a:solidFill>
                <a:latin typeface="quote-cjk-patch"/>
                <a:ea typeface="quote-cjk-patch"/>
              </a:rPr>
              <a:t>）</a:t>
            </a:r>
            <a:r>
              <a:rPr lang="en-US" altLang="zh-CN" b="0" i="0">
                <a:solidFill>
                  <a:srgbClr val="0F1115"/>
                </a:solidFill>
                <a:latin typeface="quote-cjk-patch"/>
                <a:ea typeface="quote-cjk-patch"/>
              </a:rPr>
              <a:t>P1</a:t>
            </a:r>
            <a:r>
              <a:rPr lang="zh-CN" altLang="en-US" b="0" i="0">
                <a:solidFill>
                  <a:srgbClr val="0F1115"/>
                </a:solidFill>
                <a:latin typeface="quote-cjk-patch"/>
                <a:ea typeface="quote-cjk-patch"/>
              </a:rPr>
              <a:t>进程创建的子进程</a:t>
            </a:r>
            <a:r>
              <a:rPr lang="en-US" altLang="zh-CN" b="0" i="0">
                <a:solidFill>
                  <a:srgbClr val="0F1115"/>
                </a:solidFill>
                <a:latin typeface="quote-cjk-patch"/>
                <a:ea typeface="quote-cjk-patch"/>
              </a:rPr>
              <a:t> P2 </a:t>
            </a:r>
            <a:r>
              <a:rPr lang="zh-CN" altLang="en-US" b="0" i="0">
                <a:solidFill>
                  <a:srgbClr val="0F1115"/>
                </a:solidFill>
                <a:latin typeface="quote-cjk-patch"/>
                <a:ea typeface="quote-cjk-patch"/>
              </a:rPr>
              <a:t>执行如下代码</a:t>
            </a:r>
            <a:r>
              <a:rPr lang="en-US" altLang="zh-CN" b="0" i="0">
                <a:solidFill>
                  <a:srgbClr val="0F1115"/>
                </a:solidFill>
                <a:latin typeface="quote-cjk-patch"/>
                <a:ea typeface="quote-cjk-patch"/>
              </a:rPr>
              <a:t>∶ 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endParaRPr lang="en-US" altLang="zh-CN" b="0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b="0" i="0">
                <a:solidFill>
                  <a:srgbClr val="0F1115"/>
                </a:solidFill>
                <a:latin typeface="quote-cjk-patch"/>
                <a:ea typeface="quote-cjk-patch"/>
              </a:rPr>
              <a:t>        fd3=open("/usr/bin/test.c",o_RDONLY);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endParaRPr lang="en-US" altLang="zh-CN" b="0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b="0" i="0">
                <a:solidFill>
                  <a:srgbClr val="0F1115"/>
                </a:solidFill>
                <a:latin typeface="quote-cjk-patch"/>
                <a:ea typeface="quote-cjk-patch"/>
              </a:rPr>
              <a:t>（</a:t>
            </a:r>
            <a:r>
              <a:rPr lang="en-US" altLang="zh-CN" b="0" i="0">
                <a:solidFill>
                  <a:srgbClr val="0F1115"/>
                </a:solidFill>
                <a:latin typeface="quote-cjk-patch"/>
                <a:ea typeface="quote-cjk-patch"/>
              </a:rPr>
              <a:t>3</a:t>
            </a:r>
            <a:r>
              <a:rPr lang="zh-CN" altLang="en-US" b="0" i="0">
                <a:solidFill>
                  <a:srgbClr val="0F1115"/>
                </a:solidFill>
                <a:latin typeface="quote-cjk-patch"/>
                <a:ea typeface="quote-cjk-patch"/>
              </a:rPr>
              <a:t>）</a:t>
            </a:r>
            <a:r>
              <a:rPr lang="en-US" altLang="zh-CN" b="0" i="0">
                <a:solidFill>
                  <a:srgbClr val="0F1115"/>
                </a:solidFill>
                <a:latin typeface="quote-cjk-patch"/>
                <a:ea typeface="quote-cjk-patch"/>
              </a:rPr>
              <a:t>P3</a:t>
            </a:r>
            <a:r>
              <a:rPr lang="zh-CN" altLang="en-US" b="0" i="0">
                <a:solidFill>
                  <a:srgbClr val="0F1115"/>
                </a:solidFill>
                <a:latin typeface="quote-cjk-patch"/>
                <a:ea typeface="quote-cjk-patch"/>
              </a:rPr>
              <a:t>进程执行如下代码</a:t>
            </a:r>
            <a:r>
              <a:rPr lang="en-US" altLang="zh-CN" b="0" i="0">
                <a:solidFill>
                  <a:srgbClr val="0F1115"/>
                </a:solidFill>
                <a:latin typeface="quote-cjk-patch"/>
                <a:ea typeface="quote-cjk-patch"/>
              </a:rPr>
              <a:t>∶ 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endParaRPr lang="en-US" altLang="zh-CN" b="0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b="0" i="0">
                <a:solidFill>
                  <a:srgbClr val="0F1115"/>
                </a:solidFill>
                <a:latin typeface="quote-cjk-patch"/>
                <a:ea typeface="quote-cjk-patch"/>
              </a:rPr>
              <a:t>        fd1=open("/etc/test",o_WRONLY); 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endParaRPr lang="en-US" altLang="zh-CN" b="0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b="0" i="0">
                <a:solidFill>
                  <a:srgbClr val="0F1115"/>
                </a:solidFill>
                <a:latin typeface="quote-cjk-patch"/>
                <a:ea typeface="quote-cjk-patch"/>
              </a:rPr>
              <a:t>请画出进程打开文件表</a:t>
            </a:r>
            <a:r>
              <a:rPr lang="en-US" altLang="zh-CN" b="0" i="0">
                <a:solidFill>
                  <a:srgbClr val="0F1115"/>
                </a:solidFill>
                <a:latin typeface="quote-cjk-patch"/>
                <a:ea typeface="quote-cjk-patch"/>
              </a:rPr>
              <a:t>u_ofile[]</a:t>
            </a:r>
            <a:r>
              <a:rPr lang="zh-CN" altLang="en-US" b="0" i="0">
                <a:solidFill>
                  <a:srgbClr val="0F1115"/>
                </a:solidFill>
                <a:latin typeface="quote-cjk-patch"/>
                <a:ea typeface="quote-cjk-patch"/>
              </a:rPr>
              <a:t>、系统打开文件表</a:t>
            </a:r>
            <a:r>
              <a:rPr lang="en-US" altLang="zh-CN" b="0" i="0">
                <a:solidFill>
                  <a:srgbClr val="0F1115"/>
                </a:solidFill>
                <a:latin typeface="quote-cjk-patch"/>
                <a:ea typeface="quote-cjk-patch"/>
              </a:rPr>
              <a:t>file[]</a:t>
            </a:r>
            <a:r>
              <a:rPr lang="zh-CN" altLang="en-US" b="0" i="0">
                <a:solidFill>
                  <a:srgbClr val="0F1115"/>
                </a:solidFill>
                <a:latin typeface="quote-cjk-patch"/>
                <a:ea typeface="quote-cjk-patch"/>
              </a:rPr>
              <a:t>和内存索引节点表</a:t>
            </a:r>
            <a:r>
              <a:rPr lang="en-US" altLang="zh-CN" b="0" i="0">
                <a:solidFill>
                  <a:srgbClr val="0F1115"/>
                </a:solidFill>
                <a:latin typeface="quote-cjk-patch"/>
                <a:ea typeface="quote-cjk-patch"/>
              </a:rPr>
              <a:t>i_node</a:t>
            </a:r>
            <a:r>
              <a:rPr lang="zh-CN" altLang="en-US" b="0" i="0">
                <a:solidFill>
                  <a:srgbClr val="0F1115"/>
                </a:solidFill>
                <a:latin typeface="quote-cjk-patch"/>
                <a:ea typeface="quote-cjk-patch"/>
              </a:rPr>
              <a:t>之间的关系图。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700" y="39370"/>
            <a:ext cx="9144000" cy="68580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569074"/>
            <a:ext cx="9109075" cy="288925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 rot="21600000">
            <a:off x="3059112" y="6669087"/>
            <a:ext cx="6084887" cy="188911"/>
            <a:chOff x="0" y="0"/>
            <a:chExt cx="6084887" cy="188911"/>
          </a:xfrm>
        </p:grpSpPr>
        <p:pic>
          <p:nvPicPr>
            <p:cNvPr id="46" name="picture 4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6084887" cy="188911"/>
            </a:xfrm>
            <a:prstGeom prst="rect">
              <a:avLst/>
            </a:prstGeom>
          </p:spPr>
        </p:pic>
        <p:sp>
          <p:nvSpPr>
            <p:cNvPr id="48" name="textbox 48"/>
            <p:cNvSpPr/>
            <p:nvPr/>
          </p:nvSpPr>
          <p:spPr>
            <a:xfrm>
              <a:off x="-12700" y="-12700"/>
              <a:ext cx="6110605" cy="2413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</a:pPr>
              <a:endParaRPr sz="4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078865" algn="l" rtl="0" eaLnBrk="0">
                <a:lnSpc>
                  <a:spcPct val="74000"/>
                </a:lnSpc>
                <a:spcBef>
                  <a:spcPts val="5"/>
                </a:spcBef>
              </a:pPr>
              <a:r>
                <a:rPr sz="1200" kern="0" spc="0" dirty="0">
                  <a:solidFill>
                    <a:srgbClr val="80808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OS Curriculum                                     </a:t>
              </a:r>
              <a:r>
                <a:rPr sz="1200" kern="0" spc="-10" dirty="0">
                  <a:solidFill>
                    <a:srgbClr val="80808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                                 </a:t>
              </a:r>
              <a:r>
                <a:rPr sz="1200" kern="0" spc="-10" dirty="0">
                  <a:solidFill>
                    <a:srgbClr val="B2B2B2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-4-</a:t>
              </a:r>
              <a:endParaRPr sz="12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</p:grpSp>
      <p:sp>
        <p:nvSpPr>
          <p:cNvPr id="50" name="textbox 50"/>
          <p:cNvSpPr/>
          <p:nvPr/>
        </p:nvSpPr>
        <p:spPr>
          <a:xfrm>
            <a:off x="460667" y="240842"/>
            <a:ext cx="3215640" cy="3911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r>
              <a:rPr lang="zh-CN" sz="2800" kern="0" spc="-10" dirty="0">
                <a:solidFill>
                  <a:srgbClr val="FFFF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习题</a:t>
            </a:r>
          </a:p>
        </p:txBody>
      </p:sp>
      <p:sp>
        <p:nvSpPr>
          <p:cNvPr id="54" name="textbox 54"/>
          <p:cNvSpPr/>
          <p:nvPr/>
        </p:nvSpPr>
        <p:spPr>
          <a:xfrm>
            <a:off x="968647" y="6706006"/>
            <a:ext cx="1123315" cy="1860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1200" kern="0" spc="0" dirty="0">
                <a:solidFill>
                  <a:srgbClr val="5F5F5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Xidian Univers</a:t>
            </a:r>
            <a:r>
              <a:rPr sz="1200" kern="0" spc="-10" dirty="0">
                <a:solidFill>
                  <a:srgbClr val="5F5F5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ity</a:t>
            </a:r>
            <a:endParaRPr sz="12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99085" y="1061085"/>
            <a:ext cx="8565515" cy="36925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b="0" i="0">
                <a:solidFill>
                  <a:srgbClr val="0F1115"/>
                </a:solidFill>
                <a:latin typeface="quote-cjk-patch"/>
                <a:ea typeface="quote-cjk-patch"/>
              </a:rPr>
              <a:t>6.</a:t>
            </a:r>
            <a:r>
              <a:rPr lang="zh-CN" altLang="en-US" b="0" i="0">
                <a:solidFill>
                  <a:srgbClr val="0F1115"/>
                </a:solidFill>
                <a:latin typeface="quote-cjk-patch"/>
                <a:ea typeface="quote-cjk-patch"/>
              </a:rPr>
              <a:t>假如当前磁头位于</a:t>
            </a:r>
            <a:r>
              <a:rPr lang="en-US" altLang="zh-CN" b="0" i="0">
                <a:solidFill>
                  <a:srgbClr val="0F1115"/>
                </a:solidFill>
                <a:latin typeface="quote-cjk-patch"/>
                <a:ea typeface="quote-cjk-patch"/>
              </a:rPr>
              <a:t> 1</a:t>
            </a:r>
            <a:r>
              <a:rPr lang="zh-CN" altLang="en-US" b="0" i="0">
                <a:solidFill>
                  <a:srgbClr val="0F1115"/>
                </a:solidFill>
                <a:latin typeface="quote-cjk-patch"/>
                <a:ea typeface="quote-cjk-patch"/>
              </a:rPr>
              <a:t>号柱面，用户进程对磁盘的请求如下表所示。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b="0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b="0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b="0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b="0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b="0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b="0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b="0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b="0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b="0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b="0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b="0" i="0">
                <a:solidFill>
                  <a:srgbClr val="0F1115"/>
                </a:solidFill>
                <a:latin typeface="quote-cjk-patch"/>
                <a:ea typeface="quote-cjk-patch"/>
              </a:rPr>
              <a:t>试分析对这</a:t>
            </a:r>
            <a:r>
              <a:rPr lang="en-US" altLang="zh-CN" b="0" i="0">
                <a:solidFill>
                  <a:srgbClr val="0F1115"/>
                </a:solidFill>
                <a:latin typeface="quote-cjk-patch"/>
                <a:ea typeface="quote-cjk-patch"/>
              </a:rPr>
              <a:t> 5</a:t>
            </a:r>
            <a:r>
              <a:rPr lang="zh-CN" altLang="en-US" b="0" i="0">
                <a:solidFill>
                  <a:srgbClr val="0F1115"/>
                </a:solidFill>
                <a:latin typeface="quote-cjk-patch"/>
                <a:ea typeface="quote-cjk-patch"/>
              </a:rPr>
              <a:t>个请求如何调度，可使磁盘的旋转圈数最少？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b="0" i="0">
              <a:solidFill>
                <a:srgbClr val="0F1115"/>
              </a:solidFill>
              <a:latin typeface="quote-cjk-patch"/>
              <a:ea typeface="quote-cjk-patch"/>
            </a:endParaRPr>
          </a:p>
        </p:txBody>
      </p:sp>
      <p:pic>
        <p:nvPicPr>
          <p:cNvPr id="4" name="图片 3" descr="origi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6080" y="1706245"/>
            <a:ext cx="6477000" cy="22891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700" y="39370"/>
            <a:ext cx="9144000" cy="68580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569074"/>
            <a:ext cx="9109075" cy="288925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 rot="21600000">
            <a:off x="3059112" y="6669087"/>
            <a:ext cx="6084887" cy="188911"/>
            <a:chOff x="0" y="0"/>
            <a:chExt cx="6084887" cy="188911"/>
          </a:xfrm>
        </p:grpSpPr>
        <p:pic>
          <p:nvPicPr>
            <p:cNvPr id="46" name="picture 4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6084887" cy="188911"/>
            </a:xfrm>
            <a:prstGeom prst="rect">
              <a:avLst/>
            </a:prstGeom>
          </p:spPr>
        </p:pic>
        <p:sp>
          <p:nvSpPr>
            <p:cNvPr id="48" name="textbox 48"/>
            <p:cNvSpPr/>
            <p:nvPr/>
          </p:nvSpPr>
          <p:spPr>
            <a:xfrm>
              <a:off x="-12700" y="-12700"/>
              <a:ext cx="6110605" cy="2413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</a:pPr>
              <a:endParaRPr sz="4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078865" algn="l" rtl="0" eaLnBrk="0">
                <a:lnSpc>
                  <a:spcPct val="74000"/>
                </a:lnSpc>
                <a:spcBef>
                  <a:spcPts val="5"/>
                </a:spcBef>
              </a:pPr>
              <a:r>
                <a:rPr sz="1200" kern="0" spc="0" dirty="0">
                  <a:solidFill>
                    <a:srgbClr val="80808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OS Curriculum                                     </a:t>
              </a:r>
              <a:r>
                <a:rPr sz="1200" kern="0" spc="-10" dirty="0">
                  <a:solidFill>
                    <a:srgbClr val="80808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                                 </a:t>
              </a:r>
              <a:r>
                <a:rPr sz="1200" kern="0" spc="-10" dirty="0">
                  <a:solidFill>
                    <a:srgbClr val="B2B2B2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-4-</a:t>
              </a:r>
              <a:endParaRPr sz="12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</p:grpSp>
      <p:sp>
        <p:nvSpPr>
          <p:cNvPr id="50" name="textbox 50"/>
          <p:cNvSpPr/>
          <p:nvPr/>
        </p:nvSpPr>
        <p:spPr>
          <a:xfrm>
            <a:off x="460667" y="240842"/>
            <a:ext cx="3215640" cy="3911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r>
              <a:rPr lang="zh-CN" sz="2800" kern="0" spc="-10" dirty="0">
                <a:solidFill>
                  <a:srgbClr val="FFFF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习题</a:t>
            </a:r>
          </a:p>
        </p:txBody>
      </p:sp>
      <p:sp>
        <p:nvSpPr>
          <p:cNvPr id="54" name="textbox 54"/>
          <p:cNvSpPr/>
          <p:nvPr/>
        </p:nvSpPr>
        <p:spPr>
          <a:xfrm>
            <a:off x="968647" y="6706006"/>
            <a:ext cx="1123315" cy="1860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1200" kern="0" spc="0" dirty="0">
                <a:solidFill>
                  <a:srgbClr val="5F5F5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Xidian Univers</a:t>
            </a:r>
            <a:r>
              <a:rPr sz="1200" kern="0" spc="-10" dirty="0">
                <a:solidFill>
                  <a:srgbClr val="5F5F5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ity</a:t>
            </a:r>
            <a:endParaRPr sz="12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99085" y="1061085"/>
            <a:ext cx="8565515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b="0" i="0" dirty="0">
                <a:solidFill>
                  <a:srgbClr val="0F1115"/>
                </a:solidFill>
                <a:latin typeface="quote-cjk-patch"/>
                <a:ea typeface="quote-cjk-patch"/>
              </a:rPr>
              <a:t>7.UNIX </a:t>
            </a:r>
            <a:r>
              <a:rPr lang="zh-CN" altLang="en-US" b="0" i="0" dirty="0">
                <a:solidFill>
                  <a:srgbClr val="0F1115"/>
                </a:solidFill>
                <a:latin typeface="quote-cjk-patch"/>
                <a:ea typeface="quote-cjk-patch"/>
              </a:rPr>
              <a:t>系统专用块及空闲盘块情况如下图所示。请问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b="0" i="0" dirty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b="0" i="0" dirty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b="0" i="0" dirty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b="0" i="0" dirty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b="0" i="0" dirty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b="0" i="0" dirty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b="0" i="0" dirty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b="0" i="0" dirty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b="0" i="0" dirty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b="0" i="0" dirty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b="0" i="0" dirty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b="0" i="0" dirty="0">
                <a:solidFill>
                  <a:srgbClr val="0F1115"/>
                </a:solidFill>
                <a:latin typeface="quote-cjk-patch"/>
                <a:ea typeface="quote-cjk-patch"/>
              </a:rPr>
              <a:t>（</a:t>
            </a:r>
            <a:r>
              <a:rPr lang="en-US" altLang="zh-CN" b="0" i="0" dirty="0">
                <a:solidFill>
                  <a:srgbClr val="0F1115"/>
                </a:solidFill>
                <a:latin typeface="quote-cjk-patch"/>
                <a:ea typeface="quote-cjk-patch"/>
              </a:rPr>
              <a:t>1</a:t>
            </a:r>
            <a:r>
              <a:rPr lang="zh-CN" altLang="en-US" b="0" i="0" dirty="0">
                <a:solidFill>
                  <a:srgbClr val="0F1115"/>
                </a:solidFill>
                <a:latin typeface="quote-cjk-patch"/>
                <a:ea typeface="quote-cjk-patch"/>
              </a:rPr>
              <a:t>）每一组的第一个物理块的作用是什么</a:t>
            </a:r>
            <a:r>
              <a:rPr lang="en-US" altLang="zh-CN" b="0" i="0" dirty="0">
                <a:solidFill>
                  <a:srgbClr val="0F1115"/>
                </a:solidFill>
                <a:latin typeface="quote-cjk-patch"/>
                <a:ea typeface="quote-cjk-patch"/>
              </a:rPr>
              <a:t>? 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b="0" i="0" dirty="0" smtClean="0">
                <a:solidFill>
                  <a:srgbClr val="0F1115"/>
                </a:solidFill>
                <a:latin typeface="quote-cjk-patch"/>
                <a:ea typeface="quote-cjk-patch"/>
              </a:rPr>
              <a:t>（</a:t>
            </a:r>
            <a:r>
              <a:rPr lang="en-US" altLang="zh-CN" dirty="0">
                <a:solidFill>
                  <a:srgbClr val="0F1115"/>
                </a:solidFill>
                <a:latin typeface="quote-cjk-patch"/>
                <a:ea typeface="quote-cjk-patch"/>
              </a:rPr>
              <a:t>2</a:t>
            </a:r>
            <a:r>
              <a:rPr lang="zh-CN" altLang="en-US" b="0" i="0" dirty="0" smtClean="0">
                <a:solidFill>
                  <a:srgbClr val="0F1115"/>
                </a:solidFill>
                <a:latin typeface="quote-cjk-patch"/>
                <a:ea typeface="quote-cjk-patch"/>
              </a:rPr>
              <a:t>）</a:t>
            </a:r>
            <a:r>
              <a:rPr lang="zh-CN" altLang="en-US" b="0" i="0" dirty="0">
                <a:solidFill>
                  <a:srgbClr val="0F1115"/>
                </a:solidFill>
                <a:latin typeface="quote-cjk-patch"/>
                <a:ea typeface="quote-cjk-patch"/>
              </a:rPr>
              <a:t>当用户释放了</a:t>
            </a:r>
            <a:r>
              <a:rPr lang="en-US" altLang="zh-CN" b="0" i="0" dirty="0">
                <a:solidFill>
                  <a:srgbClr val="0F1115"/>
                </a:solidFill>
                <a:latin typeface="quote-cjk-patch"/>
                <a:ea typeface="quote-cjk-patch"/>
              </a:rPr>
              <a:t> 78#</a:t>
            </a:r>
            <a:r>
              <a:rPr lang="zh-CN" altLang="en-US" b="0" i="0" dirty="0">
                <a:solidFill>
                  <a:srgbClr val="0F1115"/>
                </a:solidFill>
                <a:latin typeface="quote-cjk-patch"/>
                <a:ea typeface="quote-cjk-patch"/>
              </a:rPr>
              <a:t>，</a:t>
            </a:r>
            <a:r>
              <a:rPr lang="en-US" altLang="zh-CN" b="0" i="0" dirty="0">
                <a:solidFill>
                  <a:srgbClr val="0F1115"/>
                </a:solidFill>
                <a:latin typeface="quote-cjk-patch"/>
                <a:ea typeface="quote-cjk-patch"/>
              </a:rPr>
              <a:t>89#</a:t>
            </a:r>
            <a:r>
              <a:rPr lang="zh-CN" altLang="en-US" b="0" i="0" dirty="0">
                <a:solidFill>
                  <a:srgbClr val="0F1115"/>
                </a:solidFill>
                <a:latin typeface="quote-cjk-patch"/>
                <a:ea typeface="quote-cjk-patch"/>
              </a:rPr>
              <a:t>，</a:t>
            </a:r>
            <a:r>
              <a:rPr lang="en-US" altLang="zh-CN" b="0" i="0" dirty="0">
                <a:solidFill>
                  <a:srgbClr val="0F1115"/>
                </a:solidFill>
                <a:latin typeface="quote-cjk-patch"/>
                <a:ea typeface="quote-cjk-patch"/>
              </a:rPr>
              <a:t>108#</a:t>
            </a:r>
            <a:r>
              <a:rPr lang="zh-CN" altLang="en-US" b="0" i="0" dirty="0">
                <a:solidFill>
                  <a:srgbClr val="0F1115"/>
                </a:solidFill>
                <a:latin typeface="quote-cjk-patch"/>
                <a:ea typeface="quote-cjk-patch"/>
              </a:rPr>
              <a:t>和</a:t>
            </a:r>
            <a:r>
              <a:rPr lang="en-US" altLang="zh-CN" b="0" i="0" dirty="0">
                <a:solidFill>
                  <a:srgbClr val="0F1115"/>
                </a:solidFill>
                <a:latin typeface="quote-cjk-patch"/>
                <a:ea typeface="quote-cjk-patch"/>
              </a:rPr>
              <a:t>204#</a:t>
            </a:r>
            <a:r>
              <a:rPr lang="zh-CN" altLang="en-US" b="0" i="0" dirty="0">
                <a:solidFill>
                  <a:srgbClr val="0F1115"/>
                </a:solidFill>
                <a:latin typeface="quote-cjk-patch"/>
                <a:ea typeface="quote-cjk-patch"/>
              </a:rPr>
              <a:t>物理块，专用块中的空闲块索引表</a:t>
            </a:r>
            <a:r>
              <a:rPr lang="en-US" altLang="zh-CN" b="0" i="0" dirty="0">
                <a:solidFill>
                  <a:srgbClr val="0F1115"/>
                </a:solidFill>
                <a:latin typeface="quote-cjk-patch"/>
                <a:ea typeface="quote-cjk-patch"/>
              </a:rPr>
              <a:t> </a:t>
            </a:r>
            <a:r>
              <a:rPr lang="en-US" altLang="zh-CN" b="0" i="0" dirty="0" err="1">
                <a:solidFill>
                  <a:srgbClr val="0F1115"/>
                </a:solidFill>
                <a:latin typeface="quote-cjk-patch"/>
                <a:ea typeface="quote-cjk-patch"/>
              </a:rPr>
              <a:t>filsys</a:t>
            </a:r>
            <a:r>
              <a:rPr lang="zh-CN" altLang="en-US" b="0" i="0" dirty="0">
                <a:solidFill>
                  <a:srgbClr val="0F1115"/>
                </a:solidFill>
                <a:latin typeface="quote-cjk-patch"/>
                <a:ea typeface="quote-cjk-patch"/>
              </a:rPr>
              <a:t>的变化情况又如何</a:t>
            </a:r>
            <a:r>
              <a:rPr lang="en-US" altLang="zh-CN" b="0" i="0" dirty="0">
                <a:solidFill>
                  <a:srgbClr val="0F1115"/>
                </a:solidFill>
                <a:latin typeface="quote-cjk-patch"/>
                <a:ea typeface="quote-cjk-patch"/>
              </a:rPr>
              <a:t>? 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b="0" i="0" dirty="0" smtClean="0">
                <a:solidFill>
                  <a:srgbClr val="0F1115"/>
                </a:solidFill>
                <a:latin typeface="quote-cjk-patch"/>
                <a:ea typeface="quote-cjk-patch"/>
              </a:rPr>
              <a:t>（</a:t>
            </a:r>
            <a:r>
              <a:rPr lang="en-US" altLang="zh-CN" dirty="0">
                <a:solidFill>
                  <a:srgbClr val="0F1115"/>
                </a:solidFill>
                <a:latin typeface="quote-cjk-patch"/>
                <a:ea typeface="quote-cjk-patch"/>
              </a:rPr>
              <a:t>3</a:t>
            </a:r>
            <a:r>
              <a:rPr lang="zh-CN" altLang="en-US" b="0" i="0" smtClean="0">
                <a:solidFill>
                  <a:srgbClr val="0F1115"/>
                </a:solidFill>
                <a:latin typeface="quote-cjk-patch"/>
                <a:ea typeface="quote-cjk-patch"/>
              </a:rPr>
              <a:t>）</a:t>
            </a:r>
            <a:r>
              <a:rPr lang="zh-CN" altLang="en-US" b="0" i="0" dirty="0">
                <a:solidFill>
                  <a:srgbClr val="0F1115"/>
                </a:solidFill>
                <a:latin typeface="quote-cjk-patch"/>
                <a:ea typeface="quote-cjk-patch"/>
              </a:rPr>
              <a:t>当用户又申请</a:t>
            </a:r>
            <a:r>
              <a:rPr lang="en-US" altLang="zh-CN" b="0" i="0" dirty="0">
                <a:solidFill>
                  <a:srgbClr val="0F1115"/>
                </a:solidFill>
                <a:latin typeface="quote-cjk-patch"/>
                <a:ea typeface="quote-cjk-patch"/>
              </a:rPr>
              <a:t>5</a:t>
            </a:r>
            <a:r>
              <a:rPr lang="zh-CN" altLang="en-US" b="0" i="0" dirty="0">
                <a:solidFill>
                  <a:srgbClr val="0F1115"/>
                </a:solidFill>
                <a:latin typeface="quote-cjk-patch"/>
                <a:ea typeface="quote-cjk-patch"/>
              </a:rPr>
              <a:t>个物理块，专用块中的空闲块索引表</a:t>
            </a:r>
            <a:r>
              <a:rPr lang="en-US" altLang="zh-CN" b="0" i="0" dirty="0">
                <a:solidFill>
                  <a:srgbClr val="0F1115"/>
                </a:solidFill>
                <a:latin typeface="quote-cjk-patch"/>
                <a:ea typeface="quote-cjk-patch"/>
              </a:rPr>
              <a:t> </a:t>
            </a:r>
            <a:r>
              <a:rPr lang="en-US" altLang="zh-CN" b="0" i="0" dirty="0" err="1">
                <a:solidFill>
                  <a:srgbClr val="0F1115"/>
                </a:solidFill>
                <a:latin typeface="quote-cjk-patch"/>
                <a:ea typeface="quote-cjk-patch"/>
              </a:rPr>
              <a:t>filsys</a:t>
            </a:r>
            <a:r>
              <a:rPr lang="en-US" altLang="zh-CN" b="0" i="0" dirty="0">
                <a:solidFill>
                  <a:srgbClr val="0F1115"/>
                </a:solidFill>
                <a:latin typeface="quote-cjk-patch"/>
                <a:ea typeface="quote-cjk-patch"/>
              </a:rPr>
              <a:t> </a:t>
            </a:r>
            <a:r>
              <a:rPr lang="zh-CN" altLang="en-US" b="0" i="0" dirty="0">
                <a:solidFill>
                  <a:srgbClr val="0F1115"/>
                </a:solidFill>
                <a:latin typeface="quote-cjk-patch"/>
                <a:ea typeface="quote-cjk-patch"/>
              </a:rPr>
              <a:t>的变化情况又如何</a:t>
            </a:r>
            <a:r>
              <a:rPr lang="en-US" altLang="zh-CN" b="0" i="0" dirty="0">
                <a:solidFill>
                  <a:srgbClr val="0F1115"/>
                </a:solidFill>
                <a:latin typeface="quote-cjk-patch"/>
                <a:ea typeface="quote-cjk-patch"/>
              </a:rPr>
              <a:t>?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b="0" i="0" dirty="0">
              <a:solidFill>
                <a:srgbClr val="0F1115"/>
              </a:solidFill>
              <a:latin typeface="quote-cjk-patch"/>
              <a:ea typeface="quote-cjk-patch"/>
            </a:endParaRPr>
          </a:p>
        </p:txBody>
      </p:sp>
      <p:pic>
        <p:nvPicPr>
          <p:cNvPr id="3" name="图片 2" descr="origin (1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4095" y="1568450"/>
            <a:ext cx="2061845" cy="27254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700" y="39370"/>
            <a:ext cx="9144000" cy="68580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569074"/>
            <a:ext cx="9109075" cy="288925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 rot="21600000">
            <a:off x="3059112" y="6669087"/>
            <a:ext cx="6084887" cy="188911"/>
            <a:chOff x="0" y="0"/>
            <a:chExt cx="6084887" cy="188911"/>
          </a:xfrm>
        </p:grpSpPr>
        <p:pic>
          <p:nvPicPr>
            <p:cNvPr id="46" name="picture 4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6084887" cy="188911"/>
            </a:xfrm>
            <a:prstGeom prst="rect">
              <a:avLst/>
            </a:prstGeom>
          </p:spPr>
        </p:pic>
        <p:sp>
          <p:nvSpPr>
            <p:cNvPr id="48" name="textbox 48"/>
            <p:cNvSpPr/>
            <p:nvPr/>
          </p:nvSpPr>
          <p:spPr>
            <a:xfrm>
              <a:off x="-12700" y="-12700"/>
              <a:ext cx="6110605" cy="2413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</a:pPr>
              <a:endParaRPr sz="4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078865" algn="l" rtl="0" eaLnBrk="0">
                <a:lnSpc>
                  <a:spcPct val="74000"/>
                </a:lnSpc>
                <a:spcBef>
                  <a:spcPts val="5"/>
                </a:spcBef>
              </a:pPr>
              <a:r>
                <a:rPr sz="1200" kern="0" spc="0" dirty="0">
                  <a:solidFill>
                    <a:srgbClr val="80808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OS Curriculum                                     </a:t>
              </a:r>
              <a:r>
                <a:rPr sz="1200" kern="0" spc="-10" dirty="0">
                  <a:solidFill>
                    <a:srgbClr val="80808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                                 </a:t>
              </a:r>
              <a:r>
                <a:rPr sz="1200" kern="0" spc="-10" dirty="0">
                  <a:solidFill>
                    <a:srgbClr val="B2B2B2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-4-</a:t>
              </a:r>
              <a:endParaRPr sz="12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</p:grpSp>
      <p:sp>
        <p:nvSpPr>
          <p:cNvPr id="50" name="textbox 50"/>
          <p:cNvSpPr/>
          <p:nvPr/>
        </p:nvSpPr>
        <p:spPr>
          <a:xfrm>
            <a:off x="460667" y="240842"/>
            <a:ext cx="3215640" cy="3911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r>
              <a:rPr lang="zh-CN" sz="2800" kern="0" spc="-10" dirty="0">
                <a:solidFill>
                  <a:srgbClr val="FFFF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习题</a:t>
            </a:r>
          </a:p>
        </p:txBody>
      </p:sp>
      <p:sp>
        <p:nvSpPr>
          <p:cNvPr id="54" name="textbox 54"/>
          <p:cNvSpPr/>
          <p:nvPr/>
        </p:nvSpPr>
        <p:spPr>
          <a:xfrm>
            <a:off x="968647" y="6706006"/>
            <a:ext cx="1123315" cy="1860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1200" kern="0" spc="0" dirty="0">
                <a:solidFill>
                  <a:srgbClr val="5F5F5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Xidian Univers</a:t>
            </a:r>
            <a:r>
              <a:rPr sz="1200" kern="0" spc="-10" dirty="0">
                <a:solidFill>
                  <a:srgbClr val="5F5F5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ity</a:t>
            </a:r>
            <a:endParaRPr sz="12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99085" y="1061085"/>
            <a:ext cx="8565515" cy="2245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000" b="0" i="0">
                <a:solidFill>
                  <a:srgbClr val="0F1115"/>
                </a:solidFill>
                <a:latin typeface="quote-cjk-patch"/>
                <a:ea typeface="quote-cjk-patch"/>
              </a:rPr>
              <a:t>8. </a:t>
            </a:r>
            <a:r>
              <a:rPr lang="zh-CN" altLang="en-US" sz="2000" b="0" i="0">
                <a:solidFill>
                  <a:srgbClr val="0F1115"/>
                </a:solidFill>
                <a:latin typeface="quote-cjk-patch"/>
                <a:ea typeface="quote-cjk-patch"/>
              </a:rPr>
              <a:t>某磁盘转速为 7200 </a:t>
            </a:r>
            <a:r>
              <a:rPr lang="en-US" altLang="zh-CN" sz="2000" b="0" i="0">
                <a:solidFill>
                  <a:srgbClr val="0F1115"/>
                </a:solidFill>
                <a:latin typeface="quote-cjk-patch"/>
                <a:ea typeface="quote-cjk-patch"/>
              </a:rPr>
              <a:t>RPM（</a:t>
            </a:r>
            <a:r>
              <a:rPr lang="zh-CN" altLang="en-US" sz="2000" b="0" i="0">
                <a:solidFill>
                  <a:srgbClr val="0F1115"/>
                </a:solidFill>
                <a:latin typeface="quote-cjk-patch"/>
                <a:ea typeface="quote-cjk-patch"/>
              </a:rPr>
              <a:t>转/分钟），平均寻道时间为 8 </a:t>
            </a:r>
            <a:r>
              <a:rPr lang="en-US" altLang="zh-CN" sz="2000" b="0" i="0">
                <a:solidFill>
                  <a:srgbClr val="0F1115"/>
                </a:solidFill>
                <a:latin typeface="quote-cjk-patch"/>
                <a:ea typeface="quote-cjk-patch"/>
              </a:rPr>
              <a:t>ms，</a:t>
            </a:r>
            <a:r>
              <a:rPr lang="zh-CN" altLang="en-US" sz="2000" b="0" i="0">
                <a:solidFill>
                  <a:srgbClr val="0F1115"/>
                </a:solidFill>
                <a:latin typeface="quote-cjk-patch"/>
                <a:ea typeface="quote-cjk-patch"/>
              </a:rPr>
              <a:t>磁道内数据块传输速率为 40 </a:t>
            </a:r>
            <a:r>
              <a:rPr lang="en-US" altLang="zh-CN" sz="2000" b="0" i="0">
                <a:solidFill>
                  <a:srgbClr val="0F1115"/>
                </a:solidFill>
                <a:latin typeface="quote-cjk-patch"/>
                <a:ea typeface="quote-cjk-patch"/>
              </a:rPr>
              <a:t>MB/s。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2000" b="0" i="0">
                <a:solidFill>
                  <a:srgbClr val="0F1115"/>
                </a:solidFill>
                <a:latin typeface="quote-cjk-patch"/>
                <a:ea typeface="quote-cjk-patch"/>
              </a:rPr>
              <a:t>（1）计算该磁盘的平均旋转延迟。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2000" b="0" i="0">
                <a:solidFill>
                  <a:srgbClr val="0F1115"/>
                </a:solidFill>
                <a:latin typeface="quote-cjk-patch"/>
                <a:ea typeface="quote-cjk-patch"/>
              </a:rPr>
              <a:t>（2）若读取一个大小为 4 </a:t>
            </a:r>
            <a:r>
              <a:rPr lang="en-US" altLang="zh-CN" sz="2000" b="0" i="0">
                <a:solidFill>
                  <a:srgbClr val="0F1115"/>
                </a:solidFill>
                <a:latin typeface="quote-cjk-patch"/>
                <a:ea typeface="quote-cjk-patch"/>
              </a:rPr>
              <a:t>KB </a:t>
            </a:r>
            <a:r>
              <a:rPr lang="zh-CN" altLang="en-US" sz="2000" b="0" i="0">
                <a:solidFill>
                  <a:srgbClr val="0F1115"/>
                </a:solidFill>
                <a:latin typeface="quote-cjk-patch"/>
                <a:ea typeface="quote-cjk-patch"/>
              </a:rPr>
              <a:t>的扇区，忽略寻道时间，仅考虑旋转延迟和传输时间，求平均读取时间。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2000" b="0" i="0">
                <a:solidFill>
                  <a:srgbClr val="0F1115"/>
                </a:solidFill>
                <a:latin typeface="quote-cjk-patch"/>
                <a:ea typeface="quote-cjk-patch"/>
              </a:rPr>
              <a:t>（3）若文件随机分布在磁盘各处（每次访问都需要寻道+旋转+传输），求读取一个 4 </a:t>
            </a:r>
            <a:r>
              <a:rPr lang="en-US" altLang="zh-CN" sz="2000" b="0" i="0">
                <a:solidFill>
                  <a:srgbClr val="0F1115"/>
                </a:solidFill>
                <a:latin typeface="quote-cjk-patch"/>
                <a:ea typeface="quote-cjk-patch"/>
              </a:rPr>
              <a:t>KB </a:t>
            </a:r>
            <a:r>
              <a:rPr lang="zh-CN" altLang="en-US" sz="2000" b="0" i="0">
                <a:solidFill>
                  <a:srgbClr val="0F1115"/>
                </a:solidFill>
                <a:latin typeface="quote-cjk-patch"/>
                <a:ea typeface="quote-cjk-patch"/>
              </a:rPr>
              <a:t>扇区的平均总时间。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615</Words>
  <Application>Microsoft Office PowerPoint</Application>
  <PresentationFormat>全屏显示(4:3)</PresentationFormat>
  <Paragraphs>124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6" baseType="lpstr">
      <vt:lpstr>PingFang SC</vt:lpstr>
      <vt:lpstr>quote-cjk-patch</vt:lpstr>
      <vt:lpstr>宋体</vt:lpstr>
      <vt:lpstr>Arial</vt:lpstr>
      <vt:lpstr>Calibri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k</cp:lastModifiedBy>
  <cp:revision>77</cp:revision>
  <dcterms:created xsi:type="dcterms:W3CDTF">2026-05-18T10:38:00Z</dcterms:created>
  <dcterms:modified xsi:type="dcterms:W3CDTF">2026-05-19T01:38:35Z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wqlLaW5nc29mdCBQREYgdG8gV1BTIDExMA</vt:lpwstr>
  </property>
  <property fmtid="{D5CDD505-2E9C-101B-9397-08002B2CF9AE}" pid="3" name="Created">
    <vt:filetime>2026-04-04T01:12:42Z</vt:filetime>
  </property>
  <property fmtid="{D5CDD505-2E9C-101B-9397-08002B2CF9AE}" pid="4" name="ICV">
    <vt:lpwstr>8191D164B67276AB57C3CD69A45197B2_42</vt:lpwstr>
  </property>
  <property fmtid="{D5CDD505-2E9C-101B-9397-08002B2CF9AE}" pid="5" name="KSOProductBuildVer">
    <vt:lpwstr>2052-12.1.0.25865</vt:lpwstr>
  </property>
</Properties>
</file>