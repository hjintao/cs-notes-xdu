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3"/>
  </p:handoutMasterIdLst>
  <p:sldIdLst>
    <p:sldId id="406" r:id="rId3"/>
    <p:sldId id="462" r:id="rId5"/>
    <p:sldId id="455" r:id="rId6"/>
    <p:sldId id="456" r:id="rId7"/>
    <p:sldId id="457" r:id="rId8"/>
    <p:sldId id="458" r:id="rId9"/>
    <p:sldId id="459" r:id="rId10"/>
    <p:sldId id="460" r:id="rId11"/>
    <p:sldId id="461" r:id="rId12"/>
    <p:sldId id="409" r:id="rId13"/>
    <p:sldId id="410" r:id="rId14"/>
    <p:sldId id="411" r:id="rId15"/>
    <p:sldId id="412" r:id="rId16"/>
    <p:sldId id="413" r:id="rId17"/>
    <p:sldId id="414" r:id="rId18"/>
    <p:sldId id="415" r:id="rId19"/>
    <p:sldId id="467" r:id="rId20"/>
    <p:sldId id="468" r:id="rId21"/>
    <p:sldId id="469" r:id="rId22"/>
    <p:sldId id="470" r:id="rId23"/>
    <p:sldId id="516" r:id="rId24"/>
    <p:sldId id="517" r:id="rId25"/>
    <p:sldId id="471" r:id="rId26"/>
    <p:sldId id="416" r:id="rId27"/>
    <p:sldId id="417" r:id="rId28"/>
    <p:sldId id="418" r:id="rId29"/>
    <p:sldId id="419" r:id="rId30"/>
    <p:sldId id="422" r:id="rId31"/>
    <p:sldId id="420" r:id="rId32"/>
    <p:sldId id="421" r:id="rId33"/>
    <p:sldId id="428" r:id="rId34"/>
    <p:sldId id="429" r:id="rId35"/>
    <p:sldId id="430" r:id="rId36"/>
    <p:sldId id="515" r:id="rId37"/>
    <p:sldId id="431" r:id="rId38"/>
    <p:sldId id="432" r:id="rId39"/>
    <p:sldId id="464" r:id="rId40"/>
    <p:sldId id="465" r:id="rId41"/>
    <p:sldId id="466" r:id="rId42"/>
    <p:sldId id="433" r:id="rId43"/>
    <p:sldId id="434" r:id="rId44"/>
    <p:sldId id="435" r:id="rId45"/>
    <p:sldId id="518" r:id="rId46"/>
    <p:sldId id="436" r:id="rId47"/>
    <p:sldId id="519" r:id="rId48"/>
    <p:sldId id="437" r:id="rId49"/>
    <p:sldId id="438" r:id="rId50"/>
    <p:sldId id="441" r:id="rId51"/>
    <p:sldId id="442" r:id="rId52"/>
    <p:sldId id="444" r:id="rId53"/>
    <p:sldId id="445" r:id="rId54"/>
    <p:sldId id="446" r:id="rId55"/>
    <p:sldId id="447" r:id="rId56"/>
    <p:sldId id="448" r:id="rId57"/>
    <p:sldId id="449" r:id="rId58"/>
    <p:sldId id="450" r:id="rId59"/>
    <p:sldId id="451" r:id="rId60"/>
    <p:sldId id="452" r:id="rId61"/>
    <p:sldId id="454" r:id="rId62"/>
  </p:sldIdLst>
  <p:sldSz cx="9144000" cy="6858000" type="screen4x3"/>
  <p:notesSz cx="6858000" cy="9144000"/>
  <p:custDataLst>
    <p:tags r:id="rId67"/>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8000"/>
    <a:srgbClr val="0000FF"/>
    <a:srgbClr val="0033CC"/>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98"/>
    <p:restoredTop sz="85764"/>
  </p:normalViewPr>
  <p:slideViewPr>
    <p:cSldViewPr showGuides="1">
      <p:cViewPr varScale="1">
        <p:scale>
          <a:sx n="57" d="100"/>
          <a:sy n="57" d="100"/>
        </p:scale>
        <p:origin x="1780"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gs" Target="tags/tag99.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50305040509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6246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503050405090304" pitchFamily="18" charset="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6246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50305040509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6246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503050405090304" pitchFamily="18" charset="0"/>
                <a:ea typeface="宋体"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D357001-F1E5-E046-A020-04D0835E33C1}" type="slidenum">
              <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50305040509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6041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503050405090304" pitchFamily="18" charset="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14340"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042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042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50305040509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mn-ea"/>
              <a:cs typeface="+mn-cs"/>
            </a:endParaRPr>
          </a:p>
        </p:txBody>
      </p:sp>
      <p:sp>
        <p:nvSpPr>
          <p:cNvPr id="6042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503050405090304" pitchFamily="18" charset="0"/>
                <a:ea typeface="宋体"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6C6FBFAF-2356-F74C-9DA3-EE500A9373C1}" type="slidenum">
              <a:rPr kumimoji="0" lang="zh-CN" altLang="en-US"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ea typeface="宋体" pitchFamily="2" charset="-122"/>
              </a:rPr>
            </a:fld>
            <a:endParaRPr lang="zh-CN" altLang="en-US" sz="1200">
              <a:ea typeface="宋体" pitchFamily="2" charset="-122"/>
            </a:endParaRPr>
          </a:p>
        </p:txBody>
      </p:sp>
      <p:sp>
        <p:nvSpPr>
          <p:cNvPr id="17410" name="Rectangle 2"/>
          <p:cNvSpPr>
            <a:spLocks noGrp="1" noRot="1" noChangeAspect="1" noTextEdit="1"/>
          </p:cNvSpPr>
          <p:nvPr>
            <p:ph type="sldImg"/>
          </p:nvPr>
        </p:nvSpPr>
        <p:spPr/>
      </p:sp>
      <p:sp>
        <p:nvSpPr>
          <p:cNvPr id="17411" name="Rectangle 3"/>
          <p:cNvSpPr>
            <a:spLocks noGrp="1"/>
          </p:cNvSpPr>
          <p:nvPr>
            <p:ph type="body" idx="1"/>
          </p:nvPr>
        </p:nvSpPr>
        <p:spPr/>
        <p:txBody>
          <a:bodyPr wrap="square" lIns="91440" tIns="45720" rIns="91440" bIns="45720" anchor="t" anchorCtr="0"/>
          <a:lstStyle/>
          <a:p>
            <a:pPr lvl="0"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幻灯片图像占位符 1"/>
          <p:cNvSpPr>
            <a:spLocks noGrp="1" noRot="1" noChangeAspect="1" noTextEdit="1"/>
          </p:cNvSpPr>
          <p:nvPr>
            <p:ph type="sldImg"/>
          </p:nvPr>
        </p:nvSpPr>
        <p:spPr/>
      </p:sp>
      <p:sp>
        <p:nvSpPr>
          <p:cNvPr id="77826" name="备注占位符 2"/>
          <p:cNvSpPr>
            <a:spLocks noGrp="1"/>
          </p:cNvSpPr>
          <p:nvPr>
            <p:ph type="body" idx="1"/>
          </p:nvPr>
        </p:nvSpPr>
        <p:spPr/>
        <p:txBody>
          <a:bodyPr wrap="square" lIns="91440" tIns="45720" rIns="91440" bIns="45720" anchor="t" anchorCtr="0"/>
          <a:lstStyle/>
          <a:p>
            <a:pPr lvl="0"/>
            <a:endParaRPr lang="zh-CN" altLang="en-US"/>
          </a:p>
        </p:txBody>
      </p:sp>
      <p:sp>
        <p:nvSpPr>
          <p:cNvPr id="77827"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ea typeface="宋体" pitchFamily="2" charset="-122"/>
              </a:rPr>
            </a:fld>
            <a:endParaRPr lang="zh-CN" altLang="en-US" sz="1200">
              <a:ea typeface="宋体"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noTextEdit="1"/>
          </p:cNvSpPr>
          <p:nvPr>
            <p:ph type="sldImg"/>
          </p:nvPr>
        </p:nvSpPr>
        <p:spPr/>
      </p:sp>
      <p:sp>
        <p:nvSpPr>
          <p:cNvPr id="37890" name="备注占位符 2"/>
          <p:cNvSpPr>
            <a:spLocks noGrp="1"/>
          </p:cNvSpPr>
          <p:nvPr>
            <p:ph type="body" idx="1"/>
          </p:nvPr>
        </p:nvSpPr>
        <p:spPr/>
        <p:txBody>
          <a:bodyPr wrap="square" lIns="91440" tIns="45720" rIns="91440" bIns="45720" anchor="t" anchorCtr="0"/>
          <a:lstStyle/>
          <a:p>
            <a:pPr lvl="0"/>
            <a:r>
              <a:rPr lang="zh-CN" altLang="en-US"/>
              <a:t>缺页中断产生后，需要在内存中找到空闲页框并分配给需要访问的页（可能涉及到页面置换），之后缺页中断处理程序调用设备驱动程序做磁盘</a:t>
            </a:r>
            <a:r>
              <a:rPr lang="en-US" altLang="zh-CN"/>
              <a:t>I/O</a:t>
            </a:r>
            <a:r>
              <a:rPr lang="zh-CN" altLang="en-US"/>
              <a:t>，将位于外存上的页面调入内存，调入后需要修改页表，将页表中代表该页是否在内存的标志位（或有效位）置为</a:t>
            </a:r>
            <a:r>
              <a:rPr lang="en-US" altLang="zh-CN"/>
              <a:t>1</a:t>
            </a:r>
            <a:r>
              <a:rPr lang="zh-CN" altLang="en-US"/>
              <a:t>，并将物理页框号填入相应位置，若必要还需修改其他相关表项等。 </a:t>
            </a:r>
            <a:endParaRPr lang="zh-CN" altLang="en-US"/>
          </a:p>
          <a:p>
            <a:pPr lvl="0"/>
            <a:endParaRPr lang="zh-CN" altLang="en-US"/>
          </a:p>
        </p:txBody>
      </p:sp>
      <p:sp>
        <p:nvSpPr>
          <p:cNvPr id="37891"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latin typeface="Tahoma" panose="020B0604030504040204" pitchFamily="34" charset="0"/>
                <a:ea typeface="宋体" pitchFamily="2" charset="-122"/>
              </a:rPr>
            </a:fld>
            <a:endParaRPr lang="zh-CN" altLang="en-US" sz="1200">
              <a:latin typeface="Tahoma" panose="020B0604030504040204" pitchFamily="34" charset="0"/>
              <a:ea typeface="宋体"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TextEdit="1"/>
          </p:cNvSpPr>
          <p:nvPr>
            <p:ph type="sldImg"/>
          </p:nvPr>
        </p:nvSpPr>
        <p:spPr/>
      </p:sp>
      <p:sp>
        <p:nvSpPr>
          <p:cNvPr id="39938" name="备注占位符 2"/>
          <p:cNvSpPr>
            <a:spLocks noGrp="1"/>
          </p:cNvSpPr>
          <p:nvPr>
            <p:ph type="body" idx="1"/>
          </p:nvPr>
        </p:nvSpPr>
        <p:spPr/>
        <p:txBody>
          <a:bodyPr wrap="square" lIns="91440" tIns="45720" rIns="91440" bIns="45720" anchor="t" anchorCtr="0"/>
          <a:lstStyle/>
          <a:p>
            <a:pPr lvl="0"/>
            <a:r>
              <a:rPr lang="en-US" altLang="zh-CN"/>
              <a:t>(1)</a:t>
            </a:r>
            <a:r>
              <a:rPr lang="zh-CN" altLang="en-US"/>
              <a:t>主存分成</a:t>
            </a:r>
            <a:r>
              <a:rPr lang="en-US" altLang="zh-CN"/>
              <a:t>256</a:t>
            </a:r>
            <a:r>
              <a:rPr lang="zh-CN" altLang="en-US"/>
              <a:t>块，说明一共能存放</a:t>
            </a:r>
            <a:r>
              <a:rPr lang="en-US" altLang="zh-CN"/>
              <a:t>256</a:t>
            </a:r>
            <a:r>
              <a:rPr lang="zh-CN" altLang="en-US"/>
              <a:t>个页面。每块大小为</a:t>
            </a:r>
            <a:r>
              <a:rPr lang="en-US" altLang="zh-CN"/>
              <a:t>4KB</a:t>
            </a:r>
            <a:r>
              <a:rPr lang="zh-CN" altLang="en-US"/>
              <a:t>，说明页内地址所占位数为</a:t>
            </a:r>
            <a:r>
              <a:rPr lang="en-US" altLang="zh-CN"/>
              <a:t>12</a:t>
            </a:r>
            <a:r>
              <a:rPr lang="zh-CN" altLang="en-US"/>
              <a:t>位。而十进制地址</a:t>
            </a:r>
            <a:r>
              <a:rPr lang="en-US" altLang="zh-CN"/>
              <a:t>9016</a:t>
            </a:r>
            <a:r>
              <a:rPr lang="zh-CN" altLang="en-US"/>
              <a:t>可以表示为：</a:t>
            </a:r>
            <a:r>
              <a:rPr lang="en-US" altLang="zh-CN"/>
              <a:t>10001100111000</a:t>
            </a:r>
            <a:r>
              <a:rPr lang="zh-CN" altLang="en-US"/>
              <a:t>，也就是页面号为</a:t>
            </a:r>
            <a:r>
              <a:rPr lang="en-US" altLang="zh-CN"/>
              <a:t>2</a:t>
            </a:r>
            <a:r>
              <a:rPr lang="zh-CN" altLang="en-US"/>
              <a:t>，页内地址为</a:t>
            </a:r>
            <a:r>
              <a:rPr lang="en-US" altLang="zh-CN"/>
              <a:t>001100111000(</a:t>
            </a:r>
            <a:r>
              <a:rPr lang="zh-CN" altLang="en-US"/>
              <a:t>十进制的</a:t>
            </a:r>
            <a:r>
              <a:rPr lang="en-US" altLang="zh-CN"/>
              <a:t>824)</a:t>
            </a:r>
            <a:r>
              <a:rPr lang="zh-CN" altLang="en-US"/>
              <a:t>。从页表可知页面</a:t>
            </a:r>
            <a:r>
              <a:rPr lang="en-US" altLang="zh-CN"/>
              <a:t>2</a:t>
            </a:r>
            <a:r>
              <a:rPr lang="zh-CN" altLang="en-US"/>
              <a:t>存放在物理内存的块</a:t>
            </a:r>
            <a:r>
              <a:rPr lang="en-US" altLang="zh-CN"/>
              <a:t>32</a:t>
            </a:r>
            <a:r>
              <a:rPr lang="zh-CN" altLang="en-US"/>
              <a:t>。因此，最后的物理地址为：</a:t>
            </a:r>
            <a:r>
              <a:rPr lang="en-US" altLang="zh-CN"/>
              <a:t>32×4KB+824=128KB+824</a:t>
            </a:r>
            <a:r>
              <a:rPr lang="zh-CN" altLang="en-US"/>
              <a:t>。</a:t>
            </a:r>
            <a:endParaRPr lang="zh-CN" altLang="en-US"/>
          </a:p>
          <a:p>
            <a:pPr lvl="0"/>
            <a:r>
              <a:rPr lang="en-US" altLang="zh-CN"/>
              <a:t>(2)</a:t>
            </a:r>
            <a:r>
              <a:rPr lang="zh-CN" altLang="en-US"/>
              <a:t>若给定逻辑地址为</a:t>
            </a:r>
            <a:r>
              <a:rPr lang="en-US" altLang="zh-CN"/>
              <a:t>12300</a:t>
            </a:r>
            <a:r>
              <a:rPr lang="zh-CN" altLang="en-US"/>
              <a:t>，按与</a:t>
            </a:r>
            <a:r>
              <a:rPr lang="en-US" altLang="zh-CN"/>
              <a:t>(1)</a:t>
            </a:r>
            <a:r>
              <a:rPr lang="zh-CN" altLang="en-US"/>
              <a:t>中同样的方法处理可得其页号为</a:t>
            </a:r>
            <a:r>
              <a:rPr lang="en-US" altLang="zh-CN"/>
              <a:t>3</a:t>
            </a:r>
            <a:r>
              <a:rPr lang="zh-CN" altLang="en-US"/>
              <a:t>。从页表可知该页未装入主存，因而产生缺页中断。随后中断处理程序将该页装入主存，然后进行地址变换。</a:t>
            </a:r>
            <a:endParaRPr lang="zh-CN" altLang="en-US"/>
          </a:p>
          <a:p>
            <a:pPr lvl="0"/>
            <a:endParaRPr lang="zh-CN" altLang="en-US"/>
          </a:p>
        </p:txBody>
      </p:sp>
      <p:sp>
        <p:nvSpPr>
          <p:cNvPr id="39939"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spcBef>
                <a:spcPct val="0"/>
              </a:spcBef>
            </a:pPr>
            <a:fld id="{9A0DB2DC-4C9A-4742-B13C-FB6460FD3503}" type="slidenum">
              <a:rPr lang="zh-CN" altLang="en-US">
                <a:latin typeface="Tahoma" panose="020B0604030504040204" pitchFamily="34" charset="0"/>
              </a:rPr>
            </a:fld>
            <a:endParaRPr lang="zh-CN" altLang="en-US">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p:cNvSpPr>
            <a:spLocks noGrp="1" noRot="1" noChangeAspect="1" noTextEdit="1"/>
          </p:cNvSpPr>
          <p:nvPr>
            <p:ph type="sldImg"/>
          </p:nvPr>
        </p:nvSpPr>
        <p:spPr/>
      </p:sp>
      <p:sp>
        <p:nvSpPr>
          <p:cNvPr id="51202" name="备注占位符 2"/>
          <p:cNvSpPr>
            <a:spLocks noGrp="1"/>
          </p:cNvSpPr>
          <p:nvPr>
            <p:ph type="body" idx="1"/>
          </p:nvPr>
        </p:nvSpPr>
        <p:spPr/>
        <p:txBody>
          <a:bodyPr wrap="square" lIns="91440" tIns="45720" rIns="91440" bIns="45720" anchor="t" anchorCtr="0"/>
          <a:lstStyle/>
          <a:p>
            <a:pPr lvl="0"/>
            <a:r>
              <a:rPr lang="zh-CN" altLang="en-US"/>
              <a:t>在具有对换功能的操作系统中，通常把外存分为文件区和对换区。前者用于存放文件，后者用于存放从内存换出的进程。抖动现象是指刚刚被换出的页很快又要被访问，为此又要换出其他页，而该页又很快被访问，如此频繁地置换页面，以致大部分时间都花在页面置换上，引起系统性能下降。撤销部分进程可以减少所要用到的页面数，防止抖动。对换区大小和进程优先级都与抖动无关</a:t>
            </a:r>
            <a:endParaRPr lang="zh-CN" altLang="en-US"/>
          </a:p>
        </p:txBody>
      </p:sp>
      <p:sp>
        <p:nvSpPr>
          <p:cNvPr id="51203"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latin typeface="Tahoma" panose="020B0604030504040204" pitchFamily="34" charset="0"/>
                <a:ea typeface="宋体" pitchFamily="2" charset="-122"/>
              </a:rPr>
            </a:fld>
            <a:endParaRPr lang="zh-CN" altLang="en-US" sz="1200">
              <a:latin typeface="Tahoma" panose="020B0604030504040204" pitchFamily="34" charset="0"/>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幻灯片图像占位符 1"/>
          <p:cNvSpPr>
            <a:spLocks noGrp="1" noRot="1" noChangeAspect="1" noTextEdit="1"/>
          </p:cNvSpPr>
          <p:nvPr>
            <p:ph type="sldImg"/>
          </p:nvPr>
        </p:nvSpPr>
        <p:spPr/>
      </p:sp>
      <p:sp>
        <p:nvSpPr>
          <p:cNvPr id="61442" name="备注占位符 2"/>
          <p:cNvSpPr>
            <a:spLocks noGrp="1"/>
          </p:cNvSpPr>
          <p:nvPr>
            <p:ph type="body" idx="1"/>
          </p:nvPr>
        </p:nvSpPr>
        <p:spPr/>
        <p:txBody>
          <a:bodyPr wrap="square" lIns="91440" tIns="45720" rIns="91440" bIns="45720" anchor="t" anchorCtr="0"/>
          <a:lstStyle/>
          <a:p>
            <a:pPr lvl="0"/>
            <a:endParaRPr lang="zh-CN" altLang="en-US"/>
          </a:p>
        </p:txBody>
      </p:sp>
      <p:sp>
        <p:nvSpPr>
          <p:cNvPr id="61443"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latin typeface="Tahoma" panose="020B0604030504040204" pitchFamily="34" charset="0"/>
                <a:ea typeface="宋体" pitchFamily="2" charset="-122"/>
              </a:rPr>
            </a:fld>
            <a:endParaRPr lang="zh-CN" altLang="en-US" sz="1200">
              <a:latin typeface="Tahoma" panose="020B0604030504040204" pitchFamily="34" charset="0"/>
              <a:ea typeface="宋体"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幻灯片图像占位符 1"/>
          <p:cNvSpPr>
            <a:spLocks noGrp="1" noRot="1" noChangeAspect="1" noTextEdit="1"/>
          </p:cNvSpPr>
          <p:nvPr>
            <p:ph type="sldImg"/>
          </p:nvPr>
        </p:nvSpPr>
        <p:spPr/>
      </p:sp>
      <p:sp>
        <p:nvSpPr>
          <p:cNvPr id="61442" name="备注占位符 2"/>
          <p:cNvSpPr>
            <a:spLocks noGrp="1"/>
          </p:cNvSpPr>
          <p:nvPr>
            <p:ph type="body" idx="1"/>
          </p:nvPr>
        </p:nvSpPr>
        <p:spPr/>
        <p:txBody>
          <a:bodyPr wrap="square" lIns="91440" tIns="45720" rIns="91440" bIns="45720" anchor="t" anchorCtr="0"/>
          <a:lstStyle/>
          <a:p>
            <a:pPr lvl="0"/>
            <a:endParaRPr lang="zh-CN" altLang="en-US"/>
          </a:p>
        </p:txBody>
      </p:sp>
      <p:sp>
        <p:nvSpPr>
          <p:cNvPr id="61443"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latin typeface="Tahoma" panose="020B0604030504040204" pitchFamily="34" charset="0"/>
                <a:ea typeface="宋体" pitchFamily="2" charset="-122"/>
              </a:rPr>
            </a:fld>
            <a:endParaRPr lang="zh-CN" altLang="en-US" sz="1200">
              <a:latin typeface="Tahoma" panose="020B0604030504040204"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76802" name="Line 7"/>
          <p:cNvSpPr/>
          <p:nvPr/>
        </p:nvSpPr>
        <p:spPr>
          <a:xfrm>
            <a:off x="457200" y="2514600"/>
            <a:ext cx="8153400" cy="0"/>
          </a:xfrm>
          <a:prstGeom prst="line">
            <a:avLst/>
          </a:prstGeom>
          <a:ln w="76200" cap="flat" cmpd="sng">
            <a:solidFill>
              <a:srgbClr val="0000FF"/>
            </a:solidFill>
            <a:prstDash val="solid"/>
            <a:headEnd type="none" w="med" len="med"/>
            <a:tailEnd type="none" w="med" len="med"/>
          </a:ln>
        </p:spPr>
      </p:sp>
      <p:pic>
        <p:nvPicPr>
          <p:cNvPr id="76803" name="Picture 8" descr="xidian字2"/>
          <p:cNvPicPr>
            <a:picLocks noChangeAspect="1"/>
          </p:cNvPicPr>
          <p:nvPr/>
        </p:nvPicPr>
        <p:blipFill>
          <a:blip r:embed="rId3"/>
          <a:stretch>
            <a:fillRect/>
          </a:stretch>
        </p:blipFill>
        <p:spPr>
          <a:xfrm>
            <a:off x="6419850" y="6492875"/>
            <a:ext cx="2724150" cy="365125"/>
          </a:xfrm>
          <a:prstGeom prst="rect">
            <a:avLst/>
          </a:prstGeom>
          <a:noFill/>
          <a:ln w="9525">
            <a:noFill/>
          </a:ln>
        </p:spPr>
      </p:pic>
      <p:pic>
        <p:nvPicPr>
          <p:cNvPr id="76804" name="Picture 9" descr="会标2"/>
          <p:cNvPicPr>
            <a:picLocks noChangeAspect="1"/>
          </p:cNvPicPr>
          <p:nvPr/>
        </p:nvPicPr>
        <p:blipFill>
          <a:blip r:embed="rId4"/>
          <a:stretch>
            <a:fillRect/>
          </a:stretch>
        </p:blipFill>
        <p:spPr>
          <a:xfrm>
            <a:off x="0" y="0"/>
            <a:ext cx="825500" cy="762000"/>
          </a:xfrm>
          <a:prstGeom prst="rect">
            <a:avLst/>
          </a:prstGeom>
          <a:noFill/>
          <a:ln w="9525">
            <a:noFill/>
          </a:ln>
        </p:spPr>
      </p:pic>
      <p:pic>
        <p:nvPicPr>
          <p:cNvPr id="76805" name="Picture 10" descr="xidian字2"/>
          <p:cNvPicPr>
            <a:picLocks noChangeAspect="1"/>
          </p:cNvPicPr>
          <p:nvPr userDrawn="1"/>
        </p:nvPicPr>
        <p:blipFill>
          <a:blip r:embed="rId3"/>
          <a:stretch>
            <a:fillRect/>
          </a:stretch>
        </p:blipFill>
        <p:spPr>
          <a:xfrm>
            <a:off x="6419850" y="6492875"/>
            <a:ext cx="2724150" cy="365125"/>
          </a:xfrm>
          <a:prstGeom prst="rect">
            <a:avLst/>
          </a:prstGeom>
          <a:noFill/>
          <a:ln w="9525">
            <a:noFill/>
          </a:ln>
        </p:spPr>
      </p:pic>
      <p:pic>
        <p:nvPicPr>
          <p:cNvPr id="76806" name="Picture 11" descr="会标2"/>
          <p:cNvPicPr>
            <a:picLocks noChangeAspect="1"/>
          </p:cNvPicPr>
          <p:nvPr userDrawn="1"/>
        </p:nvPicPr>
        <p:blipFill>
          <a:blip r:embed="rId4"/>
          <a:stretch>
            <a:fillRect/>
          </a:stretch>
        </p:blipFill>
        <p:spPr>
          <a:xfrm>
            <a:off x="0" y="0"/>
            <a:ext cx="825500" cy="762000"/>
          </a:xfrm>
          <a:prstGeom prst="rect">
            <a:avLst/>
          </a:prstGeom>
          <a:noFill/>
          <a:ln w="9525">
            <a:noFill/>
          </a:ln>
        </p:spPr>
      </p:pic>
      <p:sp>
        <p:nvSpPr>
          <p:cNvPr id="315394" name="Rectangle 2"/>
          <p:cNvSpPr>
            <a:spLocks noGrp="1" noChangeArrowheads="1"/>
          </p:cNvSpPr>
          <p:nvPr>
            <p:ph type="ctrTitle"/>
          </p:nvPr>
        </p:nvSpPr>
        <p:spPr>
          <a:xfrm>
            <a:off x="914400" y="533400"/>
            <a:ext cx="7721600" cy="1905000"/>
          </a:xfrm>
        </p:spPr>
        <p:txBody>
          <a:bodyPr/>
          <a:lstStyle>
            <a:lvl1pPr>
              <a:defRPr/>
            </a:lvl1pPr>
          </a:lstStyle>
          <a:p>
            <a:r>
              <a:rPr lang="zh-CN" altLang="en-US"/>
              <a:t>单击此处编辑母版标题样式</a:t>
            </a:r>
            <a:endParaRPr lang="zh-CN" altLang="en-US"/>
          </a:p>
        </p:txBody>
      </p:sp>
      <p:sp>
        <p:nvSpPr>
          <p:cNvPr id="315395" name="Rectangle 3"/>
          <p:cNvSpPr>
            <a:spLocks noGrp="1" noChangeArrowheads="1"/>
          </p:cNvSpPr>
          <p:nvPr>
            <p:ph type="subTitle" idx="1"/>
          </p:nvPr>
        </p:nvSpPr>
        <p:spPr>
          <a:xfrm>
            <a:off x="914400" y="3028950"/>
            <a:ext cx="6400800" cy="1771650"/>
          </a:xfrm>
        </p:spPr>
        <p:txBody>
          <a:bodyPr/>
          <a:lstStyle>
            <a:lvl1pPr marL="0" indent="0">
              <a:defRPr>
                <a:latin typeface="Arial Black" panose="020B0A04020102020204" pitchFamily="34" charset="0"/>
              </a:defRPr>
            </a:lvl1pPr>
          </a:lstStyle>
          <a:p>
            <a:r>
              <a:rPr lang="zh-CN" altLang="en-US"/>
              <a:t>单击此处编辑母版副标题样式</a:t>
            </a:r>
            <a:endParaRPr lang="zh-CN" altLang="en-US"/>
          </a:p>
        </p:txBody>
      </p:sp>
      <p:sp>
        <p:nvSpPr>
          <p:cNvPr id="17" name="Rectangle 4"/>
          <p:cNvSpPr>
            <a:spLocks noGrp="1" noChangeArrowheads="1"/>
          </p:cNvSpPr>
          <p:nvPr>
            <p:ph type="dt" sz="half" idx="2"/>
          </p:nvPr>
        </p:nvSpPr>
        <p:spPr bwMode="auto">
          <a:xfrm>
            <a:off x="711200" y="6229350"/>
            <a:ext cx="19304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endParaRPr>
          </a:p>
        </p:txBody>
      </p:sp>
      <p:sp>
        <p:nvSpPr>
          <p:cNvPr id="18" name="Rectangle 5"/>
          <p:cNvSpPr>
            <a:spLocks noGrp="1" noChangeArrowheads="1"/>
          </p:cNvSpPr>
          <p:nvPr>
            <p:ph type="ftr" sz="quarter" idx="3"/>
          </p:nvPr>
        </p:nvSpPr>
        <p:spPr bwMode="auto">
          <a:xfrm>
            <a:off x="3149600" y="6229350"/>
            <a:ext cx="2844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endParaRPr>
          </a:p>
        </p:txBody>
      </p:sp>
      <p:sp>
        <p:nvSpPr>
          <p:cNvPr id="19" name="Rectangle 6"/>
          <p:cNvSpPr>
            <a:spLocks noGrp="1" noChangeArrowheads="1"/>
          </p:cNvSpPr>
          <p:nvPr>
            <p:ph type="sldNum" sz="quarter" idx="4"/>
          </p:nvPr>
        </p:nvSpPr>
        <p:spPr bwMode="auto">
          <a:xfrm>
            <a:off x="6604000" y="6229350"/>
            <a:ext cx="1828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B5797EFC-400F-2844-A821-18C40A41D09B}" type="slidenum">
              <a:rPr kumimoji="0" lang="zh-CN" altLang="en-US"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rgbClr val="5E574E"/>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683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339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00FF"/>
              </a:buClr>
              <a:buSzTx/>
              <a:buFont typeface="Monotype Sorts" pitchFamily="2" charset="2"/>
              <a:buNone/>
              <a:defRPr/>
            </a:pPr>
            <a:endParaRPr kumimoji="1"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8125" y="152400"/>
            <a:ext cx="2058988" cy="62293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06400" y="152400"/>
            <a:ext cx="6029325" cy="62293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6400" y="152400"/>
            <a:ext cx="82042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68313" y="1412875"/>
            <a:ext cx="4013200" cy="49688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33913" y="1412875"/>
            <a:ext cx="4013200" cy="49688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06400" y="152400"/>
            <a:ext cx="8204200" cy="1143000"/>
          </a:xfrm>
          <a:prstGeom prst="rect">
            <a:avLst/>
          </a:prstGeom>
          <a:noFill/>
          <a:ln w="9525">
            <a:noFill/>
          </a:ln>
        </p:spPr>
        <p:txBody>
          <a:bodyPr anchor="b" anchorCtr="0"/>
          <a:lstStyle/>
          <a:p>
            <a:pPr lvl="0"/>
            <a:r>
              <a:rPr lang="zh-CN" altLang="en-US"/>
              <a:t>单击此处编辑母版标题样式</a:t>
            </a:r>
            <a:endParaRPr lang="zh-CN" altLang="en-US"/>
          </a:p>
        </p:txBody>
      </p:sp>
      <p:sp>
        <p:nvSpPr>
          <p:cNvPr id="1027" name="Rectangle 3"/>
          <p:cNvSpPr>
            <a:spLocks noGrp="1"/>
          </p:cNvSpPr>
          <p:nvPr>
            <p:ph type="body" idx="1"/>
          </p:nvPr>
        </p:nvSpPr>
        <p:spPr>
          <a:xfrm>
            <a:off x="468313" y="1412875"/>
            <a:ext cx="8178800" cy="4968875"/>
          </a:xfrm>
          <a:prstGeom prst="rect">
            <a:avLst/>
          </a:prstGeom>
          <a:noFill/>
          <a:ln w="9525">
            <a:noFill/>
          </a:ln>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14372" name="Rectangle 4"/>
          <p:cNvSpPr>
            <a:spLocks noGrp="1" noChangeArrowheads="1"/>
          </p:cNvSpPr>
          <p:nvPr>
            <p:ph type="dt" sz="half" idx="2"/>
          </p:nvPr>
        </p:nvSpPr>
        <p:spPr bwMode="auto">
          <a:xfrm>
            <a:off x="431800" y="6229350"/>
            <a:ext cx="2311400" cy="457200"/>
          </a:xfrm>
          <a:prstGeom prst="rect">
            <a:avLst/>
          </a:prstGeom>
          <a:noFill/>
          <a:ln w="9525">
            <a:noFill/>
            <a:miter lim="800000"/>
          </a:ln>
        </p:spPr>
        <p:txBody>
          <a:bodyPr vert="horz" wrap="square" lIns="91440" tIns="45720" rIns="91440" bIns="45720" numCol="1" anchor="b" anchorCtr="0" compatLnSpc="1"/>
          <a:lstStyle>
            <a:lvl1pPr>
              <a:spcBef>
                <a:spcPct val="50000"/>
              </a:spcBef>
              <a:defRPr sz="1400">
                <a:solidFill>
                  <a:schemeClr val="bg2"/>
                </a:solidFill>
                <a:latin typeface="Arial" panose="020B0604020202090204" pitchFamily="34" charset="0"/>
                <a:ea typeface="宋体" pitchFamily="2" charset="-122"/>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314373" name="Rectangle 5"/>
          <p:cNvSpPr>
            <a:spLocks noGrp="1" noChangeArrowheads="1"/>
          </p:cNvSpPr>
          <p:nvPr>
            <p:ph type="ftr" sz="quarter" idx="3"/>
          </p:nvPr>
        </p:nvSpPr>
        <p:spPr bwMode="auto">
          <a:xfrm>
            <a:off x="3124200" y="6229350"/>
            <a:ext cx="2895600" cy="457200"/>
          </a:xfrm>
          <a:prstGeom prst="rect">
            <a:avLst/>
          </a:prstGeom>
          <a:noFill/>
          <a:ln w="9525">
            <a:noFill/>
            <a:miter lim="800000"/>
          </a:ln>
        </p:spPr>
        <p:txBody>
          <a:bodyPr vert="horz" wrap="square" lIns="91440" tIns="45720" rIns="91440" bIns="45720" numCol="1" anchor="b" anchorCtr="0" compatLnSpc="1"/>
          <a:lstStyle>
            <a:lvl1pPr algn="ctr">
              <a:spcBef>
                <a:spcPct val="50000"/>
              </a:spcBef>
              <a:defRPr sz="1400">
                <a:solidFill>
                  <a:schemeClr val="bg2"/>
                </a:solidFill>
                <a:latin typeface="Arial" panose="020B0604020202090204" pitchFamily="34" charset="0"/>
                <a:ea typeface="宋体" pitchFamily="2" charset="-122"/>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314374" name="Rectangle 6"/>
          <p:cNvSpPr>
            <a:spLocks noGrp="1" noChangeArrowheads="1"/>
          </p:cNvSpPr>
          <p:nvPr>
            <p:ph type="sldNum" sz="quarter" idx="4"/>
          </p:nvPr>
        </p:nvSpPr>
        <p:spPr bwMode="auto">
          <a:xfrm>
            <a:off x="6731000" y="6229350"/>
            <a:ext cx="1905000" cy="457200"/>
          </a:xfrm>
          <a:prstGeom prst="rect">
            <a:avLst/>
          </a:prstGeom>
          <a:noFill/>
          <a:ln w="9525">
            <a:noFill/>
            <a:miter lim="800000"/>
          </a:ln>
        </p:spPr>
        <p:txBody>
          <a:bodyPr vert="horz" wrap="square" lIns="91440" tIns="45720" rIns="91440" bIns="45720" numCol="1" anchor="b" anchorCtr="0" compatLnSpc="1"/>
          <a:lstStyle>
            <a:lvl1pPr algn="r">
              <a:spcBef>
                <a:spcPct val="50000"/>
              </a:spcBef>
              <a:defRPr sz="1400">
                <a:solidFill>
                  <a:schemeClr val="bg2"/>
                </a:solidFill>
                <a:latin typeface="Arial" panose="020B0604020202090204" pitchFamily="34" charset="0"/>
                <a:ea typeface="宋体" pitchFamily="2" charset="-122"/>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5F9CA632-8AF6-EB4D-A570-A6103B8681F0}" type="slidenum">
              <a:rPr kumimoji="0" lang="zh-CN" altLang="en-US"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bg2"/>
              </a:solidFill>
              <a:effectLst/>
              <a:uLnTx/>
              <a:uFillTx/>
              <a:latin typeface="Arial" panose="020B0604020202090204" pitchFamily="34" charset="0"/>
              <a:ea typeface="宋体" pitchFamily="2" charset="-122"/>
              <a:cs typeface="+mn-cs"/>
            </a:endParaRPr>
          </a:p>
        </p:txBody>
      </p:sp>
      <p:sp>
        <p:nvSpPr>
          <p:cNvPr id="1031" name="Line 7"/>
          <p:cNvSpPr/>
          <p:nvPr/>
        </p:nvSpPr>
        <p:spPr>
          <a:xfrm>
            <a:off x="457200" y="1295400"/>
            <a:ext cx="8153400" cy="0"/>
          </a:xfrm>
          <a:prstGeom prst="line">
            <a:avLst/>
          </a:prstGeom>
          <a:ln w="76200" cap="flat" cmpd="sng">
            <a:solidFill>
              <a:srgbClr val="0000FF"/>
            </a:solidFill>
            <a:prstDash val="solid"/>
            <a:headEnd type="none" w="med" len="med"/>
            <a:tailEnd type="none" w="med" len="med"/>
          </a:ln>
        </p:spPr>
      </p:sp>
      <p:pic>
        <p:nvPicPr>
          <p:cNvPr id="1032" name="Picture 8" descr="xidian字2"/>
          <p:cNvPicPr>
            <a:picLocks noChangeAspect="1"/>
          </p:cNvPicPr>
          <p:nvPr/>
        </p:nvPicPr>
        <p:blipFill>
          <a:blip r:embed="rId14"/>
          <a:stretch>
            <a:fillRect/>
          </a:stretch>
        </p:blipFill>
        <p:spPr>
          <a:xfrm>
            <a:off x="6419850" y="6492875"/>
            <a:ext cx="2724150" cy="365125"/>
          </a:xfrm>
          <a:prstGeom prst="rect">
            <a:avLst/>
          </a:prstGeom>
          <a:noFill/>
          <a:ln w="9525">
            <a:noFill/>
          </a:ln>
        </p:spPr>
      </p:pic>
      <p:pic>
        <p:nvPicPr>
          <p:cNvPr id="1033" name="Picture 9" descr="会标2"/>
          <p:cNvPicPr>
            <a:picLocks noChangeAspect="1"/>
          </p:cNvPicPr>
          <p:nvPr/>
        </p:nvPicPr>
        <p:blipFill>
          <a:blip r:embed="rId15"/>
          <a:stretch>
            <a:fillRect/>
          </a:stretch>
        </p:blipFill>
        <p:spPr>
          <a:xfrm>
            <a:off x="0" y="0"/>
            <a:ext cx="825500" cy="762000"/>
          </a:xfrm>
          <a:prstGeom prst="rect">
            <a:avLst/>
          </a:prstGeom>
          <a:noFill/>
          <a:ln w="9525">
            <a:noFill/>
          </a:ln>
        </p:spPr>
      </p:pic>
      <p:pic>
        <p:nvPicPr>
          <p:cNvPr id="1034" name="Picture 10" descr="xidian字2"/>
          <p:cNvPicPr>
            <a:picLocks noChangeAspect="1"/>
          </p:cNvPicPr>
          <p:nvPr userDrawn="1"/>
        </p:nvPicPr>
        <p:blipFill>
          <a:blip r:embed="rId14"/>
          <a:stretch>
            <a:fillRect/>
          </a:stretch>
        </p:blipFill>
        <p:spPr>
          <a:xfrm>
            <a:off x="6419850" y="6492875"/>
            <a:ext cx="2724150" cy="365125"/>
          </a:xfrm>
          <a:prstGeom prst="rect">
            <a:avLst/>
          </a:prstGeom>
          <a:noFill/>
          <a:ln w="9525">
            <a:noFill/>
          </a:ln>
        </p:spPr>
      </p:pic>
      <p:pic>
        <p:nvPicPr>
          <p:cNvPr id="1035" name="Picture 11" descr="会标2"/>
          <p:cNvPicPr>
            <a:picLocks noChangeAspect="1"/>
          </p:cNvPicPr>
          <p:nvPr userDrawn="1"/>
        </p:nvPicPr>
        <p:blipFill>
          <a:blip r:embed="rId15"/>
          <a:stretch>
            <a:fillRect/>
          </a:stretch>
        </p:blipFill>
        <p:spPr>
          <a:xfrm>
            <a:off x="0" y="0"/>
            <a:ext cx="825500" cy="762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anose="020B0A04020102020204" pitchFamily="34" charset="0"/>
        </a:defRPr>
      </a:lvl2pPr>
      <a:lvl3pPr algn="l" rtl="0" eaLnBrk="0" fontAlgn="base" hangingPunct="0">
        <a:spcBef>
          <a:spcPct val="0"/>
        </a:spcBef>
        <a:spcAft>
          <a:spcPct val="0"/>
        </a:spcAft>
        <a:defRPr kumimoji="1" sz="3600">
          <a:solidFill>
            <a:schemeClr val="tx2"/>
          </a:solidFill>
          <a:latin typeface="Arial Black" panose="020B0A04020102020204" pitchFamily="34" charset="0"/>
        </a:defRPr>
      </a:lvl3pPr>
      <a:lvl4pPr algn="l" rtl="0" eaLnBrk="0" fontAlgn="base" hangingPunct="0">
        <a:spcBef>
          <a:spcPct val="0"/>
        </a:spcBef>
        <a:spcAft>
          <a:spcPct val="0"/>
        </a:spcAft>
        <a:defRPr kumimoji="1" sz="3600">
          <a:solidFill>
            <a:schemeClr val="tx2"/>
          </a:solidFill>
          <a:latin typeface="Arial Black" panose="020B0A04020102020204" pitchFamily="34" charset="0"/>
        </a:defRPr>
      </a:lvl4pPr>
      <a:lvl5pPr algn="l" rtl="0" eaLnBrk="0" fontAlgn="base" hangingPunct="0">
        <a:spcBef>
          <a:spcPct val="0"/>
        </a:spcBef>
        <a:spcAft>
          <a:spcPct val="0"/>
        </a:spcAft>
        <a:defRPr kumimoji="1" sz="3600">
          <a:solidFill>
            <a:schemeClr val="tx2"/>
          </a:solidFill>
          <a:latin typeface="Arial Black" panose="020B0A04020102020204" pitchFamily="34" charset="0"/>
        </a:defRPr>
      </a:lvl5pPr>
      <a:lvl6pPr marL="457200" algn="l" rtl="0" eaLnBrk="0" fontAlgn="base" hangingPunct="0">
        <a:spcBef>
          <a:spcPct val="0"/>
        </a:spcBef>
        <a:spcAft>
          <a:spcPct val="0"/>
        </a:spcAft>
        <a:defRPr kumimoji="1" sz="3600">
          <a:solidFill>
            <a:schemeClr val="tx2"/>
          </a:solidFill>
          <a:latin typeface="Arial Black" panose="020B0A04020102020204" pitchFamily="34" charset="0"/>
        </a:defRPr>
      </a:lvl6pPr>
      <a:lvl7pPr marL="914400" algn="l" rtl="0" eaLnBrk="0" fontAlgn="base" hangingPunct="0">
        <a:spcBef>
          <a:spcPct val="0"/>
        </a:spcBef>
        <a:spcAft>
          <a:spcPct val="0"/>
        </a:spcAft>
        <a:defRPr kumimoji="1" sz="3600">
          <a:solidFill>
            <a:schemeClr val="tx2"/>
          </a:solidFill>
          <a:latin typeface="Arial Black" panose="020B0A04020102020204" pitchFamily="34" charset="0"/>
        </a:defRPr>
      </a:lvl7pPr>
      <a:lvl8pPr marL="1371600" algn="l" rtl="0" eaLnBrk="0" fontAlgn="base" hangingPunct="0">
        <a:spcBef>
          <a:spcPct val="0"/>
        </a:spcBef>
        <a:spcAft>
          <a:spcPct val="0"/>
        </a:spcAft>
        <a:defRPr kumimoji="1" sz="3600">
          <a:solidFill>
            <a:schemeClr val="tx2"/>
          </a:solidFill>
          <a:latin typeface="Arial Black" panose="020B0A04020102020204" pitchFamily="34" charset="0"/>
        </a:defRPr>
      </a:lvl8pPr>
      <a:lvl9pPr marL="1828800" algn="l" rtl="0" eaLnBrk="0" fontAlgn="base" hangingPunct="0">
        <a:spcBef>
          <a:spcPct val="0"/>
        </a:spcBef>
        <a:spcAft>
          <a:spcPct val="0"/>
        </a:spcAft>
        <a:defRPr kumimoji="1" sz="3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vl6pPr marL="2514600" indent="-228600" algn="l" rtl="0" eaLnBrk="0" fontAlgn="base" hangingPunct="0">
        <a:spcBef>
          <a:spcPct val="20000"/>
        </a:spcBef>
        <a:spcAft>
          <a:spcPct val="0"/>
        </a:spcAft>
        <a:buClr>
          <a:srgbClr val="0000FF"/>
        </a:buClr>
        <a:defRPr kumimoji="1" sz="2000" b="1">
          <a:solidFill>
            <a:schemeClr val="tx1"/>
          </a:solidFill>
          <a:latin typeface="+mn-lt"/>
          <a:ea typeface="+mn-ea"/>
        </a:defRPr>
      </a:lvl6pPr>
      <a:lvl7pPr marL="2971800" indent="-228600" algn="l" rtl="0" eaLnBrk="0" fontAlgn="base" hangingPunct="0">
        <a:spcBef>
          <a:spcPct val="20000"/>
        </a:spcBef>
        <a:spcAft>
          <a:spcPct val="0"/>
        </a:spcAft>
        <a:buClr>
          <a:srgbClr val="0000FF"/>
        </a:buClr>
        <a:defRPr kumimoji="1" sz="2000" b="1">
          <a:solidFill>
            <a:schemeClr val="tx1"/>
          </a:solidFill>
          <a:latin typeface="+mn-lt"/>
          <a:ea typeface="+mn-ea"/>
        </a:defRPr>
      </a:lvl7pPr>
      <a:lvl8pPr marL="3429000" indent="-228600" algn="l" rtl="0" eaLnBrk="0" fontAlgn="base" hangingPunct="0">
        <a:spcBef>
          <a:spcPct val="20000"/>
        </a:spcBef>
        <a:spcAft>
          <a:spcPct val="0"/>
        </a:spcAft>
        <a:buClr>
          <a:srgbClr val="0000FF"/>
        </a:buClr>
        <a:defRPr kumimoji="1" sz="2000" b="1">
          <a:solidFill>
            <a:schemeClr val="tx1"/>
          </a:solidFill>
          <a:latin typeface="+mn-lt"/>
          <a:ea typeface="+mn-ea"/>
        </a:defRPr>
      </a:lvl8pPr>
      <a:lvl9pPr marL="3886200" indent="-228600" algn="l" rtl="0" eaLnBrk="0" fontAlgn="base" hangingPunct="0">
        <a:spcBef>
          <a:spcPct val="20000"/>
        </a:spcBef>
        <a:spcAft>
          <a:spcPct val="0"/>
        </a:spcAft>
        <a:buClr>
          <a:srgbClr val="0000FF"/>
        </a:buCl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slideLayout" Target="../slideLayouts/slideLayout7.xml"/><Relationship Id="rId17" Type="http://schemas.openxmlformats.org/officeDocument/2006/relationships/tags" Target="../tags/tag16.xml"/><Relationship Id="rId16" Type="http://schemas.openxmlformats.org/officeDocument/2006/relationships/image" Target="../media/image8.png"/><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1" Type="http://schemas.openxmlformats.org/officeDocument/2006/relationships/slideLayout" Target="../slideLayouts/slideLayout7.xml"/><Relationship Id="rId20" Type="http://schemas.openxmlformats.org/officeDocument/2006/relationships/tags" Target="../tags/tag35.xml"/><Relationship Id="rId2" Type="http://schemas.openxmlformats.org/officeDocument/2006/relationships/tags" Target="../tags/tag18.xml"/><Relationship Id="rId19" Type="http://schemas.openxmlformats.org/officeDocument/2006/relationships/tags" Target="../tags/tag34.xml"/><Relationship Id="rId18" Type="http://schemas.openxmlformats.org/officeDocument/2006/relationships/image" Target="../media/image8.png"/><Relationship Id="rId17" Type="http://schemas.openxmlformats.org/officeDocument/2006/relationships/tags" Target="../tags/tag33.xml"/><Relationship Id="rId16" Type="http://schemas.openxmlformats.org/officeDocument/2006/relationships/tags" Target="../tags/tag32.xml"/><Relationship Id="rId15" Type="http://schemas.openxmlformats.org/officeDocument/2006/relationships/tags" Target="../tags/tag31.xml"/><Relationship Id="rId14" Type="http://schemas.openxmlformats.org/officeDocument/2006/relationships/tags" Target="../tags/tag30.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9" Type="http://schemas.openxmlformats.org/officeDocument/2006/relationships/slideLayout" Target="../slideLayouts/slideLayout7.xml"/><Relationship Id="rId18" Type="http://schemas.openxmlformats.org/officeDocument/2006/relationships/tags" Target="../tags/tag52.xml"/><Relationship Id="rId17" Type="http://schemas.openxmlformats.org/officeDocument/2006/relationships/image" Target="../media/image8.png"/><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image" Target="../media/image10.png"/><Relationship Id="rId10" Type="http://schemas.openxmlformats.org/officeDocument/2006/relationships/tags" Target="../tags/tag46.xml"/><Relationship Id="rId1" Type="http://schemas.openxmlformats.org/officeDocument/2006/relationships/tags" Target="../tags/tag3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8" Type="http://schemas.openxmlformats.org/officeDocument/2006/relationships/slideLayout" Target="../slideLayouts/slideLayout7.xml"/><Relationship Id="rId17" Type="http://schemas.openxmlformats.org/officeDocument/2006/relationships/tags" Target="../tags/tag68.xml"/><Relationship Id="rId16" Type="http://schemas.openxmlformats.org/officeDocument/2006/relationships/image" Target="../media/image8.png"/><Relationship Id="rId15" Type="http://schemas.openxmlformats.org/officeDocument/2006/relationships/tags" Target="../tags/tag67.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tags" Target="../tags/tag5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51.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png"/><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image" Target="../media/image16.png"/><Relationship Id="rId3" Type="http://schemas.openxmlformats.org/officeDocument/2006/relationships/tags" Target="../tags/tag71.xml"/><Relationship Id="rId21" Type="http://schemas.openxmlformats.org/officeDocument/2006/relationships/slideLayout" Target="../slideLayouts/slideLayout7.xml"/><Relationship Id="rId20" Type="http://schemas.openxmlformats.org/officeDocument/2006/relationships/tags" Target="../tags/tag83.xml"/><Relationship Id="rId2" Type="http://schemas.openxmlformats.org/officeDocument/2006/relationships/tags" Target="../tags/tag70.xml"/><Relationship Id="rId19" Type="http://schemas.openxmlformats.org/officeDocument/2006/relationships/image" Target="../media/image8.png"/><Relationship Id="rId18" Type="http://schemas.openxmlformats.org/officeDocument/2006/relationships/tags" Target="../tags/tag82.xml"/><Relationship Id="rId17" Type="http://schemas.openxmlformats.org/officeDocument/2006/relationships/tags" Target="../tags/tag81.xml"/><Relationship Id="rId16" Type="http://schemas.openxmlformats.org/officeDocument/2006/relationships/tags" Target="../tags/tag80.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image" Target="../media/image19.png"/><Relationship Id="rId1" Type="http://schemas.openxmlformats.org/officeDocument/2006/relationships/tags" Target="../tags/tag69.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6.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54.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image" Target="../media/image23.png"/><Relationship Id="rId3" Type="http://schemas.openxmlformats.org/officeDocument/2006/relationships/tags" Target="../tags/tag86.xml"/><Relationship Id="rId2" Type="http://schemas.openxmlformats.org/officeDocument/2006/relationships/tags" Target="../tags/tag85.xml"/><Relationship Id="rId18" Type="http://schemas.openxmlformats.org/officeDocument/2006/relationships/slideLayout" Target="../slideLayouts/slideLayout7.xml"/><Relationship Id="rId17" Type="http://schemas.openxmlformats.org/officeDocument/2006/relationships/tags" Target="../tags/tag98.xml"/><Relationship Id="rId16" Type="http://schemas.openxmlformats.org/officeDocument/2006/relationships/image" Target="../media/image8.png"/><Relationship Id="rId15" Type="http://schemas.openxmlformats.org/officeDocument/2006/relationships/tags" Target="../tags/tag97.xml"/><Relationship Id="rId14" Type="http://schemas.openxmlformats.org/officeDocument/2006/relationships/tags" Target="../tags/tag96.xml"/><Relationship Id="rId13" Type="http://schemas.openxmlformats.org/officeDocument/2006/relationships/tags" Target="../tags/tag95.xml"/><Relationship Id="rId12" Type="http://schemas.openxmlformats.org/officeDocument/2006/relationships/tags" Target="../tags/tag94.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tags" Target="../tags/tag8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vert="horz" wrap="square" lIns="91440" tIns="45720" rIns="91440" bIns="45720" anchor="b" anchorCtr="0"/>
          <a:lstStyle/>
          <a:p>
            <a:r>
              <a:rPr lang="en-US" altLang="zh-CN">
                <a:ea typeface="宋体" pitchFamily="2" charset="-122"/>
              </a:rPr>
              <a:t>《</a:t>
            </a:r>
            <a:r>
              <a:rPr lang="zh-CN" altLang="en-US">
                <a:ea typeface="宋体" pitchFamily="2" charset="-122"/>
              </a:rPr>
              <a:t>操作系统</a:t>
            </a:r>
            <a:r>
              <a:rPr lang="en-US" altLang="zh-CN">
                <a:ea typeface="宋体" pitchFamily="2" charset="-122"/>
              </a:rPr>
              <a:t>》</a:t>
            </a:r>
            <a:endParaRPr lang="zh-CN" altLang="en-US">
              <a:ea typeface="宋体" pitchFamily="2" charset="-122"/>
            </a:endParaRPr>
          </a:p>
        </p:txBody>
      </p:sp>
      <p:sp>
        <p:nvSpPr>
          <p:cNvPr id="16386" name="Rectangle 3"/>
          <p:cNvSpPr>
            <a:spLocks noGrp="1"/>
          </p:cNvSpPr>
          <p:nvPr>
            <p:ph idx="1"/>
          </p:nvPr>
        </p:nvSpPr>
        <p:spPr>
          <a:xfrm>
            <a:off x="406400" y="1273175"/>
            <a:ext cx="8178800" cy="1658938"/>
          </a:xfrm>
        </p:spPr>
        <p:txBody>
          <a:bodyPr vert="horz" wrap="square" lIns="91440" tIns="45720" rIns="91440" bIns="45720" anchor="t" anchorCtr="0"/>
          <a:lstStyle/>
          <a:p>
            <a:pPr algn="ctr">
              <a:buNone/>
            </a:pPr>
            <a:endParaRPr lang="zh-CN" altLang="en-US" sz="3600">
              <a:ea typeface="宋体" pitchFamily="2" charset="-122"/>
            </a:endParaRPr>
          </a:p>
          <a:p>
            <a:pPr algn="ctr">
              <a:buNone/>
            </a:pPr>
            <a:r>
              <a:rPr lang="zh-CN" altLang="en-US" sz="4000">
                <a:solidFill>
                  <a:srgbClr val="FF0000"/>
                </a:solidFill>
                <a:ea typeface="华文行楷" panose="02010800040101010101" pitchFamily="2" charset="-122"/>
              </a:rPr>
              <a:t>第五章  存储管理</a:t>
            </a:r>
            <a:endParaRPr lang="zh-CN" altLang="en-US" sz="4000">
              <a:solidFill>
                <a:srgbClr val="FF0000"/>
              </a:solidFill>
              <a:ea typeface="华文行楷" panose="02010800040101010101" pitchFamily="2" charset="-122"/>
            </a:endParaRPr>
          </a:p>
          <a:p>
            <a:pPr algn="ctr">
              <a:buNone/>
            </a:pPr>
            <a:endParaRPr lang="zh-CN" altLang="en-US" sz="4000">
              <a:solidFill>
                <a:srgbClr val="FF0000"/>
              </a:solidFill>
              <a:ea typeface="华文行楷" panose="02010800040101010101" pitchFamily="2" charset="-122"/>
            </a:endParaRPr>
          </a:p>
          <a:p>
            <a:pPr algn="ctr">
              <a:buNone/>
            </a:pPr>
            <a:endParaRPr lang="zh-CN" altLang="en-US" sz="3600">
              <a:ea typeface="宋体" pitchFamily="2" charset="-122"/>
            </a:endParaRPr>
          </a:p>
          <a:p>
            <a:pPr algn="ctr">
              <a:buNone/>
            </a:pPr>
            <a:endParaRPr lang="en-US" altLang="zh-CN" b="0">
              <a:solidFill>
                <a:srgbClr val="9933FF"/>
              </a:solidFill>
              <a:latin typeface="华文行楷" panose="02010800040101010101" pitchFamily="2" charset="-122"/>
              <a:ea typeface="华文行楷" panose="02010800040101010101" pitchFamily="2" charset="-122"/>
            </a:endParaRPr>
          </a:p>
        </p:txBody>
      </p:sp>
      <p:sp>
        <p:nvSpPr>
          <p:cNvPr id="6" name="Text Box 19"/>
          <p:cNvSpPr txBox="1">
            <a:spLocks noChangeArrowheads="1"/>
          </p:cNvSpPr>
          <p:nvPr/>
        </p:nvSpPr>
        <p:spPr bwMode="auto">
          <a:xfrm>
            <a:off x="4859338" y="5013325"/>
            <a:ext cx="3105150" cy="614363"/>
          </a:xfrm>
          <a:prstGeom prst="rect">
            <a:avLst/>
          </a:prstGeom>
          <a:noFill/>
          <a:ln>
            <a:noFill/>
          </a:ln>
          <a:effectLst>
            <a:outerShdw blurRad="63500" dist="37026" dir="1900112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defTabSz="914400">
              <a:spcBef>
                <a:spcPct val="0"/>
              </a:spcBef>
              <a:buClrTx/>
              <a:buFontTx/>
              <a:buNone/>
              <a:tabLst>
                <a:tab pos="279400" algn="l"/>
                <a:tab pos="558800" algn="l"/>
                <a:tab pos="838200" algn="l"/>
                <a:tab pos="1117600" algn="l"/>
                <a:tab pos="1384300" algn="l"/>
                <a:tab pos="1663700" algn="l"/>
                <a:tab pos="1943100" algn="l"/>
                <a:tab pos="2222500" algn="l"/>
                <a:tab pos="2501900" algn="l"/>
                <a:tab pos="2781300" algn="l"/>
                <a:tab pos="3060700" algn="l"/>
                <a:tab pos="3340100" algn="l"/>
              </a:tabLst>
            </a:pPr>
            <a:r>
              <a:rPr lang="zh-CN" altLang="en-US" sz="4000">
                <a:solidFill>
                  <a:srgbClr val="0000FF"/>
                </a:solidFill>
                <a:effectLst>
                  <a:outerShdw blurRad="38100" dist="38100" dir="2700000">
                    <a:srgbClr val="000000"/>
                  </a:outerShdw>
                </a:effectLst>
                <a:ea typeface="隶书" panose="02010509060101010101" pitchFamily="49" charset="-122"/>
              </a:rPr>
              <a:t>教师：李晓</a:t>
            </a:r>
            <a:endParaRPr lang="zh-CN" altLang="en-US" sz="4000">
              <a:solidFill>
                <a:srgbClr val="0000FF"/>
              </a:solidFill>
              <a:effectLst>
                <a:outerShdw blurRad="38100" dist="38100" dir="2700000">
                  <a:srgbClr val="000000"/>
                </a:outerShdw>
              </a:effectLst>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18434" name="Rectangle 2"/>
          <p:cNvSpPr>
            <a:spLocks noGrp="1"/>
          </p:cNvSpPr>
          <p:nvPr>
            <p:ph type="title"/>
          </p:nvPr>
        </p:nvSpPr>
        <p:spPr/>
        <p:txBody>
          <a:bodyPr vert="horz" wrap="square" lIns="91440" tIns="45720" rIns="91440" bIns="45720" anchor="b" anchorCtr="0"/>
          <a:lstStyle/>
          <a:p>
            <a:pPr eaLnBrk="1" hangingPunct="1"/>
            <a:r>
              <a:rPr lang="zh-CN" altLang="en-US"/>
              <a:t>5 存储管理</a:t>
            </a:r>
            <a:endParaRPr lang="zh-CN" altLang="en-US"/>
          </a:p>
        </p:txBody>
      </p:sp>
      <p:sp>
        <p:nvSpPr>
          <p:cNvPr id="18435" name="内容占位符 4"/>
          <p:cNvSpPr>
            <a:spLocks noGrp="1" noChangeArrowheads="1"/>
          </p:cNvSpPr>
          <p:nvPr>
            <p:ph idx="1"/>
          </p:nvPr>
        </p:nvSpPr>
        <p:spPr/>
        <p:txBody>
          <a:bodyPr vert="horz" wrap="square" lIns="91440" tIns="45720" rIns="91440" bIns="45720" numCol="1" anchor="t" anchorCtr="0" compatLnSpc="1"/>
          <a:lstStyle/>
          <a:p>
            <a:pPr marL="0" indent="0">
              <a:buNone/>
            </a:pPr>
            <a:r>
              <a:rPr lang="zh-CN" altLang="en-US" b="0">
                <a:latin typeface="times"/>
              </a:rPr>
              <a:t>5.</a:t>
            </a:r>
            <a:r>
              <a:rPr lang="en-US" altLang="zh-CN" b="0">
                <a:latin typeface="times"/>
              </a:rPr>
              <a:t>7</a:t>
            </a:r>
            <a:r>
              <a:rPr lang="zh-CN" altLang="en-US" b="0">
                <a:latin typeface="times"/>
              </a:rPr>
              <a:t> 内存扩充技术</a:t>
            </a:r>
            <a:endParaRPr lang="en-US" altLang="zh-CN" b="0">
              <a:latin typeface="times"/>
            </a:endParaRPr>
          </a:p>
          <a:p>
            <a:pPr marL="0" indent="0">
              <a:buNone/>
            </a:pPr>
            <a:r>
              <a:rPr lang="zh-CN" altLang="en-US" b="0">
                <a:latin typeface="times"/>
              </a:rPr>
              <a:t>（交换，覆盖，</a:t>
            </a:r>
            <a:r>
              <a:rPr lang="zh-CN" altLang="en-US" b="0"/>
              <a:t>虚拟存储技术</a:t>
            </a:r>
            <a:r>
              <a:rPr lang="zh-CN" altLang="en-US" b="0">
                <a:latin typeface="times"/>
              </a:rPr>
              <a:t>）</a:t>
            </a:r>
            <a:endParaRPr lang="en-US" altLang="zh-CN" b="0"/>
          </a:p>
          <a:p>
            <a:pPr marL="0" indent="0">
              <a:buNone/>
            </a:pPr>
            <a:r>
              <a:rPr lang="en-US" altLang="zh-CN" b="0"/>
              <a:t>5.8</a:t>
            </a:r>
            <a:r>
              <a:rPr lang="zh-CN" altLang="en-US" b="0"/>
              <a:t>虚拟页式存储</a:t>
            </a:r>
            <a:endParaRPr lang="en-US" altLang="zh-CN" b="0"/>
          </a:p>
          <a:p>
            <a:pPr marL="0" indent="0">
              <a:buNone/>
            </a:pPr>
            <a:r>
              <a:rPr lang="en-US" altLang="zh-CN" b="0"/>
              <a:t>5.8.1</a:t>
            </a:r>
            <a:r>
              <a:rPr lang="zh-CN" altLang="en-US" b="0"/>
              <a:t>工作集，缺页率</a:t>
            </a:r>
            <a:endParaRPr lang="en-US" altLang="zh-CN" b="0"/>
          </a:p>
          <a:p>
            <a:pPr marL="0" indent="0">
              <a:buNone/>
            </a:pPr>
            <a:r>
              <a:rPr lang="en-US" altLang="zh-CN" b="0"/>
              <a:t>5.8.2</a:t>
            </a:r>
            <a:r>
              <a:rPr lang="zh-CN" altLang="en-US" b="0"/>
              <a:t>虚拟页式存储过程</a:t>
            </a:r>
            <a:endParaRPr lang="en-US" altLang="zh-CN" b="0"/>
          </a:p>
          <a:p>
            <a:pPr marL="0" indent="0">
              <a:buNone/>
            </a:pPr>
            <a:r>
              <a:rPr lang="en-US" altLang="zh-CN" b="0"/>
              <a:t>5.8.3</a:t>
            </a:r>
            <a:r>
              <a:rPr lang="zh-CN" altLang="en-US" b="0"/>
              <a:t>页面调入策略</a:t>
            </a:r>
            <a:endParaRPr lang="en-US" altLang="zh-CN" b="0"/>
          </a:p>
          <a:p>
            <a:pPr marL="0" indent="0">
              <a:buNone/>
            </a:pPr>
            <a:r>
              <a:rPr lang="en-US" altLang="zh-CN" b="0"/>
              <a:t>5.8.4</a:t>
            </a:r>
            <a:r>
              <a:rPr lang="zh-CN" altLang="en-US" b="0"/>
              <a:t>页面置换算法</a:t>
            </a:r>
            <a:endParaRPr lang="en-US" altLang="zh-CN" b="0"/>
          </a:p>
          <a:p>
            <a:pPr marL="0" indent="0">
              <a:buNone/>
            </a:pPr>
            <a:r>
              <a:rPr lang="en-US" altLang="zh-CN" b="0"/>
              <a:t>5.9</a:t>
            </a:r>
            <a:r>
              <a:rPr lang="zh-CN" altLang="en-US" b="0"/>
              <a:t>虚拟段式存储</a:t>
            </a:r>
            <a:endParaRPr lang="en-US" altLang="zh-CN" b="0"/>
          </a:p>
          <a:p>
            <a:pPr marL="0" indent="0">
              <a:buNone/>
            </a:pPr>
            <a:r>
              <a:rPr lang="en-US" altLang="zh-CN" b="0"/>
              <a:t>5.10</a:t>
            </a:r>
            <a:r>
              <a:rPr lang="zh-CN" altLang="en-US" b="0"/>
              <a:t>虚拟段页式存储</a:t>
            </a:r>
            <a:endParaRPr lang="en-US" altLang="zh-CN" b="0"/>
          </a:p>
          <a:p>
            <a:pPr marL="0" indent="0">
              <a:buNone/>
            </a:pPr>
            <a:endParaRPr lang="en-US" altLang="zh-CN"/>
          </a:p>
          <a:p>
            <a:pPr marL="0" indent="0"/>
            <a:endParaRPr lang="en-US" altLang="zh-CN"/>
          </a:p>
          <a:p>
            <a:pPr marL="0" indent="0"/>
            <a:endParaRPr lang="en-US" altLang="zh-CN"/>
          </a:p>
          <a:p>
            <a:pPr marL="0" indent="0"/>
            <a:endParaRPr lang="en-US" altLang="zh-CN"/>
          </a:p>
          <a:p>
            <a:pPr marL="0" indent="0"/>
            <a:endParaRPr lang="en-US" altLang="zh-CN"/>
          </a:p>
          <a:p>
            <a:pPr marL="0" indent="0"/>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19458"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a:t>
            </a:r>
            <a:r>
              <a:rPr lang="zh-CN" altLang="en-US"/>
              <a:t> 内存扩充技术</a:t>
            </a:r>
            <a:endParaRPr lang="zh-CN" altLang="en-US"/>
          </a:p>
        </p:txBody>
      </p:sp>
      <p:sp>
        <p:nvSpPr>
          <p:cNvPr id="101380" name="Rectangle 3"/>
          <p:cNvSpPr>
            <a:spLocks noGrp="1"/>
          </p:cNvSpPr>
          <p:nvPr>
            <p:ph idx="1"/>
          </p:nvPr>
        </p:nvSpPr>
        <p:spPr>
          <a:xfrm>
            <a:off x="493713" y="1512888"/>
            <a:ext cx="8628062" cy="1511300"/>
          </a:xfrm>
        </p:spPr>
        <p:txBody>
          <a:bodyPr vert="horz" wrap="square" lIns="91440" tIns="45720" rIns="91440" bIns="45720" anchor="t" anchorCtr="0"/>
          <a:lstStyle/>
          <a:p>
            <a:pPr eaLnBrk="1" hangingPunct="1">
              <a:lnSpc>
                <a:spcPct val="90000"/>
              </a:lnSpc>
              <a:buNone/>
            </a:pPr>
            <a:r>
              <a:rPr lang="zh-CN" altLang="en-US" sz="2400" b="0">
                <a:latin typeface="times"/>
              </a:rPr>
              <a:t>内存扩充技术的引入</a:t>
            </a:r>
            <a:endParaRPr lang="en-US" altLang="zh-CN" sz="2400" b="0">
              <a:latin typeface="times"/>
            </a:endParaRPr>
          </a:p>
          <a:p>
            <a:pPr eaLnBrk="1" hangingPunct="1">
              <a:lnSpc>
                <a:spcPct val="90000"/>
              </a:lnSpc>
              <a:buFont typeface="Wingdings" panose="05000000000000000000" pitchFamily="2" charset="2"/>
              <a:buNone/>
            </a:pPr>
            <a:r>
              <a:rPr lang="zh-CN" altLang="en-US" sz="2400" b="0"/>
              <a:t>    在多道程序设计环境下，为了解决并发作业的程序地址空间总和大于内存可用空间而无法运行的问题，引入内存扩充。即借助大容量的辅存在逻辑上实现内存的扩充，来解决内存容量不足的问题。</a:t>
            </a:r>
            <a:endParaRPr lang="zh-CN" altLang="en-US" sz="2400" b="0"/>
          </a:p>
        </p:txBody>
      </p:sp>
      <p:pic>
        <p:nvPicPr>
          <p:cNvPr id="19460" name="图片 1"/>
          <p:cNvPicPr>
            <a:picLocks noChangeAspect="1"/>
          </p:cNvPicPr>
          <p:nvPr/>
        </p:nvPicPr>
        <p:blipFill>
          <a:blip r:embed="rId1"/>
          <a:stretch>
            <a:fillRect/>
          </a:stretch>
        </p:blipFill>
        <p:spPr>
          <a:xfrm>
            <a:off x="1763713" y="3533775"/>
            <a:ext cx="4581525" cy="292417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380">
                                            <p:txEl>
                                              <p:pRg st="0" end="0"/>
                                            </p:txEl>
                                          </p:spTgt>
                                        </p:tgtEl>
                                        <p:attrNameLst>
                                          <p:attrName>style.visibility</p:attrName>
                                        </p:attrNameLst>
                                      </p:cBhvr>
                                      <p:to>
                                        <p:strVal val="visible"/>
                                      </p:to>
                                    </p:set>
                                    <p:animEffect transition="in" filter="fade">
                                      <p:cBhvr>
                                        <p:cTn id="7" dur="500"/>
                                        <p:tgtEl>
                                          <p:spTgt spid="1013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1380">
                                            <p:txEl>
                                              <p:pRg st="1" end="1"/>
                                            </p:txEl>
                                          </p:spTgt>
                                        </p:tgtEl>
                                        <p:attrNameLst>
                                          <p:attrName>style.visibility</p:attrName>
                                        </p:attrNameLst>
                                      </p:cBhvr>
                                      <p:to>
                                        <p:strVal val="visible"/>
                                      </p:to>
                                    </p:set>
                                    <p:animEffect transition="in" filter="fade">
                                      <p:cBhvr>
                                        <p:cTn id="12" dur="500"/>
                                        <p:tgtEl>
                                          <p:spTgt spid="10138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20482"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a:t>
            </a:r>
            <a:r>
              <a:rPr lang="zh-CN" altLang="en-US"/>
              <a:t> 内存扩充技术</a:t>
            </a:r>
            <a:endParaRPr lang="zh-CN" altLang="en-US"/>
          </a:p>
        </p:txBody>
      </p:sp>
      <p:sp>
        <p:nvSpPr>
          <p:cNvPr id="20483" name="Rectangle 3"/>
          <p:cNvSpPr>
            <a:spLocks noGrp="1"/>
          </p:cNvSpPr>
          <p:nvPr>
            <p:ph idx="1"/>
          </p:nvPr>
        </p:nvSpPr>
        <p:spPr/>
        <p:txBody>
          <a:bodyPr vert="horz" wrap="square" lIns="91440" tIns="45720" rIns="91440" bIns="45720" anchor="t" anchorCtr="0"/>
          <a:lstStyle/>
          <a:p>
            <a:pPr eaLnBrk="1" hangingPunct="1">
              <a:lnSpc>
                <a:spcPct val="90000"/>
              </a:lnSpc>
              <a:buFont typeface="Wingdings" panose="05000000000000000000" pitchFamily="2" charset="2"/>
              <a:buNone/>
            </a:pPr>
            <a:r>
              <a:rPr lang="zh-CN" altLang="en-US" sz="2400" b="0">
                <a:latin typeface="times"/>
              </a:rPr>
              <a:t>内存扩充技术</a:t>
            </a:r>
            <a:endParaRPr lang="en-US" altLang="zh-CN" sz="2400" b="0">
              <a:latin typeface="times"/>
            </a:endParaRPr>
          </a:p>
          <a:p>
            <a:pPr eaLnBrk="1" hangingPunct="1">
              <a:lnSpc>
                <a:spcPct val="90000"/>
              </a:lnSpc>
              <a:buFont typeface="Wingdings" panose="05000000000000000000" pitchFamily="2" charset="2"/>
              <a:buNone/>
            </a:pPr>
            <a:r>
              <a:rPr lang="zh-CN" altLang="en-US" sz="2400" b="0">
                <a:latin typeface="times"/>
              </a:rPr>
              <a:t>     内存紧缩技术（可变分区）</a:t>
            </a:r>
            <a:br>
              <a:rPr lang="zh-CN" altLang="en-US" sz="2400" b="0">
                <a:latin typeface="times"/>
              </a:rPr>
            </a:br>
            <a:r>
              <a:rPr lang="zh-CN" altLang="en-US" sz="2400" b="0">
                <a:latin typeface="times"/>
              </a:rPr>
              <a:t> 覆盖技术 </a:t>
            </a:r>
            <a:r>
              <a:rPr lang="en-US" altLang="zh-CN" sz="2400" b="0">
                <a:latin typeface="times"/>
              </a:rPr>
              <a:t>overlaying</a:t>
            </a:r>
            <a:br>
              <a:rPr lang="en-US" altLang="zh-CN" sz="2400" b="0">
                <a:latin typeface="times"/>
              </a:rPr>
            </a:br>
            <a:r>
              <a:rPr lang="en-US" altLang="zh-CN" sz="2400" b="0">
                <a:latin typeface="times"/>
              </a:rPr>
              <a:t> </a:t>
            </a:r>
            <a:r>
              <a:rPr lang="zh-CN" altLang="en-US" sz="2400" b="0">
                <a:latin typeface="times"/>
              </a:rPr>
              <a:t>交换技术 </a:t>
            </a:r>
            <a:r>
              <a:rPr lang="en-US" altLang="zh-CN" sz="2400" b="0">
                <a:latin typeface="times"/>
              </a:rPr>
              <a:t>swapping</a:t>
            </a:r>
            <a:br>
              <a:rPr lang="en-US" altLang="zh-CN" sz="2400" b="0">
                <a:latin typeface="times"/>
              </a:rPr>
            </a:br>
            <a:r>
              <a:rPr lang="en-US" altLang="zh-CN" sz="2400" b="0">
                <a:latin typeface="times"/>
              </a:rPr>
              <a:t> </a:t>
            </a:r>
            <a:r>
              <a:rPr lang="zh-CN" altLang="en-US" sz="2400" b="0">
                <a:latin typeface="times"/>
              </a:rPr>
              <a:t>虚拟存储技术 </a:t>
            </a:r>
            <a:r>
              <a:rPr lang="en-US" altLang="zh-CN" sz="2400" b="0">
                <a:latin typeface="times"/>
              </a:rPr>
              <a:t>virtual memory</a:t>
            </a:r>
            <a:endParaRPr lang="en-US" altLang="zh-CN" sz="2400" b="0">
              <a:latin typeface="times"/>
            </a:endParaRPr>
          </a:p>
          <a:p>
            <a:pPr eaLnBrk="1" hangingPunct="1">
              <a:lnSpc>
                <a:spcPct val="90000"/>
              </a:lnSpc>
              <a:buFont typeface="Wingdings" panose="05000000000000000000" pitchFamily="2" charset="2"/>
              <a:buNone/>
            </a:pPr>
            <a:r>
              <a:rPr lang="zh-CN" altLang="en-US" sz="2400" b="0">
                <a:latin typeface="times"/>
              </a:rPr>
              <a:t>覆盖技术主要用于早期的操作系统。</a:t>
            </a:r>
            <a:endParaRPr lang="en-US" altLang="zh-CN" sz="2400" b="0">
              <a:latin typeface="times"/>
            </a:endParaRPr>
          </a:p>
          <a:p>
            <a:pPr eaLnBrk="1" hangingPunct="1">
              <a:lnSpc>
                <a:spcPct val="90000"/>
              </a:lnSpc>
              <a:buFont typeface="Wingdings" panose="05000000000000000000" pitchFamily="2" charset="2"/>
              <a:buNone/>
            </a:pPr>
            <a:r>
              <a:rPr lang="zh-CN" altLang="en-US" sz="2400" b="0">
                <a:latin typeface="times"/>
              </a:rPr>
              <a:t>交换技术广泛用于小型分时系统中，其发展导致了虚拟技术的出现。两者共同之处都是程序和数据主要放在外存，当前需要执行的部分放在内存，内外存之间进行信息交换，不同之处在于如何交换信息。</a:t>
            </a:r>
            <a:endParaRPr lang="en-US" altLang="zh-CN" sz="2400" b="0">
              <a:latin typeface="times"/>
            </a:endParaRPr>
          </a:p>
          <a:p>
            <a:pPr eaLnBrk="1" hangingPunct="1">
              <a:lnSpc>
                <a:spcPct val="90000"/>
              </a:lnSpc>
              <a:buFont typeface="Wingdings" panose="05000000000000000000" pitchFamily="2" charset="2"/>
              <a:buNone/>
            </a:pPr>
            <a:r>
              <a:rPr lang="zh-CN" altLang="en-US" sz="2400"/>
              <a:t>        </a:t>
            </a:r>
            <a:endParaRPr lang="zh-CN" altLang="en-US" sz="240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2150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7.1</a:t>
            </a:r>
            <a:r>
              <a:rPr lang="zh-CN" altLang="en-US"/>
              <a:t> 覆盖技术</a:t>
            </a:r>
            <a:endParaRPr lang="zh-CN" altLang="en-US"/>
          </a:p>
        </p:txBody>
      </p:sp>
      <p:sp>
        <p:nvSpPr>
          <p:cNvPr id="122883" name="Rectangle 3"/>
          <p:cNvSpPr>
            <a:spLocks noGrp="1" noChangeArrowheads="1"/>
          </p:cNvSpPr>
          <p:nvPr>
            <p:ph idx="1"/>
          </p:nvPr>
        </p:nvSpPr>
        <p:spPr>
          <a:xfrm>
            <a:off x="468313" y="1447800"/>
            <a:ext cx="8159750" cy="4572000"/>
          </a:xfrm>
        </p:spPr>
        <p:txBody>
          <a:bodyPr vert="horz" wrap="square" lIns="91440" tIns="45720" rIns="91440" bIns="45720" numCol="1" anchor="t" anchorCtr="0" compatLnSpc="1"/>
          <a:lstStyle/>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覆盖技术</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将程序的必要部分的代码和数据常驻内存；</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将可选部分在其它程序模块中实现，平时存放在外存中的覆盖文件中，用到时才装入内存。</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不存在调用关</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系的模块不必</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同时装入到内</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存，从而可以</a:t>
            </a:r>
            <a:endParaRPr lang="en-US" altLang="zh-CN" sz="2400" b="0">
              <a:latin typeface="黑体" panose="02010609060101010101" pitchFamily="49" charset="-122"/>
            </a:endParaRPr>
          </a:p>
          <a:p>
            <a:pPr marL="0" indent="0" eaLnBrk="1" hangingPunct="1">
              <a:lnSpc>
                <a:spcPct val="90000"/>
              </a:lnSpc>
              <a:buFont typeface="Wingdings" panose="05000000000000000000" pitchFamily="2" charset="2"/>
              <a:buNone/>
            </a:pPr>
            <a:r>
              <a:rPr lang="zh-CN" altLang="en-US" sz="2400" b="0">
                <a:latin typeface="黑体" panose="02010609060101010101" pitchFamily="49" charset="-122"/>
              </a:rPr>
              <a:t>相互覆盖。</a:t>
            </a:r>
            <a:endParaRPr lang="en-US" altLang="zh-CN" sz="2400" b="0">
              <a:latin typeface="黑体" panose="02010609060101010101" pitchFamily="49" charset="-122"/>
            </a:endParaRPr>
          </a:p>
          <a:p>
            <a:pPr marL="0" indent="0" eaLnBrk="1" hangingPunct="1">
              <a:lnSpc>
                <a:spcPct val="90000"/>
              </a:lnSpc>
              <a:buFont typeface="Monotype Sorts" pitchFamily="2" charset="2"/>
              <a:buChar char="•"/>
            </a:pPr>
            <a:endParaRPr lang="zh-CN" altLang="en-US">
              <a:latin typeface="黑体" panose="02010609060101010101" pitchFamily="49" charset="-122"/>
            </a:endParaRPr>
          </a:p>
        </p:txBody>
      </p:sp>
      <p:sp>
        <p:nvSpPr>
          <p:cNvPr id="68612" name="文本框 1"/>
          <p:cNvSpPr txBox="1">
            <a:spLocks noChangeArrowheads="1"/>
          </p:cNvSpPr>
          <p:nvPr/>
        </p:nvSpPr>
        <p:spPr bwMode="auto">
          <a:xfrm>
            <a:off x="468313" y="5516563"/>
            <a:ext cx="81867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1" indent="0">
              <a:spcBef>
                <a:spcPct val="0"/>
              </a:spcBef>
              <a:buClrTx/>
              <a:buFontTx/>
              <a:buNone/>
            </a:pPr>
            <a:r>
              <a:rPr lang="zh-CN" altLang="en-US" b="0">
                <a:latin typeface="黑体" panose="02010609060101010101" pitchFamily="49" charset="-122"/>
              </a:rPr>
              <a:t>要求程序员编写调用关系明确的程序；主程序常驻内存，将</a:t>
            </a:r>
            <a:endParaRPr lang="en-US" altLang="zh-CN" b="0">
              <a:latin typeface="黑体" panose="02010609060101010101" pitchFamily="49" charset="-122"/>
            </a:endParaRPr>
          </a:p>
          <a:p>
            <a:pPr marL="0" lvl="1" indent="0">
              <a:spcBef>
                <a:spcPct val="0"/>
              </a:spcBef>
              <a:buClrTx/>
              <a:buFontTx/>
              <a:buNone/>
            </a:pPr>
            <a:r>
              <a:rPr lang="zh-CN" altLang="en-US" b="0">
                <a:latin typeface="黑体" panose="02010609060101010101" pitchFamily="49" charset="-122"/>
              </a:rPr>
              <a:t>不会同时执行的程序段共享内存。</a:t>
            </a:r>
            <a:endParaRPr lang="zh-CN" altLang="en-US" b="0">
              <a:latin typeface="黑体" panose="02010609060101010101" pitchFamily="49" charset="-122"/>
            </a:endParaRPr>
          </a:p>
        </p:txBody>
      </p:sp>
      <p:pic>
        <p:nvPicPr>
          <p:cNvPr id="21509" name="图片 1"/>
          <p:cNvPicPr>
            <a:picLocks noChangeAspect="1"/>
          </p:cNvPicPr>
          <p:nvPr/>
        </p:nvPicPr>
        <p:blipFill>
          <a:blip r:embed="rId1"/>
          <a:stretch>
            <a:fillRect/>
          </a:stretch>
        </p:blipFill>
        <p:spPr>
          <a:xfrm>
            <a:off x="3132138" y="3038475"/>
            <a:ext cx="4895850" cy="2325688"/>
          </a:xfrm>
          <a:prstGeom prst="rect">
            <a:avLst/>
          </a:prstGeom>
          <a:noFill/>
          <a:ln w="9525">
            <a:noFill/>
          </a:ln>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22530"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7.1</a:t>
            </a:r>
            <a:r>
              <a:rPr lang="zh-CN" altLang="en-US"/>
              <a:t> 覆盖技术</a:t>
            </a:r>
            <a:endParaRPr lang="zh-CN" altLang="en-US"/>
          </a:p>
        </p:txBody>
      </p:sp>
      <p:sp>
        <p:nvSpPr>
          <p:cNvPr id="123907" name="Rectangle 3"/>
          <p:cNvSpPr>
            <a:spLocks noGrp="1" noChangeArrowheads="1"/>
          </p:cNvSpPr>
          <p:nvPr>
            <p:ph idx="1"/>
          </p:nvPr>
        </p:nvSpPr>
        <p:spPr>
          <a:xfrm>
            <a:off x="180975" y="1377950"/>
            <a:ext cx="8135938" cy="4572000"/>
          </a:xfrm>
        </p:spPr>
        <p:txBody>
          <a:bodyPr vert="horz" wrap="square" lIns="91440" tIns="45720" rIns="91440" bIns="45720" numCol="1" anchor="t" anchorCtr="0" compatLnSpc="1"/>
          <a:lstStyle/>
          <a:p>
            <a:pPr marL="914400" lvl="2" indent="0" eaLnBrk="1" hangingPunct="1">
              <a:buFont typeface="Wingdings" panose="05000000000000000000" pitchFamily="2" charset="2"/>
              <a:buNone/>
            </a:pPr>
            <a:r>
              <a:rPr lang="zh-CN" altLang="en-US" sz="2400" b="0">
                <a:latin typeface="黑体" panose="02010609060101010101" pitchFamily="49" charset="-122"/>
              </a:rPr>
              <a:t>覆盖技术特点</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同一个程序的实现；</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实现内存扩充，小内存运行大程序；</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对程序员要求高。</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缺点：</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对用户不透明；</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执行效率低；</a:t>
            </a:r>
            <a:endParaRPr lang="en-US" altLang="zh-CN" sz="2400" b="0">
              <a:latin typeface="黑体" panose="02010609060101010101" pitchFamily="49" charset="-122"/>
            </a:endParaRPr>
          </a:p>
          <a:p>
            <a:pPr marL="914400" lvl="2" indent="0" eaLnBrk="1" hangingPunct="1">
              <a:buFont typeface="Wingdings" panose="05000000000000000000" pitchFamily="2" charset="2"/>
              <a:buNone/>
            </a:pPr>
            <a:r>
              <a:rPr lang="zh-CN" altLang="en-US" sz="2400" b="0">
                <a:latin typeface="黑体" panose="02010609060101010101" pitchFamily="49" charset="-122"/>
              </a:rPr>
              <a:t>有碎片。</a:t>
            </a:r>
            <a:endParaRPr lang="zh-CN" altLang="en-US" sz="2400" b="0">
              <a:latin typeface="黑体" panose="02010609060101010101" pitchFamily="49" charset="-122"/>
            </a:endParaRPr>
          </a:p>
          <a:p>
            <a:pPr marL="914400" lvl="2" indent="0" eaLnBrk="1" hangingPunct="1">
              <a:buFont typeface="Monotype Sorts" pitchFamily="2" charset="2"/>
              <a:buChar char="•"/>
            </a:pPr>
            <a:endParaRPr lang="zh-CN" altLang="en-US" sz="1800" b="0">
              <a:latin typeface="黑体" panose="02010609060101010101"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23554"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7.2</a:t>
            </a:r>
            <a:r>
              <a:rPr lang="zh-CN" altLang="en-US"/>
              <a:t> 交换技术</a:t>
            </a:r>
            <a:endParaRPr lang="zh-CN" altLang="en-US" b="1"/>
          </a:p>
        </p:txBody>
      </p:sp>
      <p:sp>
        <p:nvSpPr>
          <p:cNvPr id="70659" name="Rectangle 3"/>
          <p:cNvSpPr>
            <a:spLocks noGrp="1" noChangeArrowheads="1"/>
          </p:cNvSpPr>
          <p:nvPr>
            <p:ph idx="1"/>
          </p:nvPr>
        </p:nvSpPr>
        <p:spPr>
          <a:xfrm>
            <a:off x="34925" y="1520825"/>
            <a:ext cx="8351838" cy="4572000"/>
          </a:xfrm>
        </p:spPr>
        <p:txBody>
          <a:bodyPr vert="horz" wrap="square" lIns="91440" tIns="45720" rIns="91440" bIns="45720" numCol="1" anchor="t" anchorCtr="0" compatLnSpc="1"/>
          <a:lstStyle/>
          <a:p>
            <a:pPr marL="457200" lvl="1" indent="0" eaLnBrk="1" hangingPunct="1">
              <a:buNone/>
            </a:pPr>
            <a:r>
              <a:rPr lang="zh-CN" altLang="en-US" b="0">
                <a:latin typeface="黑体" panose="02010609060101010101" pitchFamily="49" charset="-122"/>
              </a:rPr>
              <a:t>在内存空间紧张时，系统将内存中某些进程暂时移到外存，把外存中某些进程换进内存，占据前者所占用的区域，这种技术是进程在内存和外存之间的中级调度。</a:t>
            </a:r>
            <a:endParaRPr lang="zh-CN" altLang="en-US" b="0">
              <a:latin typeface="黑体" panose="02010609060101010101" pitchFamily="49" charset="-122"/>
            </a:endParaRPr>
          </a:p>
          <a:p>
            <a:pPr marL="457200" lvl="1" indent="0" eaLnBrk="1" hangingPunct="1">
              <a:buNone/>
            </a:pPr>
            <a:r>
              <a:rPr lang="zh-CN" altLang="en-US" b="0">
                <a:latin typeface="黑体" panose="02010609060101010101" pitchFamily="49" charset="-122"/>
              </a:rPr>
              <a:t>与覆盖技术相比，交换技术不要求给出程序段之间的逻辑覆盖结构；而且，交换发生在作业之间。覆盖只能覆盖那些与覆盖段无关的程序段。</a:t>
            </a:r>
            <a:endParaRPr lang="zh-CN" altLang="en-US" b="0">
              <a:latin typeface="黑体" panose="02010609060101010101" pitchFamily="49" charset="-122"/>
            </a:endParaRPr>
          </a:p>
          <a:p>
            <a:pPr marL="457200" lvl="1" indent="0" eaLnBrk="1" hangingPunct="1">
              <a:buNone/>
            </a:pPr>
            <a:r>
              <a:rPr lang="zh-CN" altLang="en-US" b="0">
                <a:latin typeface="黑体" panose="02010609060101010101" pitchFamily="49" charset="-122"/>
              </a:rPr>
              <a:t>在</a:t>
            </a:r>
            <a:r>
              <a:rPr lang="en-US" altLang="zh-CN" b="0">
                <a:latin typeface="黑体" panose="02010609060101010101" pitchFamily="49" charset="-122"/>
              </a:rPr>
              <a:t>Windows</a:t>
            </a:r>
            <a:r>
              <a:rPr lang="zh-CN" altLang="en-US" b="0">
                <a:latin typeface="黑体" panose="02010609060101010101" pitchFamily="49" charset="-122"/>
              </a:rPr>
              <a:t>操作系统中，采用交换技术实现多任务。</a:t>
            </a:r>
            <a:endParaRPr lang="zh-CN" altLang="en-US" b="0">
              <a:latin typeface="黑体" panose="02010609060101010101" pitchFamily="49"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24578"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7.2</a:t>
            </a:r>
            <a:r>
              <a:rPr lang="zh-CN" altLang="en-US"/>
              <a:t> 交换技术</a:t>
            </a:r>
            <a:endParaRPr lang="zh-CN" altLang="en-US"/>
          </a:p>
        </p:txBody>
      </p:sp>
      <p:sp>
        <p:nvSpPr>
          <p:cNvPr id="71683" name="Rectangle 3"/>
          <p:cNvSpPr>
            <a:spLocks noGrp="1" noChangeArrowheads="1"/>
          </p:cNvSpPr>
          <p:nvPr>
            <p:ph idx="1"/>
          </p:nvPr>
        </p:nvSpPr>
        <p:spPr>
          <a:xfrm>
            <a:off x="400050" y="1520825"/>
            <a:ext cx="8564563" cy="4572000"/>
          </a:xfrm>
        </p:spPr>
        <p:txBody>
          <a:bodyPr vert="horz" wrap="square" lIns="91440" tIns="45720" rIns="91440" bIns="45720" numCol="1" anchor="t" anchorCtr="0" compatLnSpc="1"/>
          <a:lstStyle/>
          <a:p>
            <a:pPr marL="0" indent="0" eaLnBrk="1" hangingPunct="1">
              <a:buNone/>
            </a:pPr>
            <a:r>
              <a:rPr lang="zh-CN" altLang="en-US" sz="2400" b="0">
                <a:latin typeface="黑体" panose="02010609060101010101" pitchFamily="49" charset="-122"/>
              </a:rPr>
              <a:t>在磁盘的什么位置保存被换出的进程？</a:t>
            </a:r>
            <a:endParaRPr lang="en-US" altLang="zh-CN" sz="2400" b="0">
              <a:latin typeface="黑体" panose="02010609060101010101" pitchFamily="49" charset="-122"/>
            </a:endParaRPr>
          </a:p>
          <a:p>
            <a:pPr marL="0" indent="0" eaLnBrk="1" hangingPunct="1">
              <a:buNone/>
            </a:pPr>
            <a:r>
              <a:rPr lang="zh-CN" altLang="en-US" sz="2400" b="0">
                <a:latin typeface="黑体" panose="02010609060101010101" pitchFamily="49" charset="-122"/>
              </a:rPr>
              <a:t>交换区： 一般系统会指定一块特殊的磁盘区域作为交换空间（</a:t>
            </a:r>
            <a:r>
              <a:rPr lang="en-US" altLang="zh-CN" sz="2400" b="0">
                <a:latin typeface="黑体" panose="02010609060101010101" pitchFamily="49" charset="-122"/>
              </a:rPr>
              <a:t>swap space</a:t>
            </a:r>
            <a:r>
              <a:rPr lang="zh-CN" altLang="en-US" sz="2400" b="0">
                <a:latin typeface="黑体" panose="02010609060101010101" pitchFamily="49" charset="-122"/>
              </a:rPr>
              <a:t>），包含连续的磁道，操作系统可以使用底层的磁盘读写操作对其高效访问。</a:t>
            </a:r>
            <a:endParaRPr lang="en-US" altLang="zh-CN" sz="2400" b="0">
              <a:latin typeface="黑体" panose="02010609060101010101" pitchFamily="49" charset="-122"/>
            </a:endParaRPr>
          </a:p>
          <a:p>
            <a:pPr marL="0" indent="0" eaLnBrk="1" hangingPunct="1">
              <a:buNone/>
            </a:pPr>
            <a:r>
              <a:rPr lang="zh-CN" altLang="en-US" sz="2400" b="0">
                <a:latin typeface="黑体" panose="02010609060101010101" pitchFamily="49" charset="-122"/>
              </a:rPr>
              <a:t>交换时机？</a:t>
            </a:r>
            <a:endParaRPr lang="en-US" altLang="zh-CN" sz="2400" b="0">
              <a:latin typeface="黑体" panose="02010609060101010101" pitchFamily="49" charset="-122"/>
            </a:endParaRPr>
          </a:p>
          <a:p>
            <a:pPr marL="0" indent="0" eaLnBrk="1" hangingPunct="1">
              <a:buNone/>
            </a:pPr>
            <a:r>
              <a:rPr lang="zh-CN" altLang="en-US" sz="2400" b="0">
                <a:latin typeface="黑体" panose="02010609060101010101" pitchFamily="49" charset="-122"/>
              </a:rPr>
              <a:t>只要不用就换出（很少再用）；内存空间不够或有不够的危险时换出。</a:t>
            </a:r>
            <a:endParaRPr lang="en-US" altLang="zh-CN" sz="2400" b="0">
              <a:latin typeface="黑体" panose="02010609060101010101" pitchFamily="49" charset="-122"/>
            </a:endParaRPr>
          </a:p>
          <a:p>
            <a:pPr marL="0" indent="0" eaLnBrk="1" hangingPunct="1">
              <a:buNone/>
            </a:pPr>
            <a:r>
              <a:rPr lang="zh-CN" altLang="en-US" sz="2400" b="0">
                <a:latin typeface="黑体" panose="02010609060101010101" pitchFamily="49" charset="-122"/>
              </a:rPr>
              <a:t>如何选择被换出的进程？</a:t>
            </a:r>
            <a:endParaRPr lang="en-US" altLang="zh-CN" sz="2400" b="0">
              <a:latin typeface="黑体" panose="02010609060101010101" pitchFamily="49" charset="-122"/>
            </a:endParaRPr>
          </a:p>
          <a:p>
            <a:pPr marL="0" indent="0" eaLnBrk="1" hangingPunct="1">
              <a:buNone/>
            </a:pPr>
            <a:r>
              <a:rPr lang="zh-CN" altLang="en-US" sz="2400" b="0">
                <a:latin typeface="黑体" panose="02010609060101010101" pitchFamily="49" charset="-122"/>
              </a:rPr>
              <a:t>考虑进程的各种属性；不应换出等待</a:t>
            </a:r>
            <a:r>
              <a:rPr lang="en-US" altLang="zh-CN" sz="2400" b="0">
                <a:latin typeface="黑体" panose="02010609060101010101" pitchFamily="49" charset="-122"/>
              </a:rPr>
              <a:t>I/O</a:t>
            </a:r>
            <a:r>
              <a:rPr lang="zh-CN" altLang="en-US" sz="2400" b="0">
                <a:latin typeface="黑体" panose="02010609060101010101" pitchFamily="49" charset="-122"/>
              </a:rPr>
              <a:t>状态的进程。</a:t>
            </a:r>
            <a:br>
              <a:rPr lang="zh-CN" altLang="en-US" sz="2400" b="0">
                <a:latin typeface="黑体" panose="02010609060101010101" pitchFamily="49" charset="-122"/>
              </a:rPr>
            </a:br>
            <a:endParaRPr lang="zh-CN" altLang="en-US" sz="2400" b="0">
              <a:latin typeface="黑体" panose="02010609060101010101" pitchFamily="49"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25602"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7.2</a:t>
            </a:r>
            <a:r>
              <a:rPr lang="zh-CN" altLang="en-US"/>
              <a:t> 交换技术</a:t>
            </a:r>
            <a:endParaRPr lang="zh-CN" altLang="en-US"/>
          </a:p>
        </p:txBody>
      </p:sp>
      <p:sp>
        <p:nvSpPr>
          <p:cNvPr id="25603" name="Rectangle 3"/>
          <p:cNvSpPr>
            <a:spLocks noGrp="1"/>
          </p:cNvSpPr>
          <p:nvPr>
            <p:ph idx="1"/>
          </p:nvPr>
        </p:nvSpPr>
        <p:spPr/>
        <p:txBody>
          <a:bodyPr vert="horz" wrap="square" lIns="91440" tIns="45720" rIns="91440" bIns="45720" anchor="t" anchorCtr="0"/>
          <a:lstStyle/>
          <a:p>
            <a:pPr eaLnBrk="1" hangingPunct="1"/>
            <a:r>
              <a:rPr lang="zh-CN" altLang="en-US" sz="2400" b="0"/>
              <a:t>交换技术</a:t>
            </a:r>
            <a:endParaRPr lang="zh-CN" altLang="en-US" sz="2400" b="0"/>
          </a:p>
          <a:p>
            <a:pPr lvl="1" eaLnBrk="1" hangingPunct="1"/>
            <a:r>
              <a:rPr lang="zh-CN" altLang="en-US" b="0"/>
              <a:t>优点：增加并发执行的程序数目；对程序员透明。</a:t>
            </a:r>
            <a:endParaRPr lang="zh-CN" altLang="en-US" b="0"/>
          </a:p>
          <a:p>
            <a:pPr lvl="1" eaLnBrk="1" hangingPunct="1"/>
            <a:r>
              <a:rPr lang="zh-CN" altLang="en-US" b="0"/>
              <a:t>缺点：增加处理机开销；程序整个地址空间都进行交换，信息量特别大；程序换入时需要重定位。</a:t>
            </a:r>
            <a:endParaRPr lang="zh-CN" altLang="en-US" b="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2662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endParaRPr lang="zh-CN" altLang="en-US"/>
          </a:p>
        </p:txBody>
      </p:sp>
      <p:sp>
        <p:nvSpPr>
          <p:cNvPr id="19459" name="Rectangle 3"/>
          <p:cNvSpPr>
            <a:spLocks noGrp="1" noChangeArrowheads="1"/>
          </p:cNvSpPr>
          <p:nvPr>
            <p:ph idx="1"/>
          </p:nvPr>
        </p:nvSpPr>
        <p:spPr>
          <a:xfrm>
            <a:off x="250825" y="1484313"/>
            <a:ext cx="8178800" cy="4968875"/>
          </a:xfrm>
        </p:spPr>
        <p:txBody>
          <a:bodyPr vert="horz" wrap="square" lIns="91440" tIns="45720" rIns="91440" bIns="45720" numCol="1" anchor="t" anchorCtr="0" compatLnSpc="1"/>
          <a:lstStyle/>
          <a:p>
            <a:pPr eaLnBrk="1" hangingPunct="1">
              <a:lnSpc>
                <a:spcPct val="90000"/>
              </a:lnSpc>
            </a:pPr>
            <a:r>
              <a:rPr lang="zh-CN" altLang="en-US" sz="2400" b="0">
                <a:latin typeface="黑体" panose="02010609060101010101" pitchFamily="49" charset="-122"/>
              </a:rPr>
              <a:t>局部性原理</a:t>
            </a:r>
            <a:r>
              <a:rPr lang="en-US" altLang="zh-CN" sz="2400" b="0">
                <a:latin typeface="黑体" panose="02010609060101010101" pitchFamily="49" charset="-122"/>
              </a:rPr>
              <a:t>(</a:t>
            </a:r>
            <a:r>
              <a:rPr lang="en-US" altLang="zh-CN" sz="2400" b="0"/>
              <a:t>principle of locality</a:t>
            </a:r>
            <a:r>
              <a:rPr lang="en-US" altLang="zh-CN" sz="2400" b="0">
                <a:latin typeface="黑体" panose="02010609060101010101" pitchFamily="49" charset="-122"/>
              </a:rPr>
              <a:t>)</a:t>
            </a:r>
            <a:r>
              <a:rPr lang="zh-CN" altLang="en-US" sz="2400" b="0">
                <a:latin typeface="黑体" panose="02010609060101010101" pitchFamily="49" charset="-122"/>
              </a:rPr>
              <a:t>：指程序在执行过程中的一个较短时期，所执行的指令地址和指令的操作数地址，分别局限于一定区域，可以表现为：</a:t>
            </a:r>
            <a:endParaRPr lang="zh-CN" altLang="en-US" sz="2400" b="0">
              <a:latin typeface="黑体" panose="02010609060101010101" pitchFamily="49" charset="-122"/>
            </a:endParaRPr>
          </a:p>
          <a:p>
            <a:pPr lvl="1" eaLnBrk="1" hangingPunct="1">
              <a:lnSpc>
                <a:spcPct val="90000"/>
              </a:lnSpc>
            </a:pPr>
            <a:r>
              <a:rPr lang="zh-CN" altLang="en-US" b="0">
                <a:latin typeface="黑体" panose="02010609060101010101" pitchFamily="49" charset="-122"/>
              </a:rPr>
              <a:t>时间局部性，即一条指令的一次执行和下次执行，一个数据的一次访问和下次访问都集中在一个较短时期内；</a:t>
            </a:r>
            <a:endParaRPr lang="zh-CN" altLang="en-US" b="0">
              <a:latin typeface="黑体" panose="02010609060101010101" pitchFamily="49" charset="-122"/>
            </a:endParaRPr>
          </a:p>
          <a:p>
            <a:pPr lvl="1" eaLnBrk="1" hangingPunct="1">
              <a:lnSpc>
                <a:spcPct val="90000"/>
              </a:lnSpc>
            </a:pPr>
            <a:r>
              <a:rPr lang="zh-CN" altLang="en-US" b="0">
                <a:latin typeface="黑体" panose="02010609060101010101" pitchFamily="49" charset="-122"/>
              </a:rPr>
              <a:t>空间局部性，即当前指令和邻近的几条指令，当前访问的数据和邻近的数据都集中在一个较小区域内。</a:t>
            </a:r>
            <a:endParaRPr lang="zh-CN" altLang="en-US" b="0">
              <a:latin typeface="黑体" panose="02010609060101010101" pitchFamily="49"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27650"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endParaRPr lang="zh-CN" altLang="en-US"/>
          </a:p>
        </p:txBody>
      </p:sp>
      <p:sp>
        <p:nvSpPr>
          <p:cNvPr id="20483" name="Rectangle 3"/>
          <p:cNvSpPr>
            <a:spLocks noGrp="1" noChangeArrowheads="1"/>
          </p:cNvSpPr>
          <p:nvPr>
            <p:ph idx="1"/>
          </p:nvPr>
        </p:nvSpPr>
        <p:spPr/>
        <p:txBody>
          <a:bodyPr vert="horz" wrap="square" lIns="91440" tIns="45720" rIns="91440" bIns="45720" numCol="1" anchor="t" anchorCtr="0" compatLnSpc="1"/>
          <a:lstStyle/>
          <a:p>
            <a:pPr eaLnBrk="1" hangingPunct="1"/>
            <a:r>
              <a:rPr lang="zh-CN" altLang="en-US" sz="2400" b="0">
                <a:latin typeface="黑体" panose="02010609060101010101" pitchFamily="49" charset="-122"/>
              </a:rPr>
              <a:t>局部性原理的具体体现</a:t>
            </a:r>
            <a:endParaRPr lang="zh-CN" altLang="en-US" sz="2400" b="0">
              <a:latin typeface="黑体" panose="02010609060101010101" pitchFamily="49" charset="-122"/>
            </a:endParaRPr>
          </a:p>
          <a:p>
            <a:pPr lvl="1" eaLnBrk="1" hangingPunct="1"/>
            <a:r>
              <a:rPr lang="zh-CN" altLang="en-US" b="0">
                <a:latin typeface="黑体" panose="02010609060101010101" pitchFamily="49" charset="-122"/>
              </a:rPr>
              <a:t>程序在执行时，大部分是顺序执行的指令，少部分是转移和过程调用指令。</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过程调用的嵌套深度一般不超过</a:t>
            </a:r>
            <a:r>
              <a:rPr lang="en-US" altLang="zh-CN" b="0">
                <a:latin typeface="黑体" panose="02010609060101010101" pitchFamily="49" charset="-122"/>
              </a:rPr>
              <a:t>5</a:t>
            </a:r>
            <a:r>
              <a:rPr lang="zh-CN" altLang="en-US" b="0">
                <a:latin typeface="黑体" panose="02010609060101010101" pitchFamily="49" charset="-122"/>
              </a:rPr>
              <a:t>，因此执行的范围不超过这组嵌套的过程。</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程序中存在相当多的循环结构，它们由少量指令组成，而被多次执行。</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程序中存在相当多对一定数据结构的操作，如数组操作，往往局限在较小范围内。</a:t>
            </a:r>
            <a:endParaRPr lang="zh-CN" altLang="en-US" b="0">
              <a:latin typeface="黑体" panose="02010609060101010101"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28674"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endParaRPr lang="zh-CN" altLang="en-US"/>
          </a:p>
        </p:txBody>
      </p:sp>
      <p:sp>
        <p:nvSpPr>
          <p:cNvPr id="21507" name="Rectangle 3"/>
          <p:cNvSpPr>
            <a:spLocks noGrp="1" noChangeArrowheads="1"/>
          </p:cNvSpPr>
          <p:nvPr>
            <p:ph idx="1"/>
          </p:nvPr>
        </p:nvSpPr>
        <p:spPr>
          <a:xfrm>
            <a:off x="250825" y="1412875"/>
            <a:ext cx="8353425" cy="4968875"/>
          </a:xfrm>
        </p:spPr>
        <p:txBody>
          <a:bodyPr vert="horz" wrap="square" lIns="91440" tIns="45720" rIns="91440" bIns="45720" numCol="1" anchor="t" anchorCtr="0" compatLnSpc="1"/>
          <a:lstStyle/>
          <a:p>
            <a:pPr eaLnBrk="1" hangingPunct="1">
              <a:lnSpc>
                <a:spcPct val="90000"/>
              </a:lnSpc>
            </a:pPr>
            <a:r>
              <a:rPr lang="zh-CN" altLang="en-US" sz="2400" b="0">
                <a:latin typeface="黑体" panose="02010609060101010101" pitchFamily="49" charset="-122"/>
              </a:rPr>
              <a:t>虚拟存储的基本原理</a:t>
            </a:r>
            <a:endParaRPr lang="zh-CN" altLang="en-US" sz="2400" b="0">
              <a:latin typeface="黑体" panose="02010609060101010101" pitchFamily="49" charset="-122"/>
            </a:endParaRPr>
          </a:p>
          <a:p>
            <a:pPr lvl="1" eaLnBrk="1" hangingPunct="1">
              <a:lnSpc>
                <a:spcPct val="90000"/>
              </a:lnSpc>
            </a:pPr>
            <a:r>
              <a:rPr lang="zh-CN" altLang="en-US" b="0">
                <a:latin typeface="黑体" panose="02010609060101010101" pitchFamily="49" charset="-122"/>
              </a:rPr>
              <a:t>在程序装入时，不必将其全部读入到内存，而只需将当前需要执行的部分页或段读入到内存，就可让程序开始执行。</a:t>
            </a:r>
            <a:endParaRPr lang="zh-CN" altLang="en-US" b="0">
              <a:latin typeface="黑体" panose="02010609060101010101" pitchFamily="49" charset="-122"/>
            </a:endParaRPr>
          </a:p>
          <a:p>
            <a:pPr lvl="1" eaLnBrk="1" hangingPunct="1">
              <a:lnSpc>
                <a:spcPct val="90000"/>
              </a:lnSpc>
            </a:pPr>
            <a:r>
              <a:rPr lang="zh-CN" altLang="en-US" b="0">
                <a:latin typeface="黑体" panose="02010609060101010101" pitchFamily="49" charset="-122"/>
              </a:rPr>
              <a:t>在程序执行过程中，如果需执行的指令或访问的数据尚未在内存（称为</a:t>
            </a:r>
            <a:r>
              <a:rPr lang="zh-CN" altLang="en-US" b="0">
                <a:solidFill>
                  <a:schemeClr val="folHlink"/>
                </a:solidFill>
                <a:latin typeface="黑体" panose="02010609060101010101" pitchFamily="49" charset="-122"/>
              </a:rPr>
              <a:t>缺页</a:t>
            </a:r>
            <a:r>
              <a:rPr lang="zh-CN" altLang="en-US" b="0">
                <a:latin typeface="黑体" panose="02010609060101010101" pitchFamily="49" charset="-122"/>
              </a:rPr>
              <a:t>或</a:t>
            </a:r>
            <a:r>
              <a:rPr lang="zh-CN" altLang="en-US" b="0">
                <a:solidFill>
                  <a:schemeClr val="folHlink"/>
                </a:solidFill>
                <a:latin typeface="黑体" panose="02010609060101010101" pitchFamily="49" charset="-122"/>
              </a:rPr>
              <a:t>缺段</a:t>
            </a:r>
            <a:r>
              <a:rPr lang="zh-CN" altLang="en-US" b="0">
                <a:latin typeface="黑体" panose="02010609060101010101" pitchFamily="49" charset="-122"/>
              </a:rPr>
              <a:t>），则由处理器通知操作系统将相应的页或段调入到内存，然后继续执行程序。</a:t>
            </a:r>
            <a:endParaRPr lang="zh-CN" altLang="en-US" b="0">
              <a:latin typeface="黑体" panose="02010609060101010101" pitchFamily="49" charset="-122"/>
            </a:endParaRPr>
          </a:p>
          <a:p>
            <a:pPr lvl="1" eaLnBrk="1" hangingPunct="1">
              <a:lnSpc>
                <a:spcPct val="90000"/>
              </a:lnSpc>
            </a:pPr>
            <a:r>
              <a:rPr lang="zh-CN" altLang="en-US" b="0">
                <a:latin typeface="黑体" panose="02010609060101010101" pitchFamily="49" charset="-122"/>
              </a:rPr>
              <a:t>操作系统将内存中暂时不使用的页或段调出保存在外存上，从而腾出空间存放将要装入的程序以及将要调入的页或段</a:t>
            </a:r>
            <a:r>
              <a:rPr lang="en-US" altLang="zh-CN" b="0">
                <a:latin typeface="黑体" panose="02010609060101010101" pitchFamily="49" charset="-122"/>
              </a:rPr>
              <a:t>―</a:t>
            </a:r>
            <a:r>
              <a:rPr lang="zh-CN" altLang="en-US" b="0">
                <a:latin typeface="黑体" panose="02010609060101010101" pitchFamily="49" charset="-122"/>
              </a:rPr>
              <a:t>具有请求调入和置换功能，只需程序的一部分在内存就可执行。</a:t>
            </a:r>
            <a:endParaRPr lang="zh-CN" altLang="en-US" b="0">
              <a:latin typeface="黑体" panose="02010609060101010101" pitchFamily="49"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29698"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endParaRPr lang="zh-CN" altLang="en-US"/>
          </a:p>
        </p:txBody>
      </p:sp>
      <p:sp>
        <p:nvSpPr>
          <p:cNvPr id="22531" name="Rectangle 3"/>
          <p:cNvSpPr>
            <a:spLocks noGrp="1" noChangeArrowheads="1"/>
          </p:cNvSpPr>
          <p:nvPr>
            <p:ph idx="1"/>
          </p:nvPr>
        </p:nvSpPr>
        <p:spPr/>
        <p:txBody>
          <a:bodyPr vert="horz" wrap="square" lIns="91440" tIns="45720" rIns="91440" bIns="45720" numCol="1" anchor="t" anchorCtr="0" compatLnSpc="1"/>
          <a:lstStyle/>
          <a:p>
            <a:pPr eaLnBrk="1" hangingPunct="1"/>
            <a:r>
              <a:rPr lang="zh-CN" altLang="en-US" sz="2400" b="0">
                <a:latin typeface="黑体" panose="02010609060101010101" pitchFamily="49" charset="-122"/>
              </a:rPr>
              <a:t>引入虚拟存储技术的好处</a:t>
            </a:r>
            <a:endParaRPr lang="zh-CN" altLang="en-US" sz="2400" b="0">
              <a:latin typeface="黑体" panose="02010609060101010101" pitchFamily="49" charset="-122"/>
            </a:endParaRPr>
          </a:p>
          <a:p>
            <a:pPr lvl="1" eaLnBrk="1" hangingPunct="1"/>
            <a:r>
              <a:rPr lang="zh-CN" altLang="en-US" b="0">
                <a:latin typeface="黑体" panose="02010609060101010101" pitchFamily="49" charset="-122"/>
              </a:rPr>
              <a:t>可在较小的可用内存中执行较大的用户程序；</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可在内存中容纳更多程序并发执行；</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不必影响编程时的程序结构（与覆盖技术比较）</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提供给用户可用的虚拟内存空间通常大于物理内存</a:t>
            </a:r>
            <a:r>
              <a:rPr lang="en-US" altLang="zh-CN" b="0">
                <a:latin typeface="黑体" panose="02010609060101010101" pitchFamily="49" charset="-122"/>
              </a:rPr>
              <a:t>(</a:t>
            </a:r>
            <a:r>
              <a:rPr lang="en-US" altLang="zh-CN" b="0"/>
              <a:t>real memory</a:t>
            </a:r>
            <a:r>
              <a:rPr lang="en-US" altLang="zh-CN" b="0">
                <a:latin typeface="黑体" panose="02010609060101010101" pitchFamily="49" charset="-122"/>
              </a:rPr>
              <a:t>)</a:t>
            </a:r>
            <a:endParaRPr lang="zh-CN" altLang="en-US" b="0">
              <a:latin typeface="黑体" panose="02010609060101010101" pitchFamily="49"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30722"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endParaRPr lang="zh-CN" altLang="en-US"/>
          </a:p>
        </p:txBody>
      </p:sp>
      <p:sp>
        <p:nvSpPr>
          <p:cNvPr id="30723" name="Rectangle 3"/>
          <p:cNvSpPr>
            <a:spLocks noGrp="1"/>
          </p:cNvSpPr>
          <p:nvPr>
            <p:ph idx="1"/>
          </p:nvPr>
        </p:nvSpPr>
        <p:spPr/>
        <p:txBody>
          <a:bodyPr vert="horz" wrap="square" lIns="91440" tIns="45720" rIns="91440" bIns="45720" anchor="t" anchorCtr="0"/>
          <a:lstStyle/>
          <a:p>
            <a:pPr eaLnBrk="1" hangingPunct="1"/>
            <a:r>
              <a:rPr lang="zh-CN" altLang="en-US" sz="2400" b="0"/>
              <a:t>虚拟存储技术的特征</a:t>
            </a:r>
            <a:endParaRPr lang="zh-CN" altLang="en-US" sz="2400" b="0"/>
          </a:p>
          <a:p>
            <a:pPr lvl="1" eaLnBrk="1" hangingPunct="1"/>
            <a:r>
              <a:rPr lang="zh-CN" altLang="en-US" b="0"/>
              <a:t>物理内存分配的不连续性，虚拟地址空间使用的不连续性（数据段和栈段之间的空闲空间，共享段和动态链接库占用的空间）</a:t>
            </a:r>
            <a:endParaRPr lang="zh-CN" altLang="en-US" b="0"/>
          </a:p>
          <a:p>
            <a:pPr lvl="1" eaLnBrk="1" hangingPunct="1"/>
            <a:r>
              <a:rPr lang="zh-CN" altLang="en-US" b="0"/>
              <a:t>与交换的比较：调入和调出是对部分虚拟地址空间进行</a:t>
            </a:r>
            <a:endParaRPr lang="zh-CN" altLang="en-US" b="0"/>
          </a:p>
          <a:p>
            <a:pPr lvl="1" eaLnBrk="1" hangingPunct="1"/>
            <a:r>
              <a:rPr lang="zh-CN" altLang="en-US" b="0"/>
              <a:t>通过物理内存和快速外存相结合，提供大范围的虚拟地址空间，但占用容量不超过物理内存和外存交换区容量之和，其中占用容量包括：进程地址空间中的各个段，操作系统代码</a:t>
            </a:r>
            <a:endParaRPr lang="zh-CN" altLang="en-US" b="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3174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虚拟存储</a:t>
            </a:r>
            <a:endParaRPr lang="zh-CN" altLang="en-US"/>
          </a:p>
        </p:txBody>
      </p:sp>
      <p:sp>
        <p:nvSpPr>
          <p:cNvPr id="31747" name="Rectangle 3"/>
          <p:cNvSpPr>
            <a:spLocks noGrp="1"/>
          </p:cNvSpPr>
          <p:nvPr>
            <p:ph idx="1"/>
          </p:nvPr>
        </p:nvSpPr>
        <p:spPr/>
        <p:txBody>
          <a:bodyPr vert="horz" wrap="square" lIns="91440" tIns="45720" rIns="91440" bIns="45720" anchor="t" anchorCtr="0"/>
          <a:lstStyle/>
          <a:p>
            <a:pPr eaLnBrk="1" hangingPunct="1"/>
            <a:r>
              <a:rPr lang="zh-CN" altLang="en-US" sz="2400" b="0"/>
              <a:t>虚拟存储技术的种类</a:t>
            </a:r>
            <a:endParaRPr lang="zh-CN" altLang="en-US" sz="2400" b="0"/>
          </a:p>
          <a:p>
            <a:pPr lvl="1" eaLnBrk="1" hangingPunct="1"/>
            <a:r>
              <a:rPr lang="zh-CN" altLang="en-US" b="0"/>
              <a:t>虚拟页式（请求分页）：在简单页式存储管理的基础上，增加</a:t>
            </a:r>
            <a:r>
              <a:rPr lang="zh-CN" altLang="en-US" b="0">
                <a:solidFill>
                  <a:srgbClr val="FF0000"/>
                </a:solidFill>
              </a:rPr>
              <a:t>请求调页和页面置换</a:t>
            </a:r>
            <a:r>
              <a:rPr lang="zh-CN" altLang="en-US" b="0"/>
              <a:t>功能。</a:t>
            </a:r>
            <a:endParaRPr lang="zh-CN" altLang="en-US" b="0"/>
          </a:p>
          <a:p>
            <a:pPr lvl="1" eaLnBrk="1" hangingPunct="1"/>
            <a:r>
              <a:rPr lang="zh-CN" altLang="en-US" b="0"/>
              <a:t>虚拟段式（请求分段）：在简单段式存储管理的基础上，增加</a:t>
            </a:r>
            <a:r>
              <a:rPr lang="zh-CN" altLang="en-US" b="0">
                <a:solidFill>
                  <a:srgbClr val="FF0000"/>
                </a:solidFill>
              </a:rPr>
              <a:t>请求调段和段置换</a:t>
            </a:r>
            <a:r>
              <a:rPr lang="zh-CN" altLang="en-US" b="0"/>
              <a:t>功能。</a:t>
            </a:r>
            <a:endParaRPr lang="zh-CN" altLang="en-US" b="0"/>
          </a:p>
          <a:p>
            <a:pPr lvl="1" eaLnBrk="1" hangingPunct="1"/>
            <a:r>
              <a:rPr lang="zh-CN" altLang="en-US" b="0"/>
              <a:t>虚拟段页式（请求段页式）：请求分页和请求分段的结合。</a:t>
            </a:r>
            <a:endParaRPr lang="zh-CN" altLang="en-US" b="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32770"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a:t>
            </a:r>
            <a:r>
              <a:rPr lang="zh-CN" altLang="en-US"/>
              <a:t> 虚拟页式存储</a:t>
            </a:r>
            <a:endParaRPr lang="zh-CN" altLang="en-US"/>
          </a:p>
        </p:txBody>
      </p:sp>
      <p:sp>
        <p:nvSpPr>
          <p:cNvPr id="25603" name="Rectangle 3"/>
          <p:cNvSpPr>
            <a:spLocks noGrp="1" noChangeArrowheads="1"/>
          </p:cNvSpPr>
          <p:nvPr>
            <p:ph idx="1"/>
          </p:nvPr>
        </p:nvSpPr>
        <p:spPr>
          <a:xfrm>
            <a:off x="0" y="1484313"/>
            <a:ext cx="5003800" cy="4968875"/>
          </a:xfrm>
        </p:spPr>
        <p:txBody>
          <a:bodyPr vert="horz" wrap="square" lIns="91440" tIns="45720" rIns="91440" bIns="45720" numCol="1" anchor="t" anchorCtr="0" compatLnSpc="1"/>
          <a:lstStyle/>
          <a:p>
            <a:pPr marL="457200" lvl="1" indent="0" eaLnBrk="1" hangingPunct="1">
              <a:buNone/>
            </a:pPr>
            <a:r>
              <a:rPr lang="zh-CN" altLang="en-US" b="0">
                <a:latin typeface="黑体" panose="02010609060101010101" pitchFamily="49" charset="-122"/>
              </a:rPr>
              <a:t>分页存储管理方法，必须一次性将所有的页面全部装入，有可能造成其他的作业无法装入，从而造成系统的性能下降。</a:t>
            </a:r>
            <a:endParaRPr lang="zh-CN" altLang="en-US" b="0">
              <a:latin typeface="黑体" panose="02010609060101010101" pitchFamily="49" charset="-122"/>
            </a:endParaRPr>
          </a:p>
          <a:p>
            <a:pPr marL="457200" lvl="1" indent="0" eaLnBrk="1" hangingPunct="1">
              <a:buNone/>
            </a:pPr>
            <a:r>
              <a:rPr lang="zh-CN" altLang="en-US" b="0">
                <a:latin typeface="黑体" panose="02010609060101010101" pitchFamily="49" charset="-122"/>
              </a:rPr>
              <a:t>因此，要想办法使得程序在装入时，不一次性装入，只要装入当前运行需要的一部分页面即可，这些页面为</a:t>
            </a:r>
            <a:r>
              <a:rPr lang="en-US" altLang="zh-CN" b="0">
                <a:latin typeface="黑体" panose="02010609060101010101" pitchFamily="49" charset="-122"/>
              </a:rPr>
              <a:t>“</a:t>
            </a:r>
            <a:r>
              <a:rPr lang="zh-CN" altLang="en-US" b="0">
                <a:solidFill>
                  <a:schemeClr val="folHlink"/>
                </a:solidFill>
                <a:latin typeface="黑体" panose="02010609060101010101" pitchFamily="49" charset="-122"/>
              </a:rPr>
              <a:t>工作集</a:t>
            </a:r>
            <a:r>
              <a:rPr lang="en-US" altLang="zh-CN" b="0">
                <a:latin typeface="黑体" panose="02010609060101010101" pitchFamily="49" charset="-122"/>
              </a:rPr>
              <a:t>”</a:t>
            </a:r>
            <a:r>
              <a:rPr lang="zh-CN" altLang="en-US" b="0">
                <a:latin typeface="黑体" panose="02010609060101010101" pitchFamily="49" charset="-122"/>
              </a:rPr>
              <a:t>。</a:t>
            </a:r>
            <a:endParaRPr lang="en-US" altLang="zh-CN" b="0">
              <a:latin typeface="黑体" panose="02010609060101010101" pitchFamily="49" charset="-122"/>
            </a:endParaRPr>
          </a:p>
          <a:p>
            <a:pPr marL="457200" lvl="1" indent="0" eaLnBrk="1" hangingPunct="1">
              <a:buNone/>
            </a:pPr>
            <a:r>
              <a:rPr lang="en-US" altLang="zh-CN" b="0">
                <a:latin typeface="黑体" panose="02010609060101010101" pitchFamily="49" charset="-122"/>
              </a:rPr>
              <a:t>-</a:t>
            </a:r>
            <a:r>
              <a:rPr lang="zh-CN" altLang="en-US" b="0">
                <a:latin typeface="黑体" panose="02010609060101010101" pitchFamily="49" charset="-122"/>
              </a:rPr>
              <a:t> 分多少块（页）。</a:t>
            </a:r>
            <a:endParaRPr lang="en-US" altLang="zh-CN" b="0">
              <a:latin typeface="黑体" panose="02010609060101010101" pitchFamily="49" charset="-122"/>
            </a:endParaRPr>
          </a:p>
          <a:p>
            <a:pPr marL="457200" lvl="1" indent="0" eaLnBrk="1" hangingPunct="1">
              <a:buNone/>
            </a:pPr>
            <a:r>
              <a:rPr lang="en-US" altLang="zh-CN" b="0">
                <a:latin typeface="黑体" panose="02010609060101010101" pitchFamily="49" charset="-122"/>
                <a:sym typeface="+mn-ea"/>
              </a:rPr>
              <a:t>-</a:t>
            </a:r>
            <a:r>
              <a:rPr lang="zh-CN" altLang="en-US" b="0">
                <a:latin typeface="黑体" panose="02010609060101010101" pitchFamily="49" charset="-122"/>
                <a:sym typeface="+mn-ea"/>
              </a:rPr>
              <a:t> </a:t>
            </a:r>
            <a:r>
              <a:rPr lang="zh-CN" altLang="en-US" b="0">
                <a:latin typeface="黑体" panose="02010609060101010101" pitchFamily="49" charset="-122"/>
              </a:rPr>
              <a:t>需要其他页面时，通过</a:t>
            </a:r>
            <a:r>
              <a:rPr lang="zh-CN" altLang="en-US">
                <a:latin typeface="黑体" panose="02010609060101010101" pitchFamily="49" charset="-122"/>
              </a:rPr>
              <a:t>调页功能</a:t>
            </a:r>
            <a:r>
              <a:rPr lang="zh-CN" altLang="en-US" b="0">
                <a:latin typeface="黑体" panose="02010609060101010101" pitchFamily="49" charset="-122"/>
              </a:rPr>
              <a:t>将要运行的页面换入内存。</a:t>
            </a:r>
            <a:endParaRPr lang="en-US" altLang="zh-CN" b="0">
              <a:latin typeface="黑体" panose="02010609060101010101" pitchFamily="49" charset="-122"/>
            </a:endParaRPr>
          </a:p>
          <a:p>
            <a:pPr marL="457200" lvl="1" indent="0" eaLnBrk="1" hangingPunct="1">
              <a:buNone/>
            </a:pPr>
            <a:r>
              <a:rPr lang="en-US" altLang="zh-CN" b="0">
                <a:latin typeface="黑体" panose="02010609060101010101" pitchFamily="49" charset="-122"/>
                <a:sym typeface="+mn-ea"/>
              </a:rPr>
              <a:t>-</a:t>
            </a:r>
            <a:r>
              <a:rPr lang="zh-CN" altLang="en-US" b="0">
                <a:latin typeface="黑体" panose="02010609060101010101" pitchFamily="49" charset="-122"/>
                <a:sym typeface="+mn-ea"/>
              </a:rPr>
              <a:t> </a:t>
            </a:r>
            <a:r>
              <a:rPr lang="zh-CN" altLang="en-US" b="0">
                <a:latin typeface="黑体" panose="02010609060101010101" pitchFamily="49" charset="-122"/>
              </a:rPr>
              <a:t>如果分配的内存已满，通过</a:t>
            </a:r>
            <a:r>
              <a:rPr lang="zh-CN" altLang="en-US">
                <a:latin typeface="黑体" panose="02010609060101010101" pitchFamily="49" charset="-122"/>
              </a:rPr>
              <a:t>页面置换算法</a:t>
            </a:r>
            <a:r>
              <a:rPr lang="zh-CN" altLang="en-US" b="0">
                <a:latin typeface="黑体" panose="02010609060101010101" pitchFamily="49" charset="-122"/>
              </a:rPr>
              <a:t>把不运行的页面换出内存。</a:t>
            </a:r>
            <a:endParaRPr lang="zh-CN" altLang="en-US" b="0">
              <a:latin typeface="黑体" panose="02010609060101010101" pitchFamily="49" charset="-122"/>
            </a:endParaRPr>
          </a:p>
        </p:txBody>
      </p:sp>
      <p:pic>
        <p:nvPicPr>
          <p:cNvPr id="32772" name="虚拟页式.mp4">
            <a:hlinkClick r:id="" action="ppaction://media"/>
          </p:cNvPr>
          <p:cNvPicPr>
            <a:picLocks noChangeAspect="1"/>
          </p:cNvPicPr>
          <p:nvPr/>
        </p:nvPicPr>
        <p:blipFill>
          <a:blip r:embed="rId1"/>
          <a:stretch>
            <a:fillRect/>
          </a:stretch>
        </p:blipFill>
        <p:spPr>
          <a:xfrm>
            <a:off x="5076825" y="1300163"/>
            <a:ext cx="3857625" cy="5459412"/>
          </a:xfrm>
          <a:prstGeom prst="rect">
            <a:avLst/>
          </a:prstGeom>
          <a:noFill/>
          <a:ln w="9525">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33794"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8.1</a:t>
            </a:r>
            <a:r>
              <a:rPr lang="zh-CN" altLang="en-US"/>
              <a:t>虚拟页式存储过程</a:t>
            </a:r>
            <a:endParaRPr lang="zh-CN" altLang="en-US"/>
          </a:p>
        </p:txBody>
      </p:sp>
      <p:sp>
        <p:nvSpPr>
          <p:cNvPr id="359427" name="Rectangle 3"/>
          <p:cNvSpPr>
            <a:spLocks noGrp="1" noChangeArrowheads="1"/>
          </p:cNvSpPr>
          <p:nvPr>
            <p:ph idx="1"/>
          </p:nvPr>
        </p:nvSpPr>
        <p:spPr>
          <a:xfrm>
            <a:off x="0" y="1412875"/>
            <a:ext cx="8964613" cy="4572000"/>
          </a:xfrm>
        </p:spPr>
        <p:txBody>
          <a:bodyPr vert="horz" wrap="square" lIns="91440" tIns="45720" rIns="91440" bIns="45720" numCol="1" anchor="t" anchorCtr="0" compatLnSpc="1"/>
          <a:lstStyle/>
          <a:p>
            <a:pPr marL="457200" lvl="1" indent="0" eaLnBrk="1" hangingPunct="1">
              <a:lnSpc>
                <a:spcPct val="90000"/>
              </a:lnSpc>
              <a:buFont typeface="Wingdings" panose="05000000000000000000" pitchFamily="2" charset="2"/>
              <a:buNone/>
            </a:pPr>
            <a:r>
              <a:rPr lang="zh-CN" altLang="en-US" b="0"/>
              <a:t>在作业运行了一段时间之后，必然要访问没有装入的页面，也就是说，要访问的虚页不在内存，系统怎么发现？使用缺页中断。</a:t>
            </a:r>
            <a:endParaRPr lang="en-US" altLang="zh-CN" b="0"/>
          </a:p>
          <a:p>
            <a:pPr marL="457200" lvl="1" indent="0" eaLnBrk="1" hangingPunct="1">
              <a:lnSpc>
                <a:spcPct val="90000"/>
              </a:lnSpc>
              <a:buFont typeface="Wingdings" panose="05000000000000000000" pitchFamily="2" charset="2"/>
              <a:buNone/>
            </a:pPr>
            <a:r>
              <a:rPr lang="zh-CN" altLang="en-US" b="0"/>
              <a:t>系统如何知道虚页是否在内存中？通过扩充的页表。</a:t>
            </a:r>
            <a:endParaRPr lang="en-US" altLang="zh-CN" b="0"/>
          </a:p>
          <a:p>
            <a:pPr marL="457200" lvl="1" indent="0" eaLnBrk="1" hangingPunct="1">
              <a:buFont typeface="Monotype Sorts" pitchFamily="2" charset="2"/>
              <a:buChar char="–"/>
            </a:pPr>
            <a:r>
              <a:rPr lang="zh-CN" altLang="en-US" b="0"/>
              <a:t>存在位（</a:t>
            </a:r>
            <a:r>
              <a:rPr lang="en-US" altLang="zh-CN" b="0"/>
              <a:t>present bit</a:t>
            </a:r>
            <a:r>
              <a:rPr lang="zh-CN" altLang="en-US" b="0"/>
              <a:t>）</a:t>
            </a:r>
            <a:r>
              <a:rPr lang="en-US" altLang="zh-CN" b="0"/>
              <a:t>0</a:t>
            </a:r>
            <a:r>
              <a:rPr lang="zh-CN" altLang="en-US" b="0"/>
              <a:t>：不在内存 </a:t>
            </a:r>
            <a:r>
              <a:rPr lang="en-US" altLang="zh-CN" b="0"/>
              <a:t>1</a:t>
            </a:r>
            <a:r>
              <a:rPr lang="zh-CN" altLang="en-US" b="0"/>
              <a:t>：在内存</a:t>
            </a:r>
            <a:endParaRPr lang="zh-CN" altLang="en-US" b="0"/>
          </a:p>
          <a:p>
            <a:pPr marL="457200" lvl="1" indent="0" eaLnBrk="1" hangingPunct="1">
              <a:buFont typeface="Monotype Sorts" pitchFamily="2" charset="2"/>
              <a:buChar char="–"/>
            </a:pPr>
            <a:r>
              <a:rPr lang="zh-CN" altLang="en-US" b="0"/>
              <a:t>修改位</a:t>
            </a:r>
            <a:r>
              <a:rPr lang="en-US" altLang="zh-CN" b="0"/>
              <a:t>(modified bit)   0</a:t>
            </a:r>
            <a:r>
              <a:rPr lang="zh-CN" altLang="en-US" b="0"/>
              <a:t>：未修改     </a:t>
            </a:r>
            <a:r>
              <a:rPr lang="en-US" altLang="zh-CN" b="0"/>
              <a:t>1</a:t>
            </a:r>
            <a:r>
              <a:rPr lang="zh-CN" altLang="en-US" b="0"/>
              <a:t>：修改</a:t>
            </a:r>
            <a:endParaRPr lang="en-US" altLang="zh-CN" b="0"/>
          </a:p>
          <a:p>
            <a:pPr marL="457200" lvl="1" indent="0" eaLnBrk="1" hangingPunct="1">
              <a:buFont typeface="Monotype Sorts" pitchFamily="2" charset="2"/>
              <a:buChar char="–"/>
            </a:pPr>
            <a:r>
              <a:rPr lang="zh-CN" altLang="en-US" b="0"/>
              <a:t>访问统计：在近期内被访问的次数，或最近一次访问到现在的时间间隔</a:t>
            </a:r>
            <a:endParaRPr lang="en-US" altLang="zh-CN" b="0"/>
          </a:p>
          <a:p>
            <a:pPr marL="457200" lvl="1" indent="0" eaLnBrk="1" hangingPunct="1">
              <a:buFont typeface="Monotype Sorts" pitchFamily="2" charset="2"/>
              <a:buChar char="–"/>
            </a:pPr>
            <a:endParaRPr lang="en-US" altLang="zh-CN"/>
          </a:p>
          <a:p>
            <a:pPr marL="457200" lvl="1" indent="0" eaLnBrk="1" hangingPunct="1">
              <a:lnSpc>
                <a:spcPct val="90000"/>
              </a:lnSpc>
              <a:buFont typeface="Wingdings" panose="05000000000000000000" pitchFamily="2" charset="2"/>
              <a:buNone/>
            </a:pPr>
            <a:endParaRPr lang="en-US" altLang="zh-CN"/>
          </a:p>
        </p:txBody>
      </p:sp>
      <p:graphicFrame>
        <p:nvGraphicFramePr>
          <p:cNvPr id="33796" name="表格 33795"/>
          <p:cNvGraphicFramePr/>
          <p:nvPr/>
        </p:nvGraphicFramePr>
        <p:xfrm>
          <a:off x="971550" y="4724400"/>
          <a:ext cx="7391400" cy="1584325"/>
        </p:xfrm>
        <a:graphic>
          <a:graphicData uri="http://schemas.openxmlformats.org/drawingml/2006/table">
            <a:tbl>
              <a:tblPr/>
              <a:tblGrid>
                <a:gridCol w="1258888"/>
                <a:gridCol w="1257300"/>
                <a:gridCol w="1258887"/>
                <a:gridCol w="1025525"/>
                <a:gridCol w="1219200"/>
                <a:gridCol w="1371600"/>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页号</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物理块号</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存在位</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修改位</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访问统计</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外存地址</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15</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animEffect transition="in" filter="blinds(horizontal)">
                                      <p:cBhvr>
                                        <p:cTn id="7" dur="500"/>
                                        <p:tgtEl>
                                          <p:spTgt spid="359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9427">
                                            <p:txEl>
                                              <p:pRg st="1" end="1"/>
                                            </p:txEl>
                                          </p:spTgt>
                                        </p:tgtEl>
                                        <p:attrNameLst>
                                          <p:attrName>style.visibility</p:attrName>
                                        </p:attrNameLst>
                                      </p:cBhvr>
                                      <p:to>
                                        <p:strVal val="visible"/>
                                      </p:to>
                                    </p:set>
                                    <p:animEffect transition="in" filter="blinds(horizontal)">
                                      <p:cBhvr>
                                        <p:cTn id="12" dur="500"/>
                                        <p:tgtEl>
                                          <p:spTgt spid="3594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9427">
                                            <p:txEl>
                                              <p:pRg st="2" end="2"/>
                                            </p:txEl>
                                          </p:spTgt>
                                        </p:tgtEl>
                                        <p:attrNameLst>
                                          <p:attrName>style.visibility</p:attrName>
                                        </p:attrNameLst>
                                      </p:cBhvr>
                                      <p:to>
                                        <p:strVal val="visible"/>
                                      </p:to>
                                    </p:set>
                                    <p:animEffect transition="in" filter="blinds(horizontal)">
                                      <p:cBhvr>
                                        <p:cTn id="17" dur="500"/>
                                        <p:tgtEl>
                                          <p:spTgt spid="3594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9427">
                                            <p:txEl>
                                              <p:pRg st="3" end="3"/>
                                            </p:txEl>
                                          </p:spTgt>
                                        </p:tgtEl>
                                        <p:attrNameLst>
                                          <p:attrName>style.visibility</p:attrName>
                                        </p:attrNameLst>
                                      </p:cBhvr>
                                      <p:to>
                                        <p:strVal val="visible"/>
                                      </p:to>
                                    </p:set>
                                    <p:animEffect transition="in" filter="blinds(horizontal)">
                                      <p:cBhvr>
                                        <p:cTn id="22" dur="500"/>
                                        <p:tgtEl>
                                          <p:spTgt spid="3594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59427">
                                            <p:txEl>
                                              <p:pRg st="4" end="4"/>
                                            </p:txEl>
                                          </p:spTgt>
                                        </p:tgtEl>
                                        <p:attrNameLst>
                                          <p:attrName>style.visibility</p:attrName>
                                        </p:attrNameLst>
                                      </p:cBhvr>
                                      <p:to>
                                        <p:strVal val="visible"/>
                                      </p:to>
                                    </p:set>
                                    <p:animEffect transition="in" filter="blinds(horizontal)">
                                      <p:cBhvr>
                                        <p:cTn id="27" dur="500"/>
                                        <p:tgtEl>
                                          <p:spTgt spid="3594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bldLvl="2"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34818"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8.1</a:t>
            </a:r>
            <a:r>
              <a:rPr lang="zh-CN" altLang="en-US"/>
              <a:t>虚拟页式存储过程</a:t>
            </a:r>
            <a:endParaRPr lang="zh-CN" altLang="en-US"/>
          </a:p>
        </p:txBody>
      </p:sp>
      <p:pic>
        <p:nvPicPr>
          <p:cNvPr id="121860" name="Picture 1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2988" y="1471613"/>
            <a:ext cx="6408738" cy="498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35842"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8.1</a:t>
            </a:r>
            <a:r>
              <a:rPr lang="zh-CN" altLang="en-US"/>
              <a:t>虚拟页式存储过程</a:t>
            </a:r>
            <a:endParaRPr lang="zh-CN" altLang="en-US"/>
          </a:p>
        </p:txBody>
      </p:sp>
      <p:sp>
        <p:nvSpPr>
          <p:cNvPr id="35843" name="Rectangle 3"/>
          <p:cNvSpPr>
            <a:spLocks noGrp="1" noChangeArrowheads="1"/>
          </p:cNvSpPr>
          <p:nvPr>
            <p:ph idx="1"/>
          </p:nvPr>
        </p:nvSpPr>
        <p:spPr/>
        <p:txBody>
          <a:bodyPr vert="horz" wrap="square" lIns="91440" tIns="45720" rIns="91440" bIns="45720" numCol="1" anchor="t" anchorCtr="0" compatLnSpc="1"/>
          <a:lstStyle/>
          <a:p>
            <a:pPr marL="0" indent="0" eaLnBrk="1" hangingPunct="1">
              <a:buNone/>
            </a:pPr>
            <a:r>
              <a:rPr lang="zh-CN" altLang="en-US" sz="2400" b="0"/>
              <a:t>当要访问的页不在内存时，产生</a:t>
            </a:r>
            <a:r>
              <a:rPr lang="zh-CN" altLang="en-US" sz="2400" b="0">
                <a:latin typeface="楷体_GB2312" pitchFamily="49" charset="-122"/>
              </a:rPr>
              <a:t>缺页中断。</a:t>
            </a:r>
            <a:endParaRPr lang="zh-CN" altLang="en-US" sz="2400" b="0">
              <a:latin typeface="楷体_GB2312" pitchFamily="49" charset="-122"/>
            </a:endParaRPr>
          </a:p>
          <a:p>
            <a:pPr marL="0" indent="0" eaLnBrk="1" hangingPunct="1">
              <a:buFont typeface="Wingdings" panose="05000000000000000000" pitchFamily="2" charset="2"/>
              <a:buNone/>
            </a:pPr>
            <a:r>
              <a:rPr lang="zh-CN" altLang="en-US" sz="2400" b="0"/>
              <a:t>缺页中断的处理过程：</a:t>
            </a:r>
            <a:endParaRPr lang="zh-CN" altLang="en-US" sz="2400" b="0"/>
          </a:p>
          <a:p>
            <a:pPr lvl="1" eaLnBrk="1" hangingPunct="1"/>
            <a:r>
              <a:rPr lang="zh-CN" altLang="en-US" b="0"/>
              <a:t>保存现场。</a:t>
            </a:r>
            <a:endParaRPr lang="zh-CN" altLang="en-US" b="0"/>
          </a:p>
          <a:p>
            <a:pPr lvl="1" eaLnBrk="1" hangingPunct="1"/>
            <a:r>
              <a:rPr lang="zh-CN" altLang="en-US" b="0"/>
              <a:t>在内存中找到一个空闲块。如果没有，通过页面置换算法选择一页换出内存。</a:t>
            </a:r>
            <a:endParaRPr lang="zh-CN" altLang="en-US" b="0"/>
          </a:p>
          <a:p>
            <a:pPr lvl="1" eaLnBrk="1" hangingPunct="1"/>
            <a:r>
              <a:rPr lang="zh-CN" altLang="en-US" b="0"/>
              <a:t>从磁盘上找到要调入的页。</a:t>
            </a:r>
            <a:endParaRPr lang="zh-CN" altLang="en-US" b="0"/>
          </a:p>
          <a:p>
            <a:pPr lvl="1" eaLnBrk="1" hangingPunct="1"/>
            <a:r>
              <a:rPr lang="zh-CN" altLang="en-US" b="0"/>
              <a:t>读磁盘到内存。</a:t>
            </a:r>
            <a:endParaRPr lang="zh-CN" altLang="en-US" b="0"/>
          </a:p>
          <a:p>
            <a:pPr lvl="1" eaLnBrk="1" hangingPunct="1"/>
            <a:r>
              <a:rPr lang="zh-CN" altLang="en-US" b="0"/>
              <a:t>恢复现场。</a:t>
            </a:r>
            <a:endParaRPr lang="zh-CN" altLang="en-US" b="0"/>
          </a:p>
          <a:p>
            <a:pPr lvl="1" eaLnBrk="1" hangingPunct="1"/>
            <a:r>
              <a:rPr lang="zh-CN" altLang="en-US" b="0"/>
              <a:t>重新调度运行。</a:t>
            </a:r>
            <a:endParaRPr lang="zh-CN" altLang="en-US" b="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36866" name="Rectangle 3"/>
          <p:cNvSpPr>
            <a:spLocks noGrp="1"/>
          </p:cNvSpPr>
          <p:nvPr>
            <p:ph idx="1"/>
          </p:nvPr>
        </p:nvSpPr>
        <p:spPr>
          <a:xfrm>
            <a:off x="684213" y="1736725"/>
            <a:ext cx="8231187" cy="4572000"/>
          </a:xfrm>
        </p:spPr>
        <p:txBody>
          <a:bodyPr vert="horz" wrap="square" lIns="91440" tIns="45720" rIns="91440" bIns="45720" anchor="t" anchorCtr="0"/>
          <a:lstStyle/>
          <a:p>
            <a:pPr marL="0" indent="0">
              <a:buFont typeface="Wingdings" panose="05000000000000000000" pitchFamily="2" charset="2"/>
              <a:buNone/>
            </a:pPr>
            <a:r>
              <a:rPr lang="en-US" altLang="zh-CN" sz="2400" b="0"/>
              <a:t>1.</a:t>
            </a:r>
            <a:r>
              <a:rPr lang="zh-CN" altLang="en-US" sz="2400" b="0"/>
              <a:t>在缺页处理过程中，操作系统执行的操作可能是（</a:t>
            </a:r>
            <a:r>
              <a:rPr lang="en-US" altLang="zh-CN" sz="2400" b="0"/>
              <a:t> </a:t>
            </a:r>
            <a:r>
              <a:rPr lang="zh-CN" altLang="en-US" sz="2400" b="0"/>
              <a:t>）。</a:t>
            </a:r>
            <a:endParaRPr lang="zh-CN" altLang="en-US" sz="2400" b="0"/>
          </a:p>
          <a:p>
            <a:pPr marL="0" indent="0">
              <a:buNone/>
            </a:pPr>
            <a:r>
              <a:rPr lang="en-US" altLang="zh-CN" sz="2400" b="0"/>
              <a:t>Ⅰ</a:t>
            </a:r>
            <a:r>
              <a:rPr lang="zh-CN" altLang="en-US" sz="2400" b="0"/>
              <a:t>．修改页表        </a:t>
            </a:r>
            <a:r>
              <a:rPr lang="en-US" altLang="zh-CN" sz="2400" b="0"/>
              <a:t>Ⅱ</a:t>
            </a:r>
            <a:r>
              <a:rPr lang="zh-CN" altLang="en-US" sz="2400" b="0"/>
              <a:t>．磁盘</a:t>
            </a:r>
            <a:r>
              <a:rPr lang="en-US" altLang="zh-CN" sz="2400" b="0"/>
              <a:t>I/O        Ⅲ</a:t>
            </a:r>
            <a:r>
              <a:rPr lang="zh-CN" altLang="en-US" sz="2400" b="0"/>
              <a:t>．分配空闲块</a:t>
            </a:r>
            <a:endParaRPr lang="en-US" altLang="zh-CN" sz="2400" b="0"/>
          </a:p>
          <a:p>
            <a:pPr marL="0" indent="0" eaLnBrk="1" hangingPunct="1">
              <a:buFont typeface="Wingdings" panose="05000000000000000000" pitchFamily="2" charset="2"/>
              <a:buNone/>
            </a:pPr>
            <a:r>
              <a:rPr lang="en-US" altLang="zh-CN" sz="2400" b="0"/>
              <a:t>A</a:t>
            </a:r>
            <a:r>
              <a:rPr lang="zh-CN" altLang="en-US" sz="2400" b="0"/>
              <a:t>仅</a:t>
            </a:r>
            <a:r>
              <a:rPr lang="en-US" altLang="zh-CN" sz="2400" b="0"/>
              <a:t>Ⅰ</a:t>
            </a:r>
            <a:r>
              <a:rPr lang="zh-CN" altLang="en-US" sz="2400" b="0"/>
              <a:t>、</a:t>
            </a:r>
            <a:r>
              <a:rPr lang="en-US" altLang="zh-CN" sz="2400" b="0"/>
              <a:t>Ⅱ</a:t>
            </a:r>
            <a:endParaRPr lang="en-US" altLang="zh-CN" sz="2400" b="0"/>
          </a:p>
          <a:p>
            <a:pPr marL="0" indent="0" eaLnBrk="1" hangingPunct="1">
              <a:buFont typeface="Wingdings" panose="05000000000000000000" pitchFamily="2" charset="2"/>
              <a:buNone/>
            </a:pPr>
            <a:r>
              <a:rPr lang="en-US" altLang="zh-CN" sz="2400" b="0"/>
              <a:t>B</a:t>
            </a:r>
            <a:r>
              <a:rPr lang="zh-CN" altLang="en-US" sz="2400" b="0"/>
              <a:t>仅</a:t>
            </a:r>
            <a:r>
              <a:rPr lang="en-US" altLang="zh-CN" sz="2400" b="0"/>
              <a:t>Ⅱ</a:t>
            </a:r>
            <a:endParaRPr lang="en-US" altLang="zh-CN" sz="2400" b="0"/>
          </a:p>
          <a:p>
            <a:pPr marL="0" indent="0" eaLnBrk="1" hangingPunct="1">
              <a:buFont typeface="Wingdings" panose="05000000000000000000" pitchFamily="2" charset="2"/>
              <a:buNone/>
            </a:pPr>
            <a:r>
              <a:rPr lang="en-US" altLang="zh-CN" sz="2400" b="0"/>
              <a:t>C</a:t>
            </a:r>
            <a:r>
              <a:rPr lang="zh-CN" altLang="en-US" sz="2400" b="0"/>
              <a:t>仅</a:t>
            </a:r>
            <a:r>
              <a:rPr lang="en-US" altLang="zh-CN" sz="2400" b="0"/>
              <a:t>Ⅲ</a:t>
            </a:r>
            <a:endParaRPr lang="en-US" altLang="zh-CN" sz="2400" b="0"/>
          </a:p>
          <a:p>
            <a:pPr marL="0" indent="0" eaLnBrk="1" hangingPunct="1">
              <a:buFont typeface="Wingdings" panose="05000000000000000000" pitchFamily="2" charset="2"/>
              <a:buNone/>
            </a:pPr>
            <a:r>
              <a:rPr lang="en-US" altLang="zh-CN" sz="2400" b="0"/>
              <a:t>DⅠ</a:t>
            </a:r>
            <a:r>
              <a:rPr lang="zh-CN" altLang="en-US" sz="2400" b="0"/>
              <a:t>、</a:t>
            </a:r>
            <a:r>
              <a:rPr lang="en-US" altLang="zh-CN" sz="2400" b="0"/>
              <a:t>Ⅱ</a:t>
            </a:r>
            <a:r>
              <a:rPr lang="zh-CN" altLang="en-US" sz="2400" b="0"/>
              <a:t>和</a:t>
            </a:r>
            <a:r>
              <a:rPr lang="en-US" altLang="zh-CN" sz="2400" b="0"/>
              <a:t>Ⅲ</a:t>
            </a:r>
            <a:endParaRPr lang="zh-CN" altLang="en-US" sz="2400" b="0"/>
          </a:p>
        </p:txBody>
      </p:sp>
      <p:sp>
        <p:nvSpPr>
          <p:cNvPr id="36867" name="Rectangle 2"/>
          <p:cNvSpPr>
            <a:spLocks noGrp="1"/>
          </p:cNvSpPr>
          <p:nvPr>
            <p:ph type="title"/>
          </p:nvPr>
        </p:nvSpPr>
        <p:spPr>
          <a:xfrm>
            <a:off x="406400" y="198438"/>
            <a:ext cx="8204200" cy="1143000"/>
          </a:xfrm>
        </p:spPr>
        <p:txBody>
          <a:bodyPr vert="horz" wrap="square" lIns="91440" tIns="45720" rIns="91440" bIns="45720" anchor="b" anchorCtr="0"/>
          <a:lstStyle/>
          <a:p>
            <a:pPr eaLnBrk="1" hangingPunct="1"/>
            <a:r>
              <a:rPr lang="nb-NO" altLang="zh-CN"/>
              <a:t>5.</a:t>
            </a:r>
            <a:r>
              <a:rPr lang="en-US" altLang="zh-CN"/>
              <a:t>8.1</a:t>
            </a:r>
            <a:r>
              <a:rPr lang="zh-CN" altLang="en-US"/>
              <a:t>虚拟页式存储过程</a:t>
            </a:r>
            <a:endParaRPr lang="zh-CN"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框 4"/>
          <p:cNvSpPr txBox="1"/>
          <p:nvPr>
            <p:custDataLst>
              <p:tags r:id="rId1"/>
            </p:custDataLst>
          </p:nvPr>
        </p:nvSpPr>
        <p:spPr>
          <a:xfrm>
            <a:off x="684213" y="1055688"/>
            <a:ext cx="7991475" cy="1941512"/>
          </a:xfrm>
          <a:prstGeom prst="rect">
            <a:avLst/>
          </a:prstGeom>
          <a:noFill/>
          <a:ln w="9525">
            <a:noFill/>
          </a:ln>
        </p:spPr>
        <p:txBody>
          <a:bodyPr anchor="ctr" anchorCtr="0"/>
          <a:lstStyle/>
          <a:p>
            <a:pPr eaLnBrk="0" hangingPunct="0">
              <a:buClrTx/>
              <a:buFontTx/>
            </a:pPr>
            <a:r>
              <a:rPr lang="en-US" altLang="zh-CN" sz="2800" dirty="0">
                <a:latin typeface="Times New Roman" panose="02020503050405090304" pitchFamily="18" charset="0"/>
              </a:rPr>
              <a:t>1 </a:t>
            </a:r>
            <a:r>
              <a:rPr lang="zh-CN" altLang="en-US" sz="2800" dirty="0">
                <a:latin typeface="Times New Roman" panose="02020503050405090304" pitchFamily="18" charset="0"/>
              </a:rPr>
              <a:t>在缺页处理过程中，操作系统执行的操作可能是（</a:t>
            </a:r>
            <a:r>
              <a:rPr lang="en-US" altLang="zh-CN" sz="2800" dirty="0">
                <a:latin typeface="Times New Roman" panose="02020503050405090304" pitchFamily="18" charset="0"/>
              </a:rPr>
              <a:t> </a:t>
            </a:r>
            <a:r>
              <a:rPr lang="zh-CN" altLang="en-US" sz="2800" dirty="0">
                <a:latin typeface="Times New Roman" panose="02020503050405090304" pitchFamily="18" charset="0"/>
              </a:rPr>
              <a:t>）。</a:t>
            </a:r>
            <a:r>
              <a:rPr lang="en-US" altLang="zh-CN" sz="2800" dirty="0">
                <a:latin typeface="Times New Roman" panose="02020503050405090304" pitchFamily="18" charset="0"/>
              </a:rPr>
              <a:t>Ⅰ</a:t>
            </a:r>
            <a:r>
              <a:rPr lang="zh-CN" altLang="en-US" sz="2800" dirty="0">
                <a:latin typeface="Times New Roman" panose="02020503050405090304" pitchFamily="18" charset="0"/>
              </a:rPr>
              <a:t>．修改页表        </a:t>
            </a:r>
            <a:r>
              <a:rPr lang="en-US" altLang="zh-CN" sz="2800" dirty="0">
                <a:latin typeface="Times New Roman" panose="02020503050405090304" pitchFamily="18" charset="0"/>
              </a:rPr>
              <a:t>Ⅱ</a:t>
            </a:r>
            <a:r>
              <a:rPr lang="zh-CN" altLang="en-US" sz="2800" dirty="0">
                <a:latin typeface="Times New Roman" panose="02020503050405090304" pitchFamily="18" charset="0"/>
              </a:rPr>
              <a:t>．磁盘</a:t>
            </a:r>
            <a:r>
              <a:rPr lang="en-US" altLang="zh-CN" sz="2800" dirty="0">
                <a:latin typeface="Times New Roman" panose="02020503050405090304" pitchFamily="18" charset="0"/>
              </a:rPr>
              <a:t>I/O        Ⅲ</a:t>
            </a:r>
            <a:r>
              <a:rPr lang="zh-CN" altLang="en-US" sz="2800" dirty="0">
                <a:latin typeface="Times New Roman" panose="02020503050405090304" pitchFamily="18" charset="0"/>
              </a:rPr>
              <a:t>．分配空闲块</a:t>
            </a:r>
            <a:endParaRPr lang="en-US" altLang="zh-CN" sz="2800" dirty="0">
              <a:latin typeface="Times New Roman" panose="02020503050405090304" pitchFamily="18" charset="0"/>
            </a:endParaRPr>
          </a:p>
        </p:txBody>
      </p:sp>
      <p:sp>
        <p:nvSpPr>
          <p:cNvPr id="34818" name="文本框 5"/>
          <p:cNvSpPr txBox="1"/>
          <p:nvPr>
            <p:custDataLst>
              <p:tags r:id="rId2"/>
            </p:custDataLst>
          </p:nvPr>
        </p:nvSpPr>
        <p:spPr>
          <a:xfrm>
            <a:off x="1828800" y="2786063"/>
            <a:ext cx="6400800" cy="642937"/>
          </a:xfrm>
          <a:prstGeom prst="rect">
            <a:avLst/>
          </a:prstGeom>
          <a:noFill/>
          <a:ln w="9525">
            <a:noFill/>
          </a:ln>
        </p:spPr>
        <p:txBody>
          <a:bodyPr anchor="ctr" anchorCtr="0"/>
          <a:lstStyle/>
          <a:p>
            <a:pPr eaLnBrk="0" hangingPunct="0">
              <a:buClrTx/>
              <a:buFontTx/>
            </a:pPr>
            <a:r>
              <a:rPr lang="zh-CN" altLang="en-US" sz="2800" dirty="0">
                <a:latin typeface="Times New Roman" panose="02020503050405090304" pitchFamily="18" charset="0"/>
              </a:rPr>
              <a:t>仅</a:t>
            </a:r>
            <a:r>
              <a:rPr lang="en-US" altLang="zh-CN" sz="2800" dirty="0">
                <a:latin typeface="Times New Roman" panose="02020503050405090304" pitchFamily="18" charset="0"/>
              </a:rPr>
              <a:t>Ⅰ</a:t>
            </a:r>
            <a:r>
              <a:rPr lang="zh-CN" altLang="en-US" sz="2800" dirty="0">
                <a:latin typeface="Times New Roman" panose="02020503050405090304" pitchFamily="18" charset="0"/>
              </a:rPr>
              <a:t>、</a:t>
            </a:r>
            <a:r>
              <a:rPr lang="en-US" altLang="zh-CN" sz="2800" dirty="0">
                <a:latin typeface="Times New Roman" panose="02020503050405090304" pitchFamily="18" charset="0"/>
              </a:rPr>
              <a:t>Ⅱ</a:t>
            </a:r>
            <a:endParaRPr lang="zh-CN" altLang="en-US" sz="2600" dirty="0">
              <a:solidFill>
                <a:srgbClr val="000000"/>
              </a:solidFill>
              <a:latin typeface="微软雅黑" charset="-122"/>
              <a:ea typeface="微软雅黑" charset="-122"/>
              <a:sym typeface="微软雅黑" charset="-122"/>
            </a:endParaRPr>
          </a:p>
        </p:txBody>
      </p:sp>
      <p:sp>
        <p:nvSpPr>
          <p:cNvPr id="34819" name="文本框 6"/>
          <p:cNvSpPr txBox="1"/>
          <p:nvPr>
            <p:custDataLst>
              <p:tags r:id="rId3"/>
            </p:custDataLst>
          </p:nvPr>
        </p:nvSpPr>
        <p:spPr>
          <a:xfrm>
            <a:off x="1828800" y="3643313"/>
            <a:ext cx="6400800" cy="642937"/>
          </a:xfrm>
          <a:prstGeom prst="rect">
            <a:avLst/>
          </a:prstGeom>
          <a:noFill/>
          <a:ln w="9525">
            <a:noFill/>
          </a:ln>
        </p:spPr>
        <p:txBody>
          <a:bodyPr anchor="ctr" anchorCtr="0"/>
          <a:lstStyle/>
          <a:p>
            <a:pPr eaLnBrk="0" hangingPunct="0">
              <a:buClrTx/>
              <a:buFontTx/>
            </a:pPr>
            <a:r>
              <a:rPr lang="zh-CN" altLang="en-US" sz="2800" dirty="0">
                <a:latin typeface="Times New Roman" panose="02020503050405090304" pitchFamily="18" charset="0"/>
              </a:rPr>
              <a:t>仅</a:t>
            </a:r>
            <a:r>
              <a:rPr lang="en-US" altLang="zh-CN" sz="2800" dirty="0">
                <a:latin typeface="Times New Roman" panose="02020503050405090304" pitchFamily="18" charset="0"/>
              </a:rPr>
              <a:t>Ⅱ</a:t>
            </a:r>
            <a:endParaRPr lang="zh-CN" altLang="en-US" sz="2600" dirty="0">
              <a:solidFill>
                <a:srgbClr val="000000"/>
              </a:solidFill>
              <a:latin typeface="微软雅黑" charset="-122"/>
              <a:ea typeface="微软雅黑" charset="-122"/>
              <a:sym typeface="微软雅黑" charset="-122"/>
            </a:endParaRPr>
          </a:p>
        </p:txBody>
      </p:sp>
      <p:sp>
        <p:nvSpPr>
          <p:cNvPr id="34820" name="文本框 7"/>
          <p:cNvSpPr txBox="1"/>
          <p:nvPr>
            <p:custDataLst>
              <p:tags r:id="rId4"/>
            </p:custDataLst>
          </p:nvPr>
        </p:nvSpPr>
        <p:spPr>
          <a:xfrm>
            <a:off x="1828800" y="4500563"/>
            <a:ext cx="6400800" cy="642937"/>
          </a:xfrm>
          <a:prstGeom prst="rect">
            <a:avLst/>
          </a:prstGeom>
          <a:noFill/>
          <a:ln w="9525">
            <a:noFill/>
          </a:ln>
        </p:spPr>
        <p:txBody>
          <a:bodyPr anchor="ctr" anchorCtr="0"/>
          <a:lstStyle/>
          <a:p>
            <a:pPr eaLnBrk="0" hangingPunct="0">
              <a:buClrTx/>
              <a:buFontTx/>
            </a:pPr>
            <a:r>
              <a:rPr lang="zh-CN" altLang="en-US" sz="2800" dirty="0">
                <a:latin typeface="Times New Roman" panose="02020503050405090304" pitchFamily="18" charset="0"/>
              </a:rPr>
              <a:t>仅</a:t>
            </a:r>
            <a:r>
              <a:rPr lang="en-US" altLang="zh-CN" sz="2800" dirty="0">
                <a:latin typeface="Times New Roman" panose="02020503050405090304" pitchFamily="18" charset="0"/>
              </a:rPr>
              <a:t>Ⅲ</a:t>
            </a:r>
            <a:endParaRPr lang="zh-CN" altLang="en-US" sz="2600" dirty="0">
              <a:solidFill>
                <a:srgbClr val="000000"/>
              </a:solidFill>
              <a:latin typeface="微软雅黑" charset="-122"/>
              <a:ea typeface="微软雅黑" charset="-122"/>
              <a:sym typeface="微软雅黑" charset="-122"/>
            </a:endParaRPr>
          </a:p>
        </p:txBody>
      </p:sp>
      <p:sp>
        <p:nvSpPr>
          <p:cNvPr id="34821" name="文本框 8"/>
          <p:cNvSpPr txBox="1"/>
          <p:nvPr>
            <p:custDataLst>
              <p:tags r:id="rId5"/>
            </p:custDataLst>
          </p:nvPr>
        </p:nvSpPr>
        <p:spPr>
          <a:xfrm>
            <a:off x="1828800" y="5357813"/>
            <a:ext cx="6400800" cy="642937"/>
          </a:xfrm>
          <a:prstGeom prst="rect">
            <a:avLst/>
          </a:prstGeom>
          <a:noFill/>
          <a:ln w="9525">
            <a:noFill/>
          </a:ln>
        </p:spPr>
        <p:txBody>
          <a:bodyPr anchor="ctr" anchorCtr="0"/>
          <a:lstStyle/>
          <a:p>
            <a:pPr>
              <a:buClrTx/>
              <a:buFont typeface="Wingdings" panose="05000000000000000000" pitchFamily="2" charset="2"/>
            </a:pPr>
            <a:r>
              <a:rPr lang="en-US" altLang="zh-CN" sz="2800" dirty="0">
                <a:latin typeface="Times New Roman" panose="02020503050405090304" pitchFamily="18" charset="0"/>
              </a:rPr>
              <a:t>Ⅰ</a:t>
            </a:r>
            <a:r>
              <a:rPr lang="zh-CN" altLang="en-US" sz="2800" dirty="0">
                <a:latin typeface="Times New Roman" panose="02020503050405090304" pitchFamily="18" charset="0"/>
              </a:rPr>
              <a:t>、</a:t>
            </a:r>
            <a:r>
              <a:rPr lang="en-US" altLang="zh-CN" sz="2800" dirty="0">
                <a:latin typeface="Times New Roman" panose="02020503050405090304" pitchFamily="18" charset="0"/>
              </a:rPr>
              <a:t>Ⅱ</a:t>
            </a:r>
            <a:r>
              <a:rPr lang="zh-CN" altLang="en-US" sz="2800" dirty="0">
                <a:latin typeface="Times New Roman" panose="02020503050405090304" pitchFamily="18" charset="0"/>
              </a:rPr>
              <a:t>和</a:t>
            </a:r>
            <a:r>
              <a:rPr lang="en-US" altLang="zh-CN" sz="2800" dirty="0">
                <a:latin typeface="Times New Roman" panose="02020503050405090304" pitchFamily="18" charset="0"/>
              </a:rPr>
              <a:t>Ⅲ</a:t>
            </a:r>
            <a:endParaRPr lang="zh-CN" altLang="en-US" sz="2800" dirty="0">
              <a:latin typeface="Times New Roman" panose="02020503050405090304" pitchFamily="18" charset="0"/>
            </a:endParaRPr>
          </a:p>
        </p:txBody>
      </p:sp>
      <p:sp>
        <p:nvSpPr>
          <p:cNvPr id="34822" name="椭圆 9"/>
          <p:cNvSpPr>
            <a:spLocks noChangeAspect="1"/>
          </p:cNvSpPr>
          <p:nvPr>
            <p:custDataLst>
              <p:tags r:id="rId6"/>
            </p:custDataLst>
          </p:nvPr>
        </p:nvSpPr>
        <p:spPr>
          <a:xfrm>
            <a:off x="1114425" y="284956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charset="-122"/>
                <a:ea typeface="微软雅黑" charset="-122"/>
                <a:sym typeface="微软雅黑" charset="-122"/>
              </a:rPr>
              <a:t>A</a:t>
            </a:r>
            <a:endParaRPr lang="zh-CN" altLang="en-US" sz="1600" dirty="0">
              <a:solidFill>
                <a:srgbClr val="FFFFFF"/>
              </a:solidFill>
              <a:latin typeface="微软雅黑" charset="-122"/>
              <a:ea typeface="微软雅黑" charset="-122"/>
              <a:sym typeface="微软雅黑" charset="-122"/>
            </a:endParaRPr>
          </a:p>
        </p:txBody>
      </p:sp>
      <p:sp>
        <p:nvSpPr>
          <p:cNvPr id="34823" name="椭圆 10"/>
          <p:cNvSpPr>
            <a:spLocks noChangeAspect="1"/>
          </p:cNvSpPr>
          <p:nvPr>
            <p:custDataLst>
              <p:tags r:id="rId7"/>
            </p:custDataLst>
          </p:nvPr>
        </p:nvSpPr>
        <p:spPr>
          <a:xfrm>
            <a:off x="1114425" y="370681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charset="-122"/>
                <a:ea typeface="微软雅黑" charset="-122"/>
                <a:sym typeface="微软雅黑" charset="-122"/>
              </a:rPr>
              <a:t>B</a:t>
            </a:r>
            <a:endParaRPr lang="zh-CN" altLang="en-US" sz="1600" dirty="0">
              <a:solidFill>
                <a:srgbClr val="FFFFFF"/>
              </a:solidFill>
              <a:latin typeface="微软雅黑" charset="-122"/>
              <a:ea typeface="微软雅黑" charset="-122"/>
              <a:sym typeface="微软雅黑" charset="-122"/>
            </a:endParaRPr>
          </a:p>
        </p:txBody>
      </p:sp>
      <p:sp>
        <p:nvSpPr>
          <p:cNvPr id="34824" name="椭圆 11"/>
          <p:cNvSpPr>
            <a:spLocks noChangeAspect="1"/>
          </p:cNvSpPr>
          <p:nvPr>
            <p:custDataLst>
              <p:tags r:id="rId8"/>
            </p:custDataLst>
          </p:nvPr>
        </p:nvSpPr>
        <p:spPr>
          <a:xfrm>
            <a:off x="1114425" y="456406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charset="-122"/>
                <a:ea typeface="微软雅黑" charset="-122"/>
                <a:sym typeface="微软雅黑" charset="-122"/>
              </a:rPr>
              <a:t>C</a:t>
            </a:r>
            <a:endParaRPr lang="zh-CN" altLang="en-US" sz="1600" dirty="0">
              <a:solidFill>
                <a:srgbClr val="FFFFFF"/>
              </a:solidFill>
              <a:latin typeface="微软雅黑" charset="-122"/>
              <a:ea typeface="微软雅黑" charset="-122"/>
              <a:sym typeface="微软雅黑" charset="-122"/>
            </a:endParaRPr>
          </a:p>
        </p:txBody>
      </p:sp>
      <p:sp>
        <p:nvSpPr>
          <p:cNvPr id="34825" name="椭圆 12"/>
          <p:cNvSpPr>
            <a:spLocks noChangeAspect="1"/>
          </p:cNvSpPr>
          <p:nvPr>
            <p:custDataLst>
              <p:tags r:id="rId9"/>
            </p:custDataLst>
          </p:nvPr>
        </p:nvSpPr>
        <p:spPr>
          <a:xfrm>
            <a:off x="1114425" y="5421313"/>
            <a:ext cx="514350" cy="514350"/>
          </a:xfrm>
          <a:prstGeom prst="ellipse">
            <a:avLst/>
          </a:prstGeom>
          <a:solidFill>
            <a:srgbClr val="00FF00"/>
          </a:solidFill>
          <a:ln w="254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charset="-122"/>
                <a:ea typeface="微软雅黑" charset="-122"/>
                <a:sym typeface="微软雅黑" charset="-122"/>
              </a:rPr>
              <a:t>D</a:t>
            </a:r>
            <a:endParaRPr lang="zh-CN" altLang="en-US" sz="1600" dirty="0">
              <a:solidFill>
                <a:srgbClr val="FFFFFF"/>
              </a:solidFill>
              <a:latin typeface="微软雅黑" charset="-122"/>
              <a:ea typeface="微软雅黑" charset="-122"/>
              <a:sym typeface="微软雅黑" charset="-122"/>
            </a:endParaRPr>
          </a:p>
        </p:txBody>
      </p:sp>
      <p:sp>
        <p:nvSpPr>
          <p:cNvPr id="34826" name="圆角矩形 13"/>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zh-CN" altLang="en-US" sz="1600" dirty="0">
                <a:solidFill>
                  <a:srgbClr val="FFFFFF"/>
                </a:solidFill>
                <a:latin typeface="微软雅黑" charset="-122"/>
                <a:ea typeface="微软雅黑" charset="-122"/>
                <a:sym typeface="微软雅黑" charset="-122"/>
              </a:rPr>
              <a:t>提交</a:t>
            </a:r>
            <a:endParaRPr lang="zh-CN" altLang="en-US" sz="1600" dirty="0">
              <a:solidFill>
                <a:srgbClr val="FFFFFF"/>
              </a:solidFill>
              <a:latin typeface="微软雅黑" charset="-122"/>
              <a:ea typeface="微软雅黑" charset="-122"/>
              <a:sym typeface="微软雅黑" charset="-122"/>
            </a:endParaRPr>
          </a:p>
        </p:txBody>
      </p:sp>
      <p:grpSp>
        <p:nvGrpSpPr>
          <p:cNvPr id="34827" name="组合 18"/>
          <p:cNvGrpSpPr/>
          <p:nvPr/>
        </p:nvGrpSpPr>
        <p:grpSpPr>
          <a:xfrm>
            <a:off x="0" y="0"/>
            <a:ext cx="9144000" cy="635000"/>
            <a:chOff x="0" y="0"/>
            <a:chExt cx="9144000" cy="635000"/>
          </a:xfrm>
        </p:grpSpPr>
        <p:sp>
          <p:nvSpPr>
            <p:cNvPr id="34828" name="TitleBackground"/>
            <p:cNvSpPr/>
            <p:nvPr>
              <p:custDataLst>
                <p:tags r:id="rId11"/>
              </p:custDataLst>
            </p:nvPr>
          </p:nvSpPr>
          <p:spPr>
            <a:xfrm>
              <a:off x="0" y="0"/>
              <a:ext cx="9144000" cy="635000"/>
            </a:xfrm>
            <a:prstGeom prst="rect">
              <a:avLst/>
            </a:prstGeom>
            <a:solidFill>
              <a:srgbClr val="F6F7F8"/>
            </a:solidFill>
            <a:ln w="9525">
              <a:noFill/>
            </a:ln>
          </p:spPr>
          <p:txBody>
            <a:bodyPr lIns="90000" tIns="46800" rIns="90000" bIns="46800" anchor="t" anchorCtr="0"/>
            <a:lstStyle/>
            <a:p>
              <a:pPr eaLnBrk="0" hangingPunct="0">
                <a:buClrTx/>
                <a:buFontTx/>
              </a:pPr>
              <a:endParaRPr lang="zh-CN" altLang="en-US" dirty="0">
                <a:latin typeface="Times New Roman" panose="02020503050405090304" pitchFamily="18" charset="0"/>
              </a:endParaRPr>
            </a:p>
          </p:txBody>
        </p:sp>
        <p:sp>
          <p:nvSpPr>
            <p:cNvPr id="34829" name="ColorBlock"/>
            <p:cNvSpPr/>
            <p:nvPr>
              <p:custDataLst>
                <p:tags r:id="rId12"/>
              </p:custDataLst>
            </p:nvPr>
          </p:nvSpPr>
          <p:spPr>
            <a:xfrm>
              <a:off x="0" y="0"/>
              <a:ext cx="190500" cy="635000"/>
            </a:xfrm>
            <a:prstGeom prst="rect">
              <a:avLst/>
            </a:prstGeom>
            <a:solidFill>
              <a:srgbClr val="639EF4"/>
            </a:solidFill>
            <a:ln w="9525">
              <a:noFill/>
            </a:ln>
          </p:spPr>
          <p:txBody>
            <a:bodyPr lIns="90000" tIns="46800" rIns="90000" bIns="46800" anchor="t" anchorCtr="0"/>
            <a:lstStyle/>
            <a:p>
              <a:pPr eaLnBrk="0" hangingPunct="0">
                <a:buClrTx/>
                <a:buFontTx/>
              </a:pPr>
              <a:endParaRPr lang="zh-CN" altLang="en-US" dirty="0">
                <a:latin typeface="Times New Roman" panose="02020503050405090304" pitchFamily="18" charset="0"/>
              </a:endParaRPr>
            </a:p>
          </p:txBody>
        </p:sp>
        <p:sp>
          <p:nvSpPr>
            <p:cNvPr id="34830" name="TypeText"/>
            <p:cNvSpPr txBox="1"/>
            <p:nvPr>
              <p:custDataLst>
                <p:tags r:id="rId13"/>
              </p:custDataLst>
            </p:nvPr>
          </p:nvSpPr>
          <p:spPr>
            <a:xfrm>
              <a:off x="254000" y="0"/>
              <a:ext cx="1905000" cy="635000"/>
            </a:xfrm>
            <a:prstGeom prst="rect">
              <a:avLst/>
            </a:prstGeom>
            <a:noFill/>
            <a:ln w="9525">
              <a:noFill/>
            </a:ln>
          </p:spPr>
          <p:txBody>
            <a:bodyPr wrap="none" anchor="ctr" anchorCtr="0"/>
            <a:lstStyle/>
            <a:p>
              <a:pPr eaLnBrk="0" hangingPunct="0">
                <a:buClrTx/>
                <a:buFontTx/>
              </a:pPr>
              <a:r>
                <a:rPr lang="zh-CN" altLang="en-US" sz="2600" dirty="0">
                  <a:solidFill>
                    <a:srgbClr val="000000"/>
                  </a:solidFill>
                  <a:latin typeface="微软雅黑" charset="-122"/>
                  <a:ea typeface="微软雅黑" charset="-122"/>
                  <a:sym typeface="微软雅黑" charset="-122"/>
                </a:rPr>
                <a:t>单选题</a:t>
              </a:r>
              <a:endParaRPr lang="zh-CN" altLang="en-US" sz="2600" dirty="0">
                <a:solidFill>
                  <a:srgbClr val="000000"/>
                </a:solidFill>
                <a:latin typeface="微软雅黑" charset="-122"/>
                <a:ea typeface="微软雅黑" charset="-122"/>
                <a:sym typeface="微软雅黑" charset="-122"/>
              </a:endParaRPr>
            </a:p>
          </p:txBody>
        </p:sp>
        <p:sp>
          <p:nvSpPr>
            <p:cNvPr id="34831" name="TipText"/>
            <p:cNvSpPr txBox="1"/>
            <p:nvPr>
              <p:custDataLst>
                <p:tags r:id="rId14"/>
              </p:custDataLst>
            </p:nvPr>
          </p:nvSpPr>
          <p:spPr>
            <a:xfrm>
              <a:off x="1525905" y="109220"/>
              <a:ext cx="2286000" cy="508000"/>
            </a:xfrm>
            <a:prstGeom prst="rect">
              <a:avLst/>
            </a:prstGeom>
            <a:noFill/>
            <a:ln w="9525">
              <a:noFill/>
            </a:ln>
          </p:spPr>
          <p:txBody>
            <a:bodyPr wrap="none" anchor="ctr" anchorCtr="0"/>
            <a:lstStyle/>
            <a:p>
              <a:pPr eaLnBrk="0" hangingPunct="0">
                <a:buClrTx/>
                <a:buFontTx/>
              </a:pPr>
              <a:r>
                <a:rPr lang="en-US" altLang="zh-CN" sz="2000" dirty="0">
                  <a:solidFill>
                    <a:srgbClr val="808080"/>
                  </a:solidFill>
                  <a:latin typeface="微软雅黑" charset="-122"/>
                  <a:ea typeface="微软雅黑" charset="-122"/>
                  <a:sym typeface="微软雅黑" charset="-122"/>
                </a:rPr>
                <a:t>1</a:t>
              </a:r>
              <a:r>
                <a:rPr lang="zh-CN" altLang="en-US" sz="2000" dirty="0">
                  <a:solidFill>
                    <a:srgbClr val="808080"/>
                  </a:solidFill>
                  <a:latin typeface="微软雅黑" charset="-122"/>
                  <a:ea typeface="微软雅黑" charset="-122"/>
                  <a:sym typeface="微软雅黑" charset="-122"/>
                </a:rPr>
                <a:t>分</a:t>
              </a:r>
              <a:endParaRPr lang="zh-CN" altLang="en-US" sz="2000" dirty="0">
                <a:solidFill>
                  <a:srgbClr val="808080"/>
                </a:solidFill>
                <a:latin typeface="微软雅黑" charset="-122"/>
                <a:ea typeface="微软雅黑" charset="-122"/>
                <a:sym typeface="微软雅黑" charset="-122"/>
              </a:endParaRPr>
            </a:p>
          </p:txBody>
        </p:sp>
      </p:grpSp>
      <p:pic>
        <p:nvPicPr>
          <p:cNvPr id="34832" name="图片 3"/>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Tree>
    <p:custDataLst>
      <p:tags r:id="rId17"/>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3"/>
          <p:cNvSpPr>
            <a:spLocks noGrp="1"/>
          </p:cNvSpPr>
          <p:nvPr>
            <p:ph type="sldNum" sz="quarter" idx="12"/>
          </p:nvPr>
        </p:nvSpPr>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r">
              <a:buClrTx/>
              <a:buFontTx/>
            </a:pPr>
            <a:fld id="{9A0DB2DC-4C9A-4742-B13C-FB6460FD3503}" type="slidenum">
              <a:rPr lang="zh-CN" altLang="en-US" sz="1400" dirty="0">
                <a:solidFill>
                  <a:schemeClr val="bg2"/>
                </a:solidFill>
                <a:latin typeface="Tahoma" panose="020B0604030504040204" pitchFamily="34" charset="0"/>
                <a:ea typeface="宋体" pitchFamily="2" charset="-122"/>
              </a:rPr>
            </a:fld>
            <a:endParaRPr lang="zh-CN" altLang="en-US" sz="1400" dirty="0">
              <a:solidFill>
                <a:schemeClr val="bg2"/>
              </a:solidFill>
              <a:latin typeface="Tahoma" panose="020B0604030504040204" pitchFamily="34" charset="0"/>
              <a:ea typeface="宋体" pitchFamily="2" charset="-122"/>
            </a:endParaRPr>
          </a:p>
        </p:txBody>
      </p:sp>
      <p:sp>
        <p:nvSpPr>
          <p:cNvPr id="61442" name="文本框 6"/>
          <p:cNvSpPr txBox="1"/>
          <p:nvPr>
            <p:custDataLst>
              <p:tags r:id="rId1"/>
            </p:custDataLst>
          </p:nvPr>
        </p:nvSpPr>
        <p:spPr>
          <a:xfrm>
            <a:off x="914400" y="2438400"/>
            <a:ext cx="7315200" cy="2143125"/>
          </a:xfrm>
          <a:prstGeom prst="rect">
            <a:avLst/>
          </a:prstGeom>
          <a:noFill/>
          <a:ln w="9525">
            <a:noFill/>
          </a:ln>
        </p:spPr>
        <p:txBody>
          <a:bodyPr anchor="ctr" anchorCtr="0"/>
          <a:lstStyle/>
          <a:p>
            <a:pPr eaLnBrk="0" hangingPunct="0">
              <a:buClrTx/>
              <a:buFontTx/>
            </a:pPr>
            <a:endParaRPr lang="zh-CN" altLang="en-US" sz="2000" dirty="0">
              <a:solidFill>
                <a:srgbClr val="000000"/>
              </a:solidFill>
              <a:latin typeface="微软雅黑" charset="-122"/>
              <a:ea typeface="微软雅黑" charset="-122"/>
              <a:sym typeface="微软雅黑" charset="-122"/>
            </a:endParaRPr>
          </a:p>
        </p:txBody>
      </p:sp>
      <p:sp>
        <p:nvSpPr>
          <p:cNvPr id="61443" name="矩形: 圆角 7"/>
          <p:cNvSpPr/>
          <p:nvPr>
            <p:custDataLst>
              <p:tags r:id="rId2"/>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miter/>
            <a:headEnd type="none" w="med" len="med"/>
            <a:tailEnd type="none" w="med" len="med"/>
          </a:ln>
        </p:spPr>
        <p:txBody>
          <a:bodyPr wrap="none" anchor="ctr" anchorCtr="1"/>
          <a:lstStyle/>
          <a:p>
            <a:pPr>
              <a:buClrTx/>
              <a:buFontTx/>
            </a:pPr>
            <a:r>
              <a:rPr lang="zh-CN" altLang="en-US" sz="1600" dirty="0">
                <a:solidFill>
                  <a:srgbClr val="FFFFFF"/>
                </a:solidFill>
                <a:latin typeface="微软雅黑" charset="-122"/>
                <a:ea typeface="微软雅黑" charset="-122"/>
                <a:sym typeface="微软雅黑" charset="-122"/>
              </a:rPr>
              <a:t>作答</a:t>
            </a:r>
            <a:endParaRPr lang="zh-CN" altLang="en-US" sz="1600" dirty="0">
              <a:solidFill>
                <a:srgbClr val="FFFFFF"/>
              </a:solidFill>
              <a:latin typeface="微软雅黑" charset="-122"/>
              <a:ea typeface="微软雅黑" charset="-122"/>
              <a:sym typeface="微软雅黑" charset="-122"/>
            </a:endParaRPr>
          </a:p>
        </p:txBody>
      </p:sp>
      <p:sp>
        <p:nvSpPr>
          <p:cNvPr id="61444" name="矩形 13"/>
          <p:cNvSpPr/>
          <p:nvPr>
            <p:custDataLst>
              <p:tags r:id="rId3"/>
            </p:custDataLst>
          </p:nvPr>
        </p:nvSpPr>
        <p:spPr>
          <a:xfrm>
            <a:off x="0" y="5849938"/>
            <a:ext cx="9144000" cy="365125"/>
          </a:xfrm>
          <a:prstGeom prst="rect">
            <a:avLst/>
          </a:prstGeom>
          <a:solidFill>
            <a:srgbClr val="FBFAEF"/>
          </a:solidFill>
          <a:ln w="9525">
            <a:noFill/>
          </a:ln>
        </p:spPr>
        <p:txBody>
          <a:bodyPr wrap="none" anchor="ctr" anchorCtr="1"/>
          <a:lstStyle/>
          <a:p>
            <a:pPr>
              <a:buClrTx/>
              <a:buFontTx/>
            </a:pPr>
            <a:r>
              <a:rPr lang="zh-CN" altLang="en-US" sz="1200" dirty="0">
                <a:solidFill>
                  <a:srgbClr val="F84F41"/>
                </a:solidFill>
                <a:latin typeface="微软雅黑" charset="-122"/>
                <a:ea typeface="微软雅黑" charset="-122"/>
                <a:sym typeface="微软雅黑" charset="-122"/>
              </a:rPr>
              <a:t>正常使用主观题需</a:t>
            </a:r>
            <a:r>
              <a:rPr lang="en-US" altLang="zh-CN" sz="1200" dirty="0">
                <a:solidFill>
                  <a:srgbClr val="F84F41"/>
                </a:solidFill>
                <a:latin typeface="微软雅黑" charset="-122"/>
                <a:ea typeface="微软雅黑" charset="-122"/>
                <a:sym typeface="微软雅黑" charset="-122"/>
              </a:rPr>
              <a:t>2.0</a:t>
            </a:r>
            <a:r>
              <a:rPr lang="zh-CN" altLang="en-US" sz="1200" dirty="0">
                <a:solidFill>
                  <a:srgbClr val="F84F41"/>
                </a:solidFill>
                <a:latin typeface="微软雅黑" charset="-122"/>
                <a:ea typeface="微软雅黑" charset="-122"/>
                <a:sym typeface="微软雅黑" charset="-122"/>
              </a:rPr>
              <a:t>以上版本雨课堂</a:t>
            </a:r>
            <a:endParaRPr lang="zh-CN" altLang="en-US" sz="1200" dirty="0">
              <a:solidFill>
                <a:srgbClr val="F84F41"/>
              </a:solidFill>
              <a:latin typeface="微软雅黑" charset="-122"/>
              <a:ea typeface="微软雅黑" charset="-122"/>
              <a:sym typeface="微软雅黑" charset="-122"/>
            </a:endParaRPr>
          </a:p>
        </p:txBody>
      </p:sp>
      <p:sp>
        <p:nvSpPr>
          <p:cNvPr id="61446" name="矩形 15"/>
          <p:cNvSpPr/>
          <p:nvPr>
            <p:custDataLst>
              <p:tags r:id="rId4"/>
            </p:custDataLst>
          </p:nvPr>
        </p:nvSpPr>
        <p:spPr>
          <a:xfrm>
            <a:off x="9525000" y="0"/>
            <a:ext cx="3840163" cy="6858000"/>
          </a:xfrm>
          <a:prstGeom prst="rect">
            <a:avLst/>
          </a:prstGeom>
          <a:solidFill>
            <a:srgbClr val="FFFFFF"/>
          </a:solidFill>
          <a:ln w="12700" cap="flat" cmpd="sng">
            <a:solidFill>
              <a:srgbClr val="9B9B9B"/>
            </a:solidFill>
            <a:prstDash val="solid"/>
            <a:miter/>
            <a:headEnd type="none" w="med" len="med"/>
            <a:tailEnd type="none" w="med" len="med"/>
          </a:ln>
        </p:spPr>
        <p:txBody>
          <a:bodyPr wrap="none" anchor="t" anchorCtr="0"/>
          <a:lstStyle/>
          <a:p>
            <a:pPr>
              <a:buClrTx/>
              <a:buFontTx/>
            </a:pPr>
            <a:endParaRPr lang="zh-CN" altLang="en-US" dirty="0">
              <a:solidFill>
                <a:srgbClr val="FFFFFF"/>
              </a:solidFill>
              <a:latin typeface="Times New Roman" panose="02020503050405090304" pitchFamily="18" charset="0"/>
              <a:ea typeface="宋体" pitchFamily="2" charset="-122"/>
            </a:endParaRPr>
          </a:p>
        </p:txBody>
      </p:sp>
      <p:sp>
        <p:nvSpPr>
          <p:cNvPr id="61447" name="文本框 20"/>
          <p:cNvSpPr txBox="1"/>
          <p:nvPr>
            <p:custDataLst>
              <p:tags r:id="rId5"/>
            </p:custDataLst>
          </p:nvPr>
        </p:nvSpPr>
        <p:spPr>
          <a:xfrm>
            <a:off x="9613900" y="6650038"/>
            <a:ext cx="3662363" cy="461962"/>
          </a:xfrm>
          <a:prstGeom prst="rect">
            <a:avLst/>
          </a:prstGeom>
          <a:solidFill>
            <a:srgbClr val="FBFAEF"/>
          </a:solidFill>
          <a:ln w="12700">
            <a:noFill/>
          </a:ln>
        </p:spPr>
        <p:txBody>
          <a:bodyPr anchor="ctr" anchorCtr="0">
            <a:spAutoFit/>
          </a:bodyPr>
          <a:lstStyle/>
          <a:p>
            <a:pPr eaLnBrk="0" hangingPunct="0">
              <a:buClrTx/>
              <a:buFontTx/>
            </a:pPr>
            <a:r>
              <a:rPr lang="zh-CN" altLang="en-US" sz="1200" dirty="0">
                <a:solidFill>
                  <a:srgbClr val="F84F41"/>
                </a:solidFill>
                <a:latin typeface="微软雅黑" charset="-122"/>
                <a:ea typeface="微软雅黑" charset="-122"/>
                <a:sym typeface="微软雅黑" charset="-122"/>
              </a:rPr>
              <a:t>可为此题添加文本、图片、公式等解析，且需将内容全部放在本区域内。正常使用需</a:t>
            </a:r>
            <a:r>
              <a:rPr lang="en-US" altLang="zh-CN" sz="1200" dirty="0">
                <a:solidFill>
                  <a:srgbClr val="F84F41"/>
                </a:solidFill>
                <a:latin typeface="微软雅黑" charset="-122"/>
                <a:ea typeface="微软雅黑" charset="-122"/>
                <a:sym typeface="微软雅黑" charset="-122"/>
              </a:rPr>
              <a:t>3.0</a:t>
            </a:r>
            <a:r>
              <a:rPr lang="zh-CN" altLang="en-US" sz="1200" dirty="0">
                <a:solidFill>
                  <a:srgbClr val="F84F41"/>
                </a:solidFill>
                <a:latin typeface="微软雅黑" charset="-122"/>
                <a:ea typeface="微软雅黑" charset="-122"/>
                <a:sym typeface="微软雅黑" charset="-122"/>
              </a:rPr>
              <a:t>以上版本</a:t>
            </a:r>
            <a:endParaRPr lang="zh-CN" altLang="en-US" sz="1200" dirty="0">
              <a:solidFill>
                <a:srgbClr val="F84F41"/>
              </a:solidFill>
              <a:latin typeface="微软雅黑" charset="-122"/>
              <a:ea typeface="微软雅黑" charset="-122"/>
              <a:sym typeface="微软雅黑" charset="-122"/>
            </a:endParaRPr>
          </a:p>
        </p:txBody>
      </p:sp>
      <p:sp>
        <p:nvSpPr>
          <p:cNvPr id="61448" name="文本框 21"/>
          <p:cNvSpPr txBox="1"/>
          <p:nvPr>
            <p:custDataLst>
              <p:tags r:id="rId6"/>
            </p:custDataLst>
          </p:nvPr>
        </p:nvSpPr>
        <p:spPr>
          <a:xfrm>
            <a:off x="9779000" y="635000"/>
            <a:ext cx="3332163" cy="398780"/>
          </a:xfrm>
          <a:prstGeom prst="rect">
            <a:avLst/>
          </a:prstGeom>
          <a:noFill/>
          <a:ln w="9525">
            <a:noFill/>
          </a:ln>
        </p:spPr>
        <p:txBody>
          <a:bodyPr anchor="t" anchorCtr="0">
            <a:spAutoFit/>
          </a:bodyPr>
          <a:lstStyle/>
          <a:p>
            <a:pPr>
              <a:buClrTx/>
              <a:buFontTx/>
            </a:pPr>
            <a:endParaRPr lang="zh-CN" altLang="en-US" sz="2000" dirty="0">
              <a:solidFill>
                <a:srgbClr val="000000"/>
              </a:solidFill>
              <a:latin typeface="微软雅黑" charset="-122"/>
              <a:ea typeface="微软雅黑" charset="-122"/>
              <a:sym typeface="微软雅黑" charset="-122"/>
            </a:endParaRPr>
          </a:p>
        </p:txBody>
      </p:sp>
      <p:grpSp>
        <p:nvGrpSpPr>
          <p:cNvPr id="61449" name="组合 19"/>
          <p:cNvGrpSpPr/>
          <p:nvPr/>
        </p:nvGrpSpPr>
        <p:grpSpPr>
          <a:xfrm>
            <a:off x="9537700" y="0"/>
            <a:ext cx="3814763" cy="647700"/>
            <a:chOff x="9537700" y="0"/>
            <a:chExt cx="3815080" cy="647700"/>
          </a:xfrm>
        </p:grpSpPr>
        <p:sp>
          <p:nvSpPr>
            <p:cNvPr id="61450" name="RemarkBack"/>
            <p:cNvSpPr/>
            <p:nvPr>
              <p:custDataLst>
                <p:tags r:id="rId7"/>
              </p:custDataLst>
            </p:nvPr>
          </p:nvSpPr>
          <p:spPr>
            <a:xfrm>
              <a:off x="9537700" y="12700"/>
              <a:ext cx="3815080" cy="635000"/>
            </a:xfrm>
            <a:prstGeom prst="rect">
              <a:avLst/>
            </a:prstGeom>
            <a:solidFill>
              <a:srgbClr val="F6F7F8"/>
            </a:solidFill>
            <a:ln w="9525">
              <a:noFill/>
            </a:ln>
          </p:spPr>
          <p:txBody>
            <a:bodyPr wrap="none" anchor="t" anchorCtr="0"/>
            <a:lstStyle/>
            <a:p>
              <a:pPr>
                <a:buClrTx/>
                <a:buFontTx/>
              </a:pPr>
              <a:endParaRPr lang="zh-CN" altLang="en-US" dirty="0">
                <a:latin typeface="Times New Roman" panose="02020503050405090304" pitchFamily="18" charset="0"/>
                <a:ea typeface="宋体" pitchFamily="2" charset="-122"/>
              </a:endParaRPr>
            </a:p>
          </p:txBody>
        </p:sp>
        <p:sp>
          <p:nvSpPr>
            <p:cNvPr id="61451" name="RemarkBlock"/>
            <p:cNvSpPr/>
            <p:nvPr>
              <p:custDataLst>
                <p:tags r:id="rId8"/>
              </p:custDataLst>
            </p:nvPr>
          </p:nvSpPr>
          <p:spPr>
            <a:xfrm>
              <a:off x="9537700" y="12700"/>
              <a:ext cx="190500" cy="635000"/>
            </a:xfrm>
            <a:prstGeom prst="rect">
              <a:avLst/>
            </a:prstGeom>
            <a:solidFill>
              <a:srgbClr val="639EF4"/>
            </a:solidFill>
            <a:ln w="9525">
              <a:noFill/>
            </a:ln>
          </p:spPr>
          <p:txBody>
            <a:bodyPr wrap="none" anchor="t" anchorCtr="0"/>
            <a:lstStyle/>
            <a:p>
              <a:pPr>
                <a:buClrTx/>
                <a:buFontTx/>
              </a:pPr>
              <a:endParaRPr lang="zh-CN" altLang="en-US" dirty="0">
                <a:latin typeface="Times New Roman" panose="02020503050405090304" pitchFamily="18" charset="0"/>
                <a:ea typeface="宋体" pitchFamily="2" charset="-122"/>
              </a:endParaRPr>
            </a:p>
          </p:txBody>
        </p:sp>
        <p:sp>
          <p:nvSpPr>
            <p:cNvPr id="61452" name="RemarkTitleText"/>
            <p:cNvSpPr txBox="1"/>
            <p:nvPr>
              <p:custDataLst>
                <p:tags r:id="rId9"/>
              </p:custDataLst>
            </p:nvPr>
          </p:nvSpPr>
          <p:spPr>
            <a:xfrm>
              <a:off x="9779000" y="0"/>
              <a:ext cx="1905000" cy="635000"/>
            </a:xfrm>
            <a:prstGeom prst="rect">
              <a:avLst/>
            </a:prstGeom>
            <a:noFill/>
            <a:ln w="9525">
              <a:noFill/>
            </a:ln>
          </p:spPr>
          <p:txBody>
            <a:bodyPr wrap="none" anchor="ctr" anchorCtr="0"/>
            <a:lstStyle/>
            <a:p>
              <a:pPr eaLnBrk="0" hangingPunct="0">
                <a:buClrTx/>
                <a:buFontTx/>
              </a:pPr>
              <a:r>
                <a:rPr lang="zh-CN" altLang="en-US" sz="1800" dirty="0">
                  <a:solidFill>
                    <a:srgbClr val="000000"/>
                  </a:solidFill>
                  <a:latin typeface="微软雅黑" charset="-122"/>
                  <a:ea typeface="微软雅黑" charset="-122"/>
                  <a:sym typeface="微软雅黑" charset="-122"/>
                </a:rPr>
                <a:t>答案解析</a:t>
              </a:r>
              <a:endParaRPr lang="zh-CN" altLang="en-US" sz="1800" dirty="0">
                <a:solidFill>
                  <a:srgbClr val="000000"/>
                </a:solidFill>
                <a:latin typeface="微软雅黑" charset="-122"/>
                <a:ea typeface="微软雅黑" charset="-122"/>
                <a:sym typeface="微软雅黑" charset="-122"/>
              </a:endParaRPr>
            </a:p>
          </p:txBody>
        </p:sp>
      </p:grpSp>
      <p:sp>
        <p:nvSpPr>
          <p:cNvPr id="61453" name="RemarkBack"/>
          <p:cNvSpPr/>
          <p:nvPr>
            <p:custDataLst>
              <p:tags r:id="rId10"/>
            </p:custDataLst>
          </p:nvPr>
        </p:nvSpPr>
        <p:spPr>
          <a:xfrm>
            <a:off x="9537700" y="12700"/>
            <a:ext cx="3814763" cy="635000"/>
          </a:xfrm>
          <a:prstGeom prst="rect">
            <a:avLst/>
          </a:prstGeom>
          <a:solidFill>
            <a:srgbClr val="F6F7F8"/>
          </a:solidFill>
          <a:ln w="9525">
            <a:noFill/>
          </a:ln>
        </p:spPr>
        <p:txBody>
          <a:bodyPr lIns="90000" tIns="46800" rIns="90000" bIns="46800" anchor="t" anchorCtr="0"/>
          <a:lstStyle/>
          <a:p>
            <a:pPr eaLnBrk="0" hangingPunct="0">
              <a:buClrTx/>
              <a:buFontTx/>
            </a:pPr>
            <a:endParaRPr lang="zh-CN" altLang="en-US" dirty="0">
              <a:latin typeface="Times New Roman" panose="02020503050405090304" pitchFamily="18" charset="0"/>
            </a:endParaRPr>
          </a:p>
        </p:txBody>
      </p:sp>
      <p:sp>
        <p:nvSpPr>
          <p:cNvPr id="61454" name="RemarkBlock"/>
          <p:cNvSpPr/>
          <p:nvPr>
            <p:custDataLst>
              <p:tags r:id="rId11"/>
            </p:custDataLst>
          </p:nvPr>
        </p:nvSpPr>
        <p:spPr>
          <a:xfrm>
            <a:off x="9537700" y="12700"/>
            <a:ext cx="190500" cy="635000"/>
          </a:xfrm>
          <a:prstGeom prst="rect">
            <a:avLst/>
          </a:prstGeom>
          <a:solidFill>
            <a:srgbClr val="639EF4"/>
          </a:solidFill>
          <a:ln w="9525">
            <a:noFill/>
          </a:ln>
        </p:spPr>
        <p:txBody>
          <a:bodyPr lIns="90000" tIns="46800" rIns="90000" bIns="46800" anchor="t" anchorCtr="0"/>
          <a:lstStyle/>
          <a:p>
            <a:pPr eaLnBrk="0" hangingPunct="0">
              <a:buClrTx/>
              <a:buFontTx/>
            </a:pPr>
            <a:endParaRPr lang="zh-CN" altLang="en-US" dirty="0">
              <a:latin typeface="Times New Roman" panose="02020503050405090304" pitchFamily="18" charset="0"/>
            </a:endParaRPr>
          </a:p>
        </p:txBody>
      </p:sp>
      <p:sp>
        <p:nvSpPr>
          <p:cNvPr id="61455" name="RemarkTitleText"/>
          <p:cNvSpPr txBox="1"/>
          <p:nvPr>
            <p:custDataLst>
              <p:tags r:id="rId12"/>
            </p:custDataLst>
          </p:nvPr>
        </p:nvSpPr>
        <p:spPr>
          <a:xfrm>
            <a:off x="9779000" y="0"/>
            <a:ext cx="1905000" cy="635000"/>
          </a:xfrm>
          <a:prstGeom prst="rect">
            <a:avLst/>
          </a:prstGeom>
          <a:noFill/>
          <a:ln w="9525">
            <a:noFill/>
          </a:ln>
        </p:spPr>
        <p:txBody>
          <a:bodyPr wrap="none" anchor="ctr" anchorCtr="0"/>
          <a:lstStyle/>
          <a:p>
            <a:pPr eaLnBrk="0" hangingPunct="0">
              <a:buClrTx/>
              <a:buFontTx/>
            </a:pPr>
            <a:r>
              <a:rPr lang="zh-CN" altLang="en-US" sz="1800" dirty="0">
                <a:solidFill>
                  <a:srgbClr val="000000"/>
                </a:solidFill>
                <a:latin typeface="微软雅黑" charset="-122"/>
                <a:ea typeface="微软雅黑" charset="-122"/>
                <a:sym typeface="微软雅黑" charset="-122"/>
              </a:rPr>
              <a:t>答案解析</a:t>
            </a:r>
            <a:endParaRPr lang="zh-CN" altLang="en-US" sz="1800" dirty="0">
              <a:solidFill>
                <a:srgbClr val="000000"/>
              </a:solidFill>
              <a:latin typeface="微软雅黑" charset="-122"/>
              <a:ea typeface="微软雅黑" charset="-122"/>
              <a:sym typeface="微软雅黑" charset="-122"/>
            </a:endParaRPr>
          </a:p>
        </p:txBody>
      </p:sp>
      <p:grpSp>
        <p:nvGrpSpPr>
          <p:cNvPr id="61456" name="组合 12"/>
          <p:cNvGrpSpPr/>
          <p:nvPr/>
        </p:nvGrpSpPr>
        <p:grpSpPr>
          <a:xfrm>
            <a:off x="0" y="0"/>
            <a:ext cx="9144000" cy="635000"/>
            <a:chOff x="0" y="0"/>
            <a:chExt cx="9144000" cy="635000"/>
          </a:xfrm>
        </p:grpSpPr>
        <p:sp>
          <p:nvSpPr>
            <p:cNvPr id="61457" name="TitleBackground"/>
            <p:cNvSpPr/>
            <p:nvPr>
              <p:custDataLst>
                <p:tags r:id="rId13"/>
              </p:custDataLst>
            </p:nvPr>
          </p:nvSpPr>
          <p:spPr>
            <a:xfrm>
              <a:off x="0" y="0"/>
              <a:ext cx="9144000" cy="635000"/>
            </a:xfrm>
            <a:prstGeom prst="rect">
              <a:avLst/>
            </a:prstGeom>
            <a:solidFill>
              <a:srgbClr val="F6F7F8"/>
            </a:solidFill>
            <a:ln w="9525">
              <a:noFill/>
            </a:ln>
          </p:spPr>
          <p:txBody>
            <a:bodyPr wrap="none" anchor="t" anchorCtr="0"/>
            <a:lstStyle/>
            <a:p>
              <a:pPr>
                <a:buClrTx/>
                <a:buFontTx/>
              </a:pPr>
              <a:endParaRPr lang="zh-CN" altLang="en-US" dirty="0">
                <a:latin typeface="Times New Roman" panose="02020503050405090304" pitchFamily="18" charset="0"/>
                <a:ea typeface="宋体" pitchFamily="2" charset="-122"/>
              </a:endParaRPr>
            </a:p>
          </p:txBody>
        </p:sp>
        <p:sp>
          <p:nvSpPr>
            <p:cNvPr id="61458" name="ColorBlock"/>
            <p:cNvSpPr/>
            <p:nvPr>
              <p:custDataLst>
                <p:tags r:id="rId14"/>
              </p:custDataLst>
            </p:nvPr>
          </p:nvSpPr>
          <p:spPr>
            <a:xfrm>
              <a:off x="0" y="0"/>
              <a:ext cx="190500" cy="635000"/>
            </a:xfrm>
            <a:prstGeom prst="rect">
              <a:avLst/>
            </a:prstGeom>
            <a:solidFill>
              <a:srgbClr val="639EF4"/>
            </a:solidFill>
            <a:ln w="9525">
              <a:noFill/>
            </a:ln>
          </p:spPr>
          <p:txBody>
            <a:bodyPr wrap="none" anchor="t" anchorCtr="0"/>
            <a:lstStyle/>
            <a:p>
              <a:pPr>
                <a:buClrTx/>
                <a:buFontTx/>
              </a:pPr>
              <a:endParaRPr lang="zh-CN" altLang="en-US" dirty="0">
                <a:latin typeface="Times New Roman" panose="02020503050405090304" pitchFamily="18" charset="0"/>
                <a:ea typeface="宋体" pitchFamily="2" charset="-122"/>
              </a:endParaRPr>
            </a:p>
          </p:txBody>
        </p:sp>
        <p:sp>
          <p:nvSpPr>
            <p:cNvPr id="61459" name="TypeText"/>
            <p:cNvSpPr txBox="1"/>
            <p:nvPr>
              <p:custDataLst>
                <p:tags r:id="rId15"/>
              </p:custDataLst>
            </p:nvPr>
          </p:nvSpPr>
          <p:spPr>
            <a:xfrm>
              <a:off x="254000" y="0"/>
              <a:ext cx="1905000" cy="635000"/>
            </a:xfrm>
            <a:prstGeom prst="rect">
              <a:avLst/>
            </a:prstGeom>
            <a:noFill/>
            <a:ln w="9525">
              <a:noFill/>
            </a:ln>
          </p:spPr>
          <p:txBody>
            <a:bodyPr wrap="none" anchor="ctr" anchorCtr="0"/>
            <a:lstStyle/>
            <a:p>
              <a:pPr eaLnBrk="0" hangingPunct="0">
                <a:buClrTx/>
                <a:buFontTx/>
              </a:pPr>
              <a:r>
                <a:rPr lang="zh-CN" altLang="en-US" sz="2600" dirty="0">
                  <a:solidFill>
                    <a:srgbClr val="000000"/>
                  </a:solidFill>
                  <a:latin typeface="微软雅黑" charset="-122"/>
                  <a:ea typeface="微软雅黑" charset="-122"/>
                  <a:sym typeface="微软雅黑" charset="-122"/>
                </a:rPr>
                <a:t>主观题</a:t>
              </a:r>
              <a:endParaRPr lang="zh-CN" altLang="en-US" sz="2600" dirty="0">
                <a:solidFill>
                  <a:srgbClr val="000000"/>
                </a:solidFill>
                <a:latin typeface="微软雅黑" charset="-122"/>
                <a:ea typeface="微软雅黑" charset="-122"/>
                <a:sym typeface="微软雅黑" charset="-122"/>
              </a:endParaRPr>
            </a:p>
          </p:txBody>
        </p:sp>
        <p:sp>
          <p:nvSpPr>
            <p:cNvPr id="61460" name="TipText"/>
            <p:cNvSpPr txBox="1"/>
            <p:nvPr>
              <p:custDataLst>
                <p:tags r:id="rId16"/>
              </p:custDataLst>
            </p:nvPr>
          </p:nvSpPr>
          <p:spPr>
            <a:xfrm>
              <a:off x="1525905" y="109220"/>
              <a:ext cx="2286000" cy="508000"/>
            </a:xfrm>
            <a:prstGeom prst="rect">
              <a:avLst/>
            </a:prstGeom>
            <a:noFill/>
            <a:ln w="9525">
              <a:noFill/>
            </a:ln>
          </p:spPr>
          <p:txBody>
            <a:bodyPr wrap="none" anchor="ctr" anchorCtr="0"/>
            <a:lstStyle/>
            <a:p>
              <a:pPr eaLnBrk="0" hangingPunct="0">
                <a:buClrTx/>
                <a:buFontTx/>
              </a:pPr>
              <a:r>
                <a:rPr lang="en-US" altLang="zh-CN" sz="2000" dirty="0">
                  <a:solidFill>
                    <a:srgbClr val="808080"/>
                  </a:solidFill>
                  <a:latin typeface="微软雅黑" charset="-122"/>
                  <a:ea typeface="微软雅黑" charset="-122"/>
                  <a:sym typeface="微软雅黑" charset="-122"/>
                </a:rPr>
                <a:t>10</a:t>
              </a:r>
              <a:r>
                <a:rPr lang="zh-CN" altLang="en-US" sz="2000" dirty="0">
                  <a:solidFill>
                    <a:srgbClr val="808080"/>
                  </a:solidFill>
                  <a:latin typeface="微软雅黑" charset="-122"/>
                  <a:ea typeface="微软雅黑" charset="-122"/>
                  <a:sym typeface="微软雅黑" charset="-122"/>
                </a:rPr>
                <a:t>分</a:t>
              </a:r>
              <a:endParaRPr lang="zh-CN" altLang="en-US" sz="2000" dirty="0">
                <a:solidFill>
                  <a:srgbClr val="808080"/>
                </a:solidFill>
                <a:latin typeface="微软雅黑" charset="-122"/>
                <a:ea typeface="微软雅黑" charset="-122"/>
                <a:sym typeface="微软雅黑" charset="-122"/>
              </a:endParaRPr>
            </a:p>
          </p:txBody>
        </p:sp>
      </p:grpSp>
      <p:pic>
        <p:nvPicPr>
          <p:cNvPr id="61461" name="图片 5"/>
          <p:cNvPicPr/>
          <p:nvPr>
            <p:custDataLst>
              <p:tags r:id="rId17"/>
            </p:custDataLst>
          </p:nvPr>
        </p:nvPicPr>
        <p:blipFill>
          <a:blip r:embed="rId18"/>
          <a:stretch>
            <a:fillRect/>
          </a:stretch>
        </p:blipFill>
        <p:spPr>
          <a:xfrm>
            <a:off x="7594600" y="63500"/>
            <a:ext cx="1422400" cy="508000"/>
          </a:xfrm>
          <a:prstGeom prst="rect">
            <a:avLst/>
          </a:prstGeom>
          <a:noFill/>
          <a:ln w="9525">
            <a:noFill/>
          </a:ln>
        </p:spPr>
      </p:pic>
      <p:graphicFrame>
        <p:nvGraphicFramePr>
          <p:cNvPr id="38916" name="表格 38915"/>
          <p:cNvGraphicFramePr/>
          <p:nvPr>
            <p:custDataLst>
              <p:tags r:id="rId19"/>
            </p:custDataLst>
          </p:nvPr>
        </p:nvGraphicFramePr>
        <p:xfrm>
          <a:off x="1979613" y="2781300"/>
          <a:ext cx="4800600" cy="2014538"/>
        </p:xfrm>
        <a:graphic>
          <a:graphicData uri="http://schemas.openxmlformats.org/drawingml/2006/table">
            <a:tbl>
              <a:tblPr/>
              <a:tblGrid>
                <a:gridCol w="1562100"/>
                <a:gridCol w="1560513"/>
                <a:gridCol w="1677987"/>
              </a:tblGrid>
              <a:tr h="422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ahoma" panose="020B0604030504040204" pitchFamily="34" charset="0"/>
                          <a:ea typeface="宋体" pitchFamily="2" charset="-122"/>
                        </a:rPr>
                        <a:t>页号</a:t>
                      </a:r>
                      <a:endParaRPr lang="zh-CN" altLang="en-US"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imes New Roman" panose="02020503050405090304" pitchFamily="18" charset="0"/>
                          <a:ea typeface="宋体" pitchFamily="2" charset="-122"/>
                        </a:rPr>
                        <a:t>块号</a:t>
                      </a:r>
                      <a:endParaRPr lang="zh-CN" altLang="en-US"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imes New Roman" panose="02020503050405090304" pitchFamily="18" charset="0"/>
                          <a:ea typeface="宋体" pitchFamily="2" charset="-122"/>
                        </a:rPr>
                        <a:t>标志位</a:t>
                      </a:r>
                      <a:endParaRPr lang="zh-CN" altLang="en-US"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itchFamily="2" charset="-122"/>
                        </a:rPr>
                        <a:t>0</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24</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1</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163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itchFamily="2" charset="-122"/>
                        </a:rPr>
                        <a:t>1</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36</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1</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itchFamily="2" charset="-122"/>
                        </a:rPr>
                        <a:t>2</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32</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1</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itchFamily="2" charset="-122"/>
                        </a:rPr>
                        <a:t>3</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0</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 name="文本框 1"/>
          <p:cNvSpPr txBox="1"/>
          <p:nvPr/>
        </p:nvSpPr>
        <p:spPr>
          <a:xfrm>
            <a:off x="622935" y="1640205"/>
            <a:ext cx="8176895" cy="829945"/>
          </a:xfrm>
          <a:prstGeom prst="rect">
            <a:avLst/>
          </a:prstGeom>
          <a:noFill/>
        </p:spPr>
        <p:txBody>
          <a:bodyPr wrap="square" rtlCol="0" anchor="t">
            <a:spAutoFit/>
          </a:bodyPr>
          <a:lstStyle/>
          <a:p>
            <a:pPr marL="0" lvl="0" indent="0" eaLnBrk="1" hangingPunct="1">
              <a:spcBef>
                <a:spcPct val="0"/>
              </a:spcBef>
              <a:buClrTx/>
              <a:buFontTx/>
              <a:buNone/>
            </a:pPr>
            <a:r>
              <a:rPr lang="zh-CN" altLang="en-US">
                <a:latin typeface="黑体" panose="02010609060101010101" pitchFamily="49" charset="-122"/>
                <a:cs typeface="Courier New" panose="02070409020205090404" pitchFamily="49" charset="0"/>
                <a:sym typeface="+mn-ea"/>
              </a:rPr>
              <a:t>在虚拟页式存储管理中，容量为</a:t>
            </a:r>
            <a:r>
              <a:rPr lang="en-US" altLang="zh-CN">
                <a:latin typeface="黑体" panose="02010609060101010101" pitchFamily="49" charset="-122"/>
                <a:cs typeface="Courier New" panose="02070409020205090404" pitchFamily="49" charset="0"/>
                <a:sym typeface="+mn-ea"/>
              </a:rPr>
              <a:t>1MB</a:t>
            </a:r>
            <a:r>
              <a:rPr lang="zh-CN" altLang="en-US">
                <a:latin typeface="黑体" panose="02010609060101010101" pitchFamily="49" charset="-122"/>
                <a:cs typeface="Courier New" panose="02070409020205090404" pitchFamily="49" charset="0"/>
                <a:sym typeface="+mn-ea"/>
              </a:rPr>
              <a:t>，页的大小为</a:t>
            </a:r>
            <a:r>
              <a:rPr lang="en-US" altLang="zh-CN">
                <a:latin typeface="黑体" panose="02010609060101010101" pitchFamily="49" charset="-122"/>
                <a:cs typeface="Courier New" panose="02070409020205090404" pitchFamily="49" charset="0"/>
                <a:sym typeface="+mn-ea"/>
              </a:rPr>
              <a:t>4KB</a:t>
            </a:r>
            <a:r>
              <a:rPr lang="zh-CN" altLang="en-US">
                <a:latin typeface="黑体" panose="02010609060101010101" pitchFamily="49" charset="-122"/>
                <a:cs typeface="Courier New" panose="02070409020205090404" pitchFamily="49" charset="0"/>
                <a:sym typeface="+mn-ea"/>
              </a:rPr>
              <a:t>。</a:t>
            </a:r>
            <a:endParaRPr lang="en-US" altLang="zh-CN" sz="2400" b="0">
              <a:latin typeface="黑体" panose="02010609060101010101" pitchFamily="49" charset="-122"/>
              <a:cs typeface="Courier New" panose="02070409020205090404" pitchFamily="49" charset="0"/>
            </a:endParaRPr>
          </a:p>
          <a:p>
            <a:pPr marL="0" lvl="0" indent="0" eaLnBrk="1" hangingPunct="1">
              <a:spcBef>
                <a:spcPct val="0"/>
              </a:spcBef>
              <a:buClrTx/>
              <a:buFontTx/>
              <a:buNone/>
            </a:pPr>
            <a:r>
              <a:rPr lang="zh-CN" altLang="en-US">
                <a:latin typeface="黑体" panose="02010609060101010101" pitchFamily="49" charset="-122"/>
                <a:cs typeface="Courier New" panose="02070409020205090404" pitchFamily="49" charset="0"/>
                <a:sym typeface="+mn-ea"/>
              </a:rPr>
              <a:t>求虚拟地址</a:t>
            </a:r>
            <a:r>
              <a:rPr lang="en-US" altLang="zh-CN">
                <a:latin typeface="黑体" panose="02010609060101010101" pitchFamily="49" charset="-122"/>
                <a:sym typeface="+mn-ea"/>
              </a:rPr>
              <a:t>9016</a:t>
            </a:r>
            <a:r>
              <a:rPr lang="zh-CN" altLang="en-US">
                <a:latin typeface="黑体" panose="02010609060101010101" pitchFamily="49" charset="-122"/>
                <a:sym typeface="+mn-ea"/>
              </a:rPr>
              <a:t>和</a:t>
            </a:r>
            <a:r>
              <a:rPr lang="en-US" altLang="zh-CN">
                <a:latin typeface="黑体" panose="02010609060101010101" pitchFamily="49" charset="-122"/>
                <a:cs typeface="Courier New" panose="02070409020205090404" pitchFamily="49" charset="0"/>
                <a:sym typeface="+mn-ea"/>
              </a:rPr>
              <a:t>12300</a:t>
            </a:r>
            <a:r>
              <a:rPr lang="zh-CN" altLang="en-US">
                <a:latin typeface="黑体" panose="02010609060101010101" pitchFamily="49" charset="-122"/>
                <a:cs typeface="Courier New" panose="02070409020205090404" pitchFamily="49" charset="0"/>
                <a:sym typeface="+mn-ea"/>
              </a:rPr>
              <a:t>的物理地址。</a:t>
            </a:r>
            <a:endParaRPr lang="zh-CN" altLang="en-US">
              <a:latin typeface="黑体" panose="02010609060101010101" pitchFamily="49" charset="-122"/>
              <a:cs typeface="Courier New" panose="02070409020205090404" pitchFamily="49" charset="0"/>
              <a:sym typeface="+mn-ea"/>
            </a:endParaRPr>
          </a:p>
        </p:txBody>
      </p:sp>
    </p:spTree>
    <p:custDataLst>
      <p:tags r:id="rId20"/>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46082" name="TextBox 2"/>
          <p:cNvSpPr txBox="1"/>
          <p:nvPr/>
        </p:nvSpPr>
        <p:spPr>
          <a:xfrm>
            <a:off x="827088" y="5157788"/>
            <a:ext cx="8001000"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ea typeface="宋体" pitchFamily="2" charset="-122"/>
              </a:rPr>
              <a:t>(1) 9016/4096=2; 9016%4096=824; </a:t>
            </a:r>
            <a:endParaRPr lang="en-US" altLang="zh-CN" sz="1600" b="0">
              <a:ea typeface="宋体" pitchFamily="2" charset="-122"/>
            </a:endParaRPr>
          </a:p>
          <a:p>
            <a:pPr marL="0" lvl="0" indent="0" eaLnBrk="1" hangingPunct="1">
              <a:spcBef>
                <a:spcPct val="0"/>
              </a:spcBef>
              <a:buClrTx/>
              <a:buFontTx/>
              <a:buNone/>
            </a:pPr>
            <a:r>
              <a:rPr lang="zh-CN" altLang="en-US" sz="1600" b="0">
                <a:ea typeface="宋体" pitchFamily="2" charset="-122"/>
              </a:rPr>
              <a:t>最后的物理地址为：</a:t>
            </a:r>
            <a:r>
              <a:rPr lang="en-US" altLang="zh-CN" sz="1600" b="0">
                <a:ea typeface="宋体" pitchFamily="2" charset="-122"/>
              </a:rPr>
              <a:t>32×4KB+824=128KB+824</a:t>
            </a:r>
            <a:r>
              <a:rPr lang="zh-CN" altLang="en-US" sz="1600" b="0">
                <a:ea typeface="宋体" pitchFamily="2" charset="-122"/>
              </a:rPr>
              <a:t>。</a:t>
            </a:r>
            <a:endParaRPr lang="en-US" altLang="zh-CN" sz="1600" b="0">
              <a:ea typeface="宋体" pitchFamily="2" charset="-122"/>
            </a:endParaRPr>
          </a:p>
        </p:txBody>
      </p:sp>
      <p:sp>
        <p:nvSpPr>
          <p:cNvPr id="129029" name="Rectangle 2"/>
          <p:cNvSpPr>
            <a:spLocks noChangeArrowheads="1"/>
          </p:cNvSpPr>
          <p:nvPr/>
        </p:nvSpPr>
        <p:spPr bwMode="auto">
          <a:xfrm>
            <a:off x="611188" y="1484313"/>
            <a:ext cx="82169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2400" b="0">
                <a:latin typeface="黑体" panose="02010609060101010101" pitchFamily="49" charset="-122"/>
                <a:cs typeface="Courier New" panose="02070409020205090404" pitchFamily="49" charset="0"/>
              </a:rPr>
              <a:t>在虚拟页式存储管理中，容量为</a:t>
            </a:r>
            <a:r>
              <a:rPr lang="en-US" altLang="zh-CN" sz="2400" b="0">
                <a:latin typeface="黑体" panose="02010609060101010101" pitchFamily="49" charset="-122"/>
                <a:cs typeface="Courier New" panose="02070409020205090404" pitchFamily="49" charset="0"/>
              </a:rPr>
              <a:t>1MB</a:t>
            </a:r>
            <a:r>
              <a:rPr lang="zh-CN" altLang="en-US" sz="2400" b="0">
                <a:latin typeface="黑体" panose="02010609060101010101" pitchFamily="49" charset="-122"/>
                <a:cs typeface="Courier New" panose="02070409020205090404" pitchFamily="49" charset="0"/>
              </a:rPr>
              <a:t>，页的大小为</a:t>
            </a:r>
            <a:r>
              <a:rPr lang="en-US" altLang="zh-CN" sz="2400" b="0">
                <a:latin typeface="黑体" panose="02010609060101010101" pitchFamily="49" charset="-122"/>
                <a:cs typeface="Courier New" panose="02070409020205090404" pitchFamily="49" charset="0"/>
              </a:rPr>
              <a:t>4KB</a:t>
            </a:r>
            <a:r>
              <a:rPr lang="zh-CN" altLang="en-US" sz="2400" b="0">
                <a:latin typeface="黑体" panose="02010609060101010101" pitchFamily="49" charset="-122"/>
                <a:cs typeface="Courier New" panose="02070409020205090404" pitchFamily="49" charset="0"/>
              </a:rPr>
              <a:t>。</a:t>
            </a:r>
            <a:endParaRPr lang="en-US" altLang="zh-CN" sz="2400" b="0">
              <a:latin typeface="黑体" panose="02010609060101010101" pitchFamily="49" charset="-122"/>
              <a:cs typeface="Courier New" panose="02070409020205090404" pitchFamily="49" charset="0"/>
            </a:endParaRPr>
          </a:p>
          <a:p>
            <a:pPr marL="0" lvl="0" indent="0" eaLnBrk="1" hangingPunct="1">
              <a:spcBef>
                <a:spcPct val="0"/>
              </a:spcBef>
              <a:buClrTx/>
              <a:buFontTx/>
              <a:buNone/>
            </a:pPr>
            <a:r>
              <a:rPr lang="zh-CN" altLang="en-US" sz="2400" b="0">
                <a:latin typeface="黑体" panose="02010609060101010101" pitchFamily="49" charset="-122"/>
                <a:cs typeface="Courier New" panose="02070409020205090404" pitchFamily="49" charset="0"/>
              </a:rPr>
              <a:t>求虚拟地址</a:t>
            </a:r>
            <a:r>
              <a:rPr lang="en-US" altLang="zh-CN" sz="2400" b="0">
                <a:latin typeface="黑体" panose="02010609060101010101" pitchFamily="49" charset="-122"/>
              </a:rPr>
              <a:t>9016</a:t>
            </a:r>
            <a:r>
              <a:rPr lang="zh-CN" altLang="en-US" sz="2400" b="0">
                <a:latin typeface="黑体" panose="02010609060101010101" pitchFamily="49" charset="-122"/>
              </a:rPr>
              <a:t>和</a:t>
            </a:r>
            <a:r>
              <a:rPr lang="en-US" altLang="zh-CN" sz="2400" b="0">
                <a:latin typeface="黑体" panose="02010609060101010101" pitchFamily="49" charset="-122"/>
                <a:cs typeface="Courier New" panose="02070409020205090404" pitchFamily="49" charset="0"/>
              </a:rPr>
              <a:t>12300</a:t>
            </a:r>
            <a:r>
              <a:rPr lang="zh-CN" altLang="en-US" sz="2400" b="0">
                <a:latin typeface="黑体" panose="02010609060101010101" pitchFamily="49" charset="-122"/>
                <a:cs typeface="Courier New" panose="02070409020205090404" pitchFamily="49" charset="0"/>
              </a:rPr>
              <a:t>的物理地址。</a:t>
            </a:r>
            <a:endParaRPr lang="zh-CN" altLang="en-US" sz="2400" b="0">
              <a:latin typeface="黑体" panose="02010609060101010101" pitchFamily="49" charset="-122"/>
              <a:ea typeface="Courier New" panose="02070409020205090404" pitchFamily="49" charset="0"/>
            </a:endParaRPr>
          </a:p>
        </p:txBody>
      </p:sp>
      <p:graphicFrame>
        <p:nvGraphicFramePr>
          <p:cNvPr id="38916" name="表格 38915"/>
          <p:cNvGraphicFramePr/>
          <p:nvPr>
            <p:custDataLst>
              <p:tags r:id="rId1"/>
            </p:custDataLst>
          </p:nvPr>
        </p:nvGraphicFramePr>
        <p:xfrm>
          <a:off x="1979613" y="2781300"/>
          <a:ext cx="4800600" cy="2014538"/>
        </p:xfrm>
        <a:graphic>
          <a:graphicData uri="http://schemas.openxmlformats.org/drawingml/2006/table">
            <a:tbl>
              <a:tblPr/>
              <a:tblGrid>
                <a:gridCol w="1562100"/>
                <a:gridCol w="1560513"/>
                <a:gridCol w="1677987"/>
              </a:tblGrid>
              <a:tr h="422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ahoma" panose="020B0604030504040204" pitchFamily="34" charset="0"/>
                          <a:ea typeface="宋体" pitchFamily="2" charset="-122"/>
                        </a:rPr>
                        <a:t>页号</a:t>
                      </a:r>
                      <a:endParaRPr lang="zh-CN" altLang="en-US"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imes New Roman" panose="02020503050405090304" pitchFamily="18" charset="0"/>
                          <a:ea typeface="宋体" pitchFamily="2" charset="-122"/>
                        </a:rPr>
                        <a:t>块号</a:t>
                      </a:r>
                      <a:endParaRPr lang="zh-CN" altLang="en-US"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zh-CN" altLang="en-US" sz="2000">
                          <a:latin typeface="Times New Roman" panose="02020503050405090304" pitchFamily="18" charset="0"/>
                          <a:ea typeface="宋体" pitchFamily="2" charset="-122"/>
                        </a:rPr>
                        <a:t>标志位</a:t>
                      </a:r>
                      <a:endParaRPr lang="zh-CN" altLang="en-US"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itchFamily="2" charset="-122"/>
                        </a:rPr>
                        <a:t>0</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24</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1</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163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itchFamily="2" charset="-122"/>
                        </a:rPr>
                        <a:t>1</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36</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1</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itchFamily="2" charset="-122"/>
                        </a:rPr>
                        <a:t>2</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32</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1</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ahoma" panose="020B0604030504040204" pitchFamily="34" charset="0"/>
                          <a:ea typeface="宋体" pitchFamily="2" charset="-122"/>
                        </a:rPr>
                        <a:t>3</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defTabSz="914400" eaLnBrk="1" hangingPunct="1">
                        <a:buClr>
                          <a:schemeClr val="folHlink"/>
                        </a:buClr>
                        <a:buSzPct val="60000"/>
                        <a:buFont typeface="Wingdings" panose="05000000000000000000" pitchFamily="2" charset="2"/>
                        <a:buNone/>
                        <a:tabLst>
                          <a:tab pos="457200" algn="l"/>
                        </a:tabLst>
                      </a:pPr>
                      <a:r>
                        <a:rPr lang="en-US" altLang="zh-CN" sz="2000">
                          <a:latin typeface="Times New Roman" panose="02020503050405090304" pitchFamily="18" charset="0"/>
                          <a:ea typeface="宋体" pitchFamily="2" charset="-122"/>
                        </a:rPr>
                        <a:t>0</a:t>
                      </a:r>
                      <a:endParaRPr lang="en-US" altLang="zh-CN" sz="2000">
                        <a:latin typeface="Tahoma" panose="020B0604030504040204" pitchFamily="34" charset="0"/>
                        <a:ea typeface="宋体" pitchFamily="2" charset="-122"/>
                      </a:endParaRPr>
                    </a:p>
                  </a:txBody>
                  <a:tcPr marT="45727" marB="4572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38942"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8.1</a:t>
            </a:r>
            <a:r>
              <a:rPr lang="zh-CN" altLang="en-US"/>
              <a:t>虚拟页式存储过程</a:t>
            </a:r>
            <a:endParaRPr lang="zh-CN" altLang="en-US"/>
          </a:p>
        </p:txBody>
      </p:sp>
      <p:sp>
        <p:nvSpPr>
          <p:cNvPr id="2" name="矩形 1"/>
          <p:cNvSpPr/>
          <p:nvPr/>
        </p:nvSpPr>
        <p:spPr>
          <a:xfrm>
            <a:off x="827088" y="5746750"/>
            <a:ext cx="69850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ea typeface="宋体" pitchFamily="2" charset="-122"/>
              </a:rPr>
              <a:t>(2)</a:t>
            </a:r>
            <a:r>
              <a:rPr lang="zh-CN" altLang="en-US" sz="1600" b="0">
                <a:ea typeface="宋体" pitchFamily="2" charset="-122"/>
              </a:rPr>
              <a:t>若给定逻辑地址为</a:t>
            </a:r>
            <a:r>
              <a:rPr lang="en-US" altLang="zh-CN" sz="1600" b="0">
                <a:ea typeface="宋体" pitchFamily="2" charset="-122"/>
              </a:rPr>
              <a:t>12300</a:t>
            </a:r>
            <a:r>
              <a:rPr lang="zh-CN" altLang="en-US" sz="1600" b="0">
                <a:ea typeface="宋体" pitchFamily="2" charset="-122"/>
              </a:rPr>
              <a:t>，按与</a:t>
            </a:r>
            <a:r>
              <a:rPr lang="en-US" altLang="zh-CN" sz="1600" b="0">
                <a:ea typeface="宋体" pitchFamily="2" charset="-122"/>
              </a:rPr>
              <a:t>(1)</a:t>
            </a:r>
            <a:r>
              <a:rPr lang="zh-CN" altLang="en-US" sz="1600" b="0">
                <a:ea typeface="宋体" pitchFamily="2" charset="-122"/>
              </a:rPr>
              <a:t>中同样的方法处理可得其页号为</a:t>
            </a:r>
            <a:r>
              <a:rPr lang="en-US" altLang="zh-CN" sz="1600" b="0">
                <a:ea typeface="宋体" pitchFamily="2" charset="-122"/>
              </a:rPr>
              <a:t>3</a:t>
            </a:r>
            <a:r>
              <a:rPr lang="zh-CN" altLang="en-US" sz="1600" b="0">
                <a:ea typeface="宋体" pitchFamily="2" charset="-122"/>
              </a:rPr>
              <a:t>。从页表可知该页未装入主存，因而产生缺页中断。随后中断处理程序将该页装入主存，然后进行地址变换。</a:t>
            </a:r>
            <a:endParaRPr lang="zh-CN" altLang="en-US" sz="1600" b="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2"/>
                                        </p:tgtEl>
                                        <p:attrNameLst>
                                          <p:attrName>style.visibility</p:attrName>
                                        </p:attrNameLst>
                                      </p:cBhvr>
                                      <p:to>
                                        <p:strVal val="visible"/>
                                      </p:to>
                                    </p:set>
                                    <p:anim calcmode="lin" valueType="num">
                                      <p:cBhvr additive="base">
                                        <p:cTn id="7" dur="500" fill="hold"/>
                                        <p:tgtEl>
                                          <p:spTgt spid="46082"/>
                                        </p:tgtEl>
                                        <p:attrNameLst>
                                          <p:attrName>ppt_x</p:attrName>
                                        </p:attrNameLst>
                                      </p:cBhvr>
                                      <p:tavLst>
                                        <p:tav tm="0">
                                          <p:val>
                                            <p:strVal val="#ppt_x"/>
                                          </p:val>
                                        </p:tav>
                                        <p:tav tm="100000">
                                          <p:val>
                                            <p:strVal val="#ppt_x"/>
                                          </p:val>
                                        </p:tav>
                                      </p:tavLst>
                                    </p:anim>
                                    <p:anim calcmode="lin" valueType="num">
                                      <p:cBhvr additive="base">
                                        <p:cTn id="8" dur="500" fill="hold"/>
                                        <p:tgtEl>
                                          <p:spTgt spid="460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40962"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 分多少块？</a:t>
            </a:r>
            <a:endParaRPr lang="zh-CN" altLang="en-US"/>
          </a:p>
        </p:txBody>
      </p:sp>
      <p:sp>
        <p:nvSpPr>
          <p:cNvPr id="26627" name="Rectangle 3"/>
          <p:cNvSpPr>
            <a:spLocks noGrp="1" noChangeArrowheads="1"/>
          </p:cNvSpPr>
          <p:nvPr>
            <p:ph idx="1"/>
          </p:nvPr>
        </p:nvSpPr>
        <p:spPr>
          <a:xfrm>
            <a:off x="0" y="1412875"/>
            <a:ext cx="9144000" cy="4968875"/>
          </a:xfrm>
        </p:spPr>
        <p:txBody>
          <a:bodyPr vert="horz" wrap="square" lIns="91440" tIns="45720" rIns="91440" bIns="45720" numCol="1" anchor="t" anchorCtr="0" compatLnSpc="1"/>
          <a:lstStyle/>
          <a:p>
            <a:pPr marL="0" indent="0" eaLnBrk="1" hangingPunct="1">
              <a:buNone/>
            </a:pPr>
            <a:r>
              <a:rPr lang="en-US" altLang="zh-CN" sz="2400" b="0">
                <a:latin typeface="黑体" panose="02010609060101010101" pitchFamily="49" charset="-122"/>
              </a:rPr>
              <a:t>  </a:t>
            </a:r>
            <a:r>
              <a:rPr lang="zh-CN" altLang="en-US" sz="2400" b="0">
                <a:latin typeface="黑体" panose="02010609060101010101" pitchFamily="49" charset="-122"/>
              </a:rPr>
              <a:t>工作集：一个进程当前正在使用的页框集合。</a:t>
            </a:r>
            <a:endParaRPr lang="en-US" altLang="zh-CN" sz="2400" b="0">
              <a:latin typeface="黑体" panose="02010609060101010101" pitchFamily="49" charset="-122"/>
            </a:endParaRPr>
          </a:p>
          <a:p>
            <a:pPr marL="0" indent="0" eaLnBrk="1" hangingPunct="1">
              <a:buNone/>
            </a:pPr>
            <a:r>
              <a:rPr lang="en-US" altLang="zh-CN" sz="2400" b="0">
                <a:latin typeface="黑体" panose="02010609060101010101" pitchFamily="49" charset="-122"/>
              </a:rPr>
              <a:t>  </a:t>
            </a:r>
            <a:r>
              <a:rPr lang="zh-CN" altLang="en-US" sz="2400" b="0">
                <a:latin typeface="黑体" panose="02010609060101010101" pitchFamily="49" charset="-122"/>
              </a:rPr>
              <a:t>工作集</a:t>
            </a:r>
            <a:r>
              <a:rPr lang="en-US" altLang="zh-CN" sz="2400" b="0" i="1">
                <a:latin typeface="黑体" panose="02010609060101010101" pitchFamily="49" charset="-122"/>
              </a:rPr>
              <a:t>W</a:t>
            </a:r>
            <a:r>
              <a:rPr lang="en-US" altLang="zh-CN" sz="2400" b="0">
                <a:latin typeface="黑体" panose="02010609060101010101" pitchFamily="49" charset="-122"/>
              </a:rPr>
              <a:t>(</a:t>
            </a:r>
            <a:r>
              <a:rPr lang="en-US" altLang="zh-CN" sz="2400" b="0" i="1">
                <a:latin typeface="黑体" panose="02010609060101010101" pitchFamily="49" charset="-122"/>
              </a:rPr>
              <a:t>t</a:t>
            </a:r>
            <a:r>
              <a:rPr lang="en-US" altLang="zh-CN" sz="2400" b="0">
                <a:latin typeface="黑体" panose="02010609060101010101" pitchFamily="49" charset="-122"/>
              </a:rPr>
              <a:t>,Δ)=</a:t>
            </a:r>
            <a:r>
              <a:rPr lang="zh-CN" altLang="en-US" sz="2400" b="0">
                <a:latin typeface="黑体" panose="02010609060101010101" pitchFamily="49" charset="-122"/>
              </a:rPr>
              <a:t>该进程在过去的</a:t>
            </a:r>
            <a:r>
              <a:rPr lang="en-US" altLang="zh-CN" sz="2400" b="0">
                <a:latin typeface="黑体" panose="02010609060101010101" pitchFamily="49" charset="-122"/>
              </a:rPr>
              <a:t>Δ</a:t>
            </a:r>
            <a:r>
              <a:rPr lang="zh-CN" altLang="en-US" sz="2400" b="0">
                <a:latin typeface="黑体" panose="02010609060101010101" pitchFamily="49" charset="-122"/>
              </a:rPr>
              <a:t>时间单位中访问到的页面集合 </a:t>
            </a:r>
            <a:endParaRPr lang="en-US" altLang="zh-CN" sz="2400" b="0">
              <a:latin typeface="黑体" panose="02010609060101010101" pitchFamily="49" charset="-122"/>
            </a:endParaRPr>
          </a:p>
          <a:p>
            <a:pPr marL="0" indent="0" eaLnBrk="1" hangingPunct="1"/>
            <a:endParaRPr lang="en-US" altLang="zh-CN" sz="2400" b="0">
              <a:latin typeface="黑体" panose="02010609060101010101" pitchFamily="49" charset="-122"/>
            </a:endParaRPr>
          </a:p>
          <a:p>
            <a:pPr marL="0" indent="0" eaLnBrk="1" hangingPunct="1"/>
            <a:endParaRPr lang="en-US" altLang="zh-CN" sz="2400" b="0">
              <a:latin typeface="黑体" panose="02010609060101010101" pitchFamily="49" charset="-122"/>
            </a:endParaRPr>
          </a:p>
          <a:p>
            <a:pPr marL="0" indent="0" eaLnBrk="1" hangingPunct="1">
              <a:buFont typeface="Wingdings" panose="05000000000000000000" pitchFamily="2" charset="2"/>
              <a:buNone/>
            </a:pPr>
            <a:endParaRPr lang="en-US" altLang="zh-CN" sz="2400" b="0">
              <a:latin typeface="黑体" panose="02010609060101010101" pitchFamily="49" charset="-122"/>
            </a:endParaRPr>
          </a:p>
          <a:p>
            <a:pPr marL="0" indent="0" eaLnBrk="1" hangingPunct="1">
              <a:buFont typeface="Wingdings" panose="05000000000000000000" pitchFamily="2" charset="2"/>
              <a:buNone/>
            </a:pPr>
            <a:r>
              <a:rPr lang="en-US" altLang="zh-CN" sz="2400" b="0">
                <a:latin typeface="黑体" panose="02010609060101010101" pitchFamily="49" charset="-122"/>
              </a:rPr>
              <a:t>  </a:t>
            </a:r>
            <a:r>
              <a:rPr lang="zh-CN" altLang="en-US" sz="2400" b="0">
                <a:latin typeface="黑体" panose="02010609060101010101" pitchFamily="49" charset="-122"/>
              </a:rPr>
              <a:t>根据程序的局部性原理， 进程在一段时间内总是集中访问一些页面，这些页面称为活跃页面。</a:t>
            </a:r>
            <a:endParaRPr lang="en-US" altLang="zh-CN" sz="2400" b="0">
              <a:latin typeface="黑体" panose="02010609060101010101" pitchFamily="49" charset="-122"/>
            </a:endParaRPr>
          </a:p>
          <a:p>
            <a:pPr marL="0" indent="0" eaLnBrk="1" hangingPunct="1">
              <a:buFont typeface="Wingdings" panose="05000000000000000000" pitchFamily="2" charset="2"/>
              <a:buNone/>
            </a:pPr>
            <a:r>
              <a:rPr lang="en-US" altLang="zh-CN" sz="2400" b="0">
                <a:latin typeface="黑体" panose="02010609060101010101" pitchFamily="49" charset="-122"/>
              </a:rPr>
              <a:t>  </a:t>
            </a:r>
            <a:r>
              <a:rPr lang="zh-CN" altLang="en-US" sz="2400" b="0">
                <a:latin typeface="黑体" panose="02010609060101010101" pitchFamily="49" charset="-122"/>
              </a:rPr>
              <a:t>如果分配给一个进程的物理页面数太少，使该进程所需的活跃页面不能全部装入内存，则进程在运行过程中将频繁发生中断。</a:t>
            </a:r>
            <a:endParaRPr lang="en-US" altLang="zh-CN" sz="2400" b="0">
              <a:latin typeface="黑体" panose="02010609060101010101" pitchFamily="49" charset="-122"/>
            </a:endParaRPr>
          </a:p>
          <a:p>
            <a:pPr marL="0" indent="0" eaLnBrk="1" hangingPunct="1">
              <a:buFont typeface="Wingdings" panose="05000000000000000000" pitchFamily="2" charset="2"/>
              <a:buNone/>
            </a:pPr>
            <a:r>
              <a:rPr lang="en-US" altLang="zh-CN" sz="2400" b="0">
                <a:latin typeface="黑体" panose="02010609060101010101" pitchFamily="49" charset="-122"/>
              </a:rPr>
              <a:t>  </a:t>
            </a:r>
            <a:r>
              <a:rPr lang="zh-CN" altLang="en-US" sz="2400" b="0">
                <a:latin typeface="黑体" panose="02010609060101010101" pitchFamily="49" charset="-122"/>
              </a:rPr>
              <a:t>如果能为进程提供与活跃页面数相等</a:t>
            </a:r>
            <a:r>
              <a:rPr lang="en-US" altLang="zh-CN" sz="2400" b="0">
                <a:latin typeface="黑体" panose="02010609060101010101" pitchFamily="49" charset="-122"/>
              </a:rPr>
              <a:t>(</a:t>
            </a:r>
            <a:r>
              <a:rPr lang="zh-CN" altLang="en-US" sz="2400" b="0">
                <a:latin typeface="黑体" panose="02010609060101010101" pitchFamily="49" charset="-122"/>
              </a:rPr>
              <a:t>或大于</a:t>
            </a:r>
            <a:r>
              <a:rPr lang="en-US" altLang="zh-CN" sz="2400" b="0">
                <a:latin typeface="黑体" panose="02010609060101010101" pitchFamily="49" charset="-122"/>
              </a:rPr>
              <a:t>)</a:t>
            </a:r>
            <a:r>
              <a:rPr lang="zh-CN" altLang="en-US" sz="2400" b="0">
                <a:latin typeface="黑体" panose="02010609060101010101" pitchFamily="49" charset="-122"/>
              </a:rPr>
              <a:t>的物理页面数，则可以减少缺页中断次数。</a:t>
            </a:r>
            <a:br>
              <a:rPr lang="zh-CN" altLang="en-US" sz="2400" b="0">
                <a:latin typeface="黑体" panose="02010609060101010101" pitchFamily="49" charset="-122"/>
              </a:rPr>
            </a:br>
            <a:r>
              <a:rPr lang="en-US" altLang="zh-CN" sz="2400" b="0">
                <a:latin typeface="黑体" panose="02010609060101010101" pitchFamily="49" charset="-122"/>
              </a:rPr>
              <a:t> </a:t>
            </a:r>
            <a:endParaRPr lang="zh-CN" altLang="en-US" sz="2400" b="0">
              <a:latin typeface="黑体" panose="02010609060101010101" pitchFamily="49" charset="-122"/>
            </a:endParaRPr>
          </a:p>
        </p:txBody>
      </p:sp>
      <p:pic>
        <p:nvPicPr>
          <p:cNvPr id="40964" name="图片 1"/>
          <p:cNvPicPr>
            <a:picLocks noChangeAspect="1"/>
          </p:cNvPicPr>
          <p:nvPr/>
        </p:nvPicPr>
        <p:blipFill>
          <a:blip r:embed="rId1"/>
          <a:stretch>
            <a:fillRect/>
          </a:stretch>
        </p:blipFill>
        <p:spPr>
          <a:xfrm>
            <a:off x="1562100" y="2319338"/>
            <a:ext cx="6019800" cy="1109662"/>
          </a:xfrm>
          <a:prstGeom prst="rect">
            <a:avLst/>
          </a:prstGeom>
          <a:noFill/>
          <a:ln w="9525">
            <a:noFill/>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4198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分多少块？</a:t>
            </a:r>
            <a:endParaRPr lang="zh-CN" altLang="en-US"/>
          </a:p>
        </p:txBody>
      </p:sp>
      <p:pic>
        <p:nvPicPr>
          <p:cNvPr id="41987" name="图片 4"/>
          <p:cNvPicPr>
            <a:picLocks noChangeAspect="1"/>
          </p:cNvPicPr>
          <p:nvPr/>
        </p:nvPicPr>
        <p:blipFill>
          <a:blip r:embed="rId1"/>
          <a:stretch>
            <a:fillRect/>
          </a:stretch>
        </p:blipFill>
        <p:spPr>
          <a:xfrm>
            <a:off x="755650" y="1501775"/>
            <a:ext cx="6985000" cy="2476500"/>
          </a:xfrm>
          <a:prstGeom prst="rect">
            <a:avLst/>
          </a:prstGeom>
          <a:noFill/>
          <a:ln w="9525">
            <a:noFill/>
          </a:ln>
        </p:spPr>
      </p:pic>
      <p:sp>
        <p:nvSpPr>
          <p:cNvPr id="41988" name="矩形 1"/>
          <p:cNvSpPr/>
          <p:nvPr/>
        </p:nvSpPr>
        <p:spPr>
          <a:xfrm>
            <a:off x="1331913" y="4164013"/>
            <a:ext cx="4572000" cy="15684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400" b="0"/>
              <a:t>A{6, 0, 3, 2}</a:t>
            </a:r>
            <a:endParaRPr lang="en-US" altLang="zh-CN" sz="2400" b="0"/>
          </a:p>
          <a:p>
            <a:pPr marL="0" lvl="0" indent="0">
              <a:spcBef>
                <a:spcPct val="0"/>
              </a:spcBef>
              <a:buClrTx/>
              <a:buFontTx/>
              <a:buNone/>
            </a:pPr>
            <a:r>
              <a:rPr lang="en-US" altLang="zh-CN" sz="2400" b="0"/>
              <a:t>B{2, 3, 0, 4}</a:t>
            </a:r>
            <a:endParaRPr lang="en-US" altLang="zh-CN" sz="2400" b="0"/>
          </a:p>
          <a:p>
            <a:pPr marL="0" lvl="0" indent="0">
              <a:spcBef>
                <a:spcPct val="0"/>
              </a:spcBef>
              <a:buClrTx/>
              <a:buFontTx/>
              <a:buNone/>
            </a:pPr>
            <a:r>
              <a:rPr lang="en-US" altLang="zh-CN" sz="2400" b="0"/>
              <a:t>C{0, 4, 3, 2, 9}</a:t>
            </a:r>
            <a:endParaRPr lang="en-US" altLang="zh-CN" sz="2400" b="0"/>
          </a:p>
          <a:p>
            <a:pPr marL="0" lvl="0" indent="0">
              <a:spcBef>
                <a:spcPct val="0"/>
              </a:spcBef>
              <a:buClrTx/>
              <a:buFontTx/>
              <a:buNone/>
            </a:pPr>
            <a:r>
              <a:rPr lang="en-US" altLang="zh-CN" sz="2400" b="0"/>
              <a:t>D{4, 5, 6, 0, 3, 2}</a:t>
            </a:r>
            <a:endParaRPr lang="en-US" altLang="zh-CN" sz="2400" b="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3"/>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43010" name="文本框 6"/>
          <p:cNvSpPr txBox="1"/>
          <p:nvPr>
            <p:custDataLst>
              <p:tags r:id="rId1"/>
            </p:custDataLst>
          </p:nvPr>
        </p:nvSpPr>
        <p:spPr>
          <a:xfrm>
            <a:off x="914400" y="63500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charset="-122"/>
                <a:ea typeface="微软雅黑" charset="-122"/>
                <a:sym typeface="微软雅黑" charset="-122"/>
              </a:rPr>
              <a:t>此处添加题目描述</a:t>
            </a:r>
            <a:endParaRPr lang="zh-CN" altLang="en-US" sz="2600" b="0">
              <a:solidFill>
                <a:srgbClr val="000000"/>
              </a:solidFill>
              <a:latin typeface="微软雅黑" charset="-122"/>
              <a:ea typeface="微软雅黑" charset="-122"/>
              <a:sym typeface="微软雅黑" charset="-122"/>
            </a:endParaRPr>
          </a:p>
        </p:txBody>
      </p:sp>
      <p:sp>
        <p:nvSpPr>
          <p:cNvPr id="43011" name="文本框 7"/>
          <p:cNvSpPr txBox="1"/>
          <p:nvPr>
            <p:custDataLst>
              <p:tags r:id="rId2"/>
            </p:custDataLst>
          </p:nvPr>
        </p:nvSpPr>
        <p:spPr>
          <a:xfrm>
            <a:off x="1828800" y="27860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b="0">
                <a:ea typeface="宋体" pitchFamily="2" charset="-122"/>
              </a:rPr>
              <a:t>{6, 0, 3, 2}</a:t>
            </a:r>
            <a:endParaRPr lang="en-US" altLang="zh-CN" b="0">
              <a:ea typeface="宋体" pitchFamily="2" charset="-122"/>
            </a:endParaRPr>
          </a:p>
        </p:txBody>
      </p:sp>
      <p:sp>
        <p:nvSpPr>
          <p:cNvPr id="43012" name="文本框 8"/>
          <p:cNvSpPr txBox="1"/>
          <p:nvPr>
            <p:custDataLst>
              <p:tags r:id="rId3"/>
            </p:custDataLst>
          </p:nvPr>
        </p:nvSpPr>
        <p:spPr>
          <a:xfrm>
            <a:off x="1828800" y="36433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b="0">
                <a:ea typeface="宋体" pitchFamily="2" charset="-122"/>
              </a:rPr>
              <a:t>{2, 3, 0, 4}</a:t>
            </a:r>
            <a:endParaRPr lang="en-US" altLang="zh-CN" b="0">
              <a:ea typeface="宋体" pitchFamily="2" charset="-122"/>
            </a:endParaRPr>
          </a:p>
        </p:txBody>
      </p:sp>
      <p:sp>
        <p:nvSpPr>
          <p:cNvPr id="43013" name="文本框 9"/>
          <p:cNvSpPr txBox="1"/>
          <p:nvPr>
            <p:custDataLst>
              <p:tags r:id="rId4"/>
            </p:custDataLst>
          </p:nvPr>
        </p:nvSpPr>
        <p:spPr>
          <a:xfrm>
            <a:off x="1828800" y="45005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b="0">
                <a:ea typeface="宋体" pitchFamily="2" charset="-122"/>
              </a:rPr>
              <a:t>{0, 4, 3, 2, 9}</a:t>
            </a:r>
            <a:endParaRPr lang="en-US" altLang="zh-CN" b="0">
              <a:ea typeface="宋体" pitchFamily="2" charset="-122"/>
            </a:endParaRPr>
          </a:p>
        </p:txBody>
      </p:sp>
      <p:sp>
        <p:nvSpPr>
          <p:cNvPr id="43014" name="文本框 10"/>
          <p:cNvSpPr txBox="1"/>
          <p:nvPr>
            <p:custDataLst>
              <p:tags r:id="rId5"/>
            </p:custDataLst>
          </p:nvPr>
        </p:nvSpPr>
        <p:spPr>
          <a:xfrm>
            <a:off x="1828800" y="53578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b="0">
                <a:ea typeface="宋体" pitchFamily="2" charset="-122"/>
              </a:rPr>
              <a:t>{4, 5, 6, 0, 3, 2}</a:t>
            </a:r>
            <a:endParaRPr lang="en-US" altLang="zh-CN" b="0">
              <a:ea typeface="宋体" pitchFamily="2" charset="-122"/>
            </a:endParaRPr>
          </a:p>
        </p:txBody>
      </p:sp>
      <p:sp>
        <p:nvSpPr>
          <p:cNvPr id="43015" name="椭圆 11"/>
          <p:cNvSpPr>
            <a:spLocks noChangeAspect="1"/>
          </p:cNvSpPr>
          <p:nvPr>
            <p:custDataLst>
              <p:tags r:id="rId6"/>
            </p:custDataLst>
          </p:nvPr>
        </p:nvSpPr>
        <p:spPr>
          <a:xfrm>
            <a:off x="1114425" y="2849563"/>
            <a:ext cx="514350" cy="514350"/>
          </a:xfrm>
          <a:prstGeom prst="ellipse">
            <a:avLst/>
          </a:prstGeom>
          <a:solidFill>
            <a:srgbClr val="00FF00"/>
          </a:solidFill>
          <a:ln w="254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A</a:t>
            </a:r>
            <a:endParaRPr lang="zh-CN" altLang="en-US" sz="1600" b="0">
              <a:solidFill>
                <a:srgbClr val="FFFFFF"/>
              </a:solidFill>
              <a:latin typeface="微软雅黑" charset="-122"/>
              <a:ea typeface="微软雅黑" charset="-122"/>
              <a:sym typeface="微软雅黑" charset="-122"/>
            </a:endParaRPr>
          </a:p>
        </p:txBody>
      </p:sp>
      <p:sp>
        <p:nvSpPr>
          <p:cNvPr id="43016" name="椭圆 12"/>
          <p:cNvSpPr>
            <a:spLocks noChangeAspect="1"/>
          </p:cNvSpPr>
          <p:nvPr>
            <p:custDataLst>
              <p:tags r:id="rId7"/>
            </p:custDataLst>
          </p:nvPr>
        </p:nvSpPr>
        <p:spPr>
          <a:xfrm>
            <a:off x="1114425" y="3706813"/>
            <a:ext cx="514350" cy="514350"/>
          </a:xfrm>
          <a:prstGeom prst="ellipse">
            <a:avLst/>
          </a:prstGeom>
          <a:solidFill>
            <a:srgbClr val="808080"/>
          </a:solidFill>
          <a:ln w="127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B</a:t>
            </a:r>
            <a:endParaRPr lang="zh-CN" altLang="en-US" sz="1600" b="0">
              <a:solidFill>
                <a:srgbClr val="FFFFFF"/>
              </a:solidFill>
              <a:latin typeface="微软雅黑" charset="-122"/>
              <a:ea typeface="微软雅黑" charset="-122"/>
              <a:sym typeface="微软雅黑" charset="-122"/>
            </a:endParaRPr>
          </a:p>
        </p:txBody>
      </p:sp>
      <p:sp>
        <p:nvSpPr>
          <p:cNvPr id="43017" name="椭圆 13"/>
          <p:cNvSpPr>
            <a:spLocks noChangeAspect="1"/>
          </p:cNvSpPr>
          <p:nvPr>
            <p:custDataLst>
              <p:tags r:id="rId8"/>
            </p:custDataLst>
          </p:nvPr>
        </p:nvSpPr>
        <p:spPr>
          <a:xfrm>
            <a:off x="1114425" y="4564063"/>
            <a:ext cx="514350" cy="514350"/>
          </a:xfrm>
          <a:prstGeom prst="ellipse">
            <a:avLst/>
          </a:prstGeom>
          <a:solidFill>
            <a:srgbClr val="808080"/>
          </a:solidFill>
          <a:ln w="127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C</a:t>
            </a:r>
            <a:endParaRPr lang="zh-CN" altLang="en-US" sz="1600" b="0">
              <a:solidFill>
                <a:srgbClr val="FFFFFF"/>
              </a:solidFill>
              <a:latin typeface="微软雅黑" charset="-122"/>
              <a:ea typeface="微软雅黑" charset="-122"/>
              <a:sym typeface="微软雅黑" charset="-122"/>
            </a:endParaRPr>
          </a:p>
        </p:txBody>
      </p:sp>
      <p:sp>
        <p:nvSpPr>
          <p:cNvPr id="43018" name="椭圆 14"/>
          <p:cNvSpPr>
            <a:spLocks noChangeAspect="1"/>
          </p:cNvSpPr>
          <p:nvPr>
            <p:custDataLst>
              <p:tags r:id="rId9"/>
            </p:custDataLst>
          </p:nvPr>
        </p:nvSpPr>
        <p:spPr>
          <a:xfrm>
            <a:off x="1114425" y="5421313"/>
            <a:ext cx="514350" cy="514350"/>
          </a:xfrm>
          <a:prstGeom prst="ellipse">
            <a:avLst/>
          </a:prstGeom>
          <a:solidFill>
            <a:srgbClr val="808080"/>
          </a:solidFill>
          <a:ln w="127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solidFill>
                  <a:srgbClr val="FFFFFF"/>
                </a:solidFill>
                <a:latin typeface="微软雅黑" charset="-122"/>
                <a:ea typeface="微软雅黑" charset="-122"/>
                <a:sym typeface="微软雅黑" charset="-122"/>
              </a:rPr>
              <a:t>D</a:t>
            </a:r>
            <a:endParaRPr lang="zh-CN" altLang="en-US" sz="1600" b="0">
              <a:solidFill>
                <a:srgbClr val="FFFFFF"/>
              </a:solidFill>
              <a:latin typeface="微软雅黑" charset="-122"/>
              <a:ea typeface="微软雅黑" charset="-122"/>
              <a:sym typeface="微软雅黑" charset="-122"/>
            </a:endParaRPr>
          </a:p>
        </p:txBody>
      </p:sp>
      <p:sp>
        <p:nvSpPr>
          <p:cNvPr id="43019" name="矩形: 圆角 15"/>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solidFill>
                  <a:srgbClr val="FFFFFF"/>
                </a:solidFill>
                <a:latin typeface="微软雅黑" charset="-122"/>
                <a:ea typeface="微软雅黑" charset="-122"/>
                <a:sym typeface="微软雅黑" charset="-122"/>
              </a:rPr>
              <a:t>提交</a:t>
            </a:r>
            <a:endParaRPr lang="zh-CN" altLang="en-US" sz="1600" b="0">
              <a:solidFill>
                <a:srgbClr val="FFFFFF"/>
              </a:solidFill>
              <a:latin typeface="微软雅黑" charset="-122"/>
              <a:ea typeface="微软雅黑" charset="-122"/>
              <a:sym typeface="微软雅黑" charset="-122"/>
            </a:endParaRPr>
          </a:p>
        </p:txBody>
      </p:sp>
      <p:pic>
        <p:nvPicPr>
          <p:cNvPr id="43020" name="图片 4"/>
          <p:cNvPicPr>
            <a:picLocks noChangeAspect="1"/>
          </p:cNvPicPr>
          <p:nvPr/>
        </p:nvPicPr>
        <p:blipFill>
          <a:blip r:embed="rId11"/>
          <a:stretch>
            <a:fillRect/>
          </a:stretch>
        </p:blipFill>
        <p:spPr>
          <a:xfrm>
            <a:off x="936625" y="727075"/>
            <a:ext cx="6313488" cy="2103438"/>
          </a:xfrm>
          <a:prstGeom prst="rect">
            <a:avLst/>
          </a:prstGeom>
          <a:noFill/>
          <a:ln w="9525">
            <a:noFill/>
          </a:ln>
        </p:spPr>
      </p:pic>
      <p:grpSp>
        <p:nvGrpSpPr>
          <p:cNvPr id="43021" name="组合 20"/>
          <p:cNvGrpSpPr/>
          <p:nvPr/>
        </p:nvGrpSpPr>
        <p:grpSpPr>
          <a:xfrm>
            <a:off x="0" y="0"/>
            <a:ext cx="9144000" cy="635000"/>
            <a:chOff x="0" y="0"/>
            <a:chExt cx="9144000" cy="635000"/>
          </a:xfrm>
        </p:grpSpPr>
        <p:sp>
          <p:nvSpPr>
            <p:cNvPr id="43023" name="TitleBackground"/>
            <p:cNvSpPr/>
            <p:nvPr>
              <p:custDataLst>
                <p:tags r:id="rId12"/>
              </p:custDataLst>
            </p:nvPr>
          </p:nvSpPr>
          <p:spPr>
            <a:xfrm>
              <a:off x="0" y="0"/>
              <a:ext cx="9144000" cy="635000"/>
            </a:xfrm>
            <a:prstGeom prst="rect">
              <a:avLst/>
            </a:prstGeom>
            <a:solidFill>
              <a:srgbClr val="F6F7F8"/>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43024" name="ColorBlock"/>
            <p:cNvSpPr/>
            <p:nvPr>
              <p:custDataLst>
                <p:tags r:id="rId13"/>
              </p:custDataLst>
            </p:nvPr>
          </p:nvSpPr>
          <p:spPr>
            <a:xfrm>
              <a:off x="0" y="0"/>
              <a:ext cx="190500" cy="635000"/>
            </a:xfrm>
            <a:prstGeom prst="rect">
              <a:avLst/>
            </a:prstGeom>
            <a:solidFill>
              <a:srgbClr val="639EF4"/>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43025" name="TypeText"/>
            <p:cNvSpPr txBox="1"/>
            <p:nvPr>
              <p:custDataLst>
                <p:tags r:id="rId14"/>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charset="-122"/>
                  <a:ea typeface="微软雅黑" charset="-122"/>
                  <a:sym typeface="微软雅黑" charset="-122"/>
                </a:rPr>
                <a:t>单选题</a:t>
              </a:r>
              <a:endParaRPr lang="zh-CN" altLang="en-US" sz="2600" b="0">
                <a:solidFill>
                  <a:srgbClr val="000000"/>
                </a:solidFill>
                <a:latin typeface="微软雅黑" charset="-122"/>
                <a:ea typeface="微软雅黑" charset="-122"/>
                <a:sym typeface="微软雅黑" charset="-122"/>
              </a:endParaRPr>
            </a:p>
          </p:txBody>
        </p:sp>
        <p:sp>
          <p:nvSpPr>
            <p:cNvPr id="43026" name="TipText"/>
            <p:cNvSpPr txBox="1"/>
            <p:nvPr>
              <p:custDataLst>
                <p:tags r:id="rId15"/>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charset="-122"/>
                  <a:ea typeface="微软雅黑" charset="-122"/>
                  <a:sym typeface="微软雅黑" charset="-122"/>
                </a:rPr>
                <a:t>1</a:t>
              </a:r>
              <a:r>
                <a:rPr lang="zh-CN" altLang="en-US" sz="2000" b="0">
                  <a:solidFill>
                    <a:srgbClr val="808080"/>
                  </a:solidFill>
                  <a:latin typeface="微软雅黑" charset="-122"/>
                  <a:ea typeface="微软雅黑" charset="-122"/>
                  <a:sym typeface="微软雅黑" charset="-122"/>
                </a:rPr>
                <a:t>分</a:t>
              </a:r>
              <a:endParaRPr lang="zh-CN" altLang="en-US" sz="2000" b="0">
                <a:solidFill>
                  <a:srgbClr val="808080"/>
                </a:solidFill>
                <a:latin typeface="微软雅黑" charset="-122"/>
                <a:ea typeface="微软雅黑" charset="-122"/>
                <a:sym typeface="微软雅黑" charset="-122"/>
              </a:endParaRPr>
            </a:p>
          </p:txBody>
        </p:sp>
      </p:grpSp>
      <p:pic>
        <p:nvPicPr>
          <p:cNvPr id="43022" name="图片 5"/>
          <p:cNvPicPr/>
          <p:nvPr>
            <p:custDataLst>
              <p:tags r:id="rId16"/>
            </p:custDataLst>
          </p:nvPr>
        </p:nvPicPr>
        <p:blipFill>
          <a:blip r:embed="rId17"/>
          <a:stretch>
            <a:fillRect/>
          </a:stretch>
        </p:blipFill>
        <p:spPr>
          <a:xfrm>
            <a:off x="7594600" y="63500"/>
            <a:ext cx="1422400" cy="508000"/>
          </a:xfrm>
          <a:prstGeom prst="rect">
            <a:avLst/>
          </a:prstGeom>
          <a:noFill/>
          <a:ln w="9525">
            <a:noFill/>
          </a:ln>
        </p:spPr>
      </p:pic>
    </p:spTree>
    <p:custDataLst>
      <p:tags r:id="rId18"/>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44034"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分多少块？</a:t>
            </a:r>
            <a:endParaRPr lang="zh-CN" altLang="en-US"/>
          </a:p>
        </p:txBody>
      </p:sp>
      <p:sp>
        <p:nvSpPr>
          <p:cNvPr id="29699" name="内容占位符 1"/>
          <p:cNvSpPr>
            <a:spLocks noGrp="1" noChangeArrowheads="1"/>
          </p:cNvSpPr>
          <p:nvPr>
            <p:ph idx="1"/>
          </p:nvPr>
        </p:nvSpPr>
        <p:spPr>
          <a:xfrm>
            <a:off x="250825" y="1447800"/>
            <a:ext cx="8951913" cy="4572000"/>
          </a:xfrm>
        </p:spPr>
        <p:txBody>
          <a:bodyPr vert="horz" wrap="square" lIns="91440" tIns="45720" rIns="91440" bIns="45720" numCol="1" anchor="t" anchorCtr="0" compatLnSpc="1"/>
          <a:lstStyle/>
          <a:p>
            <a:pPr marL="0" indent="0">
              <a:buFont typeface="Wingdings" panose="05000000000000000000" pitchFamily="2" charset="2"/>
              <a:buNone/>
            </a:pPr>
            <a:r>
              <a:rPr lang="zh-CN" altLang="en-US" sz="2400" b="0">
                <a:latin typeface="黑体" panose="02010609060101010101" pitchFamily="49" charset="-122"/>
              </a:rPr>
              <a:t>常驻集</a:t>
            </a:r>
            <a:r>
              <a:rPr lang="en-US" altLang="zh-CN" sz="2400" b="0">
                <a:latin typeface="黑体" panose="02010609060101010101" pitchFamily="49" charset="-122"/>
              </a:rPr>
              <a:t>(resident set)</a:t>
            </a:r>
            <a:br>
              <a:rPr lang="en-US" altLang="zh-CN" sz="2400" b="0">
                <a:latin typeface="黑体" panose="02010609060101010101" pitchFamily="49" charset="-122"/>
              </a:rPr>
            </a:br>
            <a:r>
              <a:rPr lang="zh-CN" altLang="en-US" sz="2400" b="0">
                <a:latin typeface="黑体" panose="02010609060101010101" pitchFamily="49" charset="-122"/>
              </a:rPr>
              <a:t>常驻集指虚拟页式管理中给进程分配的物理页面数目。</a:t>
            </a:r>
            <a:br>
              <a:rPr lang="zh-CN" altLang="en-US" sz="2400" b="0">
                <a:latin typeface="黑体" panose="02010609060101010101" pitchFamily="49" charset="-122"/>
              </a:rPr>
            </a:br>
            <a:r>
              <a:rPr lang="zh-CN" altLang="en-US" sz="2400" b="0">
                <a:latin typeface="黑体" panose="02010609060101010101" pitchFamily="49" charset="-122"/>
              </a:rPr>
              <a:t>① 常驻集越小，内存中能够容纳的并发进程数目越多，但就单个进程来说，缺页中断率会上升，调页开销增大。</a:t>
            </a:r>
            <a:br>
              <a:rPr lang="zh-CN" altLang="en-US" sz="2400" b="0">
                <a:latin typeface="黑体" panose="02010609060101010101" pitchFamily="49" charset="-122"/>
              </a:rPr>
            </a:br>
            <a:r>
              <a:rPr lang="zh-CN" altLang="en-US" sz="2400" b="0">
                <a:latin typeface="黑体" panose="02010609060101010101" pitchFamily="49" charset="-122"/>
              </a:rPr>
              <a:t>② 常驻集达到一定数目后，再增加页面，缺页率不会明显下降。 </a:t>
            </a:r>
            <a:br>
              <a:rPr lang="zh-CN" altLang="en-US" sz="2400" b="0">
                <a:latin typeface="黑体" panose="02010609060101010101" pitchFamily="49" charset="-122"/>
              </a:rPr>
            </a:br>
            <a:endParaRPr lang="zh-CN" altLang="en-US" sz="2400" b="0">
              <a:latin typeface="黑体" panose="02010609060101010101" pitchFamily="49" charset="-122"/>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6375" y="3687763"/>
            <a:ext cx="4854575"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45058"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分多少块？</a:t>
            </a:r>
            <a:endParaRPr lang="zh-CN" altLang="en-US"/>
          </a:p>
        </p:txBody>
      </p:sp>
      <p:sp>
        <p:nvSpPr>
          <p:cNvPr id="32771" name="矩形 3"/>
          <p:cNvSpPr>
            <a:spLocks noChangeArrowheads="1"/>
          </p:cNvSpPr>
          <p:nvPr/>
        </p:nvSpPr>
        <p:spPr bwMode="auto">
          <a:xfrm>
            <a:off x="406400" y="1341438"/>
            <a:ext cx="8342313" cy="5113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2400" b="0">
                <a:latin typeface="黑体" panose="02010609060101010101" pitchFamily="49" charset="-122"/>
              </a:rPr>
              <a:t>常驻集管理    </a:t>
            </a:r>
            <a:endParaRPr lang="en-US" altLang="zh-CN" sz="2400" b="0">
              <a:latin typeface="黑体" panose="02010609060101010101" pitchFamily="49" charset="-122"/>
            </a:endParaRPr>
          </a:p>
          <a:p>
            <a:pPr marL="0" lvl="0" indent="0" eaLnBrk="1" hangingPunct="1">
              <a:spcBef>
                <a:spcPct val="0"/>
              </a:spcBef>
              <a:buClrTx/>
              <a:buFontTx/>
              <a:buNone/>
            </a:pPr>
            <a:r>
              <a:rPr lang="en-US" altLang="zh-CN" sz="2400" b="0">
                <a:latin typeface="黑体" panose="02010609060101010101" pitchFamily="49" charset="-122"/>
              </a:rPr>
              <a:t>1</a:t>
            </a:r>
            <a:r>
              <a:rPr lang="zh-CN" altLang="en-US" sz="2400" b="0">
                <a:latin typeface="黑体" panose="02010609060101010101" pitchFamily="49" charset="-122"/>
              </a:rPr>
              <a:t> 固定分配：操作系统为每个进程分配一组固定数目的物理块，在进程运行期间不再改变。即，驻留集大小不变。</a:t>
            </a:r>
            <a:endParaRPr lang="en-US" altLang="zh-CN" sz="2400" b="0">
              <a:latin typeface="黑体" panose="02010609060101010101" pitchFamily="49" charset="-122"/>
            </a:endParaRPr>
          </a:p>
          <a:p>
            <a:pPr marL="0" lvl="0" indent="0" eaLnBrk="1" hangingPunct="1">
              <a:spcBef>
                <a:spcPct val="0"/>
              </a:spcBef>
              <a:buClrTx/>
              <a:buFontTx/>
              <a:buNone/>
            </a:pPr>
            <a:r>
              <a:rPr lang="en-US" altLang="zh-CN" sz="2400" b="0">
                <a:latin typeface="黑体" panose="02010609060101010101" pitchFamily="49" charset="-122"/>
              </a:rPr>
              <a:t>2</a:t>
            </a:r>
            <a:r>
              <a:rPr lang="zh-CN" altLang="en-US" sz="2400" b="0">
                <a:latin typeface="黑体" panose="02010609060101010101" pitchFamily="49" charset="-122"/>
              </a:rPr>
              <a:t> 可变分配：先为每个进程分配一定数目的物理块，在进程运行期问，可根据情况做适当的增加或减少。即，驻留集大小可变。</a:t>
            </a:r>
            <a:endParaRPr lang="en-US" altLang="zh-CN" sz="2400" b="0">
              <a:latin typeface="黑体" panose="02010609060101010101" pitchFamily="49" charset="-122"/>
            </a:endParaRPr>
          </a:p>
          <a:p>
            <a:pPr marL="0" lvl="0" indent="0" eaLnBrk="1" hangingPunct="1">
              <a:spcBef>
                <a:spcPct val="0"/>
              </a:spcBef>
              <a:buClrTx/>
              <a:buFontTx/>
              <a:buNone/>
            </a:pPr>
            <a:r>
              <a:rPr lang="en-US" altLang="zh-CN" sz="2400" b="0">
                <a:latin typeface="黑体" panose="02010609060101010101" pitchFamily="49" charset="-122"/>
              </a:rPr>
              <a:t>3</a:t>
            </a:r>
            <a:r>
              <a:rPr lang="zh-CN" altLang="en-US" sz="2400" b="0">
                <a:latin typeface="黑体" panose="02010609060101010101" pitchFamily="49" charset="-122"/>
              </a:rPr>
              <a:t> 局部置换：发生缺页时只能选进程自己的物理块进行置换。</a:t>
            </a:r>
            <a:r>
              <a:rPr lang="en-US" altLang="zh-CN" sz="2400" b="0">
                <a:latin typeface="黑体" panose="02010609060101010101" pitchFamily="49" charset="-122"/>
              </a:rPr>
              <a:t>4</a:t>
            </a:r>
            <a:r>
              <a:rPr lang="zh-CN" altLang="en-US" sz="2400" b="0">
                <a:latin typeface="黑体" panose="02010609060101010101" pitchFamily="49" charset="-122"/>
              </a:rPr>
              <a:t> 全局置换：可以将操作系统保留的空闲物理块分配给缺页进程，也可以将别的进程持有的块置换到外存，再分配给缺页进程。</a:t>
            </a:r>
            <a:endParaRPr lang="zh-CN" altLang="en-US" sz="2400" b="0">
              <a:latin typeface="黑体" panose="02010609060101010101" pitchFamily="49" charset="-122"/>
            </a:endParaRPr>
          </a:p>
          <a:p>
            <a:pPr>
              <a:buClrTx/>
              <a:buFontTx/>
            </a:pPr>
            <a:r>
              <a:rPr lang="en-US" altLang="zh-CN" sz="2400" dirty="0">
                <a:latin typeface="黑体" panose="02010609060101010101" pitchFamily="49" charset="-122"/>
                <a:sym typeface="+mn-ea"/>
              </a:rPr>
              <a:t>1</a:t>
            </a:r>
            <a:r>
              <a:rPr lang="zh-CN" altLang="en-US" sz="2400" dirty="0">
                <a:latin typeface="黑体" panose="02010609060101010101" pitchFamily="49" charset="-122"/>
                <a:sym typeface="+mn-ea"/>
              </a:rPr>
              <a:t> 固定分配、局部置换       </a:t>
            </a:r>
            <a:endParaRPr lang="en-US" altLang="zh-CN" sz="2400" dirty="0">
              <a:latin typeface="黑体" panose="02010609060101010101" pitchFamily="49" charset="-122"/>
            </a:endParaRPr>
          </a:p>
          <a:p>
            <a:pPr>
              <a:buClrTx/>
              <a:buFontTx/>
            </a:pPr>
            <a:r>
              <a:rPr lang="en-US" altLang="zh-CN" sz="2400" dirty="0">
                <a:latin typeface="黑体" panose="02010609060101010101" pitchFamily="49" charset="-122"/>
                <a:sym typeface="+mn-ea"/>
              </a:rPr>
              <a:t>2</a:t>
            </a:r>
            <a:r>
              <a:rPr lang="zh-CN" altLang="en-US" sz="2400" dirty="0">
                <a:latin typeface="黑体" panose="02010609060101010101" pitchFamily="49" charset="-122"/>
                <a:sym typeface="+mn-ea"/>
              </a:rPr>
              <a:t> 可变分配、全局置换    </a:t>
            </a:r>
            <a:endParaRPr lang="en-US" altLang="zh-CN" sz="2400" dirty="0">
              <a:latin typeface="黑体" panose="02010609060101010101" pitchFamily="49" charset="-122"/>
            </a:endParaRPr>
          </a:p>
          <a:p>
            <a:pPr>
              <a:buClrTx/>
              <a:buFontTx/>
            </a:pPr>
            <a:r>
              <a:rPr lang="en-US" altLang="zh-CN" sz="2400" dirty="0">
                <a:latin typeface="黑体" panose="02010609060101010101" pitchFamily="49" charset="-122"/>
                <a:sym typeface="+mn-ea"/>
              </a:rPr>
              <a:t>3</a:t>
            </a:r>
            <a:r>
              <a:rPr lang="zh-CN" altLang="en-US" sz="2400" dirty="0">
                <a:latin typeface="黑体" panose="02010609060101010101" pitchFamily="49" charset="-122"/>
                <a:sym typeface="+mn-ea"/>
              </a:rPr>
              <a:t> 可变分配、局部置换</a:t>
            </a:r>
            <a:r>
              <a:rPr lang="zh-CN" altLang="en-US" sz="2400" b="0">
                <a:latin typeface="黑体" panose="02010609060101010101" pitchFamily="49" charset="-122"/>
              </a:rPr>
              <a:t>   </a:t>
            </a:r>
            <a:endParaRPr lang="en-US" altLang="zh-CN" sz="2400" b="0">
              <a:latin typeface="黑体" panose="02010609060101010101" pitchFamily="49"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46082"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 缺页率</a:t>
            </a:r>
            <a:endParaRPr lang="zh-CN" altLang="en-US"/>
          </a:p>
        </p:txBody>
      </p:sp>
      <p:sp>
        <p:nvSpPr>
          <p:cNvPr id="30723" name="Rectangle 3"/>
          <p:cNvSpPr>
            <a:spLocks noGrp="1" noChangeArrowheads="1"/>
          </p:cNvSpPr>
          <p:nvPr>
            <p:ph idx="1"/>
          </p:nvPr>
        </p:nvSpPr>
        <p:spPr>
          <a:xfrm>
            <a:off x="250825" y="1341438"/>
            <a:ext cx="8501063" cy="4572000"/>
          </a:xfrm>
        </p:spPr>
        <p:txBody>
          <a:bodyPr vert="horz" wrap="square" lIns="91440" tIns="45720" rIns="91440" bIns="45720" numCol="1" anchor="t" anchorCtr="0" compatLnSpc="1"/>
          <a:lstStyle/>
          <a:p>
            <a:pPr marL="0" indent="0" eaLnBrk="1" hangingPunct="1">
              <a:buFont typeface="Wingdings" panose="05000000000000000000" pitchFamily="2" charset="2"/>
              <a:buNone/>
            </a:pPr>
            <a:r>
              <a:rPr lang="zh-CN" altLang="en-US" sz="2400" b="0">
                <a:latin typeface="黑体" panose="02010609060101010101" pitchFamily="49" charset="-122"/>
              </a:rPr>
              <a:t>缺页率：缺页次数</a:t>
            </a:r>
            <a:r>
              <a:rPr lang="en-US" altLang="zh-CN" sz="2400" b="0">
                <a:latin typeface="黑体" panose="02010609060101010101" pitchFamily="49" charset="-122"/>
              </a:rPr>
              <a:t>/</a:t>
            </a:r>
            <a:r>
              <a:rPr lang="zh-CN" altLang="en-US" sz="2400" b="0">
                <a:latin typeface="黑体" panose="02010609060101010101" pitchFamily="49" charset="-122"/>
              </a:rPr>
              <a:t>内存访问次数。</a:t>
            </a:r>
            <a:endParaRPr lang="en-US" altLang="zh-CN" sz="2400" b="0">
              <a:latin typeface="黑体" panose="02010609060101010101" pitchFamily="49" charset="-122"/>
            </a:endParaRPr>
          </a:p>
          <a:p>
            <a:pPr marL="0" indent="0" eaLnBrk="1" hangingPunct="1">
              <a:buFont typeface="Monotype Sorts" pitchFamily="2" charset="2"/>
              <a:buChar char="•"/>
            </a:pPr>
            <a:r>
              <a:rPr lang="zh-CN" altLang="en-US" sz="2400" b="0">
                <a:latin typeface="黑体" panose="02010609060101010101" pitchFamily="49" charset="-122"/>
              </a:rPr>
              <a:t>页面数目：数目越多，缺页率越低。</a:t>
            </a:r>
            <a:endParaRPr lang="en-US" altLang="zh-CN" sz="2400" b="0">
              <a:latin typeface="黑体" panose="02010609060101010101" pitchFamily="49" charset="-122"/>
            </a:endParaRPr>
          </a:p>
          <a:p>
            <a:pPr marL="0" indent="0" eaLnBrk="1" hangingPunct="1">
              <a:buFont typeface="Monotype Sorts" pitchFamily="2" charset="2"/>
              <a:buChar char="•"/>
            </a:pPr>
            <a:r>
              <a:rPr lang="zh-CN" altLang="en-US" sz="2400" b="0">
                <a:latin typeface="黑体" panose="02010609060101010101" pitchFamily="49" charset="-122"/>
              </a:rPr>
              <a:t>页面大小：页面很小，进程的页数目较多，通过调页很快适应局部性原理的要求，缺页率低；页面很大，每个进程使用的大部分地址空间都在内存，缺页率低；页面中等大小，局部性区域只占每页的较小部分，缺页率高。</a:t>
            </a:r>
            <a:endParaRPr lang="en-US" altLang="zh-CN" sz="2400" b="0">
              <a:latin typeface="黑体" panose="02010609060101010101" pitchFamily="49" charset="-122"/>
            </a:endParaRPr>
          </a:p>
          <a:p>
            <a:pPr marL="0" indent="0" eaLnBrk="1" hangingPunct="1">
              <a:buFont typeface="Monotype Sorts" pitchFamily="2" charset="2"/>
              <a:buChar char="•"/>
            </a:pPr>
            <a:r>
              <a:rPr lang="zh-CN" altLang="en-US" sz="2400" b="0">
                <a:latin typeface="黑体" panose="02010609060101010101" pitchFamily="49" charset="-122"/>
              </a:rPr>
              <a:t>程序的编写方法：如果是结构化程序设计方法，程序数据局部性强，但面向对象技术和多线程破坏了局部性。</a:t>
            </a:r>
            <a:endParaRPr lang="en-US" altLang="zh-CN" sz="2400" b="0">
              <a:latin typeface="黑体" panose="02010609060101010101" pitchFamily="49" charset="-122"/>
            </a:endParaRPr>
          </a:p>
          <a:p>
            <a:pPr marL="0" indent="0" eaLnBrk="1" hangingPunct="1">
              <a:buFont typeface="Monotype Sorts" pitchFamily="2" charset="2"/>
              <a:buChar char="•"/>
            </a:pPr>
            <a:r>
              <a:rPr lang="zh-CN" altLang="en-US" sz="2400" b="0">
                <a:latin typeface="黑体" panose="02010609060101010101" pitchFamily="49" charset="-122"/>
              </a:rPr>
              <a:t>磁盘</a:t>
            </a:r>
            <a:r>
              <a:rPr lang="en-US" altLang="zh-CN" sz="2400" b="0">
                <a:latin typeface="黑体" panose="02010609060101010101" pitchFamily="49" charset="-122"/>
              </a:rPr>
              <a:t>I/O</a:t>
            </a:r>
            <a:r>
              <a:rPr lang="zh-CN" altLang="en-US" sz="2400" b="0">
                <a:latin typeface="黑体" panose="02010609060101010101" pitchFamily="49" charset="-122"/>
              </a:rPr>
              <a:t>访问时间与页面大小：磁盘</a:t>
            </a:r>
            <a:r>
              <a:rPr lang="en-US" altLang="zh-CN" sz="2400" b="0">
                <a:latin typeface="黑体" panose="02010609060101010101" pitchFamily="49" charset="-122"/>
              </a:rPr>
              <a:t>I/O</a:t>
            </a:r>
            <a:r>
              <a:rPr lang="zh-CN" altLang="en-US" sz="2400" b="0">
                <a:latin typeface="黑体" panose="02010609060101010101" pitchFamily="49" charset="-122"/>
              </a:rPr>
              <a:t>访问时间由旋转等待时间和读写时间组成，其中前者占</a:t>
            </a:r>
            <a:r>
              <a:rPr lang="en-US" altLang="zh-CN" sz="2400" b="0">
                <a:latin typeface="黑体" panose="02010609060101010101" pitchFamily="49" charset="-122"/>
              </a:rPr>
              <a:t>80~90%</a:t>
            </a:r>
            <a:r>
              <a:rPr lang="zh-CN" altLang="en-US" sz="2400" b="0">
                <a:latin typeface="黑体" panose="02010609060101010101" pitchFamily="49" charset="-122"/>
              </a:rPr>
              <a:t>。因此，采用较大的页面，可以提高从交换区调页的</a:t>
            </a:r>
            <a:r>
              <a:rPr lang="en-US" altLang="zh-CN" sz="2400" b="0">
                <a:latin typeface="黑体" panose="02010609060101010101" pitchFamily="49" charset="-122"/>
              </a:rPr>
              <a:t>I/O</a:t>
            </a:r>
            <a:r>
              <a:rPr lang="zh-CN" altLang="en-US" sz="2400" b="0">
                <a:latin typeface="黑体" panose="02010609060101010101" pitchFamily="49" charset="-122"/>
              </a:rPr>
              <a:t>效率。</a:t>
            </a:r>
            <a:endParaRPr lang="en-US" altLang="zh-CN" sz="2400" b="0">
              <a:latin typeface="黑体" panose="02010609060101010101" pitchFamily="49" charset="-122"/>
            </a:endParaRPr>
          </a:p>
          <a:p>
            <a:pPr marL="0" indent="0" eaLnBrk="1" hangingPunct="1">
              <a:buFont typeface="Monotype Sorts" pitchFamily="2" charset="2"/>
              <a:buChar char="•"/>
            </a:pPr>
            <a:r>
              <a:rPr lang="zh-CN" altLang="en-US" sz="2400" b="0">
                <a:latin typeface="黑体" panose="02010609060101010101" pitchFamily="49" charset="-122"/>
              </a:rPr>
              <a:t>页面置换算法</a:t>
            </a:r>
            <a:endParaRPr lang="zh-CN" altLang="en-US" sz="2400" b="0">
              <a:latin typeface="黑体" panose="02010609060101010101" pitchFamily="49" charset="-122"/>
            </a:endParaRPr>
          </a:p>
          <a:p>
            <a:pPr marL="0" indent="0" eaLnBrk="1" hangingPunct="1">
              <a:buFont typeface="Wingdings" panose="05000000000000000000" pitchFamily="2" charset="2"/>
              <a:buNone/>
            </a:pPr>
            <a:endParaRPr lang="zh-CN" altLang="en-US" sz="2400" b="0">
              <a:latin typeface="黑体" panose="02010609060101010101"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4710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8.2</a:t>
            </a:r>
            <a:r>
              <a:rPr lang="zh-CN" altLang="en-US"/>
              <a:t> 缺页率</a:t>
            </a:r>
            <a:endParaRPr lang="zh-CN" altLang="en-US"/>
          </a:p>
        </p:txBody>
      </p:sp>
      <p:sp>
        <p:nvSpPr>
          <p:cNvPr id="47107" name="Rectangle 3"/>
          <p:cNvSpPr>
            <a:spLocks noGrp="1"/>
          </p:cNvSpPr>
          <p:nvPr>
            <p:ph idx="1"/>
          </p:nvPr>
        </p:nvSpPr>
        <p:spPr>
          <a:xfrm>
            <a:off x="468313" y="1447800"/>
            <a:ext cx="7772400" cy="1600200"/>
          </a:xfrm>
        </p:spPr>
        <p:txBody>
          <a:bodyPr vert="horz" wrap="square" lIns="91440" tIns="45720" rIns="91440" bIns="45720" anchor="t" anchorCtr="0"/>
          <a:lstStyle/>
          <a:p>
            <a:pPr eaLnBrk="1" hangingPunct="1">
              <a:buFont typeface="Wingdings" panose="05000000000000000000" pitchFamily="2" charset="2"/>
              <a:buNone/>
            </a:pPr>
            <a:r>
              <a:rPr lang="zh-CN" altLang="en-US" sz="2400" b="0"/>
              <a:t>例：请求分页系统，内存分成128字节的块，有两段程序如下，分页时数组中的元素每一行放在一页中，假定用户工作区只有一块（只能放数组的一行），问两段程序的缺页次数多少？</a:t>
            </a:r>
            <a:endParaRPr lang="zh-CN" altLang="en-US" sz="2400" b="0"/>
          </a:p>
        </p:txBody>
      </p:sp>
      <p:sp>
        <p:nvSpPr>
          <p:cNvPr id="47108" name="Rectangle 4"/>
          <p:cNvSpPr/>
          <p:nvPr/>
        </p:nvSpPr>
        <p:spPr>
          <a:xfrm>
            <a:off x="1600200" y="3048000"/>
            <a:ext cx="3276600" cy="1752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2400" b="0">
                <a:ea typeface="宋体" pitchFamily="2" charset="-122"/>
              </a:rPr>
              <a:t>int array[128][128];</a:t>
            </a:r>
            <a:endParaRPr lang="en-US" altLang="zh-CN" sz="2400" b="0">
              <a:ea typeface="宋体" pitchFamily="2" charset="-122"/>
            </a:endParaRPr>
          </a:p>
          <a:p>
            <a:pPr marL="0" lvl="0" indent="0" eaLnBrk="1" hangingPunct="1">
              <a:spcBef>
                <a:spcPct val="0"/>
              </a:spcBef>
              <a:buClrTx/>
              <a:buFontTx/>
              <a:buNone/>
            </a:pPr>
            <a:r>
              <a:rPr lang="en-US" altLang="zh-CN" sz="2400" b="0">
                <a:ea typeface="宋体" pitchFamily="2" charset="-122"/>
              </a:rPr>
              <a:t>for(j=0;j&lt;128;j++)</a:t>
            </a:r>
            <a:endParaRPr lang="en-US" altLang="zh-CN" sz="2400" b="0">
              <a:ea typeface="宋体" pitchFamily="2" charset="-122"/>
            </a:endParaRPr>
          </a:p>
          <a:p>
            <a:pPr marL="0" lvl="0" indent="0" eaLnBrk="1" hangingPunct="1">
              <a:spcBef>
                <a:spcPct val="0"/>
              </a:spcBef>
              <a:buClrTx/>
              <a:buFontTx/>
              <a:buNone/>
            </a:pPr>
            <a:r>
              <a:rPr lang="en-US" altLang="zh-CN" sz="2400" b="0">
                <a:ea typeface="宋体" pitchFamily="2" charset="-122"/>
              </a:rPr>
              <a:t>  for(i=0;i&lt;128;i++)</a:t>
            </a:r>
            <a:endParaRPr lang="en-US" altLang="zh-CN" sz="2400" b="0">
              <a:ea typeface="宋体" pitchFamily="2" charset="-122"/>
            </a:endParaRPr>
          </a:p>
          <a:p>
            <a:pPr marL="0" lvl="0" indent="0" eaLnBrk="1" hangingPunct="1">
              <a:spcBef>
                <a:spcPct val="0"/>
              </a:spcBef>
              <a:buClrTx/>
              <a:buFontTx/>
              <a:buNone/>
            </a:pPr>
            <a:r>
              <a:rPr lang="en-US" altLang="zh-CN" sz="2400" b="0">
                <a:ea typeface="宋体" pitchFamily="2" charset="-122"/>
              </a:rPr>
              <a:t>    array[i][j]=0;</a:t>
            </a:r>
            <a:endParaRPr lang="en-US" altLang="zh-CN" sz="2400" b="0">
              <a:ea typeface="宋体" pitchFamily="2" charset="-122"/>
            </a:endParaRPr>
          </a:p>
        </p:txBody>
      </p:sp>
      <p:sp>
        <p:nvSpPr>
          <p:cNvPr id="47109" name="Rectangle 5"/>
          <p:cNvSpPr/>
          <p:nvPr/>
        </p:nvSpPr>
        <p:spPr>
          <a:xfrm>
            <a:off x="5105400" y="3048000"/>
            <a:ext cx="3276600" cy="17526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2400" b="0">
                <a:ea typeface="宋体" pitchFamily="2" charset="-122"/>
              </a:rPr>
              <a:t>int array[128][128];</a:t>
            </a:r>
            <a:endParaRPr lang="en-US" altLang="zh-CN" sz="2400" b="0">
              <a:ea typeface="宋体" pitchFamily="2" charset="-122"/>
            </a:endParaRPr>
          </a:p>
          <a:p>
            <a:pPr marL="0" lvl="0" indent="0" eaLnBrk="1" hangingPunct="1">
              <a:spcBef>
                <a:spcPct val="0"/>
              </a:spcBef>
              <a:buClrTx/>
              <a:buFontTx/>
              <a:buNone/>
            </a:pPr>
            <a:r>
              <a:rPr lang="en-US" altLang="zh-CN" sz="2400" b="0">
                <a:ea typeface="宋体" pitchFamily="2" charset="-122"/>
              </a:rPr>
              <a:t>for(i=0;i&lt;128;i++)</a:t>
            </a:r>
            <a:endParaRPr lang="en-US" altLang="zh-CN" sz="2400" b="0">
              <a:ea typeface="宋体" pitchFamily="2" charset="-122"/>
            </a:endParaRPr>
          </a:p>
          <a:p>
            <a:pPr marL="0" lvl="0" indent="0" eaLnBrk="1" hangingPunct="1">
              <a:spcBef>
                <a:spcPct val="0"/>
              </a:spcBef>
              <a:buClrTx/>
              <a:buFontTx/>
              <a:buNone/>
            </a:pPr>
            <a:r>
              <a:rPr lang="en-US" altLang="zh-CN" sz="2400" b="0">
                <a:ea typeface="宋体" pitchFamily="2" charset="-122"/>
              </a:rPr>
              <a:t>  for(j=0;j&lt;128;j++)</a:t>
            </a:r>
            <a:endParaRPr lang="en-US" altLang="zh-CN" sz="2400" b="0">
              <a:ea typeface="宋体" pitchFamily="2" charset="-122"/>
            </a:endParaRPr>
          </a:p>
          <a:p>
            <a:pPr marL="0" lvl="0" indent="0" eaLnBrk="1" hangingPunct="1">
              <a:spcBef>
                <a:spcPct val="0"/>
              </a:spcBef>
              <a:buClrTx/>
              <a:buFontTx/>
              <a:buNone/>
            </a:pPr>
            <a:r>
              <a:rPr lang="en-US" altLang="zh-CN" sz="2400" b="0">
                <a:ea typeface="宋体" pitchFamily="2" charset="-122"/>
              </a:rPr>
              <a:t>    array[i][j]=0;</a:t>
            </a:r>
            <a:endParaRPr lang="en-US" altLang="zh-CN" sz="2400" b="0">
              <a:ea typeface="宋体" pitchFamily="2" charset="-122"/>
            </a:endParaRPr>
          </a:p>
        </p:txBody>
      </p:sp>
      <p:sp>
        <p:nvSpPr>
          <p:cNvPr id="366598" name="AutoShape 6"/>
          <p:cNvSpPr/>
          <p:nvPr/>
        </p:nvSpPr>
        <p:spPr>
          <a:xfrm>
            <a:off x="1676400" y="5257800"/>
            <a:ext cx="2362200" cy="533400"/>
          </a:xfrm>
          <a:prstGeom prst="wedgeRoundRectCallout">
            <a:avLst>
              <a:gd name="adj1" fmla="val 33671"/>
              <a:gd name="adj2" fmla="val -121727"/>
              <a:gd name="adj3" fmla="val 16667"/>
            </a:avLst>
          </a:prstGeom>
          <a:solidFill>
            <a:schemeClr val="accent2"/>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2400" b="0">
                <a:ea typeface="宋体" pitchFamily="2" charset="-122"/>
              </a:rPr>
              <a:t>128×128次</a:t>
            </a:r>
            <a:endParaRPr lang="zh-CN" altLang="en-US" sz="2400" b="0">
              <a:ea typeface="宋体" pitchFamily="2" charset="-122"/>
            </a:endParaRPr>
          </a:p>
        </p:txBody>
      </p:sp>
      <p:sp>
        <p:nvSpPr>
          <p:cNvPr id="366599" name="AutoShape 7"/>
          <p:cNvSpPr/>
          <p:nvPr/>
        </p:nvSpPr>
        <p:spPr>
          <a:xfrm>
            <a:off x="5943600" y="5257800"/>
            <a:ext cx="2362200" cy="533400"/>
          </a:xfrm>
          <a:prstGeom prst="wedgeRoundRectCallout">
            <a:avLst>
              <a:gd name="adj1" fmla="val -35685"/>
              <a:gd name="adj2" fmla="val -121727"/>
              <a:gd name="adj3" fmla="val 16667"/>
            </a:avLst>
          </a:prstGeom>
          <a:solidFill>
            <a:schemeClr val="accent2"/>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2400" b="0">
                <a:ea typeface="宋体" pitchFamily="2" charset="-122"/>
              </a:rPr>
              <a:t>128次</a:t>
            </a:r>
            <a:endParaRPr lang="zh-CN" altLang="en-US" sz="2400" b="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6598"/>
                                        </p:tgtEl>
                                        <p:attrNameLst>
                                          <p:attrName>style.visibility</p:attrName>
                                        </p:attrNameLst>
                                      </p:cBhvr>
                                      <p:to>
                                        <p:strVal val="visible"/>
                                      </p:to>
                                    </p:set>
                                    <p:animEffect transition="in" filter="blinds(horizontal)">
                                      <p:cBhvr>
                                        <p:cTn id="7" dur="500"/>
                                        <p:tgtEl>
                                          <p:spTgt spid="3665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6599"/>
                                        </p:tgtEl>
                                        <p:attrNameLst>
                                          <p:attrName>style.visibility</p:attrName>
                                        </p:attrNameLst>
                                      </p:cBhvr>
                                      <p:to>
                                        <p:strVal val="visible"/>
                                      </p:to>
                                    </p:set>
                                    <p:animEffect transition="in" filter="blinds(horizontal)">
                                      <p:cBhvr>
                                        <p:cTn id="12" dur="500"/>
                                        <p:tgtEl>
                                          <p:spTgt spid="366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8" grpId="0" animBg="1"/>
      <p:bldP spid="36659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48130"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.3</a:t>
            </a:r>
            <a:r>
              <a:rPr lang="zh-CN" altLang="en-US"/>
              <a:t>页面调入策略</a:t>
            </a:r>
            <a:endParaRPr lang="zh-CN" altLang="en-US"/>
          </a:p>
        </p:txBody>
      </p:sp>
      <p:sp>
        <p:nvSpPr>
          <p:cNvPr id="40963" name="Rectangle 3"/>
          <p:cNvSpPr>
            <a:spLocks noGrp="1" noChangeArrowheads="1"/>
          </p:cNvSpPr>
          <p:nvPr>
            <p:ph idx="1"/>
          </p:nvPr>
        </p:nvSpPr>
        <p:spPr>
          <a:xfrm>
            <a:off x="406400" y="1412875"/>
            <a:ext cx="8229600" cy="4968875"/>
          </a:xfrm>
        </p:spPr>
        <p:txBody>
          <a:bodyPr vert="horz" wrap="square" lIns="91440" tIns="45720" rIns="91440" bIns="45720" numCol="1" anchor="t" anchorCtr="0" compatLnSpc="1"/>
          <a:lstStyle/>
          <a:p>
            <a:pPr marL="0" indent="0" eaLnBrk="1" hangingPunct="1">
              <a:lnSpc>
                <a:spcPct val="90000"/>
              </a:lnSpc>
              <a:buNone/>
            </a:pPr>
            <a:r>
              <a:rPr lang="zh-CN" altLang="en-US" sz="2400" b="0">
                <a:latin typeface="黑体" panose="02010609060101010101" pitchFamily="49" charset="-122"/>
              </a:rPr>
              <a:t>页面调入策略：决定什么时候将一个页从外存调入物理内存。</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在虚拟页式管理中有两种常用策略：</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请求调页</a:t>
            </a:r>
            <a:r>
              <a:rPr lang="en-US" altLang="zh-CN" sz="2400" b="0">
                <a:latin typeface="黑体" panose="02010609060101010101" pitchFamily="49" charset="-122"/>
              </a:rPr>
              <a:t>(demand paging)</a:t>
            </a:r>
            <a:r>
              <a:rPr lang="zh-CN" altLang="en-US" sz="2400" b="0">
                <a:latin typeface="黑体" panose="02010609060101010101" pitchFamily="49" charset="-122"/>
              </a:rPr>
              <a:t>：只调入发生缺页时所需的页面。</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优点：容易实现。</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缺点：对外存</a:t>
            </a:r>
            <a:r>
              <a:rPr lang="en-US" altLang="zh-CN" sz="2400" b="0">
                <a:latin typeface="黑体" panose="02010609060101010101" pitchFamily="49" charset="-122"/>
              </a:rPr>
              <a:t>I/O</a:t>
            </a:r>
            <a:r>
              <a:rPr lang="zh-CN" altLang="en-US" sz="2400" b="0">
                <a:latin typeface="黑体" panose="02010609060101010101" pitchFamily="49" charset="-122"/>
              </a:rPr>
              <a:t>次数多，开销较大</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预调页</a:t>
            </a:r>
            <a:r>
              <a:rPr lang="en-US" altLang="zh-CN" sz="2400" b="0">
                <a:latin typeface="黑体" panose="02010609060101010101" pitchFamily="49" charset="-122"/>
              </a:rPr>
              <a:t>(prepaging)</a:t>
            </a:r>
            <a:r>
              <a:rPr lang="zh-CN" altLang="en-US" sz="2400" b="0">
                <a:latin typeface="黑体" panose="02010609060101010101" pitchFamily="49" charset="-122"/>
              </a:rPr>
              <a:t>：在发生缺页需要调入某页时，一次调入该页以及相邻的几个页。</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优点：提高调页的</a:t>
            </a:r>
            <a:r>
              <a:rPr lang="en-US" altLang="zh-CN" sz="2400" b="0">
                <a:latin typeface="黑体" panose="02010609060101010101" pitchFamily="49" charset="-122"/>
              </a:rPr>
              <a:t>I/O</a:t>
            </a:r>
            <a:r>
              <a:rPr lang="zh-CN" altLang="en-US" sz="2400" b="0">
                <a:latin typeface="黑体" panose="02010609060101010101" pitchFamily="49" charset="-122"/>
              </a:rPr>
              <a:t>效率。</a:t>
            </a:r>
            <a:endParaRPr lang="en-US" altLang="zh-CN" sz="2400" b="0">
              <a:latin typeface="黑体" panose="02010609060101010101" pitchFamily="49" charset="-122"/>
            </a:endParaRPr>
          </a:p>
          <a:p>
            <a:pPr marL="0" indent="0" eaLnBrk="1" hangingPunct="1">
              <a:lnSpc>
                <a:spcPct val="90000"/>
              </a:lnSpc>
              <a:buNone/>
            </a:pPr>
            <a:r>
              <a:rPr lang="zh-CN" altLang="en-US" sz="2400" b="0">
                <a:latin typeface="黑体" panose="02010609060101010101" pitchFamily="49" charset="-122"/>
              </a:rPr>
              <a:t>缺点：基于预测，若调入的页在以后很少被访问，则效率低。常用于程序装入时的调页。</a:t>
            </a:r>
            <a:endParaRPr lang="zh-CN" altLang="en-US" sz="2400" b="0">
              <a:latin typeface="黑体" panose="02010609060101010101" pitchFamily="49"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49154" name="Rectangle 2"/>
          <p:cNvSpPr>
            <a:spLocks noGrp="1"/>
          </p:cNvSpPr>
          <p:nvPr>
            <p:ph type="title"/>
          </p:nvPr>
        </p:nvSpPr>
        <p:spPr/>
        <p:txBody>
          <a:bodyPr vert="horz" wrap="square" lIns="91440" tIns="45720" rIns="91440" bIns="45720" anchor="b" anchorCtr="0"/>
          <a:lstStyle/>
          <a:p>
            <a:pPr eaLnBrk="1" hangingPunct="1"/>
            <a:r>
              <a:rPr lang="nb-NO" altLang="zh-CN" sz="4000"/>
              <a:t>5.</a:t>
            </a:r>
            <a:r>
              <a:rPr lang="en-US" altLang="zh-CN" sz="4000"/>
              <a:t>8</a:t>
            </a:r>
            <a:r>
              <a:rPr lang="nb-NO" altLang="zh-CN" sz="4000"/>
              <a:t>.</a:t>
            </a:r>
            <a:r>
              <a:rPr lang="en-US" altLang="zh-CN" sz="4000"/>
              <a:t>4</a:t>
            </a:r>
            <a:r>
              <a:rPr lang="zh-CN" altLang="en-US" sz="4000"/>
              <a:t>页面置换算法</a:t>
            </a:r>
            <a:endParaRPr lang="zh-CN" altLang="en-US" sz="4000"/>
          </a:p>
        </p:txBody>
      </p:sp>
      <p:sp>
        <p:nvSpPr>
          <p:cNvPr id="41987" name="Rectangle 3"/>
          <p:cNvSpPr>
            <a:spLocks noGrp="1" noChangeArrowheads="1"/>
          </p:cNvSpPr>
          <p:nvPr>
            <p:ph idx="1"/>
          </p:nvPr>
        </p:nvSpPr>
        <p:spPr/>
        <p:txBody>
          <a:bodyPr vert="horz" wrap="square" lIns="91440" tIns="45720" rIns="91440" bIns="45720" numCol="1" anchor="t" anchorCtr="0" compatLnSpc="1"/>
          <a:lstStyle/>
          <a:p>
            <a:pPr marL="0" indent="0" eaLnBrk="1" hangingPunct="1">
              <a:buNone/>
            </a:pPr>
            <a:r>
              <a:rPr lang="zh-CN" altLang="en-US" sz="2400" b="0">
                <a:latin typeface="黑体" panose="02010609060101010101" pitchFamily="49" charset="-122"/>
              </a:rPr>
              <a:t>页面置换（淘汰）算法</a:t>
            </a:r>
            <a:endParaRPr lang="zh-CN" altLang="en-US" sz="2400" b="0">
              <a:latin typeface="黑体" panose="02010609060101010101" pitchFamily="49" charset="-122"/>
            </a:endParaRPr>
          </a:p>
          <a:p>
            <a:pPr marL="0" indent="0" eaLnBrk="1" hangingPunct="1">
              <a:spcAft>
                <a:spcPct val="20000"/>
              </a:spcAft>
              <a:buNone/>
            </a:pPr>
            <a:r>
              <a:rPr lang="zh-CN" altLang="en-US" sz="2400" b="0">
                <a:latin typeface="黑体" panose="02010609060101010101" pitchFamily="49" charset="-122"/>
              </a:rPr>
              <a:t>在调入内存时，若内存已满。从内存中选择一个页调出内存，为新调入的页让出空间。</a:t>
            </a:r>
            <a:endParaRPr lang="zh-CN" altLang="en-US" sz="2400" b="0">
              <a:latin typeface="黑体" panose="02010609060101010101" pitchFamily="49" charset="-122"/>
            </a:endParaRPr>
          </a:p>
          <a:p>
            <a:pPr marL="0" indent="0" eaLnBrk="1" hangingPunct="1">
              <a:spcAft>
                <a:spcPct val="20000"/>
              </a:spcAft>
              <a:buNone/>
            </a:pPr>
            <a:r>
              <a:rPr lang="zh-CN" altLang="en-US" sz="2400" b="0">
                <a:latin typeface="黑体" panose="02010609060101010101" pitchFamily="49" charset="-122"/>
              </a:rPr>
              <a:t>问题：选择哪一个页换出？</a:t>
            </a:r>
            <a:endParaRPr lang="zh-CN" altLang="en-US" sz="2400" b="0">
              <a:latin typeface="黑体" panose="02010609060101010101" pitchFamily="49" charset="-122"/>
            </a:endParaRPr>
          </a:p>
          <a:p>
            <a:pPr marL="0" indent="0" eaLnBrk="1" hangingPunct="1">
              <a:spcAft>
                <a:spcPct val="20000"/>
              </a:spcAft>
              <a:buNone/>
            </a:pPr>
            <a:r>
              <a:rPr lang="zh-CN" altLang="en-US" sz="2400" b="0">
                <a:latin typeface="黑体" panose="02010609060101010101" pitchFamily="49" charset="-122"/>
              </a:rPr>
              <a:t>如果替换的不合适，则发生“抖动”或“颠簸”现象：页在内外存之间频繁地调入调出，系统开销很大。</a:t>
            </a:r>
            <a:endParaRPr lang="en-US" altLang="zh-CN" sz="2400" b="0">
              <a:latin typeface="黑体" panose="02010609060101010101" pitchFamily="49" charset="-122"/>
            </a:endParaRPr>
          </a:p>
          <a:p>
            <a:pPr marL="0" indent="0" eaLnBrk="1" hangingPunct="1">
              <a:spcAft>
                <a:spcPct val="20000"/>
              </a:spcAft>
              <a:buNone/>
            </a:pPr>
            <a:r>
              <a:rPr lang="zh-CN" altLang="en-US" sz="2400" b="0">
                <a:latin typeface="黑体" panose="02010609060101010101" pitchFamily="49" charset="-122"/>
              </a:rPr>
              <a:t>在请求分页系统中，从内存中刚刚移走某个页面后，根据请求马上又调入该页．这种反复进行入页和出页的现象称为“</a:t>
            </a:r>
            <a:r>
              <a:rPr lang="zh-CN" altLang="en-US" sz="2400" b="0">
                <a:solidFill>
                  <a:schemeClr val="folHlink"/>
                </a:solidFill>
                <a:latin typeface="黑体" panose="02010609060101010101" pitchFamily="49" charset="-122"/>
              </a:rPr>
              <a:t>抖动</a:t>
            </a:r>
            <a:r>
              <a:rPr lang="zh-CN" altLang="en-US" sz="2400" b="0">
                <a:latin typeface="黑体" panose="02010609060101010101" pitchFamily="49" charset="-122"/>
              </a:rPr>
              <a:t>”，也叫做</a:t>
            </a:r>
            <a:r>
              <a:rPr lang="zh-CN" altLang="en-US" sz="2400" b="0">
                <a:solidFill>
                  <a:schemeClr val="folHlink"/>
                </a:solidFill>
                <a:latin typeface="黑体" panose="02010609060101010101" pitchFamily="49" charset="-122"/>
              </a:rPr>
              <a:t>系统颠簸</a:t>
            </a:r>
            <a:r>
              <a:rPr lang="zh-CN" altLang="en-US" sz="2400" b="0">
                <a:latin typeface="黑体" panose="02010609060101010101" pitchFamily="49" charset="-122"/>
              </a:rPr>
              <a:t>。它浪费了大量的处理机时间，所以应尽可能避免“抖动”的发生。</a:t>
            </a:r>
            <a:endParaRPr lang="zh-CN" altLang="en-US" sz="2400" b="0">
              <a:latin typeface="黑体" panose="02010609060101010101" pitchFamily="49" charset="-122"/>
            </a:endParaRPr>
          </a:p>
          <a:p>
            <a:pPr marL="0" indent="0" eaLnBrk="1" hangingPunct="1">
              <a:spcAft>
                <a:spcPct val="20000"/>
              </a:spcAft>
              <a:buNone/>
            </a:pPr>
            <a:endParaRPr lang="zh-CN" altLang="en-US" sz="2400" b="0">
              <a:latin typeface="黑体" panose="02010609060101010101" pitchFamily="49"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50178" name="矩形 2"/>
          <p:cNvSpPr/>
          <p:nvPr/>
        </p:nvSpPr>
        <p:spPr>
          <a:xfrm>
            <a:off x="360363" y="2128838"/>
            <a:ext cx="8388350" cy="23082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400" b="0">
                <a:ea typeface="楷体_GB2312" pitchFamily="49" charset="-122"/>
              </a:rPr>
              <a:t>1 </a:t>
            </a:r>
            <a:r>
              <a:rPr lang="zh-CN" altLang="en-US" sz="2400" b="0">
                <a:ea typeface="楷体_GB2312" pitchFamily="49" charset="-122"/>
              </a:rPr>
              <a:t>当系统发生抖动（</a:t>
            </a:r>
            <a:r>
              <a:rPr lang="en-US" altLang="zh-CN" sz="2400" b="0">
                <a:ea typeface="楷体_GB2312" pitchFamily="49" charset="-122"/>
              </a:rPr>
              <a:t>thrashing</a:t>
            </a:r>
            <a:r>
              <a:rPr lang="zh-CN" altLang="en-US" sz="2400" b="0">
                <a:ea typeface="楷体_GB2312" pitchFamily="49" charset="-122"/>
              </a:rPr>
              <a:t>）时，可以采取的有效措施是。</a:t>
            </a:r>
            <a:endParaRPr lang="zh-CN" altLang="en-US" sz="2400" b="0">
              <a:ea typeface="楷体_GB2312" pitchFamily="49" charset="-122"/>
            </a:endParaRPr>
          </a:p>
          <a:p>
            <a:pPr marL="0" lvl="0" indent="0">
              <a:spcBef>
                <a:spcPct val="0"/>
              </a:spcBef>
              <a:buClrTx/>
              <a:buFontTx/>
              <a:buNone/>
            </a:pPr>
            <a:r>
              <a:rPr lang="en-US" altLang="zh-CN" sz="2400" b="0">
                <a:ea typeface="楷体_GB2312" pitchFamily="49" charset="-122"/>
              </a:rPr>
              <a:t>Ⅰ</a:t>
            </a:r>
            <a:r>
              <a:rPr lang="zh-CN" altLang="en-US" sz="2400" b="0">
                <a:ea typeface="楷体_GB2312" pitchFamily="49" charset="-122"/>
              </a:rPr>
              <a:t>．撤销部分进程        </a:t>
            </a:r>
            <a:r>
              <a:rPr lang="en-US" altLang="zh-CN" sz="2400" b="0">
                <a:ea typeface="楷体_GB2312" pitchFamily="49" charset="-122"/>
              </a:rPr>
              <a:t>Ⅱ</a:t>
            </a:r>
            <a:r>
              <a:rPr lang="zh-CN" altLang="en-US" sz="2400" b="0">
                <a:ea typeface="楷体_GB2312" pitchFamily="49" charset="-122"/>
              </a:rPr>
              <a:t>．增加磁盘交换区的容量</a:t>
            </a:r>
            <a:endParaRPr lang="zh-CN" altLang="en-US" sz="2400" b="0">
              <a:ea typeface="楷体_GB2312" pitchFamily="49" charset="-122"/>
            </a:endParaRPr>
          </a:p>
          <a:p>
            <a:pPr marL="0" lvl="0" indent="0">
              <a:spcBef>
                <a:spcPct val="0"/>
              </a:spcBef>
              <a:buClrTx/>
              <a:buFontTx/>
              <a:buNone/>
            </a:pPr>
            <a:r>
              <a:rPr lang="en-US" altLang="zh-CN" sz="2400" b="0">
                <a:ea typeface="楷体_GB2312" pitchFamily="49" charset="-122"/>
              </a:rPr>
              <a:t>Ⅲ</a:t>
            </a:r>
            <a:r>
              <a:rPr lang="zh-CN" altLang="en-US" sz="2400" b="0">
                <a:ea typeface="楷体_GB2312" pitchFamily="49" charset="-122"/>
              </a:rPr>
              <a:t>．提高用户进程的优先级</a:t>
            </a:r>
            <a:endParaRPr lang="en-US" altLang="zh-CN" sz="2400" b="0">
              <a:ea typeface="楷体_GB2312" pitchFamily="49" charset="-122"/>
            </a:endParaRPr>
          </a:p>
          <a:p>
            <a:pPr marL="0" lvl="0" indent="0">
              <a:spcBef>
                <a:spcPct val="0"/>
              </a:spcBef>
              <a:buClrTx/>
              <a:buFontTx/>
              <a:buNone/>
            </a:pPr>
            <a:r>
              <a:rPr lang="en-US" altLang="zh-CN" sz="2400" b="0">
                <a:ea typeface="楷体_GB2312" pitchFamily="49" charset="-122"/>
              </a:rPr>
              <a:t>A </a:t>
            </a:r>
            <a:r>
              <a:rPr lang="zh-CN" altLang="en-US" sz="2400" b="0">
                <a:ea typeface="楷体_GB2312" pitchFamily="49" charset="-122"/>
              </a:rPr>
              <a:t>仅</a:t>
            </a:r>
            <a:r>
              <a:rPr lang="en-US" altLang="zh-CN" sz="2400" b="0">
                <a:ea typeface="楷体_GB2312" pitchFamily="49" charset="-122"/>
              </a:rPr>
              <a:t>ⅠB </a:t>
            </a:r>
            <a:r>
              <a:rPr lang="zh-CN" altLang="en-US" sz="2400" b="0">
                <a:ea typeface="楷体_GB2312" pitchFamily="49" charset="-122"/>
              </a:rPr>
              <a:t>仅</a:t>
            </a:r>
            <a:r>
              <a:rPr lang="en-US" altLang="zh-CN" sz="2400" b="0">
                <a:ea typeface="楷体_GB2312" pitchFamily="49" charset="-122"/>
              </a:rPr>
              <a:t>ⅡC </a:t>
            </a:r>
            <a:r>
              <a:rPr lang="zh-CN" altLang="en-US" sz="2400" b="0">
                <a:ea typeface="楷体_GB2312" pitchFamily="49" charset="-122"/>
              </a:rPr>
              <a:t>仅</a:t>
            </a:r>
            <a:r>
              <a:rPr lang="en-US" altLang="zh-CN" sz="2400" b="0">
                <a:ea typeface="楷体_GB2312" pitchFamily="49" charset="-122"/>
              </a:rPr>
              <a:t>ⅢD Ⅰ</a:t>
            </a:r>
            <a:r>
              <a:rPr lang="zh-CN" altLang="en-US" sz="2400" b="0">
                <a:ea typeface="楷体_GB2312" pitchFamily="49" charset="-122"/>
              </a:rPr>
              <a:t>、</a:t>
            </a:r>
            <a:r>
              <a:rPr lang="en-US" altLang="zh-CN" sz="2400" b="0">
                <a:ea typeface="楷体_GB2312" pitchFamily="49" charset="-122"/>
              </a:rPr>
              <a:t>Ⅱ</a:t>
            </a:r>
            <a:endParaRPr lang="en-US" altLang="zh-CN" sz="2400" b="0">
              <a:ea typeface="楷体_GB2312" pitchFamily="49" charset="-122"/>
            </a:endParaRPr>
          </a:p>
          <a:p>
            <a:pPr marL="0" lvl="0" indent="0">
              <a:spcBef>
                <a:spcPct val="0"/>
              </a:spcBef>
              <a:buClrTx/>
              <a:buFontTx/>
              <a:buNone/>
            </a:pPr>
            <a:endParaRPr lang="en-US" altLang="zh-CN" sz="2400" b="0">
              <a:ea typeface="楷体_GB2312" pitchFamily="49" charset="-122"/>
            </a:endParaRPr>
          </a:p>
          <a:p>
            <a:pPr marL="0" lvl="0" indent="0">
              <a:spcBef>
                <a:spcPct val="0"/>
              </a:spcBef>
              <a:buClrTx/>
              <a:buFontTx/>
              <a:buNone/>
            </a:pPr>
            <a:endParaRPr lang="zh-CN" altLang="en-US" sz="2400" b="0">
              <a:ea typeface="楷体_GB2312" pitchFamily="49" charset="-122"/>
            </a:endParaRPr>
          </a:p>
        </p:txBody>
      </p:sp>
      <p:sp>
        <p:nvSpPr>
          <p:cNvPr id="50179" name="Rectangle 2"/>
          <p:cNvSpPr>
            <a:spLocks noGrp="1"/>
          </p:cNvSpPr>
          <p:nvPr>
            <p:ph type="title"/>
          </p:nvPr>
        </p:nvSpPr>
        <p:spPr/>
        <p:txBody>
          <a:bodyPr vert="horz" wrap="square" lIns="91440" tIns="45720" rIns="91440" bIns="45720" anchor="b" anchorCtr="0"/>
          <a:lstStyle/>
          <a:p>
            <a:pPr eaLnBrk="1" hangingPunct="1"/>
            <a:r>
              <a:rPr lang="nb-NO" altLang="zh-CN" sz="4000"/>
              <a:t>5.</a:t>
            </a:r>
            <a:r>
              <a:rPr lang="en-US" altLang="zh-CN" sz="4000"/>
              <a:t>8</a:t>
            </a:r>
            <a:r>
              <a:rPr lang="nb-NO" altLang="zh-CN" sz="4000"/>
              <a:t>.</a:t>
            </a:r>
            <a:r>
              <a:rPr lang="en-US" altLang="zh-CN" sz="4000"/>
              <a:t>4</a:t>
            </a:r>
            <a:r>
              <a:rPr lang="zh-CN" altLang="en-US" sz="4000"/>
              <a:t>页面置换算法</a:t>
            </a:r>
            <a:endParaRPr lang="zh-CN" altLang="en-US" sz="400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框 4"/>
          <p:cNvSpPr txBox="1"/>
          <p:nvPr>
            <p:custDataLst>
              <p:tags r:id="rId1"/>
            </p:custDataLst>
          </p:nvPr>
        </p:nvSpPr>
        <p:spPr>
          <a:xfrm>
            <a:off x="645795" y="1056005"/>
            <a:ext cx="8676005" cy="1941195"/>
          </a:xfrm>
          <a:prstGeom prst="rect">
            <a:avLst/>
          </a:prstGeom>
          <a:noFill/>
          <a:ln w="9525">
            <a:noFill/>
          </a:ln>
        </p:spPr>
        <p:txBody>
          <a:bodyPr anchor="ctr" anchorCtr="0"/>
          <a:lstStyle/>
          <a:p>
            <a:pPr marL="0" lvl="0" indent="0">
              <a:spcBef>
                <a:spcPct val="0"/>
              </a:spcBef>
              <a:buClrTx/>
              <a:buFontTx/>
              <a:buNone/>
            </a:pPr>
            <a:r>
              <a:rPr lang="en-US" altLang="zh-CN">
                <a:ea typeface="楷体_GB2312" pitchFamily="49" charset="-122"/>
                <a:sym typeface="+mn-ea"/>
              </a:rPr>
              <a:t>1 </a:t>
            </a:r>
            <a:r>
              <a:rPr lang="zh-CN" altLang="en-US">
                <a:ea typeface="楷体_GB2312" pitchFamily="49" charset="-122"/>
                <a:sym typeface="+mn-ea"/>
              </a:rPr>
              <a:t>当系统发生抖动（</a:t>
            </a:r>
            <a:r>
              <a:rPr lang="en-US" altLang="zh-CN">
                <a:ea typeface="楷体_GB2312" pitchFamily="49" charset="-122"/>
                <a:sym typeface="+mn-ea"/>
              </a:rPr>
              <a:t>thrashing</a:t>
            </a:r>
            <a:r>
              <a:rPr lang="zh-CN" altLang="en-US">
                <a:ea typeface="楷体_GB2312" pitchFamily="49" charset="-122"/>
                <a:sym typeface="+mn-ea"/>
              </a:rPr>
              <a:t>）时，可以采取的有效措施是。</a:t>
            </a:r>
            <a:endParaRPr lang="zh-CN" altLang="en-US" b="0">
              <a:ea typeface="楷体_GB2312" pitchFamily="49" charset="-122"/>
            </a:endParaRPr>
          </a:p>
          <a:p>
            <a:pPr marL="0" lvl="0" indent="0">
              <a:spcBef>
                <a:spcPct val="0"/>
              </a:spcBef>
              <a:buClrTx/>
              <a:buFontTx/>
              <a:buNone/>
            </a:pPr>
            <a:r>
              <a:rPr lang="en-US" altLang="zh-CN">
                <a:ea typeface="楷体_GB2312" pitchFamily="49" charset="-122"/>
                <a:sym typeface="+mn-ea"/>
              </a:rPr>
              <a:t>Ⅰ</a:t>
            </a:r>
            <a:r>
              <a:rPr lang="zh-CN" altLang="en-US">
                <a:ea typeface="楷体_GB2312" pitchFamily="49" charset="-122"/>
                <a:sym typeface="+mn-ea"/>
              </a:rPr>
              <a:t>．撤销部分进程        </a:t>
            </a:r>
            <a:r>
              <a:rPr lang="en-US" altLang="zh-CN">
                <a:ea typeface="楷体_GB2312" pitchFamily="49" charset="-122"/>
                <a:sym typeface="+mn-ea"/>
              </a:rPr>
              <a:t>Ⅱ</a:t>
            </a:r>
            <a:r>
              <a:rPr lang="zh-CN" altLang="en-US">
                <a:ea typeface="楷体_GB2312" pitchFamily="49" charset="-122"/>
                <a:sym typeface="+mn-ea"/>
              </a:rPr>
              <a:t>．增加磁盘交换区的容量</a:t>
            </a:r>
            <a:endParaRPr lang="zh-CN" altLang="en-US" b="0">
              <a:ea typeface="楷体_GB2312" pitchFamily="49" charset="-122"/>
            </a:endParaRPr>
          </a:p>
          <a:p>
            <a:pPr marL="0" lvl="0" indent="0">
              <a:spcBef>
                <a:spcPct val="0"/>
              </a:spcBef>
              <a:buClrTx/>
              <a:buFontTx/>
              <a:buNone/>
            </a:pPr>
            <a:r>
              <a:rPr lang="en-US" altLang="zh-CN">
                <a:ea typeface="楷体_GB2312" pitchFamily="49" charset="-122"/>
                <a:sym typeface="+mn-ea"/>
              </a:rPr>
              <a:t>Ⅲ</a:t>
            </a:r>
            <a:r>
              <a:rPr lang="zh-CN" altLang="en-US">
                <a:ea typeface="楷体_GB2312" pitchFamily="49" charset="-122"/>
                <a:sym typeface="+mn-ea"/>
              </a:rPr>
              <a:t>．提高用户进程的优先级</a:t>
            </a:r>
            <a:endParaRPr lang="zh-CN" altLang="en-US" dirty="0">
              <a:latin typeface="Times New Roman" panose="02020503050405090304" pitchFamily="18" charset="0"/>
              <a:ea typeface="楷体_GB2312" pitchFamily="49" charset="-122"/>
              <a:sym typeface="+mn-ea"/>
            </a:endParaRPr>
          </a:p>
        </p:txBody>
      </p:sp>
      <p:sp>
        <p:nvSpPr>
          <p:cNvPr id="34818" name="文本框 5"/>
          <p:cNvSpPr txBox="1"/>
          <p:nvPr>
            <p:custDataLst>
              <p:tags r:id="rId2"/>
            </p:custDataLst>
          </p:nvPr>
        </p:nvSpPr>
        <p:spPr>
          <a:xfrm>
            <a:off x="1828800" y="2786063"/>
            <a:ext cx="6400800" cy="642937"/>
          </a:xfrm>
          <a:prstGeom prst="rect">
            <a:avLst/>
          </a:prstGeom>
          <a:noFill/>
          <a:ln w="9525">
            <a:noFill/>
          </a:ln>
        </p:spPr>
        <p:txBody>
          <a:bodyPr anchor="ctr" anchorCtr="0"/>
          <a:lstStyle/>
          <a:p>
            <a:pPr eaLnBrk="0" hangingPunct="0">
              <a:buClrTx/>
              <a:buFontTx/>
            </a:pPr>
            <a:r>
              <a:rPr lang="en-US" altLang="zh-CN" sz="2800" dirty="0">
                <a:sym typeface="+mn-ea"/>
              </a:rPr>
              <a:t>Ⅰ</a:t>
            </a:r>
            <a:r>
              <a:rPr lang="zh-CN" altLang="en-US" sz="2800" dirty="0">
                <a:sym typeface="+mn-ea"/>
              </a:rPr>
              <a:t>、</a:t>
            </a:r>
            <a:r>
              <a:rPr lang="en-US" altLang="zh-CN" sz="2800" dirty="0">
                <a:sym typeface="+mn-ea"/>
              </a:rPr>
              <a:t>Ⅱ</a:t>
            </a:r>
            <a:endParaRPr lang="zh-CN" altLang="en-US" sz="2600" dirty="0">
              <a:solidFill>
                <a:srgbClr val="000000"/>
              </a:solidFill>
              <a:latin typeface="微软雅黑" charset="-122"/>
              <a:ea typeface="微软雅黑" charset="-122"/>
              <a:sym typeface="微软雅黑" charset="-122"/>
            </a:endParaRPr>
          </a:p>
        </p:txBody>
      </p:sp>
      <p:sp>
        <p:nvSpPr>
          <p:cNvPr id="34819" name="文本框 6"/>
          <p:cNvSpPr txBox="1"/>
          <p:nvPr>
            <p:custDataLst>
              <p:tags r:id="rId3"/>
            </p:custDataLst>
          </p:nvPr>
        </p:nvSpPr>
        <p:spPr>
          <a:xfrm>
            <a:off x="1828800" y="3643313"/>
            <a:ext cx="6400800" cy="642937"/>
          </a:xfrm>
          <a:prstGeom prst="rect">
            <a:avLst/>
          </a:prstGeom>
          <a:noFill/>
          <a:ln w="9525">
            <a:noFill/>
          </a:ln>
        </p:spPr>
        <p:txBody>
          <a:bodyPr anchor="ctr" anchorCtr="0"/>
          <a:lstStyle/>
          <a:p>
            <a:pPr eaLnBrk="0" hangingPunct="0">
              <a:buClrTx/>
              <a:buFontTx/>
            </a:pPr>
            <a:r>
              <a:rPr lang="zh-CN" altLang="en-US" sz="2800" dirty="0">
                <a:latin typeface="Times New Roman" panose="02020503050405090304" pitchFamily="18" charset="0"/>
              </a:rPr>
              <a:t>仅</a:t>
            </a:r>
            <a:r>
              <a:rPr lang="en-US" altLang="zh-CN" sz="2800" dirty="0">
                <a:sym typeface="+mn-ea"/>
              </a:rPr>
              <a:t>Ⅲ</a:t>
            </a:r>
            <a:endParaRPr lang="zh-CN" altLang="en-US" sz="2600" dirty="0">
              <a:solidFill>
                <a:srgbClr val="000000"/>
              </a:solidFill>
              <a:latin typeface="微软雅黑" charset="-122"/>
              <a:ea typeface="微软雅黑" charset="-122"/>
              <a:sym typeface="微软雅黑" charset="-122"/>
            </a:endParaRPr>
          </a:p>
        </p:txBody>
      </p:sp>
      <p:sp>
        <p:nvSpPr>
          <p:cNvPr id="34820" name="文本框 7"/>
          <p:cNvSpPr txBox="1"/>
          <p:nvPr>
            <p:custDataLst>
              <p:tags r:id="rId4"/>
            </p:custDataLst>
          </p:nvPr>
        </p:nvSpPr>
        <p:spPr>
          <a:xfrm>
            <a:off x="1828800" y="4500563"/>
            <a:ext cx="6400800" cy="642937"/>
          </a:xfrm>
          <a:prstGeom prst="rect">
            <a:avLst/>
          </a:prstGeom>
          <a:noFill/>
          <a:ln w="9525">
            <a:noFill/>
          </a:ln>
        </p:spPr>
        <p:txBody>
          <a:bodyPr anchor="ctr" anchorCtr="0"/>
          <a:lstStyle/>
          <a:p>
            <a:pPr eaLnBrk="0" hangingPunct="0">
              <a:buClrTx/>
              <a:buFontTx/>
            </a:pPr>
            <a:r>
              <a:rPr lang="zh-CN" altLang="en-US" sz="2800" dirty="0">
                <a:latin typeface="Times New Roman" panose="02020503050405090304" pitchFamily="18" charset="0"/>
              </a:rPr>
              <a:t>仅</a:t>
            </a:r>
            <a:r>
              <a:rPr lang="en-US" altLang="zh-CN" sz="2600" dirty="0">
                <a:sym typeface="+mn-ea"/>
              </a:rPr>
              <a:t>Ⅱ</a:t>
            </a:r>
            <a:endParaRPr lang="zh-CN" altLang="en-US" sz="2600" dirty="0">
              <a:solidFill>
                <a:srgbClr val="000000"/>
              </a:solidFill>
              <a:latin typeface="微软雅黑" charset="-122"/>
              <a:ea typeface="微软雅黑" charset="-122"/>
              <a:sym typeface="微软雅黑" charset="-122"/>
            </a:endParaRPr>
          </a:p>
        </p:txBody>
      </p:sp>
      <p:sp>
        <p:nvSpPr>
          <p:cNvPr id="34821" name="文本框 8"/>
          <p:cNvSpPr txBox="1"/>
          <p:nvPr>
            <p:custDataLst>
              <p:tags r:id="rId5"/>
            </p:custDataLst>
          </p:nvPr>
        </p:nvSpPr>
        <p:spPr>
          <a:xfrm>
            <a:off x="1835785" y="5357813"/>
            <a:ext cx="6400800" cy="642937"/>
          </a:xfrm>
          <a:prstGeom prst="rect">
            <a:avLst/>
          </a:prstGeom>
          <a:noFill/>
          <a:ln w="9525">
            <a:noFill/>
          </a:ln>
        </p:spPr>
        <p:txBody>
          <a:bodyPr anchor="ctr" anchorCtr="0"/>
          <a:lstStyle/>
          <a:p>
            <a:pPr>
              <a:buClrTx/>
              <a:buFont typeface="Wingdings" panose="05000000000000000000" pitchFamily="2" charset="2"/>
            </a:pPr>
            <a:r>
              <a:rPr lang="zh-CN" altLang="en-US" sz="2800" dirty="0">
                <a:sym typeface="+mn-ea"/>
              </a:rPr>
              <a:t>仅</a:t>
            </a:r>
            <a:r>
              <a:rPr lang="en-US" altLang="zh-CN" sz="2800" dirty="0">
                <a:sym typeface="+mn-ea"/>
              </a:rPr>
              <a:t>Ⅰ</a:t>
            </a:r>
            <a:endParaRPr lang="zh-CN" altLang="en-US" sz="2800" dirty="0">
              <a:latin typeface="Times New Roman" panose="02020503050405090304" pitchFamily="18" charset="0"/>
            </a:endParaRPr>
          </a:p>
        </p:txBody>
      </p:sp>
      <p:sp>
        <p:nvSpPr>
          <p:cNvPr id="34822" name="椭圆 9"/>
          <p:cNvSpPr>
            <a:spLocks noChangeAspect="1"/>
          </p:cNvSpPr>
          <p:nvPr>
            <p:custDataLst>
              <p:tags r:id="rId6"/>
            </p:custDataLst>
          </p:nvPr>
        </p:nvSpPr>
        <p:spPr>
          <a:xfrm>
            <a:off x="1114425" y="284956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charset="-122"/>
                <a:ea typeface="微软雅黑" charset="-122"/>
                <a:sym typeface="微软雅黑" charset="-122"/>
              </a:rPr>
              <a:t>A</a:t>
            </a:r>
            <a:endParaRPr lang="zh-CN" altLang="en-US" sz="1600" dirty="0">
              <a:solidFill>
                <a:srgbClr val="FFFFFF"/>
              </a:solidFill>
              <a:latin typeface="微软雅黑" charset="-122"/>
              <a:ea typeface="微软雅黑" charset="-122"/>
              <a:sym typeface="微软雅黑" charset="-122"/>
            </a:endParaRPr>
          </a:p>
        </p:txBody>
      </p:sp>
      <p:sp>
        <p:nvSpPr>
          <p:cNvPr id="34823" name="椭圆 10"/>
          <p:cNvSpPr>
            <a:spLocks noChangeAspect="1"/>
          </p:cNvSpPr>
          <p:nvPr>
            <p:custDataLst>
              <p:tags r:id="rId7"/>
            </p:custDataLst>
          </p:nvPr>
        </p:nvSpPr>
        <p:spPr>
          <a:xfrm>
            <a:off x="1114425" y="370681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charset="-122"/>
                <a:ea typeface="微软雅黑" charset="-122"/>
                <a:sym typeface="微软雅黑" charset="-122"/>
              </a:rPr>
              <a:t>B</a:t>
            </a:r>
            <a:endParaRPr lang="zh-CN" altLang="en-US" sz="1600" dirty="0">
              <a:solidFill>
                <a:srgbClr val="FFFFFF"/>
              </a:solidFill>
              <a:latin typeface="微软雅黑" charset="-122"/>
              <a:ea typeface="微软雅黑" charset="-122"/>
              <a:sym typeface="微软雅黑" charset="-122"/>
            </a:endParaRPr>
          </a:p>
        </p:txBody>
      </p:sp>
      <p:sp>
        <p:nvSpPr>
          <p:cNvPr id="34824" name="椭圆 11"/>
          <p:cNvSpPr>
            <a:spLocks noChangeAspect="1"/>
          </p:cNvSpPr>
          <p:nvPr>
            <p:custDataLst>
              <p:tags r:id="rId8"/>
            </p:custDataLst>
          </p:nvPr>
        </p:nvSpPr>
        <p:spPr>
          <a:xfrm>
            <a:off x="1114425" y="456406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charset="-122"/>
                <a:ea typeface="微软雅黑" charset="-122"/>
                <a:sym typeface="微软雅黑" charset="-122"/>
              </a:rPr>
              <a:t>C</a:t>
            </a:r>
            <a:endParaRPr lang="zh-CN" altLang="en-US" sz="1600" dirty="0">
              <a:solidFill>
                <a:srgbClr val="FFFFFF"/>
              </a:solidFill>
              <a:latin typeface="微软雅黑" charset="-122"/>
              <a:ea typeface="微软雅黑" charset="-122"/>
              <a:sym typeface="微软雅黑" charset="-122"/>
            </a:endParaRPr>
          </a:p>
        </p:txBody>
      </p:sp>
      <p:sp>
        <p:nvSpPr>
          <p:cNvPr id="34825" name="椭圆 12"/>
          <p:cNvSpPr>
            <a:spLocks noChangeAspect="1"/>
          </p:cNvSpPr>
          <p:nvPr>
            <p:custDataLst>
              <p:tags r:id="rId9"/>
            </p:custDataLst>
          </p:nvPr>
        </p:nvSpPr>
        <p:spPr>
          <a:xfrm>
            <a:off x="1114425" y="5421313"/>
            <a:ext cx="514350" cy="514350"/>
          </a:xfrm>
          <a:prstGeom prst="ellipse">
            <a:avLst/>
          </a:prstGeom>
          <a:solidFill>
            <a:srgbClr val="00FF00"/>
          </a:solidFill>
          <a:ln w="254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en-US" altLang="zh-CN" sz="1600" dirty="0">
                <a:solidFill>
                  <a:srgbClr val="FFFFFF"/>
                </a:solidFill>
                <a:latin typeface="微软雅黑" charset="-122"/>
                <a:ea typeface="微软雅黑" charset="-122"/>
                <a:sym typeface="微软雅黑" charset="-122"/>
              </a:rPr>
              <a:t>D</a:t>
            </a:r>
            <a:endParaRPr lang="zh-CN" altLang="en-US" sz="1600" dirty="0">
              <a:solidFill>
                <a:srgbClr val="FFFFFF"/>
              </a:solidFill>
              <a:latin typeface="微软雅黑" charset="-122"/>
              <a:ea typeface="微软雅黑" charset="-122"/>
              <a:sym typeface="微软雅黑" charset="-122"/>
            </a:endParaRPr>
          </a:p>
        </p:txBody>
      </p:sp>
      <p:sp>
        <p:nvSpPr>
          <p:cNvPr id="34826" name="圆角矩形 13"/>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round/>
            <a:headEnd type="none" w="med" len="med"/>
            <a:tailEnd type="none" w="med" len="med"/>
          </a:ln>
        </p:spPr>
        <p:txBody>
          <a:bodyPr lIns="90000" tIns="46800" rIns="90000" bIns="46800" anchor="ctr" anchorCtr="1"/>
          <a:lstStyle/>
          <a:p>
            <a:pPr eaLnBrk="0" hangingPunct="0">
              <a:buClrTx/>
              <a:buFontTx/>
            </a:pPr>
            <a:r>
              <a:rPr lang="zh-CN" altLang="en-US" sz="1600" dirty="0">
                <a:solidFill>
                  <a:srgbClr val="FFFFFF"/>
                </a:solidFill>
                <a:latin typeface="微软雅黑" charset="-122"/>
                <a:ea typeface="微软雅黑" charset="-122"/>
                <a:sym typeface="微软雅黑" charset="-122"/>
              </a:rPr>
              <a:t>提交</a:t>
            </a:r>
            <a:endParaRPr lang="zh-CN" altLang="en-US" sz="1600" dirty="0">
              <a:solidFill>
                <a:srgbClr val="FFFFFF"/>
              </a:solidFill>
              <a:latin typeface="微软雅黑" charset="-122"/>
              <a:ea typeface="微软雅黑" charset="-122"/>
              <a:sym typeface="微软雅黑" charset="-122"/>
            </a:endParaRPr>
          </a:p>
        </p:txBody>
      </p:sp>
      <p:grpSp>
        <p:nvGrpSpPr>
          <p:cNvPr id="34827" name="组合 18"/>
          <p:cNvGrpSpPr/>
          <p:nvPr/>
        </p:nvGrpSpPr>
        <p:grpSpPr>
          <a:xfrm>
            <a:off x="0" y="0"/>
            <a:ext cx="9144000" cy="635000"/>
            <a:chOff x="0" y="0"/>
            <a:chExt cx="9144000" cy="635000"/>
          </a:xfrm>
        </p:grpSpPr>
        <p:sp>
          <p:nvSpPr>
            <p:cNvPr id="34828" name="TitleBackground"/>
            <p:cNvSpPr/>
            <p:nvPr>
              <p:custDataLst>
                <p:tags r:id="rId11"/>
              </p:custDataLst>
            </p:nvPr>
          </p:nvSpPr>
          <p:spPr>
            <a:xfrm>
              <a:off x="0" y="0"/>
              <a:ext cx="9144000" cy="635000"/>
            </a:xfrm>
            <a:prstGeom prst="rect">
              <a:avLst/>
            </a:prstGeom>
            <a:solidFill>
              <a:srgbClr val="F6F7F8"/>
            </a:solidFill>
            <a:ln w="9525">
              <a:noFill/>
            </a:ln>
          </p:spPr>
          <p:txBody>
            <a:bodyPr lIns="90000" tIns="46800" rIns="90000" bIns="46800" anchor="t" anchorCtr="0"/>
            <a:lstStyle/>
            <a:p>
              <a:pPr eaLnBrk="0" hangingPunct="0">
                <a:buClrTx/>
                <a:buFontTx/>
              </a:pPr>
              <a:endParaRPr lang="zh-CN" altLang="en-US" dirty="0">
                <a:latin typeface="Times New Roman" panose="02020503050405090304" pitchFamily="18" charset="0"/>
              </a:endParaRPr>
            </a:p>
          </p:txBody>
        </p:sp>
        <p:sp>
          <p:nvSpPr>
            <p:cNvPr id="34829" name="ColorBlock"/>
            <p:cNvSpPr/>
            <p:nvPr>
              <p:custDataLst>
                <p:tags r:id="rId12"/>
              </p:custDataLst>
            </p:nvPr>
          </p:nvSpPr>
          <p:spPr>
            <a:xfrm>
              <a:off x="0" y="0"/>
              <a:ext cx="190500" cy="635000"/>
            </a:xfrm>
            <a:prstGeom prst="rect">
              <a:avLst/>
            </a:prstGeom>
            <a:solidFill>
              <a:srgbClr val="639EF4"/>
            </a:solidFill>
            <a:ln w="9525">
              <a:noFill/>
            </a:ln>
          </p:spPr>
          <p:txBody>
            <a:bodyPr lIns="90000" tIns="46800" rIns="90000" bIns="46800" anchor="t" anchorCtr="0"/>
            <a:lstStyle/>
            <a:p>
              <a:pPr eaLnBrk="0" hangingPunct="0">
                <a:buClrTx/>
                <a:buFontTx/>
              </a:pPr>
              <a:endParaRPr lang="zh-CN" altLang="en-US" dirty="0">
                <a:latin typeface="Times New Roman" panose="02020503050405090304" pitchFamily="18" charset="0"/>
              </a:endParaRPr>
            </a:p>
          </p:txBody>
        </p:sp>
        <p:sp>
          <p:nvSpPr>
            <p:cNvPr id="34830" name="TypeText"/>
            <p:cNvSpPr txBox="1"/>
            <p:nvPr>
              <p:custDataLst>
                <p:tags r:id="rId13"/>
              </p:custDataLst>
            </p:nvPr>
          </p:nvSpPr>
          <p:spPr>
            <a:xfrm>
              <a:off x="254000" y="0"/>
              <a:ext cx="1905000" cy="635000"/>
            </a:xfrm>
            <a:prstGeom prst="rect">
              <a:avLst/>
            </a:prstGeom>
            <a:noFill/>
            <a:ln w="9525">
              <a:noFill/>
            </a:ln>
          </p:spPr>
          <p:txBody>
            <a:bodyPr wrap="none" anchor="ctr" anchorCtr="0"/>
            <a:lstStyle/>
            <a:p>
              <a:pPr eaLnBrk="0" hangingPunct="0">
                <a:buClrTx/>
                <a:buFontTx/>
              </a:pPr>
              <a:r>
                <a:rPr lang="zh-CN" altLang="en-US" sz="2600" dirty="0">
                  <a:solidFill>
                    <a:srgbClr val="000000"/>
                  </a:solidFill>
                  <a:latin typeface="微软雅黑" charset="-122"/>
                  <a:ea typeface="微软雅黑" charset="-122"/>
                  <a:sym typeface="微软雅黑" charset="-122"/>
                </a:rPr>
                <a:t>单选题</a:t>
              </a:r>
              <a:endParaRPr lang="zh-CN" altLang="en-US" sz="2600" dirty="0">
                <a:solidFill>
                  <a:srgbClr val="000000"/>
                </a:solidFill>
                <a:latin typeface="微软雅黑" charset="-122"/>
                <a:ea typeface="微软雅黑" charset="-122"/>
                <a:sym typeface="微软雅黑" charset="-122"/>
              </a:endParaRPr>
            </a:p>
          </p:txBody>
        </p:sp>
        <p:sp>
          <p:nvSpPr>
            <p:cNvPr id="34831" name="TipText"/>
            <p:cNvSpPr txBox="1"/>
            <p:nvPr>
              <p:custDataLst>
                <p:tags r:id="rId14"/>
              </p:custDataLst>
            </p:nvPr>
          </p:nvSpPr>
          <p:spPr>
            <a:xfrm>
              <a:off x="1525905" y="109220"/>
              <a:ext cx="2286000" cy="508000"/>
            </a:xfrm>
            <a:prstGeom prst="rect">
              <a:avLst/>
            </a:prstGeom>
            <a:noFill/>
            <a:ln w="9525">
              <a:noFill/>
            </a:ln>
          </p:spPr>
          <p:txBody>
            <a:bodyPr wrap="none" anchor="ctr" anchorCtr="0"/>
            <a:lstStyle/>
            <a:p>
              <a:pPr eaLnBrk="0" hangingPunct="0">
                <a:buClrTx/>
                <a:buFontTx/>
              </a:pPr>
              <a:r>
                <a:rPr lang="en-US" altLang="zh-CN" sz="2000" dirty="0">
                  <a:solidFill>
                    <a:srgbClr val="808080"/>
                  </a:solidFill>
                  <a:latin typeface="微软雅黑" charset="-122"/>
                  <a:ea typeface="微软雅黑" charset="-122"/>
                  <a:sym typeface="微软雅黑" charset="-122"/>
                </a:rPr>
                <a:t>1</a:t>
              </a:r>
              <a:r>
                <a:rPr lang="zh-CN" altLang="en-US" sz="2000" dirty="0">
                  <a:solidFill>
                    <a:srgbClr val="808080"/>
                  </a:solidFill>
                  <a:latin typeface="微软雅黑" charset="-122"/>
                  <a:ea typeface="微软雅黑" charset="-122"/>
                  <a:sym typeface="微软雅黑" charset="-122"/>
                </a:rPr>
                <a:t>分</a:t>
              </a:r>
              <a:endParaRPr lang="zh-CN" altLang="en-US" sz="2000" dirty="0">
                <a:solidFill>
                  <a:srgbClr val="808080"/>
                </a:solidFill>
                <a:latin typeface="微软雅黑" charset="-122"/>
                <a:ea typeface="微软雅黑" charset="-122"/>
                <a:sym typeface="微软雅黑" charset="-122"/>
              </a:endParaRPr>
            </a:p>
          </p:txBody>
        </p:sp>
      </p:grpSp>
      <p:pic>
        <p:nvPicPr>
          <p:cNvPr id="34832" name="图片 3"/>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Tree>
    <p:custDataLst>
      <p:tags r:id="rId17"/>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52226"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45059" name="Rectangle 3"/>
          <p:cNvSpPr>
            <a:spLocks noGrp="1" noChangeArrowheads="1"/>
          </p:cNvSpPr>
          <p:nvPr>
            <p:ph idx="1"/>
          </p:nvPr>
        </p:nvSpPr>
        <p:spPr>
          <a:xfrm>
            <a:off x="395288" y="1412875"/>
            <a:ext cx="8396288" cy="4968875"/>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a:latin typeface="黑体" panose="02010609060101010101" pitchFamily="49" charset="-122"/>
              </a:rPr>
              <a:t>1. </a:t>
            </a:r>
            <a:r>
              <a:rPr lang="zh-CN" altLang="en-US" sz="2400" b="0">
                <a:latin typeface="黑体" panose="02010609060101010101" pitchFamily="49" charset="-122"/>
              </a:rPr>
              <a:t>最佳算法</a:t>
            </a:r>
            <a:r>
              <a:rPr lang="en-US" altLang="zh-CN" sz="2400" b="0">
                <a:latin typeface="黑体" panose="02010609060101010101" pitchFamily="49" charset="-122"/>
              </a:rPr>
              <a:t>(OPT, optimal)</a:t>
            </a:r>
            <a:endParaRPr lang="en-US" altLang="zh-CN" sz="2400" b="0">
              <a:latin typeface="黑体" panose="02010609060101010101" pitchFamily="49" charset="-122"/>
            </a:endParaRPr>
          </a:p>
          <a:p>
            <a:pPr lvl="1" eaLnBrk="1" hangingPunct="1"/>
            <a:r>
              <a:rPr lang="zh-CN" altLang="en-US" b="0">
                <a:latin typeface="黑体" panose="02010609060101010101" pitchFamily="49" charset="-122"/>
              </a:rPr>
              <a:t>描述容易，但却不可能实现。</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发生缺页时，有些页在内存中，其中的一个页将被紧接着的下一条指令访问，其它的页可能要到100、1000条指令后才会被访问。如果有一个页在8000条指令内不会被访问，而另一个页在5000条指令内不会被访问，则显然应该淘汰前者。</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选择“</a:t>
            </a:r>
            <a:r>
              <a:rPr lang="zh-CN" altLang="en-US" b="0">
                <a:solidFill>
                  <a:schemeClr val="hlink"/>
                </a:solidFill>
                <a:latin typeface="黑体" panose="02010609060101010101" pitchFamily="49" charset="-122"/>
              </a:rPr>
              <a:t>未来不再使用的</a:t>
            </a:r>
            <a:r>
              <a:rPr lang="zh-CN" altLang="en-US" b="0">
                <a:latin typeface="黑体" panose="02010609060101010101" pitchFamily="49" charset="-122"/>
              </a:rPr>
              <a:t>”或“</a:t>
            </a:r>
            <a:r>
              <a:rPr lang="zh-CN" altLang="en-US" b="0">
                <a:solidFill>
                  <a:schemeClr val="hlink"/>
                </a:solidFill>
                <a:latin typeface="黑体" panose="02010609060101010101" pitchFamily="49" charset="-122"/>
              </a:rPr>
              <a:t>在离当前最远位置上出现的</a:t>
            </a:r>
            <a:r>
              <a:rPr lang="zh-CN" altLang="en-US" b="0">
                <a:latin typeface="黑体" panose="02010609060101010101" pitchFamily="49" charset="-122"/>
              </a:rPr>
              <a:t>”页面被置换。这是一种理想情况，是实际执行中无法预知的，因而不能实现。</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可用作性能评价的依据。</a:t>
            </a:r>
            <a:endParaRPr lang="en-US" altLang="zh-CN" b="0">
              <a:latin typeface="黑体" panose="02010609060101010101" pitchFamily="49"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53250"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46083" name="Rectangle 3"/>
          <p:cNvSpPr>
            <a:spLocks noGrp="1" noChangeArrowheads="1"/>
          </p:cNvSpPr>
          <p:nvPr>
            <p:ph idx="1"/>
          </p:nvPr>
        </p:nvSpPr>
        <p:spPr>
          <a:xfrm>
            <a:off x="406400" y="1412875"/>
            <a:ext cx="8240713" cy="4968875"/>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a:latin typeface="黑体" panose="02010609060101010101" pitchFamily="49" charset="-122"/>
              </a:rPr>
              <a:t>2. </a:t>
            </a:r>
            <a:r>
              <a:rPr lang="zh-CN" altLang="en-US" sz="2400" b="0">
                <a:latin typeface="黑体" panose="02010609060101010101" pitchFamily="49" charset="-122"/>
              </a:rPr>
              <a:t>先进先出算法</a:t>
            </a:r>
            <a:r>
              <a:rPr lang="en-US" altLang="zh-CN" sz="2400" b="0">
                <a:latin typeface="黑体" panose="02010609060101010101" pitchFamily="49" charset="-122"/>
              </a:rPr>
              <a:t>(FIFO)</a:t>
            </a:r>
            <a:endParaRPr lang="en-US" altLang="zh-CN" sz="2400" b="0">
              <a:latin typeface="黑体" panose="02010609060101010101" pitchFamily="49" charset="-122"/>
            </a:endParaRPr>
          </a:p>
          <a:p>
            <a:pPr lvl="1" eaLnBrk="1" hangingPunct="1"/>
            <a:r>
              <a:rPr lang="zh-CN" altLang="en-US" b="0">
                <a:latin typeface="黑体" panose="02010609060101010101" pitchFamily="49" charset="-122"/>
              </a:rPr>
              <a:t>开销很低，选择</a:t>
            </a:r>
            <a:r>
              <a:rPr lang="zh-CN" altLang="en-US" b="0">
                <a:solidFill>
                  <a:schemeClr val="hlink"/>
                </a:solidFill>
                <a:latin typeface="黑体" panose="02010609060101010101" pitchFamily="49" charset="-122"/>
              </a:rPr>
              <a:t>建立最早的页面被置换</a:t>
            </a:r>
            <a:r>
              <a:rPr lang="zh-CN" altLang="en-US" b="0">
                <a:latin typeface="黑体" panose="02010609060101010101" pitchFamily="49" charset="-122"/>
              </a:rPr>
              <a:t>。可以通过链表来表示各页建立时间的先后。性能较差。较早调入的页往往是经常被访问的页，这些页在</a:t>
            </a:r>
            <a:r>
              <a:rPr lang="en-US" altLang="zh-CN" b="0">
                <a:latin typeface="黑体" panose="02010609060101010101" pitchFamily="49" charset="-122"/>
              </a:rPr>
              <a:t>FIFO</a:t>
            </a:r>
            <a:r>
              <a:rPr lang="zh-CN" altLang="en-US" b="0">
                <a:latin typeface="黑体" panose="02010609060101010101" pitchFamily="49" charset="-122"/>
              </a:rPr>
              <a:t>算法下被反复调入和调出，产生</a:t>
            </a:r>
            <a:r>
              <a:rPr lang="en-US" altLang="zh-CN" b="0">
                <a:latin typeface="黑体" panose="02010609060101010101" pitchFamily="49" charset="-122"/>
              </a:rPr>
              <a:t>Belady</a:t>
            </a:r>
            <a:r>
              <a:rPr lang="zh-CN" altLang="en-US" b="0">
                <a:latin typeface="黑体" panose="02010609060101010101" pitchFamily="49" charset="-122"/>
              </a:rPr>
              <a:t>现象。</a:t>
            </a:r>
            <a:endParaRPr lang="en-US" altLang="zh-CN" b="0">
              <a:latin typeface="黑体" panose="02010609060101010101" pitchFamily="49" charset="-122"/>
            </a:endParaRPr>
          </a:p>
          <a:p>
            <a:pPr lvl="1" eaLnBrk="1" hangingPunct="1"/>
            <a:r>
              <a:rPr lang="en-US" altLang="zh-CN" b="0">
                <a:latin typeface="黑体" panose="02010609060101010101" pitchFamily="49" charset="-122"/>
              </a:rPr>
              <a:t>Belady</a:t>
            </a:r>
            <a:r>
              <a:rPr lang="zh-CN" altLang="en-US" b="0">
                <a:latin typeface="黑体" panose="02010609060101010101" pitchFamily="49" charset="-122"/>
              </a:rPr>
              <a:t>现象：采用</a:t>
            </a:r>
            <a:r>
              <a:rPr lang="en-US" altLang="zh-CN" b="0">
                <a:latin typeface="黑体" panose="02010609060101010101" pitchFamily="49" charset="-122"/>
              </a:rPr>
              <a:t>FIFO</a:t>
            </a:r>
            <a:r>
              <a:rPr lang="zh-CN" altLang="en-US" b="0">
                <a:latin typeface="黑体" panose="02010609060101010101" pitchFamily="49" charset="-122"/>
              </a:rPr>
              <a:t>算法时，如果对一个进程未分配它所要求的全部页面，有时就会出现分配的页面数增多，缺页率反而提高的异常现象。</a:t>
            </a:r>
            <a:endParaRPr lang="zh-CN" altLang="en-US" b="0">
              <a:latin typeface="黑体" panose="02010609060101010101" pitchFamily="49" charset="-122"/>
            </a:endParaRPr>
          </a:p>
          <a:p>
            <a:pPr lvl="1" eaLnBrk="1" hangingPunct="1"/>
            <a:r>
              <a:rPr lang="en-US" altLang="zh-CN" b="0">
                <a:latin typeface="黑体" panose="02010609060101010101" pitchFamily="49" charset="-122"/>
              </a:rPr>
              <a:t>Belady</a:t>
            </a:r>
            <a:r>
              <a:rPr lang="zh-CN" altLang="en-US" b="0">
                <a:latin typeface="黑体" panose="02010609060101010101" pitchFamily="49" charset="-122"/>
              </a:rPr>
              <a:t>现象的原因：</a:t>
            </a:r>
            <a:r>
              <a:rPr lang="en-US" altLang="zh-CN" b="0">
                <a:latin typeface="黑体" panose="02010609060101010101" pitchFamily="49" charset="-122"/>
              </a:rPr>
              <a:t>FIFO</a:t>
            </a:r>
            <a:r>
              <a:rPr lang="zh-CN" altLang="en-US" b="0">
                <a:latin typeface="黑体" panose="02010609060101010101" pitchFamily="49" charset="-122"/>
              </a:rPr>
              <a:t>算法的置换特征与进程访问内存的动态特征是矛盾的，即被置换的页面并不是进程不会访问的。</a:t>
            </a:r>
            <a:endParaRPr lang="zh-CN" altLang="en-US" b="0">
              <a:latin typeface="黑体" panose="02010609060101010101" pitchFamily="49"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3"/>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grpSp>
        <p:nvGrpSpPr>
          <p:cNvPr id="54274" name="Group 3"/>
          <p:cNvGrpSpPr/>
          <p:nvPr/>
        </p:nvGrpSpPr>
        <p:grpSpPr>
          <a:xfrm>
            <a:off x="228600" y="2362200"/>
            <a:ext cx="8610600" cy="2895600"/>
            <a:chOff x="96" y="1488"/>
            <a:chExt cx="5424" cy="1824"/>
          </a:xfrm>
        </p:grpSpPr>
        <p:sp>
          <p:nvSpPr>
            <p:cNvPr id="54422" name="Rectangle 4"/>
            <p:cNvSpPr/>
            <p:nvPr/>
          </p:nvSpPr>
          <p:spPr>
            <a:xfrm>
              <a:off x="511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54423" name="Rectangle 5"/>
            <p:cNvSpPr/>
            <p:nvPr/>
          </p:nvSpPr>
          <p:spPr>
            <a:xfrm>
              <a:off x="4715"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54424" name="Rectangle 6"/>
            <p:cNvSpPr/>
            <p:nvPr/>
          </p:nvSpPr>
          <p:spPr>
            <a:xfrm>
              <a:off x="4313"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54425" name="Rectangle 7"/>
            <p:cNvSpPr/>
            <p:nvPr/>
          </p:nvSpPr>
          <p:spPr>
            <a:xfrm>
              <a:off x="3910"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54426" name="Rectangle 8"/>
            <p:cNvSpPr/>
            <p:nvPr/>
          </p:nvSpPr>
          <p:spPr>
            <a:xfrm>
              <a:off x="350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54427" name="Rectangle 9"/>
            <p:cNvSpPr/>
            <p:nvPr/>
          </p:nvSpPr>
          <p:spPr>
            <a:xfrm>
              <a:off x="310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54428" name="Rectangle 10"/>
            <p:cNvSpPr/>
            <p:nvPr/>
          </p:nvSpPr>
          <p:spPr>
            <a:xfrm>
              <a:off x="2702" y="1814"/>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54429" name="Rectangle 11"/>
            <p:cNvSpPr/>
            <p:nvPr/>
          </p:nvSpPr>
          <p:spPr>
            <a:xfrm>
              <a:off x="2300"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54430" name="Rectangle 12"/>
            <p:cNvSpPr/>
            <p:nvPr/>
          </p:nvSpPr>
          <p:spPr>
            <a:xfrm>
              <a:off x="189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54431" name="Rectangle 13"/>
            <p:cNvSpPr/>
            <p:nvPr/>
          </p:nvSpPr>
          <p:spPr>
            <a:xfrm>
              <a:off x="1495"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54432" name="Rectangle 14"/>
            <p:cNvSpPr/>
            <p:nvPr/>
          </p:nvSpPr>
          <p:spPr>
            <a:xfrm>
              <a:off x="1093"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54433" name="Rectangle 15"/>
            <p:cNvSpPr/>
            <p:nvPr/>
          </p:nvSpPr>
          <p:spPr>
            <a:xfrm>
              <a:off x="672" y="1814"/>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54434" name="Rectangle 16"/>
            <p:cNvSpPr/>
            <p:nvPr/>
          </p:nvSpPr>
          <p:spPr>
            <a:xfrm>
              <a:off x="96" y="1814"/>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P</a:t>
              </a:r>
              <a:endParaRPr lang="en-US" altLang="zh-CN" b="0">
                <a:ea typeface="楷体_GB2312" pitchFamily="49" charset="-122"/>
              </a:endParaRPr>
            </a:p>
          </p:txBody>
        </p:sp>
        <p:sp>
          <p:nvSpPr>
            <p:cNvPr id="54435" name="Rectangle 17"/>
            <p:cNvSpPr/>
            <p:nvPr/>
          </p:nvSpPr>
          <p:spPr>
            <a:xfrm>
              <a:off x="511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12</a:t>
              </a:r>
              <a:endParaRPr lang="zh-CN" altLang="en-US" b="0">
                <a:ea typeface="楷体_GB2312" pitchFamily="49" charset="-122"/>
              </a:endParaRPr>
            </a:p>
          </p:txBody>
        </p:sp>
        <p:sp>
          <p:nvSpPr>
            <p:cNvPr id="54436" name="Rectangle 18"/>
            <p:cNvSpPr/>
            <p:nvPr/>
          </p:nvSpPr>
          <p:spPr>
            <a:xfrm>
              <a:off x="4715"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11</a:t>
              </a:r>
              <a:endParaRPr lang="zh-CN" altLang="en-US" b="0">
                <a:ea typeface="楷体_GB2312" pitchFamily="49" charset="-122"/>
              </a:endParaRPr>
            </a:p>
          </p:txBody>
        </p:sp>
        <p:sp>
          <p:nvSpPr>
            <p:cNvPr id="54437" name="Rectangle 19"/>
            <p:cNvSpPr/>
            <p:nvPr/>
          </p:nvSpPr>
          <p:spPr>
            <a:xfrm>
              <a:off x="4313"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10</a:t>
              </a:r>
              <a:endParaRPr lang="zh-CN" altLang="en-US" b="0">
                <a:ea typeface="楷体_GB2312" pitchFamily="49" charset="-122"/>
              </a:endParaRPr>
            </a:p>
          </p:txBody>
        </p:sp>
        <p:sp>
          <p:nvSpPr>
            <p:cNvPr id="54438" name="Rectangle 20"/>
            <p:cNvSpPr/>
            <p:nvPr/>
          </p:nvSpPr>
          <p:spPr>
            <a:xfrm>
              <a:off x="3910"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9</a:t>
              </a:r>
              <a:endParaRPr lang="zh-CN" altLang="en-US" b="0">
                <a:ea typeface="楷体_GB2312" pitchFamily="49" charset="-122"/>
              </a:endParaRPr>
            </a:p>
          </p:txBody>
        </p:sp>
        <p:sp>
          <p:nvSpPr>
            <p:cNvPr id="54439" name="Rectangle 21"/>
            <p:cNvSpPr/>
            <p:nvPr/>
          </p:nvSpPr>
          <p:spPr>
            <a:xfrm>
              <a:off x="350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8</a:t>
              </a:r>
              <a:endParaRPr lang="zh-CN" altLang="en-US" b="0">
                <a:ea typeface="楷体_GB2312" pitchFamily="49" charset="-122"/>
              </a:endParaRPr>
            </a:p>
          </p:txBody>
        </p:sp>
        <p:sp>
          <p:nvSpPr>
            <p:cNvPr id="54440" name="Rectangle 22"/>
            <p:cNvSpPr/>
            <p:nvPr/>
          </p:nvSpPr>
          <p:spPr>
            <a:xfrm>
              <a:off x="310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7</a:t>
              </a:r>
              <a:endParaRPr lang="zh-CN" altLang="en-US" b="0">
                <a:ea typeface="楷体_GB2312" pitchFamily="49" charset="-122"/>
              </a:endParaRPr>
            </a:p>
          </p:txBody>
        </p:sp>
        <p:sp>
          <p:nvSpPr>
            <p:cNvPr id="54441" name="Rectangle 23"/>
            <p:cNvSpPr/>
            <p:nvPr/>
          </p:nvSpPr>
          <p:spPr>
            <a:xfrm>
              <a:off x="2702" y="1488"/>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6</a:t>
              </a:r>
              <a:endParaRPr lang="zh-CN" altLang="en-US" b="0">
                <a:ea typeface="楷体_GB2312" pitchFamily="49" charset="-122"/>
              </a:endParaRPr>
            </a:p>
          </p:txBody>
        </p:sp>
        <p:sp>
          <p:nvSpPr>
            <p:cNvPr id="54442" name="Rectangle 24"/>
            <p:cNvSpPr/>
            <p:nvPr/>
          </p:nvSpPr>
          <p:spPr>
            <a:xfrm>
              <a:off x="2300"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54443" name="Rectangle 25"/>
            <p:cNvSpPr/>
            <p:nvPr/>
          </p:nvSpPr>
          <p:spPr>
            <a:xfrm>
              <a:off x="189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54444" name="Rectangle 26"/>
            <p:cNvSpPr/>
            <p:nvPr/>
          </p:nvSpPr>
          <p:spPr>
            <a:xfrm>
              <a:off x="1495"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54445" name="Rectangle 27"/>
            <p:cNvSpPr/>
            <p:nvPr/>
          </p:nvSpPr>
          <p:spPr>
            <a:xfrm>
              <a:off x="1093"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54446" name="Rectangle 28"/>
            <p:cNvSpPr/>
            <p:nvPr/>
          </p:nvSpPr>
          <p:spPr>
            <a:xfrm>
              <a:off x="672" y="1488"/>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54447" name="Rectangle 29"/>
            <p:cNvSpPr/>
            <p:nvPr/>
          </p:nvSpPr>
          <p:spPr>
            <a:xfrm>
              <a:off x="96" y="1488"/>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sz="2400" b="0">
                  <a:ea typeface="楷体_GB2312" pitchFamily="49" charset="-122"/>
                </a:rPr>
                <a:t>时刻</a:t>
              </a:r>
              <a:endParaRPr lang="zh-CN" altLang="en-US" sz="2400" b="0">
                <a:ea typeface="楷体_GB2312" pitchFamily="49" charset="-122"/>
              </a:endParaRPr>
            </a:p>
          </p:txBody>
        </p:sp>
        <p:sp>
          <p:nvSpPr>
            <p:cNvPr id="54448" name="Line 30"/>
            <p:cNvSpPr/>
            <p:nvPr/>
          </p:nvSpPr>
          <p:spPr>
            <a:xfrm>
              <a:off x="96" y="1488"/>
              <a:ext cx="5424" cy="0"/>
            </a:xfrm>
            <a:prstGeom prst="line">
              <a:avLst/>
            </a:prstGeom>
            <a:ln w="28575" cap="sq" cmpd="sng">
              <a:solidFill>
                <a:schemeClr val="tx1"/>
              </a:solidFill>
              <a:prstDash val="solid"/>
              <a:miter/>
              <a:headEnd type="none" w="med" len="med"/>
              <a:tailEnd type="none" w="med" len="med"/>
            </a:ln>
          </p:spPr>
        </p:sp>
        <p:sp>
          <p:nvSpPr>
            <p:cNvPr id="54449" name="Line 31"/>
            <p:cNvSpPr/>
            <p:nvPr/>
          </p:nvSpPr>
          <p:spPr>
            <a:xfrm>
              <a:off x="96" y="1814"/>
              <a:ext cx="5424" cy="0"/>
            </a:xfrm>
            <a:prstGeom prst="line">
              <a:avLst/>
            </a:prstGeom>
            <a:ln w="12700" cap="flat" cmpd="sng">
              <a:solidFill>
                <a:schemeClr val="tx1"/>
              </a:solidFill>
              <a:prstDash val="solid"/>
              <a:miter/>
              <a:headEnd type="none" w="med" len="med"/>
              <a:tailEnd type="none" w="med" len="med"/>
            </a:ln>
          </p:spPr>
        </p:sp>
        <p:sp>
          <p:nvSpPr>
            <p:cNvPr id="54450" name="Line 32"/>
            <p:cNvSpPr/>
            <p:nvPr/>
          </p:nvSpPr>
          <p:spPr>
            <a:xfrm>
              <a:off x="96" y="2140"/>
              <a:ext cx="5424" cy="0"/>
            </a:xfrm>
            <a:prstGeom prst="line">
              <a:avLst/>
            </a:prstGeom>
            <a:ln w="28575" cap="sq" cmpd="sng">
              <a:solidFill>
                <a:schemeClr val="tx1"/>
              </a:solidFill>
              <a:prstDash val="solid"/>
              <a:miter/>
              <a:headEnd type="none" w="med" len="med"/>
              <a:tailEnd type="none" w="med" len="med"/>
            </a:ln>
          </p:spPr>
        </p:sp>
        <p:sp>
          <p:nvSpPr>
            <p:cNvPr id="54451" name="Line 33"/>
            <p:cNvSpPr/>
            <p:nvPr/>
          </p:nvSpPr>
          <p:spPr>
            <a:xfrm>
              <a:off x="96" y="1488"/>
              <a:ext cx="0" cy="652"/>
            </a:xfrm>
            <a:prstGeom prst="line">
              <a:avLst/>
            </a:prstGeom>
            <a:ln w="28575" cap="sq" cmpd="sng">
              <a:solidFill>
                <a:schemeClr val="tx1"/>
              </a:solidFill>
              <a:prstDash val="solid"/>
              <a:miter/>
              <a:headEnd type="none" w="med" len="med"/>
              <a:tailEnd type="none" w="med" len="med"/>
            </a:ln>
          </p:spPr>
        </p:sp>
        <p:sp>
          <p:nvSpPr>
            <p:cNvPr id="54452" name="Line 34"/>
            <p:cNvSpPr/>
            <p:nvPr/>
          </p:nvSpPr>
          <p:spPr>
            <a:xfrm>
              <a:off x="672" y="1488"/>
              <a:ext cx="0" cy="652"/>
            </a:xfrm>
            <a:prstGeom prst="line">
              <a:avLst/>
            </a:prstGeom>
            <a:ln w="12700" cap="flat" cmpd="sng">
              <a:solidFill>
                <a:schemeClr val="tx1"/>
              </a:solidFill>
              <a:prstDash val="solid"/>
              <a:miter/>
              <a:headEnd type="none" w="med" len="med"/>
              <a:tailEnd type="none" w="med" len="med"/>
            </a:ln>
          </p:spPr>
        </p:sp>
        <p:sp>
          <p:nvSpPr>
            <p:cNvPr id="54453" name="Line 35"/>
            <p:cNvSpPr/>
            <p:nvPr/>
          </p:nvSpPr>
          <p:spPr>
            <a:xfrm>
              <a:off x="1093" y="1488"/>
              <a:ext cx="0" cy="652"/>
            </a:xfrm>
            <a:prstGeom prst="line">
              <a:avLst/>
            </a:prstGeom>
            <a:ln w="12700" cap="flat" cmpd="sng">
              <a:solidFill>
                <a:schemeClr val="tx1"/>
              </a:solidFill>
              <a:prstDash val="solid"/>
              <a:miter/>
              <a:headEnd type="none" w="med" len="med"/>
              <a:tailEnd type="none" w="med" len="med"/>
            </a:ln>
          </p:spPr>
        </p:sp>
        <p:sp>
          <p:nvSpPr>
            <p:cNvPr id="54454" name="Line 36"/>
            <p:cNvSpPr/>
            <p:nvPr/>
          </p:nvSpPr>
          <p:spPr>
            <a:xfrm>
              <a:off x="1495" y="1488"/>
              <a:ext cx="0" cy="652"/>
            </a:xfrm>
            <a:prstGeom prst="line">
              <a:avLst/>
            </a:prstGeom>
            <a:ln w="12700" cap="flat" cmpd="sng">
              <a:solidFill>
                <a:schemeClr val="tx1"/>
              </a:solidFill>
              <a:prstDash val="solid"/>
              <a:miter/>
              <a:headEnd type="none" w="med" len="med"/>
              <a:tailEnd type="none" w="med" len="med"/>
            </a:ln>
          </p:spPr>
        </p:sp>
        <p:sp>
          <p:nvSpPr>
            <p:cNvPr id="54455" name="Line 37"/>
            <p:cNvSpPr/>
            <p:nvPr/>
          </p:nvSpPr>
          <p:spPr>
            <a:xfrm>
              <a:off x="1898" y="1488"/>
              <a:ext cx="0" cy="652"/>
            </a:xfrm>
            <a:prstGeom prst="line">
              <a:avLst/>
            </a:prstGeom>
            <a:ln w="12700" cap="flat" cmpd="sng">
              <a:solidFill>
                <a:schemeClr val="tx1"/>
              </a:solidFill>
              <a:prstDash val="solid"/>
              <a:miter/>
              <a:headEnd type="none" w="med" len="med"/>
              <a:tailEnd type="none" w="med" len="med"/>
            </a:ln>
          </p:spPr>
        </p:sp>
        <p:sp>
          <p:nvSpPr>
            <p:cNvPr id="54456" name="Line 38"/>
            <p:cNvSpPr/>
            <p:nvPr/>
          </p:nvSpPr>
          <p:spPr>
            <a:xfrm>
              <a:off x="2300" y="1488"/>
              <a:ext cx="0" cy="652"/>
            </a:xfrm>
            <a:prstGeom prst="line">
              <a:avLst/>
            </a:prstGeom>
            <a:ln w="12700" cap="flat" cmpd="sng">
              <a:solidFill>
                <a:schemeClr val="tx1"/>
              </a:solidFill>
              <a:prstDash val="solid"/>
              <a:miter/>
              <a:headEnd type="none" w="med" len="med"/>
              <a:tailEnd type="none" w="med" len="med"/>
            </a:ln>
          </p:spPr>
        </p:sp>
        <p:sp>
          <p:nvSpPr>
            <p:cNvPr id="54457" name="Line 39"/>
            <p:cNvSpPr/>
            <p:nvPr/>
          </p:nvSpPr>
          <p:spPr>
            <a:xfrm>
              <a:off x="2702" y="1488"/>
              <a:ext cx="0" cy="652"/>
            </a:xfrm>
            <a:prstGeom prst="line">
              <a:avLst/>
            </a:prstGeom>
            <a:ln w="12700" cap="flat" cmpd="sng">
              <a:solidFill>
                <a:schemeClr val="tx1"/>
              </a:solidFill>
              <a:prstDash val="solid"/>
              <a:miter/>
              <a:headEnd type="none" w="med" len="med"/>
              <a:tailEnd type="none" w="med" len="med"/>
            </a:ln>
          </p:spPr>
        </p:sp>
        <p:sp>
          <p:nvSpPr>
            <p:cNvPr id="54458" name="Line 40"/>
            <p:cNvSpPr/>
            <p:nvPr/>
          </p:nvSpPr>
          <p:spPr>
            <a:xfrm>
              <a:off x="3106" y="1488"/>
              <a:ext cx="0" cy="652"/>
            </a:xfrm>
            <a:prstGeom prst="line">
              <a:avLst/>
            </a:prstGeom>
            <a:ln w="12700" cap="flat" cmpd="sng">
              <a:solidFill>
                <a:schemeClr val="tx1"/>
              </a:solidFill>
              <a:prstDash val="solid"/>
              <a:miter/>
              <a:headEnd type="none" w="med" len="med"/>
              <a:tailEnd type="none" w="med" len="med"/>
            </a:ln>
          </p:spPr>
        </p:sp>
        <p:sp>
          <p:nvSpPr>
            <p:cNvPr id="54459" name="Line 41"/>
            <p:cNvSpPr/>
            <p:nvPr/>
          </p:nvSpPr>
          <p:spPr>
            <a:xfrm>
              <a:off x="3508" y="1488"/>
              <a:ext cx="0" cy="652"/>
            </a:xfrm>
            <a:prstGeom prst="line">
              <a:avLst/>
            </a:prstGeom>
            <a:ln w="12700" cap="flat" cmpd="sng">
              <a:solidFill>
                <a:schemeClr val="tx1"/>
              </a:solidFill>
              <a:prstDash val="solid"/>
              <a:miter/>
              <a:headEnd type="none" w="med" len="med"/>
              <a:tailEnd type="none" w="med" len="med"/>
            </a:ln>
          </p:spPr>
        </p:sp>
        <p:sp>
          <p:nvSpPr>
            <p:cNvPr id="54460" name="Line 42"/>
            <p:cNvSpPr/>
            <p:nvPr/>
          </p:nvSpPr>
          <p:spPr>
            <a:xfrm>
              <a:off x="3910" y="1488"/>
              <a:ext cx="0" cy="652"/>
            </a:xfrm>
            <a:prstGeom prst="line">
              <a:avLst/>
            </a:prstGeom>
            <a:ln w="12700" cap="flat" cmpd="sng">
              <a:solidFill>
                <a:schemeClr val="tx1"/>
              </a:solidFill>
              <a:prstDash val="solid"/>
              <a:miter/>
              <a:headEnd type="none" w="med" len="med"/>
              <a:tailEnd type="none" w="med" len="med"/>
            </a:ln>
          </p:spPr>
        </p:sp>
        <p:sp>
          <p:nvSpPr>
            <p:cNvPr id="54461" name="Line 43"/>
            <p:cNvSpPr/>
            <p:nvPr/>
          </p:nvSpPr>
          <p:spPr>
            <a:xfrm>
              <a:off x="4313" y="1488"/>
              <a:ext cx="0" cy="652"/>
            </a:xfrm>
            <a:prstGeom prst="line">
              <a:avLst/>
            </a:prstGeom>
            <a:ln w="12700" cap="flat" cmpd="sng">
              <a:solidFill>
                <a:schemeClr val="tx1"/>
              </a:solidFill>
              <a:prstDash val="solid"/>
              <a:miter/>
              <a:headEnd type="none" w="med" len="med"/>
              <a:tailEnd type="none" w="med" len="med"/>
            </a:ln>
          </p:spPr>
        </p:sp>
        <p:sp>
          <p:nvSpPr>
            <p:cNvPr id="54462" name="Line 44"/>
            <p:cNvSpPr/>
            <p:nvPr/>
          </p:nvSpPr>
          <p:spPr>
            <a:xfrm>
              <a:off x="4715" y="1488"/>
              <a:ext cx="0" cy="652"/>
            </a:xfrm>
            <a:prstGeom prst="line">
              <a:avLst/>
            </a:prstGeom>
            <a:ln w="12700" cap="flat" cmpd="sng">
              <a:solidFill>
                <a:schemeClr val="tx1"/>
              </a:solidFill>
              <a:prstDash val="solid"/>
              <a:miter/>
              <a:headEnd type="none" w="med" len="med"/>
              <a:tailEnd type="none" w="med" len="med"/>
            </a:ln>
          </p:spPr>
        </p:sp>
        <p:sp>
          <p:nvSpPr>
            <p:cNvPr id="54463" name="Line 45"/>
            <p:cNvSpPr/>
            <p:nvPr/>
          </p:nvSpPr>
          <p:spPr>
            <a:xfrm>
              <a:off x="5118" y="1488"/>
              <a:ext cx="0" cy="652"/>
            </a:xfrm>
            <a:prstGeom prst="line">
              <a:avLst/>
            </a:prstGeom>
            <a:ln w="12700" cap="flat" cmpd="sng">
              <a:solidFill>
                <a:schemeClr val="tx1"/>
              </a:solidFill>
              <a:prstDash val="solid"/>
              <a:miter/>
              <a:headEnd type="none" w="med" len="med"/>
              <a:tailEnd type="none" w="med" len="med"/>
            </a:ln>
          </p:spPr>
        </p:sp>
        <p:sp>
          <p:nvSpPr>
            <p:cNvPr id="54464" name="Line 46"/>
            <p:cNvSpPr/>
            <p:nvPr/>
          </p:nvSpPr>
          <p:spPr>
            <a:xfrm>
              <a:off x="5520" y="1488"/>
              <a:ext cx="0" cy="652"/>
            </a:xfrm>
            <a:prstGeom prst="line">
              <a:avLst/>
            </a:prstGeom>
            <a:ln w="28575" cap="sq" cmpd="sng">
              <a:solidFill>
                <a:schemeClr val="tx1"/>
              </a:solidFill>
              <a:prstDash val="solid"/>
              <a:miter/>
              <a:headEnd type="none" w="med" len="med"/>
              <a:tailEnd type="none" w="med" len="med"/>
            </a:ln>
          </p:spPr>
        </p:sp>
        <p:sp>
          <p:nvSpPr>
            <p:cNvPr id="54465" name="Rectangle 47"/>
            <p:cNvSpPr/>
            <p:nvPr/>
          </p:nvSpPr>
          <p:spPr>
            <a:xfrm>
              <a:off x="96" y="2968"/>
              <a:ext cx="576" cy="34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F</a:t>
              </a:r>
              <a:endParaRPr lang="en-US" altLang="zh-CN" b="0">
                <a:ea typeface="楷体_GB2312" pitchFamily="49" charset="-122"/>
              </a:endParaRPr>
            </a:p>
          </p:txBody>
        </p:sp>
        <p:sp>
          <p:nvSpPr>
            <p:cNvPr id="54466" name="Rectangle 48"/>
            <p:cNvSpPr/>
            <p:nvPr/>
          </p:nvSpPr>
          <p:spPr>
            <a:xfrm>
              <a:off x="96" y="2152"/>
              <a:ext cx="576" cy="81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M</a:t>
              </a:r>
              <a:endParaRPr lang="en-US" altLang="zh-CN" b="0">
                <a:ea typeface="楷体_GB2312" pitchFamily="49" charset="-122"/>
              </a:endParaRPr>
            </a:p>
          </p:txBody>
        </p:sp>
        <p:sp>
          <p:nvSpPr>
            <p:cNvPr id="54467" name="Line 49"/>
            <p:cNvSpPr/>
            <p:nvPr/>
          </p:nvSpPr>
          <p:spPr>
            <a:xfrm>
              <a:off x="96" y="2152"/>
              <a:ext cx="576" cy="0"/>
            </a:xfrm>
            <a:prstGeom prst="line">
              <a:avLst/>
            </a:prstGeom>
            <a:ln w="28575" cap="sq" cmpd="sng">
              <a:solidFill>
                <a:schemeClr val="tx1"/>
              </a:solidFill>
              <a:prstDash val="solid"/>
              <a:miter/>
              <a:headEnd type="none" w="med" len="med"/>
              <a:tailEnd type="none" w="med" len="med"/>
            </a:ln>
          </p:spPr>
        </p:sp>
        <p:sp>
          <p:nvSpPr>
            <p:cNvPr id="54468" name="Line 50"/>
            <p:cNvSpPr/>
            <p:nvPr/>
          </p:nvSpPr>
          <p:spPr>
            <a:xfrm>
              <a:off x="96" y="2968"/>
              <a:ext cx="576" cy="0"/>
            </a:xfrm>
            <a:prstGeom prst="line">
              <a:avLst/>
            </a:prstGeom>
            <a:ln w="12700" cap="flat" cmpd="sng">
              <a:solidFill>
                <a:schemeClr val="tx1"/>
              </a:solidFill>
              <a:prstDash val="solid"/>
              <a:miter/>
              <a:headEnd type="none" w="med" len="med"/>
              <a:tailEnd type="none" w="med" len="med"/>
            </a:ln>
          </p:spPr>
        </p:sp>
        <p:sp>
          <p:nvSpPr>
            <p:cNvPr id="54469" name="Line 51"/>
            <p:cNvSpPr/>
            <p:nvPr/>
          </p:nvSpPr>
          <p:spPr>
            <a:xfrm>
              <a:off x="96" y="3312"/>
              <a:ext cx="576" cy="0"/>
            </a:xfrm>
            <a:prstGeom prst="line">
              <a:avLst/>
            </a:prstGeom>
            <a:ln w="28575" cap="sq" cmpd="sng">
              <a:solidFill>
                <a:schemeClr val="tx1"/>
              </a:solidFill>
              <a:prstDash val="solid"/>
              <a:miter/>
              <a:headEnd type="none" w="med" len="med"/>
              <a:tailEnd type="none" w="med" len="med"/>
            </a:ln>
          </p:spPr>
        </p:sp>
        <p:sp>
          <p:nvSpPr>
            <p:cNvPr id="54470" name="Line 52"/>
            <p:cNvSpPr/>
            <p:nvPr/>
          </p:nvSpPr>
          <p:spPr>
            <a:xfrm>
              <a:off x="96" y="2152"/>
              <a:ext cx="0" cy="1160"/>
            </a:xfrm>
            <a:prstGeom prst="line">
              <a:avLst/>
            </a:prstGeom>
            <a:ln w="28575" cap="sq" cmpd="sng">
              <a:solidFill>
                <a:schemeClr val="tx1"/>
              </a:solidFill>
              <a:prstDash val="solid"/>
              <a:miter/>
              <a:headEnd type="none" w="med" len="med"/>
              <a:tailEnd type="none" w="med" len="med"/>
            </a:ln>
          </p:spPr>
        </p:sp>
        <p:sp>
          <p:nvSpPr>
            <p:cNvPr id="54471" name="Line 53"/>
            <p:cNvSpPr/>
            <p:nvPr/>
          </p:nvSpPr>
          <p:spPr>
            <a:xfrm>
              <a:off x="672" y="2152"/>
              <a:ext cx="0" cy="1160"/>
            </a:xfrm>
            <a:prstGeom prst="line">
              <a:avLst/>
            </a:prstGeom>
            <a:ln w="28575" cap="sq" cmpd="sng">
              <a:solidFill>
                <a:schemeClr val="tx1"/>
              </a:solidFill>
              <a:prstDash val="solid"/>
              <a:miter/>
              <a:headEnd type="none" w="med" len="med"/>
              <a:tailEnd type="none" w="med" len="med"/>
            </a:ln>
          </p:spPr>
        </p:sp>
      </p:grpSp>
      <p:graphicFrame>
        <p:nvGraphicFramePr>
          <p:cNvPr id="54275" name="表格 54274"/>
          <p:cNvGraphicFramePr/>
          <p:nvPr/>
        </p:nvGraphicFramePr>
        <p:xfrm>
          <a:off x="1143000" y="3416300"/>
          <a:ext cx="685800" cy="1843088"/>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287" name="表格 54286"/>
          <p:cNvGraphicFramePr/>
          <p:nvPr/>
        </p:nvGraphicFramePr>
        <p:xfrm>
          <a:off x="1828800" y="3416300"/>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299" name="表格 54298"/>
          <p:cNvGraphicFramePr/>
          <p:nvPr/>
        </p:nvGraphicFramePr>
        <p:xfrm>
          <a:off x="2438400" y="3416300"/>
          <a:ext cx="685800" cy="1843088"/>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311" name="表格 54310"/>
          <p:cNvGraphicFramePr/>
          <p:nvPr/>
        </p:nvGraphicFramePr>
        <p:xfrm>
          <a:off x="3124200" y="3416300"/>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323" name="表格 54322"/>
          <p:cNvGraphicFramePr/>
          <p:nvPr/>
        </p:nvGraphicFramePr>
        <p:xfrm>
          <a:off x="3733800" y="3416300"/>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335" name="表格 54334"/>
          <p:cNvGraphicFramePr/>
          <p:nvPr/>
        </p:nvGraphicFramePr>
        <p:xfrm>
          <a:off x="4343400" y="3416300"/>
          <a:ext cx="685800" cy="1843088"/>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347" name="表格 54346"/>
          <p:cNvGraphicFramePr/>
          <p:nvPr/>
        </p:nvGraphicFramePr>
        <p:xfrm>
          <a:off x="5029200" y="3414713"/>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359" name="表格 54358"/>
          <p:cNvGraphicFramePr/>
          <p:nvPr/>
        </p:nvGraphicFramePr>
        <p:xfrm>
          <a:off x="5638800" y="3414713"/>
          <a:ext cx="685800" cy="1843088"/>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371" name="表格 54370"/>
          <p:cNvGraphicFramePr/>
          <p:nvPr/>
        </p:nvGraphicFramePr>
        <p:xfrm>
          <a:off x="6324600" y="3414713"/>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383" name="表格 54382"/>
          <p:cNvGraphicFramePr/>
          <p:nvPr/>
        </p:nvGraphicFramePr>
        <p:xfrm>
          <a:off x="6934200" y="3414713"/>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395" name="表格 54394"/>
          <p:cNvGraphicFramePr/>
          <p:nvPr/>
        </p:nvGraphicFramePr>
        <p:xfrm>
          <a:off x="7543800" y="3414713"/>
          <a:ext cx="685800" cy="1843088"/>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4407" name="表格 54406"/>
          <p:cNvGraphicFramePr/>
          <p:nvPr/>
        </p:nvGraphicFramePr>
        <p:xfrm>
          <a:off x="8229600" y="3416300"/>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
        <p:nvSpPr>
          <p:cNvPr id="392390" name="Text Box 198"/>
          <p:cNvSpPr txBox="1"/>
          <p:nvPr/>
        </p:nvSpPr>
        <p:spPr>
          <a:xfrm>
            <a:off x="228600" y="5410200"/>
            <a:ext cx="8229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2400" b="0">
                <a:ea typeface="楷体_GB2312" pitchFamily="49" charset="-122"/>
              </a:rPr>
              <a:t>由表可以算出缺页中断次数</a:t>
            </a:r>
            <a:r>
              <a:rPr lang="en-US" altLang="zh-CN" sz="2400" b="0">
                <a:ea typeface="楷体_GB2312" pitchFamily="49" charset="-122"/>
              </a:rPr>
              <a:t>F=9</a:t>
            </a:r>
            <a:r>
              <a:rPr lang="zh-CN" altLang="en-US" sz="2400" b="0">
                <a:ea typeface="楷体_GB2312" pitchFamily="49" charset="-122"/>
              </a:rPr>
              <a:t>，而缺页率：</a:t>
            </a:r>
            <a:r>
              <a:rPr lang="en-US" altLang="zh-CN" sz="2400" b="0">
                <a:ea typeface="楷体_GB2312" pitchFamily="49" charset="-122"/>
              </a:rPr>
              <a:t>9</a:t>
            </a:r>
            <a:r>
              <a:rPr lang="zh-CN" altLang="en-US" sz="2400" b="0">
                <a:ea typeface="楷体_GB2312" pitchFamily="49" charset="-122"/>
              </a:rPr>
              <a:t>／</a:t>
            </a:r>
            <a:r>
              <a:rPr lang="en-US" altLang="zh-CN" sz="2400" b="0">
                <a:ea typeface="楷体_GB2312" pitchFamily="49" charset="-122"/>
              </a:rPr>
              <a:t>12=75%</a:t>
            </a:r>
            <a:r>
              <a:rPr lang="zh-CN" altLang="en-US" sz="2400" b="0">
                <a:ea typeface="楷体_GB2312" pitchFamily="49" charset="-122"/>
              </a:rPr>
              <a:t>。</a:t>
            </a:r>
            <a:endParaRPr lang="zh-CN" altLang="en-US" sz="2400" b="0">
              <a:ea typeface="楷体_GB2312" pitchFamily="49" charset="-122"/>
            </a:endParaRPr>
          </a:p>
        </p:txBody>
      </p:sp>
      <p:sp>
        <p:nvSpPr>
          <p:cNvPr id="69"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nb-NO" altLang="zh-CN" sz="3600" b="0">
                <a:solidFill>
                  <a:schemeClr val="tx2"/>
                </a:solidFill>
                <a:latin typeface="Arial Black" panose="020B0A04020102020204" pitchFamily="34" charset="0"/>
              </a:rPr>
              <a:t>5.</a:t>
            </a:r>
            <a:r>
              <a:rPr lang="en-US" altLang="zh-CN" sz="3600" b="0">
                <a:solidFill>
                  <a:schemeClr val="tx2"/>
                </a:solidFill>
                <a:latin typeface="Arial Black" panose="020B0A04020102020204" pitchFamily="34" charset="0"/>
              </a:rPr>
              <a:t>8</a:t>
            </a:r>
            <a:r>
              <a:rPr lang="nb-NO" altLang="zh-CN" sz="3600" b="0">
                <a:solidFill>
                  <a:schemeClr val="tx2"/>
                </a:solidFill>
                <a:latin typeface="Arial Black" panose="020B0A04020102020204" pitchFamily="34" charset="0"/>
              </a:rPr>
              <a:t>.</a:t>
            </a:r>
            <a:r>
              <a:rPr lang="en-US" altLang="zh-CN" sz="3600" b="0">
                <a:solidFill>
                  <a:schemeClr val="tx2"/>
                </a:solidFill>
                <a:latin typeface="Arial Black" panose="020B0A04020102020204" pitchFamily="34" charset="0"/>
              </a:rPr>
              <a:t>4</a:t>
            </a:r>
            <a:r>
              <a:rPr lang="zh-CN" altLang="en-US" sz="3600" b="0">
                <a:solidFill>
                  <a:schemeClr val="tx2"/>
                </a:solidFill>
                <a:latin typeface="Arial Black" panose="020B0A04020102020204" pitchFamily="34" charset="0"/>
              </a:rPr>
              <a:t>页面置换算法</a:t>
            </a:r>
            <a:endParaRPr lang="zh-CN" altLang="en-US" sz="3600" b="0">
              <a:solidFill>
                <a:schemeClr val="tx2"/>
              </a:solidFill>
              <a:latin typeface="Arial Black" panose="020B0A04020102020204" pitchFamily="34" charset="0"/>
            </a:endParaRPr>
          </a:p>
        </p:txBody>
      </p:sp>
      <p:sp>
        <p:nvSpPr>
          <p:cNvPr id="54421" name="矩形 3"/>
          <p:cNvSpPr/>
          <p:nvPr/>
        </p:nvSpPr>
        <p:spPr>
          <a:xfrm>
            <a:off x="377825" y="1484313"/>
            <a:ext cx="8586788" cy="7572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lnSpc>
                <a:spcPct val="90000"/>
              </a:lnSpc>
              <a:spcBef>
                <a:spcPct val="0"/>
              </a:spcBef>
              <a:buClrTx/>
              <a:buFont typeface="Wingdings" panose="05000000000000000000" pitchFamily="2" charset="2"/>
              <a:buNone/>
            </a:pPr>
            <a:r>
              <a:rPr lang="zh-CN" altLang="en-US" sz="2400" b="0"/>
              <a:t>例</a:t>
            </a:r>
            <a:r>
              <a:rPr lang="en-US" altLang="zh-CN" sz="2400" b="0"/>
              <a:t>1.  </a:t>
            </a:r>
            <a:r>
              <a:rPr lang="zh-CN" altLang="en-US" sz="2400" b="0"/>
              <a:t>设</a:t>
            </a:r>
            <a:r>
              <a:rPr lang="en-US" altLang="zh-CN" sz="2400" b="0"/>
              <a:t>M=3</a:t>
            </a:r>
            <a:r>
              <a:rPr lang="zh-CN" altLang="en-US" sz="2400" b="0"/>
              <a:t>，采用</a:t>
            </a:r>
            <a:r>
              <a:rPr lang="en-US" altLang="zh-CN" sz="2400" b="0"/>
              <a:t>FIFO</a:t>
            </a:r>
            <a:r>
              <a:rPr lang="zh-CN" altLang="en-US" sz="2400" b="0"/>
              <a:t>置换算法，页面走向如下。缺页中断次数和缺页率如表所示。</a:t>
            </a:r>
            <a:endParaRPr lang="zh-CN" altLang="en-US" sz="2400" b="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4275"/>
                                        </p:tgtEl>
                                        <p:attrNameLst>
                                          <p:attrName>style.visibility</p:attrName>
                                        </p:attrNameLst>
                                      </p:cBhvr>
                                      <p:to>
                                        <p:strVal val="visible"/>
                                      </p:to>
                                    </p:set>
                                    <p:anim calcmode="lin" valueType="num">
                                      <p:cBhvr additive="base">
                                        <p:cTn id="7" dur="500" fill="hold"/>
                                        <p:tgtEl>
                                          <p:spTgt spid="54275"/>
                                        </p:tgtEl>
                                        <p:attrNameLst>
                                          <p:attrName>ppt_x</p:attrName>
                                        </p:attrNameLst>
                                      </p:cBhvr>
                                      <p:tavLst>
                                        <p:tav tm="0">
                                          <p:val>
                                            <p:strVal val="1+#ppt_w/2"/>
                                          </p:val>
                                        </p:tav>
                                        <p:tav tm="100000">
                                          <p:val>
                                            <p:strVal val="#ppt_x"/>
                                          </p:val>
                                        </p:tav>
                                      </p:tavLst>
                                    </p:anim>
                                    <p:anim calcmode="lin" valueType="num">
                                      <p:cBhvr additive="base">
                                        <p:cTn id="8" dur="500" fill="hold"/>
                                        <p:tgtEl>
                                          <p:spTgt spid="542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54287"/>
                                        </p:tgtEl>
                                        <p:attrNameLst>
                                          <p:attrName>style.visibility</p:attrName>
                                        </p:attrNameLst>
                                      </p:cBhvr>
                                      <p:to>
                                        <p:strVal val="visible"/>
                                      </p:to>
                                    </p:set>
                                    <p:anim calcmode="lin" valueType="num">
                                      <p:cBhvr additive="base">
                                        <p:cTn id="13" dur="500" fill="hold"/>
                                        <p:tgtEl>
                                          <p:spTgt spid="54287"/>
                                        </p:tgtEl>
                                        <p:attrNameLst>
                                          <p:attrName>ppt_x</p:attrName>
                                        </p:attrNameLst>
                                      </p:cBhvr>
                                      <p:tavLst>
                                        <p:tav tm="0">
                                          <p:val>
                                            <p:strVal val="1+#ppt_w/2"/>
                                          </p:val>
                                        </p:tav>
                                        <p:tav tm="100000">
                                          <p:val>
                                            <p:strVal val="#ppt_x"/>
                                          </p:val>
                                        </p:tav>
                                      </p:tavLst>
                                    </p:anim>
                                    <p:anim calcmode="lin" valueType="num">
                                      <p:cBhvr additive="base">
                                        <p:cTn id="14" dur="500" fill="hold"/>
                                        <p:tgtEl>
                                          <p:spTgt spid="5428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54299"/>
                                        </p:tgtEl>
                                        <p:attrNameLst>
                                          <p:attrName>style.visibility</p:attrName>
                                        </p:attrNameLst>
                                      </p:cBhvr>
                                      <p:to>
                                        <p:strVal val="visible"/>
                                      </p:to>
                                    </p:set>
                                    <p:anim calcmode="lin" valueType="num">
                                      <p:cBhvr additive="base">
                                        <p:cTn id="19" dur="500" fill="hold"/>
                                        <p:tgtEl>
                                          <p:spTgt spid="54299"/>
                                        </p:tgtEl>
                                        <p:attrNameLst>
                                          <p:attrName>ppt_x</p:attrName>
                                        </p:attrNameLst>
                                      </p:cBhvr>
                                      <p:tavLst>
                                        <p:tav tm="0">
                                          <p:val>
                                            <p:strVal val="1+#ppt_w/2"/>
                                          </p:val>
                                        </p:tav>
                                        <p:tav tm="100000">
                                          <p:val>
                                            <p:strVal val="#ppt_x"/>
                                          </p:val>
                                        </p:tav>
                                      </p:tavLst>
                                    </p:anim>
                                    <p:anim calcmode="lin" valueType="num">
                                      <p:cBhvr additive="base">
                                        <p:cTn id="20" dur="500" fill="hold"/>
                                        <p:tgtEl>
                                          <p:spTgt spid="5429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54311"/>
                                        </p:tgtEl>
                                        <p:attrNameLst>
                                          <p:attrName>style.visibility</p:attrName>
                                        </p:attrNameLst>
                                      </p:cBhvr>
                                      <p:to>
                                        <p:strVal val="visible"/>
                                      </p:to>
                                    </p:set>
                                    <p:anim calcmode="lin" valueType="num">
                                      <p:cBhvr additive="base">
                                        <p:cTn id="25" dur="500" fill="hold"/>
                                        <p:tgtEl>
                                          <p:spTgt spid="54311"/>
                                        </p:tgtEl>
                                        <p:attrNameLst>
                                          <p:attrName>ppt_x</p:attrName>
                                        </p:attrNameLst>
                                      </p:cBhvr>
                                      <p:tavLst>
                                        <p:tav tm="0">
                                          <p:val>
                                            <p:strVal val="1+#ppt_w/2"/>
                                          </p:val>
                                        </p:tav>
                                        <p:tav tm="100000">
                                          <p:val>
                                            <p:strVal val="#ppt_x"/>
                                          </p:val>
                                        </p:tav>
                                      </p:tavLst>
                                    </p:anim>
                                    <p:anim calcmode="lin" valueType="num">
                                      <p:cBhvr additive="base">
                                        <p:cTn id="26" dur="500" fill="hold"/>
                                        <p:tgtEl>
                                          <p:spTgt spid="5431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54323"/>
                                        </p:tgtEl>
                                        <p:attrNameLst>
                                          <p:attrName>style.visibility</p:attrName>
                                        </p:attrNameLst>
                                      </p:cBhvr>
                                      <p:to>
                                        <p:strVal val="visible"/>
                                      </p:to>
                                    </p:set>
                                    <p:anim calcmode="lin" valueType="num">
                                      <p:cBhvr additive="base">
                                        <p:cTn id="31" dur="500" fill="hold"/>
                                        <p:tgtEl>
                                          <p:spTgt spid="54323"/>
                                        </p:tgtEl>
                                        <p:attrNameLst>
                                          <p:attrName>ppt_x</p:attrName>
                                        </p:attrNameLst>
                                      </p:cBhvr>
                                      <p:tavLst>
                                        <p:tav tm="0">
                                          <p:val>
                                            <p:strVal val="1+#ppt_w/2"/>
                                          </p:val>
                                        </p:tav>
                                        <p:tav tm="100000">
                                          <p:val>
                                            <p:strVal val="#ppt_x"/>
                                          </p:val>
                                        </p:tav>
                                      </p:tavLst>
                                    </p:anim>
                                    <p:anim calcmode="lin" valueType="num">
                                      <p:cBhvr additive="base">
                                        <p:cTn id="32" dur="500" fill="hold"/>
                                        <p:tgtEl>
                                          <p:spTgt spid="5432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54335"/>
                                        </p:tgtEl>
                                        <p:attrNameLst>
                                          <p:attrName>style.visibility</p:attrName>
                                        </p:attrNameLst>
                                      </p:cBhvr>
                                      <p:to>
                                        <p:strVal val="visible"/>
                                      </p:to>
                                    </p:set>
                                    <p:anim calcmode="lin" valueType="num">
                                      <p:cBhvr additive="base">
                                        <p:cTn id="37" dur="500" fill="hold"/>
                                        <p:tgtEl>
                                          <p:spTgt spid="54335"/>
                                        </p:tgtEl>
                                        <p:attrNameLst>
                                          <p:attrName>ppt_x</p:attrName>
                                        </p:attrNameLst>
                                      </p:cBhvr>
                                      <p:tavLst>
                                        <p:tav tm="0">
                                          <p:val>
                                            <p:strVal val="1+#ppt_w/2"/>
                                          </p:val>
                                        </p:tav>
                                        <p:tav tm="100000">
                                          <p:val>
                                            <p:strVal val="#ppt_x"/>
                                          </p:val>
                                        </p:tav>
                                      </p:tavLst>
                                    </p:anim>
                                    <p:anim calcmode="lin" valueType="num">
                                      <p:cBhvr additive="base">
                                        <p:cTn id="38" dur="500" fill="hold"/>
                                        <p:tgtEl>
                                          <p:spTgt spid="5433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54347"/>
                                        </p:tgtEl>
                                        <p:attrNameLst>
                                          <p:attrName>style.visibility</p:attrName>
                                        </p:attrNameLst>
                                      </p:cBhvr>
                                      <p:to>
                                        <p:strVal val="visible"/>
                                      </p:to>
                                    </p:set>
                                    <p:anim calcmode="lin" valueType="num">
                                      <p:cBhvr additive="base">
                                        <p:cTn id="43" dur="500" fill="hold"/>
                                        <p:tgtEl>
                                          <p:spTgt spid="54347"/>
                                        </p:tgtEl>
                                        <p:attrNameLst>
                                          <p:attrName>ppt_x</p:attrName>
                                        </p:attrNameLst>
                                      </p:cBhvr>
                                      <p:tavLst>
                                        <p:tav tm="0">
                                          <p:val>
                                            <p:strVal val="1+#ppt_w/2"/>
                                          </p:val>
                                        </p:tav>
                                        <p:tav tm="100000">
                                          <p:val>
                                            <p:strVal val="#ppt_x"/>
                                          </p:val>
                                        </p:tav>
                                      </p:tavLst>
                                    </p:anim>
                                    <p:anim calcmode="lin" valueType="num">
                                      <p:cBhvr additive="base">
                                        <p:cTn id="44" dur="500" fill="hold"/>
                                        <p:tgtEl>
                                          <p:spTgt spid="5434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54359"/>
                                        </p:tgtEl>
                                        <p:attrNameLst>
                                          <p:attrName>style.visibility</p:attrName>
                                        </p:attrNameLst>
                                      </p:cBhvr>
                                      <p:to>
                                        <p:strVal val="visible"/>
                                      </p:to>
                                    </p:set>
                                    <p:anim calcmode="lin" valueType="num">
                                      <p:cBhvr additive="base">
                                        <p:cTn id="49" dur="500" fill="hold"/>
                                        <p:tgtEl>
                                          <p:spTgt spid="54359"/>
                                        </p:tgtEl>
                                        <p:attrNameLst>
                                          <p:attrName>ppt_x</p:attrName>
                                        </p:attrNameLst>
                                      </p:cBhvr>
                                      <p:tavLst>
                                        <p:tav tm="0">
                                          <p:val>
                                            <p:strVal val="1+#ppt_w/2"/>
                                          </p:val>
                                        </p:tav>
                                        <p:tav tm="100000">
                                          <p:val>
                                            <p:strVal val="#ppt_x"/>
                                          </p:val>
                                        </p:tav>
                                      </p:tavLst>
                                    </p:anim>
                                    <p:anim calcmode="lin" valueType="num">
                                      <p:cBhvr additive="base">
                                        <p:cTn id="50" dur="500" fill="hold"/>
                                        <p:tgtEl>
                                          <p:spTgt spid="5435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54371"/>
                                        </p:tgtEl>
                                        <p:attrNameLst>
                                          <p:attrName>style.visibility</p:attrName>
                                        </p:attrNameLst>
                                      </p:cBhvr>
                                      <p:to>
                                        <p:strVal val="visible"/>
                                      </p:to>
                                    </p:set>
                                    <p:anim calcmode="lin" valueType="num">
                                      <p:cBhvr additive="base">
                                        <p:cTn id="55" dur="500" fill="hold"/>
                                        <p:tgtEl>
                                          <p:spTgt spid="54371"/>
                                        </p:tgtEl>
                                        <p:attrNameLst>
                                          <p:attrName>ppt_x</p:attrName>
                                        </p:attrNameLst>
                                      </p:cBhvr>
                                      <p:tavLst>
                                        <p:tav tm="0">
                                          <p:val>
                                            <p:strVal val="1+#ppt_w/2"/>
                                          </p:val>
                                        </p:tav>
                                        <p:tav tm="100000">
                                          <p:val>
                                            <p:strVal val="#ppt_x"/>
                                          </p:val>
                                        </p:tav>
                                      </p:tavLst>
                                    </p:anim>
                                    <p:anim calcmode="lin" valueType="num">
                                      <p:cBhvr additive="base">
                                        <p:cTn id="56" dur="500" fill="hold"/>
                                        <p:tgtEl>
                                          <p:spTgt spid="5437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54383"/>
                                        </p:tgtEl>
                                        <p:attrNameLst>
                                          <p:attrName>style.visibility</p:attrName>
                                        </p:attrNameLst>
                                      </p:cBhvr>
                                      <p:to>
                                        <p:strVal val="visible"/>
                                      </p:to>
                                    </p:set>
                                    <p:anim calcmode="lin" valueType="num">
                                      <p:cBhvr additive="base">
                                        <p:cTn id="61" dur="500" fill="hold"/>
                                        <p:tgtEl>
                                          <p:spTgt spid="54383"/>
                                        </p:tgtEl>
                                        <p:attrNameLst>
                                          <p:attrName>ppt_x</p:attrName>
                                        </p:attrNameLst>
                                      </p:cBhvr>
                                      <p:tavLst>
                                        <p:tav tm="0">
                                          <p:val>
                                            <p:strVal val="1+#ppt_w/2"/>
                                          </p:val>
                                        </p:tav>
                                        <p:tav tm="100000">
                                          <p:val>
                                            <p:strVal val="#ppt_x"/>
                                          </p:val>
                                        </p:tav>
                                      </p:tavLst>
                                    </p:anim>
                                    <p:anim calcmode="lin" valueType="num">
                                      <p:cBhvr additive="base">
                                        <p:cTn id="62" dur="500" fill="hold"/>
                                        <p:tgtEl>
                                          <p:spTgt spid="5438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54395"/>
                                        </p:tgtEl>
                                        <p:attrNameLst>
                                          <p:attrName>style.visibility</p:attrName>
                                        </p:attrNameLst>
                                      </p:cBhvr>
                                      <p:to>
                                        <p:strVal val="visible"/>
                                      </p:to>
                                    </p:set>
                                    <p:anim calcmode="lin" valueType="num">
                                      <p:cBhvr additive="base">
                                        <p:cTn id="67" dur="500" fill="hold"/>
                                        <p:tgtEl>
                                          <p:spTgt spid="54395"/>
                                        </p:tgtEl>
                                        <p:attrNameLst>
                                          <p:attrName>ppt_x</p:attrName>
                                        </p:attrNameLst>
                                      </p:cBhvr>
                                      <p:tavLst>
                                        <p:tav tm="0">
                                          <p:val>
                                            <p:strVal val="1+#ppt_w/2"/>
                                          </p:val>
                                        </p:tav>
                                        <p:tav tm="100000">
                                          <p:val>
                                            <p:strVal val="#ppt_x"/>
                                          </p:val>
                                        </p:tav>
                                      </p:tavLst>
                                    </p:anim>
                                    <p:anim calcmode="lin" valueType="num">
                                      <p:cBhvr additive="base">
                                        <p:cTn id="68" dur="500" fill="hold"/>
                                        <p:tgtEl>
                                          <p:spTgt spid="5439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54407"/>
                                        </p:tgtEl>
                                        <p:attrNameLst>
                                          <p:attrName>style.visibility</p:attrName>
                                        </p:attrNameLst>
                                      </p:cBhvr>
                                      <p:to>
                                        <p:strVal val="visible"/>
                                      </p:to>
                                    </p:set>
                                    <p:anim calcmode="lin" valueType="num">
                                      <p:cBhvr additive="base">
                                        <p:cTn id="73" dur="500" fill="hold"/>
                                        <p:tgtEl>
                                          <p:spTgt spid="54407"/>
                                        </p:tgtEl>
                                        <p:attrNameLst>
                                          <p:attrName>ppt_x</p:attrName>
                                        </p:attrNameLst>
                                      </p:cBhvr>
                                      <p:tavLst>
                                        <p:tav tm="0">
                                          <p:val>
                                            <p:strVal val="1+#ppt_w/2"/>
                                          </p:val>
                                        </p:tav>
                                        <p:tav tm="100000">
                                          <p:val>
                                            <p:strVal val="#ppt_x"/>
                                          </p:val>
                                        </p:tav>
                                      </p:tavLst>
                                    </p:anim>
                                    <p:anim calcmode="lin" valueType="num">
                                      <p:cBhvr additive="base">
                                        <p:cTn id="74" dur="500" fill="hold"/>
                                        <p:tgtEl>
                                          <p:spTgt spid="5440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392390"/>
                                        </p:tgtEl>
                                        <p:attrNameLst>
                                          <p:attrName>style.visibility</p:attrName>
                                        </p:attrNameLst>
                                      </p:cBhvr>
                                      <p:to>
                                        <p:strVal val="visible"/>
                                      </p:to>
                                    </p:set>
                                    <p:anim calcmode="lin" valueType="num">
                                      <p:cBhvr additive="base">
                                        <p:cTn id="79" dur="500" fill="hold"/>
                                        <p:tgtEl>
                                          <p:spTgt spid="392390"/>
                                        </p:tgtEl>
                                        <p:attrNameLst>
                                          <p:attrName>ppt_x</p:attrName>
                                        </p:attrNameLst>
                                      </p:cBhvr>
                                      <p:tavLst>
                                        <p:tav tm="0">
                                          <p:val>
                                            <p:strVal val="1+#ppt_w/2"/>
                                          </p:val>
                                        </p:tav>
                                        <p:tav tm="100000">
                                          <p:val>
                                            <p:strVal val="#ppt_x"/>
                                          </p:val>
                                        </p:tav>
                                      </p:tavLst>
                                    </p:anim>
                                    <p:anim calcmode="lin" valueType="num">
                                      <p:cBhvr additive="base">
                                        <p:cTn id="80" dur="500" fill="hold"/>
                                        <p:tgtEl>
                                          <p:spTgt spid="3923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39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55298" name="Line 4"/>
          <p:cNvSpPr/>
          <p:nvPr/>
        </p:nvSpPr>
        <p:spPr>
          <a:xfrm>
            <a:off x="228600" y="3402013"/>
            <a:ext cx="914400" cy="0"/>
          </a:xfrm>
          <a:prstGeom prst="line">
            <a:avLst/>
          </a:prstGeom>
          <a:ln w="28575" cap="sq" cmpd="sng">
            <a:solidFill>
              <a:schemeClr val="tx1"/>
            </a:solidFill>
            <a:prstDash val="solid"/>
            <a:miter/>
            <a:headEnd type="none" w="med" len="med"/>
            <a:tailEnd type="none" w="med" len="med"/>
          </a:ln>
        </p:spPr>
      </p:sp>
      <p:grpSp>
        <p:nvGrpSpPr>
          <p:cNvPr id="55299" name="Group 5"/>
          <p:cNvGrpSpPr/>
          <p:nvPr/>
        </p:nvGrpSpPr>
        <p:grpSpPr>
          <a:xfrm>
            <a:off x="228600" y="2362200"/>
            <a:ext cx="8610600" cy="3276600"/>
            <a:chOff x="144" y="1488"/>
            <a:chExt cx="5424" cy="2064"/>
          </a:xfrm>
        </p:grpSpPr>
        <p:sp>
          <p:nvSpPr>
            <p:cNvPr id="55471" name="Rectangle 6"/>
            <p:cNvSpPr/>
            <p:nvPr/>
          </p:nvSpPr>
          <p:spPr>
            <a:xfrm>
              <a:off x="516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55472" name="Rectangle 7"/>
            <p:cNvSpPr/>
            <p:nvPr/>
          </p:nvSpPr>
          <p:spPr>
            <a:xfrm>
              <a:off x="4763"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55473" name="Rectangle 8"/>
            <p:cNvSpPr/>
            <p:nvPr/>
          </p:nvSpPr>
          <p:spPr>
            <a:xfrm>
              <a:off x="4361"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55474" name="Rectangle 9"/>
            <p:cNvSpPr/>
            <p:nvPr/>
          </p:nvSpPr>
          <p:spPr>
            <a:xfrm>
              <a:off x="3958"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55475" name="Rectangle 10"/>
            <p:cNvSpPr/>
            <p:nvPr/>
          </p:nvSpPr>
          <p:spPr>
            <a:xfrm>
              <a:off x="355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55476" name="Rectangle 11"/>
            <p:cNvSpPr/>
            <p:nvPr/>
          </p:nvSpPr>
          <p:spPr>
            <a:xfrm>
              <a:off x="3154"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55477" name="Rectangle 12"/>
            <p:cNvSpPr/>
            <p:nvPr/>
          </p:nvSpPr>
          <p:spPr>
            <a:xfrm>
              <a:off x="2750" y="1814"/>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55478" name="Rectangle 13"/>
            <p:cNvSpPr/>
            <p:nvPr/>
          </p:nvSpPr>
          <p:spPr>
            <a:xfrm>
              <a:off x="234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55479" name="Rectangle 14"/>
            <p:cNvSpPr/>
            <p:nvPr/>
          </p:nvSpPr>
          <p:spPr>
            <a:xfrm>
              <a:off x="194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55480" name="Rectangle 15"/>
            <p:cNvSpPr/>
            <p:nvPr/>
          </p:nvSpPr>
          <p:spPr>
            <a:xfrm>
              <a:off x="1543"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55481" name="Rectangle 16"/>
            <p:cNvSpPr/>
            <p:nvPr/>
          </p:nvSpPr>
          <p:spPr>
            <a:xfrm>
              <a:off x="1141"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55482" name="Rectangle 17"/>
            <p:cNvSpPr/>
            <p:nvPr/>
          </p:nvSpPr>
          <p:spPr>
            <a:xfrm>
              <a:off x="720" y="1814"/>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55483" name="Rectangle 18"/>
            <p:cNvSpPr/>
            <p:nvPr/>
          </p:nvSpPr>
          <p:spPr>
            <a:xfrm>
              <a:off x="144" y="1814"/>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P</a:t>
              </a:r>
              <a:endParaRPr lang="en-US" altLang="zh-CN" b="0">
                <a:ea typeface="楷体_GB2312" pitchFamily="49" charset="-122"/>
              </a:endParaRPr>
            </a:p>
          </p:txBody>
        </p:sp>
        <p:sp>
          <p:nvSpPr>
            <p:cNvPr id="55484" name="Rectangle 19"/>
            <p:cNvSpPr/>
            <p:nvPr/>
          </p:nvSpPr>
          <p:spPr>
            <a:xfrm>
              <a:off x="516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12</a:t>
              </a:r>
              <a:endParaRPr lang="zh-CN" altLang="en-US" b="0">
                <a:ea typeface="楷体_GB2312" pitchFamily="49" charset="-122"/>
              </a:endParaRPr>
            </a:p>
          </p:txBody>
        </p:sp>
        <p:sp>
          <p:nvSpPr>
            <p:cNvPr id="55485" name="Rectangle 20"/>
            <p:cNvSpPr/>
            <p:nvPr/>
          </p:nvSpPr>
          <p:spPr>
            <a:xfrm>
              <a:off x="4763"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11</a:t>
              </a:r>
              <a:endParaRPr lang="zh-CN" altLang="en-US" b="0">
                <a:ea typeface="楷体_GB2312" pitchFamily="49" charset="-122"/>
              </a:endParaRPr>
            </a:p>
          </p:txBody>
        </p:sp>
        <p:sp>
          <p:nvSpPr>
            <p:cNvPr id="55486" name="Rectangle 21"/>
            <p:cNvSpPr/>
            <p:nvPr/>
          </p:nvSpPr>
          <p:spPr>
            <a:xfrm>
              <a:off x="4361"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10</a:t>
              </a:r>
              <a:endParaRPr lang="zh-CN" altLang="en-US" b="0">
                <a:ea typeface="楷体_GB2312" pitchFamily="49" charset="-122"/>
              </a:endParaRPr>
            </a:p>
          </p:txBody>
        </p:sp>
        <p:sp>
          <p:nvSpPr>
            <p:cNvPr id="55487" name="Rectangle 22"/>
            <p:cNvSpPr/>
            <p:nvPr/>
          </p:nvSpPr>
          <p:spPr>
            <a:xfrm>
              <a:off x="3958"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9</a:t>
              </a:r>
              <a:endParaRPr lang="zh-CN" altLang="en-US" b="0">
                <a:ea typeface="楷体_GB2312" pitchFamily="49" charset="-122"/>
              </a:endParaRPr>
            </a:p>
          </p:txBody>
        </p:sp>
        <p:sp>
          <p:nvSpPr>
            <p:cNvPr id="55488" name="Rectangle 23"/>
            <p:cNvSpPr/>
            <p:nvPr/>
          </p:nvSpPr>
          <p:spPr>
            <a:xfrm>
              <a:off x="355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8</a:t>
              </a:r>
              <a:endParaRPr lang="zh-CN" altLang="en-US" b="0">
                <a:ea typeface="楷体_GB2312" pitchFamily="49" charset="-122"/>
              </a:endParaRPr>
            </a:p>
          </p:txBody>
        </p:sp>
        <p:sp>
          <p:nvSpPr>
            <p:cNvPr id="55489" name="Rectangle 24"/>
            <p:cNvSpPr/>
            <p:nvPr/>
          </p:nvSpPr>
          <p:spPr>
            <a:xfrm>
              <a:off x="3154"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7</a:t>
              </a:r>
              <a:endParaRPr lang="zh-CN" altLang="en-US" b="0">
                <a:ea typeface="楷体_GB2312" pitchFamily="49" charset="-122"/>
              </a:endParaRPr>
            </a:p>
          </p:txBody>
        </p:sp>
        <p:sp>
          <p:nvSpPr>
            <p:cNvPr id="55490" name="Rectangle 25"/>
            <p:cNvSpPr/>
            <p:nvPr/>
          </p:nvSpPr>
          <p:spPr>
            <a:xfrm>
              <a:off x="2750" y="1488"/>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6</a:t>
              </a:r>
              <a:endParaRPr lang="zh-CN" altLang="en-US" b="0">
                <a:ea typeface="楷体_GB2312" pitchFamily="49" charset="-122"/>
              </a:endParaRPr>
            </a:p>
          </p:txBody>
        </p:sp>
        <p:sp>
          <p:nvSpPr>
            <p:cNvPr id="55491" name="Rectangle 26"/>
            <p:cNvSpPr/>
            <p:nvPr/>
          </p:nvSpPr>
          <p:spPr>
            <a:xfrm>
              <a:off x="234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55492" name="Rectangle 27"/>
            <p:cNvSpPr/>
            <p:nvPr/>
          </p:nvSpPr>
          <p:spPr>
            <a:xfrm>
              <a:off x="194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55493" name="Rectangle 28"/>
            <p:cNvSpPr/>
            <p:nvPr/>
          </p:nvSpPr>
          <p:spPr>
            <a:xfrm>
              <a:off x="1543"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55494" name="Rectangle 29"/>
            <p:cNvSpPr/>
            <p:nvPr/>
          </p:nvSpPr>
          <p:spPr>
            <a:xfrm>
              <a:off x="1141"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55495" name="Rectangle 30"/>
            <p:cNvSpPr/>
            <p:nvPr/>
          </p:nvSpPr>
          <p:spPr>
            <a:xfrm>
              <a:off x="720" y="1488"/>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55496" name="Rectangle 31"/>
            <p:cNvSpPr/>
            <p:nvPr/>
          </p:nvSpPr>
          <p:spPr>
            <a:xfrm>
              <a:off x="144" y="1488"/>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sz="2400" b="0">
                  <a:ea typeface="楷体_GB2312" pitchFamily="49" charset="-122"/>
                </a:rPr>
                <a:t>时刻</a:t>
              </a:r>
              <a:endParaRPr lang="zh-CN" altLang="en-US" sz="2400" b="0">
                <a:ea typeface="楷体_GB2312" pitchFamily="49" charset="-122"/>
              </a:endParaRPr>
            </a:p>
          </p:txBody>
        </p:sp>
        <p:sp>
          <p:nvSpPr>
            <p:cNvPr id="55497" name="Line 32"/>
            <p:cNvSpPr/>
            <p:nvPr/>
          </p:nvSpPr>
          <p:spPr>
            <a:xfrm>
              <a:off x="144" y="1488"/>
              <a:ext cx="5424" cy="0"/>
            </a:xfrm>
            <a:prstGeom prst="line">
              <a:avLst/>
            </a:prstGeom>
            <a:ln w="28575" cap="sq" cmpd="sng">
              <a:solidFill>
                <a:schemeClr val="tx1"/>
              </a:solidFill>
              <a:prstDash val="solid"/>
              <a:miter/>
              <a:headEnd type="none" w="med" len="med"/>
              <a:tailEnd type="none" w="med" len="med"/>
            </a:ln>
          </p:spPr>
        </p:sp>
        <p:sp>
          <p:nvSpPr>
            <p:cNvPr id="55498" name="Line 33"/>
            <p:cNvSpPr/>
            <p:nvPr/>
          </p:nvSpPr>
          <p:spPr>
            <a:xfrm>
              <a:off x="144" y="1814"/>
              <a:ext cx="5424" cy="0"/>
            </a:xfrm>
            <a:prstGeom prst="line">
              <a:avLst/>
            </a:prstGeom>
            <a:ln w="12700" cap="flat" cmpd="sng">
              <a:solidFill>
                <a:schemeClr val="tx1"/>
              </a:solidFill>
              <a:prstDash val="solid"/>
              <a:miter/>
              <a:headEnd type="none" w="med" len="med"/>
              <a:tailEnd type="none" w="med" len="med"/>
            </a:ln>
          </p:spPr>
        </p:sp>
        <p:sp>
          <p:nvSpPr>
            <p:cNvPr id="55499" name="Line 34"/>
            <p:cNvSpPr/>
            <p:nvPr/>
          </p:nvSpPr>
          <p:spPr>
            <a:xfrm>
              <a:off x="144" y="2140"/>
              <a:ext cx="5424" cy="0"/>
            </a:xfrm>
            <a:prstGeom prst="line">
              <a:avLst/>
            </a:prstGeom>
            <a:ln w="28575" cap="sq" cmpd="sng">
              <a:solidFill>
                <a:schemeClr val="tx1"/>
              </a:solidFill>
              <a:prstDash val="solid"/>
              <a:miter/>
              <a:headEnd type="none" w="med" len="med"/>
              <a:tailEnd type="none" w="med" len="med"/>
            </a:ln>
          </p:spPr>
        </p:sp>
        <p:sp>
          <p:nvSpPr>
            <p:cNvPr id="55500" name="Line 35"/>
            <p:cNvSpPr/>
            <p:nvPr/>
          </p:nvSpPr>
          <p:spPr>
            <a:xfrm>
              <a:off x="144" y="1488"/>
              <a:ext cx="0" cy="652"/>
            </a:xfrm>
            <a:prstGeom prst="line">
              <a:avLst/>
            </a:prstGeom>
            <a:ln w="28575" cap="sq" cmpd="sng">
              <a:solidFill>
                <a:schemeClr val="tx1"/>
              </a:solidFill>
              <a:prstDash val="solid"/>
              <a:miter/>
              <a:headEnd type="none" w="med" len="med"/>
              <a:tailEnd type="none" w="med" len="med"/>
            </a:ln>
          </p:spPr>
        </p:sp>
        <p:sp>
          <p:nvSpPr>
            <p:cNvPr id="55501" name="Line 36"/>
            <p:cNvSpPr/>
            <p:nvPr/>
          </p:nvSpPr>
          <p:spPr>
            <a:xfrm>
              <a:off x="720" y="1488"/>
              <a:ext cx="0" cy="652"/>
            </a:xfrm>
            <a:prstGeom prst="line">
              <a:avLst/>
            </a:prstGeom>
            <a:ln w="12700" cap="flat" cmpd="sng">
              <a:solidFill>
                <a:schemeClr val="tx1"/>
              </a:solidFill>
              <a:prstDash val="solid"/>
              <a:miter/>
              <a:headEnd type="none" w="med" len="med"/>
              <a:tailEnd type="none" w="med" len="med"/>
            </a:ln>
          </p:spPr>
        </p:sp>
        <p:sp>
          <p:nvSpPr>
            <p:cNvPr id="55502" name="Line 37"/>
            <p:cNvSpPr/>
            <p:nvPr/>
          </p:nvSpPr>
          <p:spPr>
            <a:xfrm>
              <a:off x="1141" y="1488"/>
              <a:ext cx="0" cy="652"/>
            </a:xfrm>
            <a:prstGeom prst="line">
              <a:avLst/>
            </a:prstGeom>
            <a:ln w="12700" cap="flat" cmpd="sng">
              <a:solidFill>
                <a:schemeClr val="tx1"/>
              </a:solidFill>
              <a:prstDash val="solid"/>
              <a:miter/>
              <a:headEnd type="none" w="med" len="med"/>
              <a:tailEnd type="none" w="med" len="med"/>
            </a:ln>
          </p:spPr>
        </p:sp>
        <p:sp>
          <p:nvSpPr>
            <p:cNvPr id="55503" name="Line 38"/>
            <p:cNvSpPr/>
            <p:nvPr/>
          </p:nvSpPr>
          <p:spPr>
            <a:xfrm>
              <a:off x="1543" y="1488"/>
              <a:ext cx="0" cy="652"/>
            </a:xfrm>
            <a:prstGeom prst="line">
              <a:avLst/>
            </a:prstGeom>
            <a:ln w="12700" cap="flat" cmpd="sng">
              <a:solidFill>
                <a:schemeClr val="tx1"/>
              </a:solidFill>
              <a:prstDash val="solid"/>
              <a:miter/>
              <a:headEnd type="none" w="med" len="med"/>
              <a:tailEnd type="none" w="med" len="med"/>
            </a:ln>
          </p:spPr>
        </p:sp>
        <p:sp>
          <p:nvSpPr>
            <p:cNvPr id="55504" name="Line 39"/>
            <p:cNvSpPr/>
            <p:nvPr/>
          </p:nvSpPr>
          <p:spPr>
            <a:xfrm>
              <a:off x="1946" y="1488"/>
              <a:ext cx="0" cy="652"/>
            </a:xfrm>
            <a:prstGeom prst="line">
              <a:avLst/>
            </a:prstGeom>
            <a:ln w="12700" cap="flat" cmpd="sng">
              <a:solidFill>
                <a:schemeClr val="tx1"/>
              </a:solidFill>
              <a:prstDash val="solid"/>
              <a:miter/>
              <a:headEnd type="none" w="med" len="med"/>
              <a:tailEnd type="none" w="med" len="med"/>
            </a:ln>
          </p:spPr>
        </p:sp>
        <p:sp>
          <p:nvSpPr>
            <p:cNvPr id="55505" name="Line 40"/>
            <p:cNvSpPr/>
            <p:nvPr/>
          </p:nvSpPr>
          <p:spPr>
            <a:xfrm>
              <a:off x="2348" y="1488"/>
              <a:ext cx="0" cy="652"/>
            </a:xfrm>
            <a:prstGeom prst="line">
              <a:avLst/>
            </a:prstGeom>
            <a:ln w="12700" cap="flat" cmpd="sng">
              <a:solidFill>
                <a:schemeClr val="tx1"/>
              </a:solidFill>
              <a:prstDash val="solid"/>
              <a:miter/>
              <a:headEnd type="none" w="med" len="med"/>
              <a:tailEnd type="none" w="med" len="med"/>
            </a:ln>
          </p:spPr>
        </p:sp>
        <p:sp>
          <p:nvSpPr>
            <p:cNvPr id="55506" name="Line 41"/>
            <p:cNvSpPr/>
            <p:nvPr/>
          </p:nvSpPr>
          <p:spPr>
            <a:xfrm>
              <a:off x="2750" y="1488"/>
              <a:ext cx="0" cy="652"/>
            </a:xfrm>
            <a:prstGeom prst="line">
              <a:avLst/>
            </a:prstGeom>
            <a:ln w="12700" cap="flat" cmpd="sng">
              <a:solidFill>
                <a:schemeClr val="tx1"/>
              </a:solidFill>
              <a:prstDash val="solid"/>
              <a:miter/>
              <a:headEnd type="none" w="med" len="med"/>
              <a:tailEnd type="none" w="med" len="med"/>
            </a:ln>
          </p:spPr>
        </p:sp>
        <p:sp>
          <p:nvSpPr>
            <p:cNvPr id="55507" name="Line 42"/>
            <p:cNvSpPr/>
            <p:nvPr/>
          </p:nvSpPr>
          <p:spPr>
            <a:xfrm>
              <a:off x="3154" y="1488"/>
              <a:ext cx="0" cy="652"/>
            </a:xfrm>
            <a:prstGeom prst="line">
              <a:avLst/>
            </a:prstGeom>
            <a:ln w="12700" cap="flat" cmpd="sng">
              <a:solidFill>
                <a:schemeClr val="tx1"/>
              </a:solidFill>
              <a:prstDash val="solid"/>
              <a:miter/>
              <a:headEnd type="none" w="med" len="med"/>
              <a:tailEnd type="none" w="med" len="med"/>
            </a:ln>
          </p:spPr>
        </p:sp>
        <p:sp>
          <p:nvSpPr>
            <p:cNvPr id="55508" name="Line 43"/>
            <p:cNvSpPr/>
            <p:nvPr/>
          </p:nvSpPr>
          <p:spPr>
            <a:xfrm>
              <a:off x="3556" y="1488"/>
              <a:ext cx="0" cy="652"/>
            </a:xfrm>
            <a:prstGeom prst="line">
              <a:avLst/>
            </a:prstGeom>
            <a:ln w="12700" cap="flat" cmpd="sng">
              <a:solidFill>
                <a:schemeClr val="tx1"/>
              </a:solidFill>
              <a:prstDash val="solid"/>
              <a:miter/>
              <a:headEnd type="none" w="med" len="med"/>
              <a:tailEnd type="none" w="med" len="med"/>
            </a:ln>
          </p:spPr>
        </p:sp>
        <p:sp>
          <p:nvSpPr>
            <p:cNvPr id="55509" name="Line 44"/>
            <p:cNvSpPr/>
            <p:nvPr/>
          </p:nvSpPr>
          <p:spPr>
            <a:xfrm>
              <a:off x="3958" y="1488"/>
              <a:ext cx="0" cy="652"/>
            </a:xfrm>
            <a:prstGeom prst="line">
              <a:avLst/>
            </a:prstGeom>
            <a:ln w="12700" cap="flat" cmpd="sng">
              <a:solidFill>
                <a:schemeClr val="tx1"/>
              </a:solidFill>
              <a:prstDash val="solid"/>
              <a:miter/>
              <a:headEnd type="none" w="med" len="med"/>
              <a:tailEnd type="none" w="med" len="med"/>
            </a:ln>
          </p:spPr>
        </p:sp>
        <p:sp>
          <p:nvSpPr>
            <p:cNvPr id="55510" name="Line 45"/>
            <p:cNvSpPr/>
            <p:nvPr/>
          </p:nvSpPr>
          <p:spPr>
            <a:xfrm>
              <a:off x="4361" y="1488"/>
              <a:ext cx="0" cy="652"/>
            </a:xfrm>
            <a:prstGeom prst="line">
              <a:avLst/>
            </a:prstGeom>
            <a:ln w="12700" cap="flat" cmpd="sng">
              <a:solidFill>
                <a:schemeClr val="tx1"/>
              </a:solidFill>
              <a:prstDash val="solid"/>
              <a:miter/>
              <a:headEnd type="none" w="med" len="med"/>
              <a:tailEnd type="none" w="med" len="med"/>
            </a:ln>
          </p:spPr>
        </p:sp>
        <p:sp>
          <p:nvSpPr>
            <p:cNvPr id="55511" name="Line 46"/>
            <p:cNvSpPr/>
            <p:nvPr/>
          </p:nvSpPr>
          <p:spPr>
            <a:xfrm>
              <a:off x="4763" y="1488"/>
              <a:ext cx="0" cy="652"/>
            </a:xfrm>
            <a:prstGeom prst="line">
              <a:avLst/>
            </a:prstGeom>
            <a:ln w="12700" cap="flat" cmpd="sng">
              <a:solidFill>
                <a:schemeClr val="tx1"/>
              </a:solidFill>
              <a:prstDash val="solid"/>
              <a:miter/>
              <a:headEnd type="none" w="med" len="med"/>
              <a:tailEnd type="none" w="med" len="med"/>
            </a:ln>
          </p:spPr>
        </p:sp>
        <p:sp>
          <p:nvSpPr>
            <p:cNvPr id="55512" name="Line 47"/>
            <p:cNvSpPr/>
            <p:nvPr/>
          </p:nvSpPr>
          <p:spPr>
            <a:xfrm>
              <a:off x="5166" y="1488"/>
              <a:ext cx="0" cy="652"/>
            </a:xfrm>
            <a:prstGeom prst="line">
              <a:avLst/>
            </a:prstGeom>
            <a:ln w="12700" cap="flat" cmpd="sng">
              <a:solidFill>
                <a:schemeClr val="tx1"/>
              </a:solidFill>
              <a:prstDash val="solid"/>
              <a:miter/>
              <a:headEnd type="none" w="med" len="med"/>
              <a:tailEnd type="none" w="med" len="med"/>
            </a:ln>
          </p:spPr>
        </p:sp>
        <p:sp>
          <p:nvSpPr>
            <p:cNvPr id="55513" name="Line 48"/>
            <p:cNvSpPr/>
            <p:nvPr/>
          </p:nvSpPr>
          <p:spPr>
            <a:xfrm>
              <a:off x="5568" y="1488"/>
              <a:ext cx="0" cy="652"/>
            </a:xfrm>
            <a:prstGeom prst="line">
              <a:avLst/>
            </a:prstGeom>
            <a:ln w="28575" cap="sq" cmpd="sng">
              <a:solidFill>
                <a:schemeClr val="tx1"/>
              </a:solidFill>
              <a:prstDash val="solid"/>
              <a:miter/>
              <a:headEnd type="none" w="med" len="med"/>
              <a:tailEnd type="none" w="med" len="med"/>
            </a:ln>
          </p:spPr>
        </p:sp>
        <p:sp>
          <p:nvSpPr>
            <p:cNvPr id="55514" name="Rectangle 49"/>
            <p:cNvSpPr/>
            <p:nvPr/>
          </p:nvSpPr>
          <p:spPr>
            <a:xfrm>
              <a:off x="144" y="3199"/>
              <a:ext cx="576" cy="34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F</a:t>
              </a:r>
              <a:endParaRPr lang="en-US" altLang="zh-CN" b="0">
                <a:ea typeface="楷体_GB2312" pitchFamily="49" charset="-122"/>
              </a:endParaRPr>
            </a:p>
          </p:txBody>
        </p:sp>
        <p:sp>
          <p:nvSpPr>
            <p:cNvPr id="55515" name="Rectangle 50"/>
            <p:cNvSpPr/>
            <p:nvPr/>
          </p:nvSpPr>
          <p:spPr>
            <a:xfrm>
              <a:off x="144" y="2143"/>
              <a:ext cx="576" cy="98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M</a:t>
              </a:r>
              <a:endParaRPr lang="en-US" altLang="zh-CN" b="0">
                <a:ea typeface="楷体_GB2312" pitchFamily="49" charset="-122"/>
              </a:endParaRPr>
            </a:p>
          </p:txBody>
        </p:sp>
        <p:sp>
          <p:nvSpPr>
            <p:cNvPr id="55516" name="Line 51"/>
            <p:cNvSpPr/>
            <p:nvPr/>
          </p:nvSpPr>
          <p:spPr>
            <a:xfrm>
              <a:off x="144" y="3199"/>
              <a:ext cx="576" cy="0"/>
            </a:xfrm>
            <a:prstGeom prst="line">
              <a:avLst/>
            </a:prstGeom>
            <a:ln w="12700" cap="flat" cmpd="sng">
              <a:solidFill>
                <a:schemeClr val="tx1"/>
              </a:solidFill>
              <a:prstDash val="solid"/>
              <a:miter/>
              <a:headEnd type="none" w="med" len="med"/>
              <a:tailEnd type="none" w="med" len="med"/>
            </a:ln>
          </p:spPr>
        </p:sp>
        <p:sp>
          <p:nvSpPr>
            <p:cNvPr id="55517" name="Line 52"/>
            <p:cNvSpPr/>
            <p:nvPr/>
          </p:nvSpPr>
          <p:spPr>
            <a:xfrm>
              <a:off x="144" y="3552"/>
              <a:ext cx="576" cy="0"/>
            </a:xfrm>
            <a:prstGeom prst="line">
              <a:avLst/>
            </a:prstGeom>
            <a:ln w="28575" cap="sq" cmpd="sng">
              <a:solidFill>
                <a:schemeClr val="tx1"/>
              </a:solidFill>
              <a:prstDash val="solid"/>
              <a:miter/>
              <a:headEnd type="none" w="med" len="med"/>
              <a:tailEnd type="none" w="med" len="med"/>
            </a:ln>
          </p:spPr>
        </p:sp>
        <p:sp>
          <p:nvSpPr>
            <p:cNvPr id="55518" name="Line 53"/>
            <p:cNvSpPr/>
            <p:nvPr/>
          </p:nvSpPr>
          <p:spPr>
            <a:xfrm>
              <a:off x="144" y="2143"/>
              <a:ext cx="0" cy="1400"/>
            </a:xfrm>
            <a:prstGeom prst="line">
              <a:avLst/>
            </a:prstGeom>
            <a:ln w="28575" cap="sq" cmpd="sng">
              <a:solidFill>
                <a:schemeClr val="tx1"/>
              </a:solidFill>
              <a:prstDash val="solid"/>
              <a:miter/>
              <a:headEnd type="none" w="med" len="med"/>
              <a:tailEnd type="none" w="med" len="med"/>
            </a:ln>
          </p:spPr>
        </p:sp>
        <p:sp>
          <p:nvSpPr>
            <p:cNvPr id="55519" name="Line 54"/>
            <p:cNvSpPr/>
            <p:nvPr/>
          </p:nvSpPr>
          <p:spPr>
            <a:xfrm>
              <a:off x="720" y="2143"/>
              <a:ext cx="0" cy="1400"/>
            </a:xfrm>
            <a:prstGeom prst="line">
              <a:avLst/>
            </a:prstGeom>
            <a:ln w="28575" cap="sq" cmpd="sng">
              <a:solidFill>
                <a:schemeClr val="tx1"/>
              </a:solidFill>
              <a:prstDash val="solid"/>
              <a:miter/>
              <a:headEnd type="none" w="med" len="med"/>
              <a:tailEnd type="none" w="med" len="med"/>
            </a:ln>
          </p:spPr>
        </p:sp>
      </p:grpSp>
      <p:graphicFrame>
        <p:nvGraphicFramePr>
          <p:cNvPr id="55300" name="表格 55299"/>
          <p:cNvGraphicFramePr/>
          <p:nvPr/>
        </p:nvGraphicFramePr>
        <p:xfrm>
          <a:off x="1143000" y="3416300"/>
          <a:ext cx="685800" cy="2239963"/>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314" name="表格 55313"/>
          <p:cNvGraphicFramePr/>
          <p:nvPr/>
        </p:nvGraphicFramePr>
        <p:xfrm>
          <a:off x="1828800" y="3416300"/>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328" name="表格 55327"/>
          <p:cNvGraphicFramePr/>
          <p:nvPr/>
        </p:nvGraphicFramePr>
        <p:xfrm>
          <a:off x="2438400" y="3416300"/>
          <a:ext cx="685800" cy="2239963"/>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342" name="表格 55341"/>
          <p:cNvGraphicFramePr/>
          <p:nvPr/>
        </p:nvGraphicFramePr>
        <p:xfrm>
          <a:off x="3124200" y="3416300"/>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356" name="表格 55355"/>
          <p:cNvGraphicFramePr/>
          <p:nvPr/>
        </p:nvGraphicFramePr>
        <p:xfrm>
          <a:off x="3733800" y="3416300"/>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370" name="表格 55369"/>
          <p:cNvGraphicFramePr/>
          <p:nvPr/>
        </p:nvGraphicFramePr>
        <p:xfrm>
          <a:off x="4343400" y="3416300"/>
          <a:ext cx="685800" cy="2239963"/>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384" name="表格 55383"/>
          <p:cNvGraphicFramePr/>
          <p:nvPr/>
        </p:nvGraphicFramePr>
        <p:xfrm>
          <a:off x="5029200" y="3414713"/>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398" name="表格 55397"/>
          <p:cNvGraphicFramePr/>
          <p:nvPr/>
        </p:nvGraphicFramePr>
        <p:xfrm>
          <a:off x="5638800" y="3414713"/>
          <a:ext cx="685800" cy="2239963"/>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412" name="表格 55411"/>
          <p:cNvGraphicFramePr/>
          <p:nvPr/>
        </p:nvGraphicFramePr>
        <p:xfrm>
          <a:off x="6324600" y="3414713"/>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426" name="表格 55425"/>
          <p:cNvGraphicFramePr/>
          <p:nvPr/>
        </p:nvGraphicFramePr>
        <p:xfrm>
          <a:off x="6934200" y="3414713"/>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440" name="表格 55439"/>
          <p:cNvGraphicFramePr/>
          <p:nvPr/>
        </p:nvGraphicFramePr>
        <p:xfrm>
          <a:off x="7543800" y="3414713"/>
          <a:ext cx="685800" cy="2239963"/>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5454" name="表格 55453"/>
          <p:cNvGraphicFramePr/>
          <p:nvPr/>
        </p:nvGraphicFramePr>
        <p:xfrm>
          <a:off x="8229600" y="3416300"/>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
        <p:nvSpPr>
          <p:cNvPr id="393439" name="Text Box 223"/>
          <p:cNvSpPr txBox="1"/>
          <p:nvPr/>
        </p:nvSpPr>
        <p:spPr>
          <a:xfrm>
            <a:off x="228600" y="5638800"/>
            <a:ext cx="85915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2400" b="0">
                <a:ea typeface="楷体_GB2312" pitchFamily="49" charset="-122"/>
              </a:rPr>
              <a:t>由表可以算出缺页中断次数</a:t>
            </a:r>
            <a:r>
              <a:rPr lang="en-US" altLang="zh-CN" sz="2400" b="0">
                <a:ea typeface="楷体_GB2312" pitchFamily="49" charset="-122"/>
              </a:rPr>
              <a:t>F=10</a:t>
            </a:r>
            <a:r>
              <a:rPr lang="zh-CN" altLang="en-US" sz="2400" b="0">
                <a:ea typeface="楷体_GB2312" pitchFamily="49" charset="-122"/>
              </a:rPr>
              <a:t>，而缺页率：</a:t>
            </a:r>
            <a:r>
              <a:rPr lang="en-US" altLang="zh-CN" sz="2400" b="0">
                <a:ea typeface="楷体_GB2312" pitchFamily="49" charset="-122"/>
              </a:rPr>
              <a:t>10</a:t>
            </a:r>
            <a:r>
              <a:rPr lang="zh-CN" altLang="en-US" sz="2400" b="0">
                <a:ea typeface="楷体_GB2312" pitchFamily="49" charset="-122"/>
              </a:rPr>
              <a:t>／</a:t>
            </a:r>
            <a:r>
              <a:rPr lang="en-US" altLang="zh-CN" sz="2400" b="0">
                <a:ea typeface="楷体_GB2312" pitchFamily="49" charset="-122"/>
              </a:rPr>
              <a:t>12=83%</a:t>
            </a:r>
            <a:r>
              <a:rPr lang="zh-CN" altLang="en-US" sz="2400" b="0">
                <a:ea typeface="楷体_GB2312" pitchFamily="49" charset="-122"/>
              </a:rPr>
              <a:t>。</a:t>
            </a:r>
            <a:endParaRPr lang="zh-CN" altLang="en-US" sz="2400" b="0">
              <a:ea typeface="楷体_GB2312" pitchFamily="49" charset="-122"/>
            </a:endParaRPr>
          </a:p>
        </p:txBody>
      </p:sp>
      <p:sp>
        <p:nvSpPr>
          <p:cNvPr id="55469" name="矩形 2"/>
          <p:cNvSpPr/>
          <p:nvPr/>
        </p:nvSpPr>
        <p:spPr>
          <a:xfrm>
            <a:off x="522288" y="1557338"/>
            <a:ext cx="8113712" cy="7572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lnSpc>
                <a:spcPct val="90000"/>
              </a:lnSpc>
              <a:spcBef>
                <a:spcPct val="0"/>
              </a:spcBef>
              <a:buClrTx/>
              <a:buFont typeface="Wingdings" panose="05000000000000000000" pitchFamily="2" charset="2"/>
              <a:buNone/>
            </a:pPr>
            <a:r>
              <a:rPr lang="zh-CN" altLang="en-US" sz="2400" b="0"/>
              <a:t>例</a:t>
            </a:r>
            <a:r>
              <a:rPr lang="en-US" altLang="zh-CN" sz="2400" b="0"/>
              <a:t>2.  </a:t>
            </a:r>
            <a:r>
              <a:rPr lang="zh-CN" altLang="en-US" sz="2400" b="0"/>
              <a:t>设</a:t>
            </a:r>
            <a:r>
              <a:rPr lang="en-US" altLang="zh-CN" sz="2400" b="0"/>
              <a:t>M=4，</a:t>
            </a:r>
            <a:r>
              <a:rPr lang="zh-CN" altLang="en-US" sz="2400" b="0"/>
              <a:t>采用</a:t>
            </a:r>
            <a:r>
              <a:rPr lang="en-US" altLang="zh-CN" sz="2400" b="0"/>
              <a:t>FIFO，</a:t>
            </a:r>
            <a:r>
              <a:rPr lang="zh-CN" altLang="en-US" sz="2400" b="0"/>
              <a:t>其余同例</a:t>
            </a:r>
            <a:r>
              <a:rPr lang="en-US" altLang="zh-CN" sz="2400" b="0"/>
              <a:t>1</a:t>
            </a:r>
            <a:r>
              <a:rPr lang="zh-CN" altLang="en-US" sz="2400" b="0"/>
              <a:t>。缺页中断次数和缺页率如表所示。</a:t>
            </a:r>
            <a:endParaRPr lang="zh-CN" altLang="en-US" sz="2400" b="0"/>
          </a:p>
        </p:txBody>
      </p:sp>
      <p:sp>
        <p:nvSpPr>
          <p:cNvPr id="70"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nb-NO" altLang="zh-CN" sz="3600" b="0">
                <a:solidFill>
                  <a:schemeClr val="tx2"/>
                </a:solidFill>
                <a:latin typeface="Arial Black" panose="020B0A04020102020204" pitchFamily="34" charset="0"/>
              </a:rPr>
              <a:t>5.</a:t>
            </a:r>
            <a:r>
              <a:rPr lang="en-US" altLang="zh-CN" sz="3600" b="0">
                <a:solidFill>
                  <a:schemeClr val="tx2"/>
                </a:solidFill>
                <a:latin typeface="Arial Black" panose="020B0A04020102020204" pitchFamily="34" charset="0"/>
              </a:rPr>
              <a:t>8</a:t>
            </a:r>
            <a:r>
              <a:rPr lang="nb-NO" altLang="zh-CN" sz="3600" b="0">
                <a:solidFill>
                  <a:schemeClr val="tx2"/>
                </a:solidFill>
                <a:latin typeface="Arial Black" panose="020B0A04020102020204" pitchFamily="34" charset="0"/>
              </a:rPr>
              <a:t>.</a:t>
            </a:r>
            <a:r>
              <a:rPr lang="en-US" altLang="zh-CN" sz="3600" b="0">
                <a:solidFill>
                  <a:schemeClr val="tx2"/>
                </a:solidFill>
                <a:latin typeface="Arial Black" panose="020B0A04020102020204" pitchFamily="34" charset="0"/>
              </a:rPr>
              <a:t>4</a:t>
            </a:r>
            <a:r>
              <a:rPr lang="zh-CN" altLang="en-US" sz="3600" b="0">
                <a:solidFill>
                  <a:schemeClr val="tx2"/>
                </a:solidFill>
                <a:latin typeface="Arial Black" panose="020B0A04020102020204" pitchFamily="34" charset="0"/>
              </a:rPr>
              <a:t>页面置换算法</a:t>
            </a:r>
            <a:endParaRPr lang="zh-CN" altLang="en-US" sz="3600" b="0">
              <a:solidFill>
                <a:schemeClr val="tx2"/>
              </a:solidFill>
              <a:latin typeface="Arial Black" panose="020B0A040201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5300"/>
                                        </p:tgtEl>
                                        <p:attrNameLst>
                                          <p:attrName>style.visibility</p:attrName>
                                        </p:attrNameLst>
                                      </p:cBhvr>
                                      <p:to>
                                        <p:strVal val="visible"/>
                                      </p:to>
                                    </p:set>
                                    <p:anim calcmode="lin" valueType="num">
                                      <p:cBhvr additive="base">
                                        <p:cTn id="7" dur="500" fill="hold"/>
                                        <p:tgtEl>
                                          <p:spTgt spid="55300"/>
                                        </p:tgtEl>
                                        <p:attrNameLst>
                                          <p:attrName>ppt_x</p:attrName>
                                        </p:attrNameLst>
                                      </p:cBhvr>
                                      <p:tavLst>
                                        <p:tav tm="0">
                                          <p:val>
                                            <p:strVal val="1+#ppt_w/2"/>
                                          </p:val>
                                        </p:tav>
                                        <p:tav tm="100000">
                                          <p:val>
                                            <p:strVal val="#ppt_x"/>
                                          </p:val>
                                        </p:tav>
                                      </p:tavLst>
                                    </p:anim>
                                    <p:anim calcmode="lin" valueType="num">
                                      <p:cBhvr additive="base">
                                        <p:cTn id="8" dur="500" fill="hold"/>
                                        <p:tgtEl>
                                          <p:spTgt spid="5530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55314"/>
                                        </p:tgtEl>
                                        <p:attrNameLst>
                                          <p:attrName>style.visibility</p:attrName>
                                        </p:attrNameLst>
                                      </p:cBhvr>
                                      <p:to>
                                        <p:strVal val="visible"/>
                                      </p:to>
                                    </p:set>
                                    <p:anim calcmode="lin" valueType="num">
                                      <p:cBhvr additive="base">
                                        <p:cTn id="13" dur="500" fill="hold"/>
                                        <p:tgtEl>
                                          <p:spTgt spid="55314"/>
                                        </p:tgtEl>
                                        <p:attrNameLst>
                                          <p:attrName>ppt_x</p:attrName>
                                        </p:attrNameLst>
                                      </p:cBhvr>
                                      <p:tavLst>
                                        <p:tav tm="0">
                                          <p:val>
                                            <p:strVal val="1+#ppt_w/2"/>
                                          </p:val>
                                        </p:tav>
                                        <p:tav tm="100000">
                                          <p:val>
                                            <p:strVal val="#ppt_x"/>
                                          </p:val>
                                        </p:tav>
                                      </p:tavLst>
                                    </p:anim>
                                    <p:anim calcmode="lin" valueType="num">
                                      <p:cBhvr additive="base">
                                        <p:cTn id="14" dur="500" fill="hold"/>
                                        <p:tgtEl>
                                          <p:spTgt spid="5531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55328"/>
                                        </p:tgtEl>
                                        <p:attrNameLst>
                                          <p:attrName>style.visibility</p:attrName>
                                        </p:attrNameLst>
                                      </p:cBhvr>
                                      <p:to>
                                        <p:strVal val="visible"/>
                                      </p:to>
                                    </p:set>
                                    <p:anim calcmode="lin" valueType="num">
                                      <p:cBhvr additive="base">
                                        <p:cTn id="19" dur="500" fill="hold"/>
                                        <p:tgtEl>
                                          <p:spTgt spid="55328"/>
                                        </p:tgtEl>
                                        <p:attrNameLst>
                                          <p:attrName>ppt_x</p:attrName>
                                        </p:attrNameLst>
                                      </p:cBhvr>
                                      <p:tavLst>
                                        <p:tav tm="0">
                                          <p:val>
                                            <p:strVal val="1+#ppt_w/2"/>
                                          </p:val>
                                        </p:tav>
                                        <p:tav tm="100000">
                                          <p:val>
                                            <p:strVal val="#ppt_x"/>
                                          </p:val>
                                        </p:tav>
                                      </p:tavLst>
                                    </p:anim>
                                    <p:anim calcmode="lin" valueType="num">
                                      <p:cBhvr additive="base">
                                        <p:cTn id="20" dur="500" fill="hold"/>
                                        <p:tgtEl>
                                          <p:spTgt spid="5532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55342"/>
                                        </p:tgtEl>
                                        <p:attrNameLst>
                                          <p:attrName>style.visibility</p:attrName>
                                        </p:attrNameLst>
                                      </p:cBhvr>
                                      <p:to>
                                        <p:strVal val="visible"/>
                                      </p:to>
                                    </p:set>
                                    <p:anim calcmode="lin" valueType="num">
                                      <p:cBhvr additive="base">
                                        <p:cTn id="25" dur="500" fill="hold"/>
                                        <p:tgtEl>
                                          <p:spTgt spid="55342"/>
                                        </p:tgtEl>
                                        <p:attrNameLst>
                                          <p:attrName>ppt_x</p:attrName>
                                        </p:attrNameLst>
                                      </p:cBhvr>
                                      <p:tavLst>
                                        <p:tav tm="0">
                                          <p:val>
                                            <p:strVal val="1+#ppt_w/2"/>
                                          </p:val>
                                        </p:tav>
                                        <p:tav tm="100000">
                                          <p:val>
                                            <p:strVal val="#ppt_x"/>
                                          </p:val>
                                        </p:tav>
                                      </p:tavLst>
                                    </p:anim>
                                    <p:anim calcmode="lin" valueType="num">
                                      <p:cBhvr additive="base">
                                        <p:cTn id="26" dur="500" fill="hold"/>
                                        <p:tgtEl>
                                          <p:spTgt spid="5534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55356"/>
                                        </p:tgtEl>
                                        <p:attrNameLst>
                                          <p:attrName>style.visibility</p:attrName>
                                        </p:attrNameLst>
                                      </p:cBhvr>
                                      <p:to>
                                        <p:strVal val="visible"/>
                                      </p:to>
                                    </p:set>
                                    <p:anim calcmode="lin" valueType="num">
                                      <p:cBhvr additive="base">
                                        <p:cTn id="31" dur="500" fill="hold"/>
                                        <p:tgtEl>
                                          <p:spTgt spid="55356"/>
                                        </p:tgtEl>
                                        <p:attrNameLst>
                                          <p:attrName>ppt_x</p:attrName>
                                        </p:attrNameLst>
                                      </p:cBhvr>
                                      <p:tavLst>
                                        <p:tav tm="0">
                                          <p:val>
                                            <p:strVal val="1+#ppt_w/2"/>
                                          </p:val>
                                        </p:tav>
                                        <p:tav tm="100000">
                                          <p:val>
                                            <p:strVal val="#ppt_x"/>
                                          </p:val>
                                        </p:tav>
                                      </p:tavLst>
                                    </p:anim>
                                    <p:anim calcmode="lin" valueType="num">
                                      <p:cBhvr additive="base">
                                        <p:cTn id="32" dur="500" fill="hold"/>
                                        <p:tgtEl>
                                          <p:spTgt spid="5535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55370"/>
                                        </p:tgtEl>
                                        <p:attrNameLst>
                                          <p:attrName>style.visibility</p:attrName>
                                        </p:attrNameLst>
                                      </p:cBhvr>
                                      <p:to>
                                        <p:strVal val="visible"/>
                                      </p:to>
                                    </p:set>
                                    <p:anim calcmode="lin" valueType="num">
                                      <p:cBhvr additive="base">
                                        <p:cTn id="37" dur="500" fill="hold"/>
                                        <p:tgtEl>
                                          <p:spTgt spid="55370"/>
                                        </p:tgtEl>
                                        <p:attrNameLst>
                                          <p:attrName>ppt_x</p:attrName>
                                        </p:attrNameLst>
                                      </p:cBhvr>
                                      <p:tavLst>
                                        <p:tav tm="0">
                                          <p:val>
                                            <p:strVal val="1+#ppt_w/2"/>
                                          </p:val>
                                        </p:tav>
                                        <p:tav tm="100000">
                                          <p:val>
                                            <p:strVal val="#ppt_x"/>
                                          </p:val>
                                        </p:tav>
                                      </p:tavLst>
                                    </p:anim>
                                    <p:anim calcmode="lin" valueType="num">
                                      <p:cBhvr additive="base">
                                        <p:cTn id="38" dur="500" fill="hold"/>
                                        <p:tgtEl>
                                          <p:spTgt spid="5537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55384"/>
                                        </p:tgtEl>
                                        <p:attrNameLst>
                                          <p:attrName>style.visibility</p:attrName>
                                        </p:attrNameLst>
                                      </p:cBhvr>
                                      <p:to>
                                        <p:strVal val="visible"/>
                                      </p:to>
                                    </p:set>
                                    <p:anim calcmode="lin" valueType="num">
                                      <p:cBhvr additive="base">
                                        <p:cTn id="43" dur="500" fill="hold"/>
                                        <p:tgtEl>
                                          <p:spTgt spid="55384"/>
                                        </p:tgtEl>
                                        <p:attrNameLst>
                                          <p:attrName>ppt_x</p:attrName>
                                        </p:attrNameLst>
                                      </p:cBhvr>
                                      <p:tavLst>
                                        <p:tav tm="0">
                                          <p:val>
                                            <p:strVal val="1+#ppt_w/2"/>
                                          </p:val>
                                        </p:tav>
                                        <p:tav tm="100000">
                                          <p:val>
                                            <p:strVal val="#ppt_x"/>
                                          </p:val>
                                        </p:tav>
                                      </p:tavLst>
                                    </p:anim>
                                    <p:anim calcmode="lin" valueType="num">
                                      <p:cBhvr additive="base">
                                        <p:cTn id="44" dur="500" fill="hold"/>
                                        <p:tgtEl>
                                          <p:spTgt spid="5538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55398"/>
                                        </p:tgtEl>
                                        <p:attrNameLst>
                                          <p:attrName>style.visibility</p:attrName>
                                        </p:attrNameLst>
                                      </p:cBhvr>
                                      <p:to>
                                        <p:strVal val="visible"/>
                                      </p:to>
                                    </p:set>
                                    <p:anim calcmode="lin" valueType="num">
                                      <p:cBhvr additive="base">
                                        <p:cTn id="49" dur="500" fill="hold"/>
                                        <p:tgtEl>
                                          <p:spTgt spid="55398"/>
                                        </p:tgtEl>
                                        <p:attrNameLst>
                                          <p:attrName>ppt_x</p:attrName>
                                        </p:attrNameLst>
                                      </p:cBhvr>
                                      <p:tavLst>
                                        <p:tav tm="0">
                                          <p:val>
                                            <p:strVal val="1+#ppt_w/2"/>
                                          </p:val>
                                        </p:tav>
                                        <p:tav tm="100000">
                                          <p:val>
                                            <p:strVal val="#ppt_x"/>
                                          </p:val>
                                        </p:tav>
                                      </p:tavLst>
                                    </p:anim>
                                    <p:anim calcmode="lin" valueType="num">
                                      <p:cBhvr additive="base">
                                        <p:cTn id="50" dur="500" fill="hold"/>
                                        <p:tgtEl>
                                          <p:spTgt spid="5539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55412"/>
                                        </p:tgtEl>
                                        <p:attrNameLst>
                                          <p:attrName>style.visibility</p:attrName>
                                        </p:attrNameLst>
                                      </p:cBhvr>
                                      <p:to>
                                        <p:strVal val="visible"/>
                                      </p:to>
                                    </p:set>
                                    <p:anim calcmode="lin" valueType="num">
                                      <p:cBhvr additive="base">
                                        <p:cTn id="55" dur="500" fill="hold"/>
                                        <p:tgtEl>
                                          <p:spTgt spid="55412"/>
                                        </p:tgtEl>
                                        <p:attrNameLst>
                                          <p:attrName>ppt_x</p:attrName>
                                        </p:attrNameLst>
                                      </p:cBhvr>
                                      <p:tavLst>
                                        <p:tav tm="0">
                                          <p:val>
                                            <p:strVal val="1+#ppt_w/2"/>
                                          </p:val>
                                        </p:tav>
                                        <p:tav tm="100000">
                                          <p:val>
                                            <p:strVal val="#ppt_x"/>
                                          </p:val>
                                        </p:tav>
                                      </p:tavLst>
                                    </p:anim>
                                    <p:anim calcmode="lin" valueType="num">
                                      <p:cBhvr additive="base">
                                        <p:cTn id="56" dur="500" fill="hold"/>
                                        <p:tgtEl>
                                          <p:spTgt spid="5541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55426"/>
                                        </p:tgtEl>
                                        <p:attrNameLst>
                                          <p:attrName>style.visibility</p:attrName>
                                        </p:attrNameLst>
                                      </p:cBhvr>
                                      <p:to>
                                        <p:strVal val="visible"/>
                                      </p:to>
                                    </p:set>
                                    <p:anim calcmode="lin" valueType="num">
                                      <p:cBhvr additive="base">
                                        <p:cTn id="61" dur="500" fill="hold"/>
                                        <p:tgtEl>
                                          <p:spTgt spid="55426"/>
                                        </p:tgtEl>
                                        <p:attrNameLst>
                                          <p:attrName>ppt_x</p:attrName>
                                        </p:attrNameLst>
                                      </p:cBhvr>
                                      <p:tavLst>
                                        <p:tav tm="0">
                                          <p:val>
                                            <p:strVal val="1+#ppt_w/2"/>
                                          </p:val>
                                        </p:tav>
                                        <p:tav tm="100000">
                                          <p:val>
                                            <p:strVal val="#ppt_x"/>
                                          </p:val>
                                        </p:tav>
                                      </p:tavLst>
                                    </p:anim>
                                    <p:anim calcmode="lin" valueType="num">
                                      <p:cBhvr additive="base">
                                        <p:cTn id="62" dur="500" fill="hold"/>
                                        <p:tgtEl>
                                          <p:spTgt spid="5542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55440"/>
                                        </p:tgtEl>
                                        <p:attrNameLst>
                                          <p:attrName>style.visibility</p:attrName>
                                        </p:attrNameLst>
                                      </p:cBhvr>
                                      <p:to>
                                        <p:strVal val="visible"/>
                                      </p:to>
                                    </p:set>
                                    <p:anim calcmode="lin" valueType="num">
                                      <p:cBhvr additive="base">
                                        <p:cTn id="67" dur="500" fill="hold"/>
                                        <p:tgtEl>
                                          <p:spTgt spid="55440"/>
                                        </p:tgtEl>
                                        <p:attrNameLst>
                                          <p:attrName>ppt_x</p:attrName>
                                        </p:attrNameLst>
                                      </p:cBhvr>
                                      <p:tavLst>
                                        <p:tav tm="0">
                                          <p:val>
                                            <p:strVal val="1+#ppt_w/2"/>
                                          </p:val>
                                        </p:tav>
                                        <p:tav tm="100000">
                                          <p:val>
                                            <p:strVal val="#ppt_x"/>
                                          </p:val>
                                        </p:tav>
                                      </p:tavLst>
                                    </p:anim>
                                    <p:anim calcmode="lin" valueType="num">
                                      <p:cBhvr additive="base">
                                        <p:cTn id="68" dur="500" fill="hold"/>
                                        <p:tgtEl>
                                          <p:spTgt spid="55440"/>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55454"/>
                                        </p:tgtEl>
                                        <p:attrNameLst>
                                          <p:attrName>style.visibility</p:attrName>
                                        </p:attrNameLst>
                                      </p:cBhvr>
                                      <p:to>
                                        <p:strVal val="visible"/>
                                      </p:to>
                                    </p:set>
                                    <p:anim calcmode="lin" valueType="num">
                                      <p:cBhvr additive="base">
                                        <p:cTn id="73" dur="500" fill="hold"/>
                                        <p:tgtEl>
                                          <p:spTgt spid="55454"/>
                                        </p:tgtEl>
                                        <p:attrNameLst>
                                          <p:attrName>ppt_x</p:attrName>
                                        </p:attrNameLst>
                                      </p:cBhvr>
                                      <p:tavLst>
                                        <p:tav tm="0">
                                          <p:val>
                                            <p:strVal val="1+#ppt_w/2"/>
                                          </p:val>
                                        </p:tav>
                                        <p:tav tm="100000">
                                          <p:val>
                                            <p:strVal val="#ppt_x"/>
                                          </p:val>
                                        </p:tav>
                                      </p:tavLst>
                                    </p:anim>
                                    <p:anim calcmode="lin" valueType="num">
                                      <p:cBhvr additive="base">
                                        <p:cTn id="74" dur="500" fill="hold"/>
                                        <p:tgtEl>
                                          <p:spTgt spid="55454"/>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393439"/>
                                        </p:tgtEl>
                                        <p:attrNameLst>
                                          <p:attrName>style.visibility</p:attrName>
                                        </p:attrNameLst>
                                      </p:cBhvr>
                                      <p:to>
                                        <p:strVal val="visible"/>
                                      </p:to>
                                    </p:set>
                                    <p:anim calcmode="lin" valueType="num">
                                      <p:cBhvr additive="base">
                                        <p:cTn id="79" dur="500" fill="hold"/>
                                        <p:tgtEl>
                                          <p:spTgt spid="393439"/>
                                        </p:tgtEl>
                                        <p:attrNameLst>
                                          <p:attrName>ppt_x</p:attrName>
                                        </p:attrNameLst>
                                      </p:cBhvr>
                                      <p:tavLst>
                                        <p:tav tm="0">
                                          <p:val>
                                            <p:strVal val="1+#ppt_w/2"/>
                                          </p:val>
                                        </p:tav>
                                        <p:tav tm="100000">
                                          <p:val>
                                            <p:strVal val="#ppt_x"/>
                                          </p:val>
                                        </p:tav>
                                      </p:tavLst>
                                    </p:anim>
                                    <p:anim calcmode="lin" valueType="num">
                                      <p:cBhvr additive="base">
                                        <p:cTn id="80" dur="500" fill="hold"/>
                                        <p:tgtEl>
                                          <p:spTgt spid="3934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43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70"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nb-NO" altLang="zh-CN" sz="3600" b="0">
                <a:solidFill>
                  <a:schemeClr val="tx2"/>
                </a:solidFill>
                <a:latin typeface="Arial Black" panose="020B0A04020102020204" pitchFamily="34" charset="0"/>
              </a:rPr>
              <a:t>5.</a:t>
            </a:r>
            <a:r>
              <a:rPr lang="en-US" altLang="zh-CN" sz="3600" b="0">
                <a:solidFill>
                  <a:schemeClr val="tx2"/>
                </a:solidFill>
                <a:latin typeface="Arial Black" panose="020B0A04020102020204" pitchFamily="34" charset="0"/>
              </a:rPr>
              <a:t>8</a:t>
            </a:r>
            <a:r>
              <a:rPr lang="nb-NO" altLang="zh-CN" sz="3600" b="0">
                <a:solidFill>
                  <a:schemeClr val="tx2"/>
                </a:solidFill>
                <a:latin typeface="Arial Black" panose="020B0A04020102020204" pitchFamily="34" charset="0"/>
              </a:rPr>
              <a:t>.</a:t>
            </a:r>
            <a:r>
              <a:rPr lang="en-US" altLang="zh-CN" sz="3600" b="0">
                <a:solidFill>
                  <a:schemeClr val="tx2"/>
                </a:solidFill>
                <a:latin typeface="Arial Black" panose="020B0A04020102020204" pitchFamily="34" charset="0"/>
              </a:rPr>
              <a:t>4</a:t>
            </a:r>
            <a:r>
              <a:rPr lang="zh-CN" altLang="en-US" sz="3600" b="0">
                <a:solidFill>
                  <a:schemeClr val="tx2"/>
                </a:solidFill>
                <a:latin typeface="Arial Black" panose="020B0A04020102020204" pitchFamily="34" charset="0"/>
              </a:rPr>
              <a:t>页面置换算法</a:t>
            </a:r>
            <a:endParaRPr lang="zh-CN" altLang="en-US" sz="3600" b="0">
              <a:solidFill>
                <a:schemeClr val="tx2"/>
              </a:solidFill>
              <a:latin typeface="Arial Black" panose="020B0A04020102020204" pitchFamily="34" charset="0"/>
            </a:endParaRPr>
          </a:p>
        </p:txBody>
      </p:sp>
      <p:pic>
        <p:nvPicPr>
          <p:cNvPr id="56323" name="图片 1"/>
          <p:cNvPicPr>
            <a:picLocks noChangeAspect="1"/>
          </p:cNvPicPr>
          <p:nvPr/>
        </p:nvPicPr>
        <p:blipFill>
          <a:blip r:embed="rId1"/>
          <a:stretch>
            <a:fillRect/>
          </a:stretch>
        </p:blipFill>
        <p:spPr>
          <a:xfrm>
            <a:off x="4067175" y="2276475"/>
            <a:ext cx="4910138" cy="3529013"/>
          </a:xfrm>
          <a:prstGeom prst="rect">
            <a:avLst/>
          </a:prstGeom>
          <a:noFill/>
          <a:ln w="9525">
            <a:noFill/>
          </a:ln>
        </p:spPr>
      </p:pic>
      <p:sp>
        <p:nvSpPr>
          <p:cNvPr id="3" name="矩形 2"/>
          <p:cNvSpPr/>
          <p:nvPr/>
        </p:nvSpPr>
        <p:spPr>
          <a:xfrm>
            <a:off x="-36512" y="2325688"/>
            <a:ext cx="3887788" cy="3048000"/>
          </a:xfrm>
          <a:prstGeom prst="rect">
            <a:avLst/>
          </a:prstGeom>
        </p:spPr>
        <p:txBody>
          <a:bodyPr>
            <a:spAutoFit/>
          </a:bodyPr>
          <a:lstStyle/>
          <a:p>
            <a:pPr lvl="1" eaLnBrk="1" hangingPunct="1"/>
            <a:r>
              <a:rPr lang="zh-CN" altLang="en-US">
                <a:latin typeface="黑体" panose="02010609060101010101" pitchFamily="49" charset="-122"/>
              </a:rPr>
              <a:t>分配的页面数增多，缺页率反而提高。</a:t>
            </a:r>
            <a:endParaRPr lang="zh-CN" altLang="en-US">
              <a:latin typeface="黑体" panose="02010609060101010101" pitchFamily="49" charset="-122"/>
            </a:endParaRPr>
          </a:p>
          <a:p>
            <a:pPr lvl="1" eaLnBrk="1" hangingPunct="1"/>
            <a:r>
              <a:rPr lang="en-US" altLang="zh-CN">
                <a:latin typeface="黑体" panose="02010609060101010101" pitchFamily="49" charset="-122"/>
              </a:rPr>
              <a:t>Belady</a:t>
            </a:r>
            <a:r>
              <a:rPr lang="zh-CN" altLang="en-US">
                <a:latin typeface="黑体" panose="02010609060101010101" pitchFamily="49" charset="-122"/>
              </a:rPr>
              <a:t>现象的原因：</a:t>
            </a:r>
            <a:r>
              <a:rPr lang="en-US" altLang="zh-CN">
                <a:latin typeface="黑体" panose="02010609060101010101" pitchFamily="49" charset="-122"/>
              </a:rPr>
              <a:t>FIFO</a:t>
            </a:r>
            <a:r>
              <a:rPr lang="zh-CN" altLang="en-US">
                <a:latin typeface="黑体" panose="02010609060101010101" pitchFamily="49" charset="-122"/>
              </a:rPr>
              <a:t>算法的置换特征与进程访问内存的动态特征是矛盾的，即被置换的页面并不是进程不会访问的。</a:t>
            </a:r>
            <a:endParaRPr lang="zh-CN" altLang="en-US">
              <a:latin typeface="黑体" panose="02010609060101010101" pitchFamily="49"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57346"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47107" name="Rectangle 3"/>
          <p:cNvSpPr>
            <a:spLocks noGrp="1" noChangeArrowheads="1"/>
          </p:cNvSpPr>
          <p:nvPr>
            <p:ph idx="1"/>
          </p:nvPr>
        </p:nvSpPr>
        <p:spPr>
          <a:xfrm>
            <a:off x="250825" y="1447800"/>
            <a:ext cx="8353425" cy="4572000"/>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a:latin typeface="黑体" panose="02010609060101010101" pitchFamily="49" charset="-122"/>
              </a:rPr>
              <a:t>3. </a:t>
            </a:r>
            <a:r>
              <a:rPr lang="zh-CN" altLang="en-US" sz="2400" b="0">
                <a:latin typeface="黑体" panose="02010609060101010101" pitchFamily="49" charset="-122"/>
              </a:rPr>
              <a:t>最近最少使用算法</a:t>
            </a:r>
            <a:r>
              <a:rPr lang="en-US" altLang="zh-CN" sz="2400" b="0">
                <a:latin typeface="黑体" panose="02010609060101010101" pitchFamily="49" charset="-122"/>
              </a:rPr>
              <a:t>(LRU, Least Recently Used)</a:t>
            </a:r>
            <a:endParaRPr lang="en-US" altLang="zh-CN" sz="2400" b="0">
              <a:latin typeface="黑体" panose="02010609060101010101" pitchFamily="49" charset="-122"/>
            </a:endParaRPr>
          </a:p>
          <a:p>
            <a:pPr eaLnBrk="1" hangingPunct="1">
              <a:buFont typeface="Wingdings" panose="05000000000000000000" pitchFamily="2" charset="2"/>
              <a:buNone/>
            </a:pPr>
            <a:r>
              <a:rPr lang="zh-CN" altLang="en-US" sz="2400" b="0">
                <a:latin typeface="黑体" panose="02010609060101010101" pitchFamily="49" charset="-122"/>
              </a:rPr>
              <a:t>  选择内存中最久未使用的页面被置换。这是局部性原理的合理近似，性能接近最佳算法。但由于需要记录页面使用时间的先后关系，硬件开销太大。硬件机构可以为：</a:t>
            </a:r>
            <a:endParaRPr lang="zh-CN" altLang="en-US" sz="2400" b="0">
              <a:latin typeface="黑体" panose="02010609060101010101" pitchFamily="49" charset="-122"/>
            </a:endParaRPr>
          </a:p>
          <a:p>
            <a:pPr lvl="1" eaLnBrk="1" hangingPunct="1"/>
            <a:r>
              <a:rPr lang="zh-CN" altLang="en-US" b="0">
                <a:latin typeface="黑体" panose="02010609060101010101" pitchFamily="49" charset="-122"/>
              </a:rPr>
              <a:t>一个特殊的栈：把被访问的页面移到栈顶，于是栈底的是最久未使用页面。</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每个页面设立移位寄存器（通常是64位，作为计数器）：被访问时左边最高位置</a:t>
            </a:r>
            <a:r>
              <a:rPr lang="en-US" altLang="zh-CN" b="0">
                <a:latin typeface="黑体" panose="02010609060101010101" pitchFamily="49" charset="-122"/>
              </a:rPr>
              <a:t>1</a:t>
            </a:r>
            <a:r>
              <a:rPr lang="zh-CN" altLang="en-US" b="0">
                <a:latin typeface="黑体" panose="02010609060101010101" pitchFamily="49" charset="-122"/>
              </a:rPr>
              <a:t>，定期右移并且最高位补</a:t>
            </a:r>
            <a:r>
              <a:rPr lang="en-US" altLang="zh-CN" b="0">
                <a:latin typeface="黑体" panose="02010609060101010101" pitchFamily="49" charset="-122"/>
              </a:rPr>
              <a:t>0</a:t>
            </a:r>
            <a:r>
              <a:rPr lang="zh-CN" altLang="en-US" b="0">
                <a:latin typeface="黑体" panose="02010609060101010101" pitchFamily="49" charset="-122"/>
              </a:rPr>
              <a:t>，于是寄存器数值最小的是最久未使用页面。</a:t>
            </a:r>
            <a:endParaRPr lang="zh-CN" altLang="en-US" b="0">
              <a:latin typeface="黑体" panose="02010609060101010101"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58370"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385027" name="Rectangle 3"/>
          <p:cNvSpPr>
            <a:spLocks noGrp="1" noChangeArrowheads="1"/>
          </p:cNvSpPr>
          <p:nvPr>
            <p:ph idx="1"/>
          </p:nvPr>
        </p:nvSpPr>
        <p:spPr>
          <a:xfrm>
            <a:off x="406400" y="1447800"/>
            <a:ext cx="8121650" cy="2743200"/>
          </a:xfrm>
        </p:spPr>
        <p:txBody>
          <a:bodyPr vert="horz" wrap="square" lIns="91440" tIns="45720" rIns="91440" bIns="45720" numCol="1" anchor="t" anchorCtr="0" compatLnSpc="1"/>
          <a:lstStyle/>
          <a:p>
            <a:pPr lvl="1" eaLnBrk="1" hangingPunct="1"/>
            <a:r>
              <a:rPr lang="zh-CN" altLang="en-US" b="0">
                <a:latin typeface="黑体" panose="02010609060101010101" pitchFamily="49" charset="-122"/>
              </a:rPr>
              <a:t>或者，在一个有</a:t>
            </a:r>
            <a:r>
              <a:rPr lang="en-US" altLang="zh-CN" b="0">
                <a:latin typeface="黑体" panose="02010609060101010101" pitchFamily="49" charset="-122"/>
              </a:rPr>
              <a:t>n</a:t>
            </a:r>
            <a:r>
              <a:rPr lang="zh-CN" altLang="en-US" b="0">
                <a:latin typeface="黑体" panose="02010609060101010101" pitchFamily="49" charset="-122"/>
              </a:rPr>
              <a:t>个页框的机器中，</a:t>
            </a:r>
            <a:r>
              <a:rPr lang="en-US" altLang="zh-CN" b="0">
                <a:latin typeface="黑体" panose="02010609060101010101" pitchFamily="49" charset="-122"/>
              </a:rPr>
              <a:t>LRU</a:t>
            </a:r>
            <a:r>
              <a:rPr lang="zh-CN" altLang="en-US" b="0">
                <a:latin typeface="黑体" panose="02010609060101010101" pitchFamily="49" charset="-122"/>
              </a:rPr>
              <a:t>硬件可以维持一个</a:t>
            </a:r>
            <a:r>
              <a:rPr lang="en-US" altLang="zh-CN" b="0">
                <a:latin typeface="黑体" panose="02010609060101010101" pitchFamily="49" charset="-122"/>
              </a:rPr>
              <a:t>n×n</a:t>
            </a:r>
            <a:r>
              <a:rPr lang="zh-CN" altLang="en-US" b="0">
                <a:latin typeface="黑体" panose="02010609060101010101" pitchFamily="49" charset="-122"/>
              </a:rPr>
              <a:t>位的矩阵，开始时所有的位都是0。在页</a:t>
            </a:r>
            <a:r>
              <a:rPr lang="en-US" altLang="zh-CN" b="0">
                <a:latin typeface="黑体" panose="02010609060101010101" pitchFamily="49" charset="-122"/>
              </a:rPr>
              <a:t>k</a:t>
            </a:r>
            <a:r>
              <a:rPr lang="zh-CN" altLang="en-US" b="0">
                <a:latin typeface="黑体" panose="02010609060101010101" pitchFamily="49" charset="-122"/>
              </a:rPr>
              <a:t>被访问时，硬件首先把</a:t>
            </a:r>
            <a:r>
              <a:rPr lang="en-US" altLang="zh-CN" b="0">
                <a:latin typeface="黑体" panose="02010609060101010101" pitchFamily="49" charset="-122"/>
              </a:rPr>
              <a:t>k</a:t>
            </a:r>
            <a:r>
              <a:rPr lang="zh-CN" altLang="en-US" b="0">
                <a:latin typeface="黑体" panose="02010609060101010101" pitchFamily="49" charset="-122"/>
              </a:rPr>
              <a:t>行的位都设置成1，再把</a:t>
            </a:r>
            <a:r>
              <a:rPr lang="en-US" altLang="zh-CN" b="0">
                <a:latin typeface="黑体" panose="02010609060101010101" pitchFamily="49" charset="-122"/>
              </a:rPr>
              <a:t>k</a:t>
            </a:r>
            <a:r>
              <a:rPr lang="zh-CN" altLang="en-US" b="0">
                <a:latin typeface="黑体" panose="02010609060101010101" pitchFamily="49" charset="-122"/>
              </a:rPr>
              <a:t>列的位都设置成0。于是，在任何时刻，二进制值最小的行就是最久未使用的，第二小的行是下一个最久未使用的，以此类推。</a:t>
            </a:r>
            <a:endParaRPr lang="zh-CN" altLang="en-US" b="0">
              <a:latin typeface="黑体" panose="02010609060101010101" pitchFamily="49" charset="-122"/>
            </a:endParaRPr>
          </a:p>
          <a:p>
            <a:pPr lvl="1" eaLnBrk="1" hangingPunct="1">
              <a:buFont typeface="Wingdings" panose="05000000000000000000" pitchFamily="2" charset="2"/>
              <a:buNone/>
            </a:pPr>
            <a:r>
              <a:rPr lang="zh-CN" altLang="en-US" b="0">
                <a:latin typeface="黑体" panose="02010609060101010101" pitchFamily="49" charset="-122"/>
              </a:rPr>
              <a:t>	假设有4个页框，引用次序为01232，则状态为</a:t>
            </a:r>
            <a:endParaRPr lang="zh-CN" altLang="en-US" b="0">
              <a:latin typeface="黑体" panose="02010609060101010101" pitchFamily="49" charset="-122"/>
            </a:endParaRPr>
          </a:p>
        </p:txBody>
      </p:sp>
      <p:graphicFrame>
        <p:nvGraphicFramePr>
          <p:cNvPr id="58372" name="表格 58371"/>
          <p:cNvGraphicFramePr/>
          <p:nvPr/>
        </p:nvGraphicFramePr>
        <p:xfrm>
          <a:off x="762000" y="4286250"/>
          <a:ext cx="1447800" cy="1585918"/>
        </p:xfrm>
        <a:graphic>
          <a:graphicData uri="http://schemas.openxmlformats.org/drawingml/2006/table">
            <a:tbl>
              <a:tblPr/>
              <a:tblGrid>
                <a:gridCol w="361950"/>
                <a:gridCol w="361950"/>
                <a:gridCol w="361950"/>
                <a:gridCol w="361950"/>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8399" name="表格 58398"/>
          <p:cNvGraphicFramePr/>
          <p:nvPr/>
        </p:nvGraphicFramePr>
        <p:xfrm>
          <a:off x="2438400" y="4286250"/>
          <a:ext cx="1447800" cy="1585918"/>
        </p:xfrm>
        <a:graphic>
          <a:graphicData uri="http://schemas.openxmlformats.org/drawingml/2006/table">
            <a:tbl>
              <a:tblPr/>
              <a:tblGrid>
                <a:gridCol w="361950"/>
                <a:gridCol w="361950"/>
                <a:gridCol w="361950"/>
                <a:gridCol w="361950"/>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8426" name="表格 58425"/>
          <p:cNvGraphicFramePr/>
          <p:nvPr/>
        </p:nvGraphicFramePr>
        <p:xfrm>
          <a:off x="4114800" y="4267200"/>
          <a:ext cx="1447800" cy="1585918"/>
        </p:xfrm>
        <a:graphic>
          <a:graphicData uri="http://schemas.openxmlformats.org/drawingml/2006/table">
            <a:tbl>
              <a:tblPr/>
              <a:tblGrid>
                <a:gridCol w="361950"/>
                <a:gridCol w="361950"/>
                <a:gridCol w="361950"/>
                <a:gridCol w="361950"/>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8453" name="表格 58452"/>
          <p:cNvGraphicFramePr/>
          <p:nvPr/>
        </p:nvGraphicFramePr>
        <p:xfrm>
          <a:off x="5715000" y="4267200"/>
          <a:ext cx="1447800" cy="1585918"/>
        </p:xfrm>
        <a:graphic>
          <a:graphicData uri="http://schemas.openxmlformats.org/drawingml/2006/table">
            <a:tbl>
              <a:tblPr/>
              <a:tblGrid>
                <a:gridCol w="361950"/>
                <a:gridCol w="361950"/>
                <a:gridCol w="361950"/>
                <a:gridCol w="361950"/>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58480" name="表格 58479"/>
          <p:cNvGraphicFramePr/>
          <p:nvPr/>
        </p:nvGraphicFramePr>
        <p:xfrm>
          <a:off x="7391400" y="4267200"/>
          <a:ext cx="1447800" cy="1585918"/>
        </p:xfrm>
        <a:graphic>
          <a:graphicData uri="http://schemas.openxmlformats.org/drawingml/2006/table">
            <a:tbl>
              <a:tblPr/>
              <a:tblGrid>
                <a:gridCol w="361950"/>
                <a:gridCol w="361950"/>
                <a:gridCol w="361950"/>
                <a:gridCol w="361950"/>
              </a:tblGrid>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5287">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0</a:t>
                      </a:r>
                      <a:endParaRPr lang="zh-CN" altLang="en-US" sz="2000">
                        <a:latin typeface="Times New Roman" panose="02020503050405090304" pitchFamily="18" charset="0"/>
                        <a:ea typeface="楷体_GB2312" pitchFamily="49" charset="-122"/>
                      </a:endParaRPr>
                    </a:p>
                  </a:txBody>
                  <a:tcPr marT="45642" marB="45642" anchor="ctr" anchorCtr="1">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5027">
                                            <p:txEl>
                                              <p:pRg st="0" end="0"/>
                                            </p:txEl>
                                          </p:spTgt>
                                        </p:tgtEl>
                                        <p:attrNameLst>
                                          <p:attrName>style.visibility</p:attrName>
                                        </p:attrNameLst>
                                      </p:cBhvr>
                                      <p:to>
                                        <p:strVal val="visible"/>
                                      </p:to>
                                    </p:set>
                                    <p:animEffect transition="in" filter="blinds(horizontal)">
                                      <p:cBhvr>
                                        <p:cTn id="7" dur="500"/>
                                        <p:tgtEl>
                                          <p:spTgt spid="385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5027">
                                            <p:txEl>
                                              <p:pRg st="1" end="1"/>
                                            </p:txEl>
                                          </p:spTgt>
                                        </p:tgtEl>
                                        <p:attrNameLst>
                                          <p:attrName>style.visibility</p:attrName>
                                        </p:attrNameLst>
                                      </p:cBhvr>
                                      <p:to>
                                        <p:strVal val="visible"/>
                                      </p:to>
                                    </p:set>
                                    <p:animEffect transition="in" filter="blinds(horizontal)">
                                      <p:cBhvr>
                                        <p:cTn id="12" dur="500"/>
                                        <p:tgtEl>
                                          <p:spTgt spid="385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8372"/>
                                        </p:tgtEl>
                                        <p:attrNameLst>
                                          <p:attrName>style.visibility</p:attrName>
                                        </p:attrNameLst>
                                      </p:cBhvr>
                                      <p:to>
                                        <p:strVal val="visible"/>
                                      </p:to>
                                    </p:set>
                                    <p:animEffect transition="in" filter="box(out)">
                                      <p:cBhvr>
                                        <p:cTn id="17" dur="500"/>
                                        <p:tgtEl>
                                          <p:spTgt spid="5837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8399"/>
                                        </p:tgtEl>
                                        <p:attrNameLst>
                                          <p:attrName>style.visibility</p:attrName>
                                        </p:attrNameLst>
                                      </p:cBhvr>
                                      <p:to>
                                        <p:strVal val="visible"/>
                                      </p:to>
                                    </p:set>
                                    <p:animEffect transition="in" filter="box(out)">
                                      <p:cBhvr>
                                        <p:cTn id="22" dur="500"/>
                                        <p:tgtEl>
                                          <p:spTgt spid="5839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8426"/>
                                        </p:tgtEl>
                                        <p:attrNameLst>
                                          <p:attrName>style.visibility</p:attrName>
                                        </p:attrNameLst>
                                      </p:cBhvr>
                                      <p:to>
                                        <p:strVal val="visible"/>
                                      </p:to>
                                    </p:set>
                                    <p:animEffect transition="in" filter="box(out)">
                                      <p:cBhvr>
                                        <p:cTn id="27" dur="500"/>
                                        <p:tgtEl>
                                          <p:spTgt spid="5842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58453"/>
                                        </p:tgtEl>
                                        <p:attrNameLst>
                                          <p:attrName>style.visibility</p:attrName>
                                        </p:attrNameLst>
                                      </p:cBhvr>
                                      <p:to>
                                        <p:strVal val="visible"/>
                                      </p:to>
                                    </p:set>
                                    <p:animEffect transition="in" filter="box(out)">
                                      <p:cBhvr>
                                        <p:cTn id="32" dur="500"/>
                                        <p:tgtEl>
                                          <p:spTgt spid="5845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58480"/>
                                        </p:tgtEl>
                                        <p:attrNameLst>
                                          <p:attrName>style.visibility</p:attrName>
                                        </p:attrNameLst>
                                      </p:cBhvr>
                                      <p:to>
                                        <p:strVal val="visible"/>
                                      </p:to>
                                    </p:set>
                                    <p:animEffect transition="in" filter="box(out)">
                                      <p:cBhvr>
                                        <p:cTn id="37" dur="500"/>
                                        <p:tgtEl>
                                          <p:spTgt spid="58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7" grpId="0" bldLvl="2"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59394"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49155" name="Rectangle 3"/>
          <p:cNvSpPr>
            <a:spLocks noGrp="1" noChangeArrowheads="1"/>
          </p:cNvSpPr>
          <p:nvPr>
            <p:ph idx="1"/>
          </p:nvPr>
        </p:nvSpPr>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dirty="0">
                <a:latin typeface="黑体" panose="02010609060101010101" pitchFamily="49" charset="-122"/>
              </a:rPr>
              <a:t>LRU</a:t>
            </a:r>
            <a:r>
              <a:rPr lang="zh-CN" altLang="en-US" sz="2400" b="0" dirty="0">
                <a:latin typeface="黑体" panose="02010609060101010101" pitchFamily="49" charset="-122"/>
              </a:rPr>
              <a:t>的软件解决方案：</a:t>
            </a:r>
            <a:endParaRPr lang="zh-CN" altLang="en-US" sz="2400" b="0" dirty="0">
              <a:latin typeface="黑体" panose="02010609060101010101" pitchFamily="49" charset="-122"/>
            </a:endParaRPr>
          </a:p>
          <a:p>
            <a:pPr eaLnBrk="1" hangingPunct="1">
              <a:buFont typeface="Wingdings" panose="05000000000000000000" pitchFamily="2" charset="2"/>
              <a:buNone/>
            </a:pPr>
            <a:r>
              <a:rPr lang="en-US" altLang="zh-CN" sz="2400" b="0" dirty="0">
                <a:latin typeface="黑体" panose="02010609060101010101" pitchFamily="49" charset="-122"/>
              </a:rPr>
              <a:t>4.</a:t>
            </a:r>
            <a:r>
              <a:rPr lang="zh-CN" altLang="en-US" sz="2400" b="0" dirty="0">
                <a:latin typeface="黑体" panose="02010609060101010101" pitchFamily="49" charset="-122"/>
              </a:rPr>
              <a:t>最近未使用算法</a:t>
            </a:r>
            <a:r>
              <a:rPr lang="en-US" altLang="zh-CN" sz="2400" b="0" dirty="0">
                <a:latin typeface="黑体" panose="02010609060101010101" pitchFamily="49" charset="-122"/>
              </a:rPr>
              <a:t>(NRU, Not Recently Used)</a:t>
            </a:r>
            <a:r>
              <a:rPr lang="zh-CN" altLang="en-US" sz="2400" b="0" dirty="0">
                <a:latin typeface="黑体" panose="02010609060101010101" pitchFamily="49" charset="-122"/>
              </a:rPr>
              <a:t> </a:t>
            </a:r>
            <a:endParaRPr lang="zh-CN" altLang="en-US" sz="2400" b="0" dirty="0">
              <a:latin typeface="黑体" panose="02010609060101010101" pitchFamily="49" charset="-122"/>
            </a:endParaRPr>
          </a:p>
          <a:p>
            <a:pPr lvl="1" eaLnBrk="1" hangingPunct="1"/>
            <a:r>
              <a:rPr lang="zh-CN" altLang="en-US" b="0" dirty="0">
                <a:latin typeface="黑体" panose="02010609060101010101" pitchFamily="49" charset="-122"/>
              </a:rPr>
              <a:t>利用每个页的两个与其相关的状态位，访问统计位</a:t>
            </a:r>
            <a:r>
              <a:rPr lang="en-US" altLang="zh-CN" b="0" dirty="0">
                <a:latin typeface="黑体" panose="02010609060101010101" pitchFamily="49" charset="-122"/>
              </a:rPr>
              <a:t>R，</a:t>
            </a:r>
            <a:r>
              <a:rPr lang="zh-CN" altLang="en-US" b="0" dirty="0">
                <a:latin typeface="黑体" panose="02010609060101010101" pitchFamily="49" charset="-122"/>
              </a:rPr>
              <a:t>在页面被引用（读或写）时设置；修改位</a:t>
            </a:r>
            <a:r>
              <a:rPr lang="en-US" altLang="zh-CN" b="0" dirty="0">
                <a:latin typeface="黑体" panose="02010609060101010101" pitchFamily="49" charset="-122"/>
              </a:rPr>
              <a:t>M，</a:t>
            </a:r>
            <a:r>
              <a:rPr lang="zh-CN" altLang="en-US" b="0" dirty="0">
                <a:latin typeface="黑体" panose="02010609060101010101" pitchFamily="49" charset="-122"/>
              </a:rPr>
              <a:t>在页面被写入（即被修改）时设置。这些位在每次内存访问时都被更新。</a:t>
            </a:r>
            <a:endParaRPr lang="zh-CN" altLang="en-US" b="0" dirty="0">
              <a:latin typeface="黑体" panose="02010609060101010101" pitchFamily="49" charset="-122"/>
            </a:endParaRPr>
          </a:p>
          <a:p>
            <a:pPr lvl="1" eaLnBrk="1" hangingPunct="1"/>
            <a:r>
              <a:rPr lang="zh-CN" altLang="en-US" b="0" dirty="0">
                <a:latin typeface="黑体" panose="02010609060101010101" pitchFamily="49" charset="-122"/>
              </a:rPr>
              <a:t>在一个进程启动时，它的所有页的两个位都由操作系统设置成0，</a:t>
            </a:r>
            <a:r>
              <a:rPr lang="en-US" altLang="zh-CN" b="0" dirty="0">
                <a:latin typeface="黑体" panose="02010609060101010101" pitchFamily="49" charset="-122"/>
              </a:rPr>
              <a:t>R</a:t>
            </a:r>
            <a:r>
              <a:rPr lang="zh-CN" altLang="en-US" b="0" dirty="0">
                <a:latin typeface="黑体" panose="02010609060101010101" pitchFamily="49" charset="-122"/>
              </a:rPr>
              <a:t>位被定期的（比如在每次时钟中断时）清零，以把最近没有被访问的页和被访问了的页区别开来。</a:t>
            </a:r>
            <a:endParaRPr lang="en-US" altLang="zh-CN" b="0" dirty="0">
              <a:latin typeface="黑体" panose="02010609060101010101" pitchFamily="49" charset="-122"/>
            </a:endParaRPr>
          </a:p>
          <a:p>
            <a:pPr lvl="1" eaLnBrk="1" hangingPunct="1"/>
            <a:r>
              <a:rPr lang="zh-CN" altLang="zh-CN" b="0" dirty="0">
                <a:latin typeface="黑体" panose="02010609060101010101" pitchFamily="49" charset="-122"/>
              </a:rPr>
              <a:t>访问位，</a:t>
            </a:r>
            <a:r>
              <a:rPr lang="en-US" altLang="zh-CN" b="0" dirty="0">
                <a:latin typeface="黑体" panose="02010609060101010101" pitchFamily="49" charset="-122"/>
              </a:rPr>
              <a:t>1</a:t>
            </a:r>
            <a:r>
              <a:rPr lang="zh-CN" altLang="zh-CN" b="0" dirty="0">
                <a:latin typeface="黑体" panose="02010609060101010101" pitchFamily="49" charset="-122"/>
              </a:rPr>
              <a:t>表示被访问过，</a:t>
            </a:r>
            <a:r>
              <a:rPr lang="en-US" altLang="zh-CN" b="0" dirty="0">
                <a:latin typeface="黑体" panose="02010609060101010101" pitchFamily="49" charset="-122"/>
              </a:rPr>
              <a:t>0</a:t>
            </a:r>
            <a:r>
              <a:rPr lang="zh-CN" altLang="zh-CN" b="0" dirty="0">
                <a:latin typeface="黑体" panose="02010609060101010101" pitchFamily="49" charset="-122"/>
              </a:rPr>
              <a:t>表示未被访问过；</a:t>
            </a:r>
            <a:endParaRPr lang="zh-CN" altLang="en-US" b="0" dirty="0">
              <a:latin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59394"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49155" name="Rectangle 3"/>
          <p:cNvSpPr>
            <a:spLocks noGrp="1" noChangeArrowheads="1"/>
          </p:cNvSpPr>
          <p:nvPr>
            <p:ph idx="1"/>
          </p:nvPr>
        </p:nvSpPr>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dirty="0">
                <a:latin typeface="黑体" panose="02010609060101010101" pitchFamily="49" charset="-122"/>
              </a:rPr>
              <a:t>LRU</a:t>
            </a:r>
            <a:r>
              <a:rPr lang="zh-CN" altLang="en-US" sz="2400" b="0" dirty="0">
                <a:latin typeface="黑体" panose="02010609060101010101" pitchFamily="49" charset="-122"/>
              </a:rPr>
              <a:t>的软件解决方案：</a:t>
            </a:r>
            <a:endParaRPr lang="zh-CN" altLang="en-US" sz="2400" b="0" dirty="0">
              <a:latin typeface="黑体" panose="02010609060101010101" pitchFamily="49" charset="-122"/>
            </a:endParaRPr>
          </a:p>
          <a:p>
            <a:pPr eaLnBrk="1" hangingPunct="1">
              <a:buFont typeface="Wingdings" panose="05000000000000000000" pitchFamily="2" charset="2"/>
              <a:buNone/>
            </a:pPr>
            <a:r>
              <a:rPr lang="en-US" altLang="zh-CN" sz="2400" b="0" dirty="0">
                <a:latin typeface="黑体" panose="02010609060101010101" pitchFamily="49" charset="-122"/>
              </a:rPr>
              <a:t>4.</a:t>
            </a:r>
            <a:r>
              <a:rPr lang="zh-CN" altLang="en-US" sz="2400" b="0" dirty="0">
                <a:latin typeface="黑体" panose="02010609060101010101" pitchFamily="49" charset="-122"/>
              </a:rPr>
              <a:t>最近未使用算法</a:t>
            </a:r>
            <a:r>
              <a:rPr lang="en-US" altLang="zh-CN" sz="2400" b="0" dirty="0">
                <a:latin typeface="黑体" panose="02010609060101010101" pitchFamily="49" charset="-122"/>
              </a:rPr>
              <a:t>(NRU, Not Recently Used)</a:t>
            </a:r>
            <a:r>
              <a:rPr lang="zh-CN" altLang="en-US" sz="2400" b="0" dirty="0">
                <a:latin typeface="黑体" panose="02010609060101010101" pitchFamily="49" charset="-122"/>
              </a:rPr>
              <a:t> </a:t>
            </a:r>
            <a:endParaRPr lang="en-US" altLang="zh-CN" sz="2400" b="0" dirty="0">
              <a:latin typeface="黑体" panose="02010609060101010101" pitchFamily="49" charset="-122"/>
            </a:endParaRPr>
          </a:p>
          <a:p>
            <a:pPr eaLnBrk="1" hangingPunct="1">
              <a:buFont typeface="Wingdings" panose="05000000000000000000" pitchFamily="2" charset="2"/>
              <a:buNone/>
            </a:pPr>
            <a:r>
              <a:rPr lang="en-US" altLang="zh-CN" sz="2400" b="0" dirty="0">
                <a:latin typeface="黑体" panose="02010609060101010101" pitchFamily="49" charset="-122"/>
              </a:rPr>
              <a:t>  </a:t>
            </a:r>
            <a:r>
              <a:rPr lang="zh-CN" altLang="zh-CN" sz="2400" b="0" dirty="0">
                <a:latin typeface="黑体" panose="02010609060101010101" pitchFamily="49" charset="-122"/>
              </a:rPr>
              <a:t>将内存中所有页面都通过链接指针链接成一个循环队列，如果访问位是</a:t>
            </a:r>
            <a:r>
              <a:rPr lang="en-US" altLang="zh-CN" sz="2400" b="0" dirty="0">
                <a:latin typeface="黑体" panose="02010609060101010101" pitchFamily="49" charset="-122"/>
              </a:rPr>
              <a:t>0</a:t>
            </a:r>
            <a:r>
              <a:rPr lang="zh-CN" altLang="zh-CN" sz="2400" b="0" dirty="0">
                <a:latin typeface="黑体" panose="02010609060101010101" pitchFamily="49" charset="-122"/>
              </a:rPr>
              <a:t>，则选择该页换出，如果访问位是</a:t>
            </a:r>
            <a:r>
              <a:rPr lang="en-US" altLang="zh-CN" sz="2400" b="0" dirty="0">
                <a:latin typeface="黑体" panose="02010609060101010101" pitchFamily="49" charset="-122"/>
              </a:rPr>
              <a:t>1</a:t>
            </a:r>
            <a:r>
              <a:rPr lang="zh-CN" altLang="zh-CN" sz="2400" b="0" dirty="0">
                <a:latin typeface="黑体" panose="02010609060101010101" pitchFamily="49" charset="-122"/>
              </a:rPr>
              <a:t>，则将访问位置</a:t>
            </a:r>
            <a:r>
              <a:rPr lang="en-US" altLang="zh-CN" sz="2400" b="0" dirty="0">
                <a:latin typeface="黑体" panose="02010609060101010101" pitchFamily="49" charset="-122"/>
              </a:rPr>
              <a:t>0</a:t>
            </a:r>
            <a:r>
              <a:rPr lang="zh-CN" altLang="zh-CN" sz="2400" b="0" dirty="0">
                <a:latin typeface="黑体" panose="02010609060101010101" pitchFamily="49" charset="-122"/>
              </a:rPr>
              <a:t>，暂不换出，再按照</a:t>
            </a:r>
            <a:r>
              <a:rPr lang="en-US" altLang="zh-CN" sz="2400" b="0" dirty="0">
                <a:latin typeface="黑体" panose="02010609060101010101" pitchFamily="49" charset="-122"/>
              </a:rPr>
              <a:t>FIFO</a:t>
            </a:r>
            <a:r>
              <a:rPr lang="zh-CN" altLang="zh-CN" sz="2400" b="0" dirty="0">
                <a:latin typeface="黑体" panose="02010609060101010101" pitchFamily="49" charset="-122"/>
              </a:rPr>
              <a:t>算法检查下一个页面，重复上述步骤。</a:t>
            </a:r>
            <a:endParaRPr lang="en-US" altLang="zh-CN" sz="2400" b="0" dirty="0">
              <a:latin typeface="黑体" panose="02010609060101010101" pitchFamily="49" charset="-122"/>
            </a:endParaRPr>
          </a:p>
          <a:p>
            <a:pPr eaLnBrk="1" hangingPunct="1">
              <a:buNone/>
            </a:pPr>
            <a:r>
              <a:rPr lang="zh-CN" altLang="en-US" sz="2400" b="0" dirty="0">
                <a:latin typeface="黑体" panose="02010609060101010101" pitchFamily="49" charset="-122"/>
              </a:rPr>
              <a:t>访问的页面依次是：</a:t>
            </a:r>
            <a:r>
              <a:rPr lang="en-US" altLang="zh-CN" sz="2400" b="0" dirty="0">
                <a:latin typeface="黑体" panose="02010609060101010101" pitchFamily="49" charset="-122"/>
              </a:rPr>
              <a:t>1,3,4,2,5,4,7,4</a:t>
            </a:r>
            <a:r>
              <a:rPr lang="zh-CN" altLang="en-US" sz="2400" b="0" dirty="0">
                <a:latin typeface="黑体" panose="02010609060101010101" pitchFamily="49" charset="-122"/>
              </a:rPr>
              <a:t>。主存有</a:t>
            </a:r>
            <a:r>
              <a:rPr lang="en-US" altLang="zh-CN" sz="2400" b="0" dirty="0">
                <a:latin typeface="黑体" panose="02010609060101010101" pitchFamily="49" charset="-122"/>
              </a:rPr>
              <a:t>4</a:t>
            </a:r>
            <a:r>
              <a:rPr lang="zh-CN" altLang="en-US" sz="2400" b="0" dirty="0">
                <a:latin typeface="黑体" panose="02010609060101010101" pitchFamily="49" charset="-122"/>
              </a:rPr>
              <a:t>个空闲的块。</a:t>
            </a:r>
            <a:endParaRPr lang="zh-CN" altLang="en-US" sz="2400" b="0" dirty="0">
              <a:latin typeface="黑体" panose="02010609060101010101" pitchFamily="49" charset="-122"/>
            </a:endParaRPr>
          </a:p>
        </p:txBody>
      </p:sp>
      <p:pic>
        <p:nvPicPr>
          <p:cNvPr id="2" name="图片 1"/>
          <p:cNvPicPr>
            <a:picLocks noChangeAspect="1"/>
          </p:cNvPicPr>
          <p:nvPr/>
        </p:nvPicPr>
        <p:blipFill>
          <a:blip r:embed="rId1"/>
          <a:stretch>
            <a:fillRect/>
          </a:stretch>
        </p:blipFill>
        <p:spPr>
          <a:xfrm>
            <a:off x="497836" y="4714782"/>
            <a:ext cx="1085906" cy="1212912"/>
          </a:xfrm>
          <a:prstGeom prst="rect">
            <a:avLst/>
          </a:prstGeom>
        </p:spPr>
      </p:pic>
      <p:pic>
        <p:nvPicPr>
          <p:cNvPr id="3" name="图片 2"/>
          <p:cNvPicPr>
            <a:picLocks noChangeAspect="1"/>
          </p:cNvPicPr>
          <p:nvPr/>
        </p:nvPicPr>
        <p:blipFill>
          <a:blip r:embed="rId2"/>
          <a:stretch>
            <a:fillRect/>
          </a:stretch>
        </p:blipFill>
        <p:spPr>
          <a:xfrm>
            <a:off x="1838659" y="4555823"/>
            <a:ext cx="6553537" cy="1511378"/>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60418"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50179" name="Rectangle 3"/>
          <p:cNvSpPr>
            <a:spLocks noGrp="1" noChangeArrowheads="1"/>
          </p:cNvSpPr>
          <p:nvPr>
            <p:ph idx="1"/>
          </p:nvPr>
        </p:nvSpPr>
        <p:spPr>
          <a:xfrm>
            <a:off x="539750" y="1447800"/>
            <a:ext cx="7772400" cy="5181600"/>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a:latin typeface="黑体" panose="02010609060101010101" pitchFamily="49" charset="-122"/>
              </a:rPr>
              <a:t>LRU</a:t>
            </a:r>
            <a:r>
              <a:rPr lang="zh-CN" altLang="en-US" sz="2400" b="0">
                <a:latin typeface="黑体" panose="02010609060101010101" pitchFamily="49" charset="-122"/>
              </a:rPr>
              <a:t>的软件解决方案：</a:t>
            </a:r>
            <a:endParaRPr lang="zh-CN" altLang="en-US" sz="2400" b="0">
              <a:latin typeface="黑体" panose="02010609060101010101" pitchFamily="49" charset="-122"/>
            </a:endParaRPr>
          </a:p>
          <a:p>
            <a:pPr eaLnBrk="1" hangingPunct="1">
              <a:buFont typeface="Wingdings" panose="05000000000000000000" pitchFamily="2" charset="2"/>
              <a:buNone/>
            </a:pPr>
            <a:r>
              <a:rPr lang="en-US" altLang="zh-CN" sz="2400" b="0">
                <a:latin typeface="黑体" panose="02010609060101010101" pitchFamily="49" charset="-122"/>
              </a:rPr>
              <a:t>4.</a:t>
            </a:r>
            <a:r>
              <a:rPr lang="zh-CN" altLang="en-US" sz="2400" b="0">
                <a:latin typeface="黑体" panose="02010609060101010101" pitchFamily="49" charset="-122"/>
              </a:rPr>
              <a:t>最近未使用算法</a:t>
            </a:r>
            <a:r>
              <a:rPr lang="en-US" altLang="zh-CN" sz="2400" b="0">
                <a:latin typeface="黑体" panose="02010609060101010101" pitchFamily="49" charset="-122"/>
              </a:rPr>
              <a:t>(NRU, Not Recently Used)</a:t>
            </a:r>
            <a:r>
              <a:rPr lang="zh-CN" altLang="en-US" sz="2400" b="0">
                <a:latin typeface="黑体" panose="02010609060101010101" pitchFamily="49" charset="-122"/>
              </a:rPr>
              <a:t> </a:t>
            </a:r>
            <a:endParaRPr lang="zh-CN" altLang="en-US" sz="2400" b="0">
              <a:latin typeface="黑体" panose="02010609060101010101" pitchFamily="49" charset="-122"/>
            </a:endParaRPr>
          </a:p>
          <a:p>
            <a:pPr lvl="1" eaLnBrk="1" hangingPunct="1"/>
            <a:r>
              <a:rPr lang="zh-CN" altLang="en-US" b="0">
                <a:latin typeface="黑体" panose="02010609060101010101" pitchFamily="49" charset="-122"/>
              </a:rPr>
              <a:t>当发生缺页时，操作系统检查所有的页面，并根据它们当前的访问位</a:t>
            </a:r>
            <a:r>
              <a:rPr lang="en-US" altLang="zh-CN" b="0">
                <a:latin typeface="黑体" panose="02010609060101010101" pitchFamily="49" charset="-122"/>
              </a:rPr>
              <a:t>R</a:t>
            </a:r>
            <a:r>
              <a:rPr lang="zh-CN" altLang="en-US" b="0">
                <a:latin typeface="黑体" panose="02010609060101010101" pitchFamily="49" charset="-122"/>
              </a:rPr>
              <a:t>位和修改位</a:t>
            </a:r>
            <a:r>
              <a:rPr lang="en-US" altLang="zh-CN" b="0">
                <a:latin typeface="黑体" panose="02010609060101010101" pitchFamily="49" charset="-122"/>
              </a:rPr>
              <a:t>W</a:t>
            </a:r>
            <a:r>
              <a:rPr lang="zh-CN" altLang="en-US" b="0">
                <a:latin typeface="黑体" panose="02010609060101010101" pitchFamily="49" charset="-122"/>
              </a:rPr>
              <a:t>位的值分为4类：</a:t>
            </a:r>
            <a:endParaRPr lang="zh-CN" altLang="en-US" b="0">
              <a:latin typeface="黑体" panose="02010609060101010101" pitchFamily="49" charset="-122"/>
            </a:endParaRPr>
          </a:p>
          <a:p>
            <a:pPr lvl="2" eaLnBrk="1" hangingPunct="1"/>
            <a:r>
              <a:rPr lang="zh-CN" altLang="en-US" sz="2400" b="0">
                <a:latin typeface="黑体" panose="02010609060101010101" pitchFamily="49" charset="-122"/>
              </a:rPr>
              <a:t>第1类：没有被访问，没有被修改，</a:t>
            </a:r>
            <a:r>
              <a:rPr lang="en-US" altLang="zh-CN" sz="2400" b="0">
                <a:latin typeface="黑体" panose="02010609060101010101" pitchFamily="49" charset="-122"/>
              </a:rPr>
              <a:t>00</a:t>
            </a:r>
            <a:endParaRPr lang="zh-CN" altLang="en-US" sz="2400" b="0">
              <a:latin typeface="黑体" panose="02010609060101010101" pitchFamily="49" charset="-122"/>
            </a:endParaRPr>
          </a:p>
          <a:p>
            <a:pPr lvl="2" eaLnBrk="1" hangingPunct="1"/>
            <a:r>
              <a:rPr lang="zh-CN" altLang="en-US" sz="2400" b="0">
                <a:latin typeface="黑体" panose="02010609060101010101" pitchFamily="49" charset="-122"/>
              </a:rPr>
              <a:t>第2类：没有被访问，已被修改，</a:t>
            </a:r>
            <a:r>
              <a:rPr lang="en-US" altLang="zh-CN" sz="2400" b="0">
                <a:latin typeface="黑体" panose="02010609060101010101" pitchFamily="49" charset="-122"/>
              </a:rPr>
              <a:t>01</a:t>
            </a:r>
            <a:endParaRPr lang="zh-CN" altLang="en-US" sz="2400" b="0">
              <a:latin typeface="黑体" panose="02010609060101010101" pitchFamily="49" charset="-122"/>
            </a:endParaRPr>
          </a:p>
          <a:p>
            <a:pPr lvl="2" eaLnBrk="1" hangingPunct="1"/>
            <a:r>
              <a:rPr lang="zh-CN" altLang="en-US" sz="2400" b="0">
                <a:latin typeface="黑体" panose="02010609060101010101" pitchFamily="49" charset="-122"/>
              </a:rPr>
              <a:t>第3类：已被访问，没有被修改，</a:t>
            </a:r>
            <a:r>
              <a:rPr lang="en-US" altLang="zh-CN" sz="2400" b="0">
                <a:latin typeface="黑体" panose="02010609060101010101" pitchFamily="49" charset="-122"/>
              </a:rPr>
              <a:t>10</a:t>
            </a:r>
            <a:endParaRPr lang="zh-CN" altLang="en-US" sz="2400" b="0">
              <a:latin typeface="黑体" panose="02010609060101010101" pitchFamily="49" charset="-122"/>
            </a:endParaRPr>
          </a:p>
          <a:p>
            <a:pPr lvl="2" eaLnBrk="1" hangingPunct="1"/>
            <a:r>
              <a:rPr lang="zh-CN" altLang="en-US" sz="2400" b="0">
                <a:latin typeface="黑体" panose="02010609060101010101" pitchFamily="49" charset="-122"/>
              </a:rPr>
              <a:t>第4类：已被访问，已被修改，</a:t>
            </a:r>
            <a:r>
              <a:rPr lang="en-US" altLang="zh-CN" sz="2400" b="0">
                <a:latin typeface="黑体" panose="02010609060101010101" pitchFamily="49" charset="-122"/>
              </a:rPr>
              <a:t>11</a:t>
            </a:r>
            <a:endParaRPr lang="zh-CN" altLang="en-US" sz="2400" b="0">
              <a:latin typeface="黑体" panose="02010609060101010101" pitchFamily="49" charset="-122"/>
            </a:endParaRPr>
          </a:p>
          <a:p>
            <a:pPr lvl="1" eaLnBrk="1" hangingPunct="1"/>
            <a:r>
              <a:rPr lang="en-US" altLang="zh-CN" b="0">
                <a:latin typeface="黑体" panose="02010609060101010101" pitchFamily="49" charset="-122"/>
              </a:rPr>
              <a:t>NRU</a:t>
            </a:r>
            <a:r>
              <a:rPr lang="zh-CN" altLang="en-US" b="0">
                <a:latin typeface="黑体" panose="02010609060101010101" pitchFamily="49" charset="-122"/>
              </a:rPr>
              <a:t>算法随机的从编号最小的非空类中挑选出一个页并淘汰。即认为淘汰一个在最近一时钟周期中没有被访问的已修改页要比淘汰一个被频繁访问的干净页好。</a:t>
            </a:r>
            <a:endParaRPr lang="zh-CN" altLang="en-US" b="0">
              <a:latin typeface="黑体" panose="02010609060101010101" pitchFamily="49"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60418"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50179" name="Rectangle 3"/>
          <p:cNvSpPr>
            <a:spLocks noGrp="1" noChangeArrowheads="1"/>
          </p:cNvSpPr>
          <p:nvPr>
            <p:ph idx="1"/>
          </p:nvPr>
        </p:nvSpPr>
        <p:spPr>
          <a:xfrm>
            <a:off x="539750" y="1447800"/>
            <a:ext cx="7772400" cy="5181600"/>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dirty="0">
                <a:latin typeface="黑体" panose="02010609060101010101" pitchFamily="49" charset="-122"/>
              </a:rPr>
              <a:t>4.</a:t>
            </a:r>
            <a:r>
              <a:rPr lang="zh-CN" altLang="en-US" sz="2400" b="0" dirty="0">
                <a:latin typeface="黑体" panose="02010609060101010101" pitchFamily="49" charset="-122"/>
              </a:rPr>
              <a:t>最近未使用算法</a:t>
            </a:r>
            <a:r>
              <a:rPr lang="en-US" altLang="zh-CN" sz="2400" b="0" dirty="0">
                <a:latin typeface="黑体" panose="02010609060101010101" pitchFamily="49" charset="-122"/>
              </a:rPr>
              <a:t>(NRU, Not Recently Used)</a:t>
            </a:r>
            <a:r>
              <a:rPr lang="zh-CN" altLang="en-US" sz="2400" b="0" dirty="0">
                <a:latin typeface="黑体" panose="02010609060101010101" pitchFamily="49" charset="-122"/>
              </a:rPr>
              <a:t> </a:t>
            </a:r>
            <a:endParaRPr lang="zh-CN" altLang="en-US" sz="2400" b="0" dirty="0">
              <a:latin typeface="黑体" panose="02010609060101010101" pitchFamily="49" charset="-122"/>
            </a:endParaRPr>
          </a:p>
        </p:txBody>
      </p:sp>
      <p:sp>
        <p:nvSpPr>
          <p:cNvPr id="2" name="矩形 1"/>
          <p:cNvSpPr/>
          <p:nvPr/>
        </p:nvSpPr>
        <p:spPr>
          <a:xfrm>
            <a:off x="323528" y="1916832"/>
            <a:ext cx="8352730" cy="4893647"/>
          </a:xfrm>
          <a:prstGeom prst="rect">
            <a:avLst/>
          </a:prstGeom>
        </p:spPr>
        <p:txBody>
          <a:bodyPr wrap="square">
            <a:spAutoFit/>
          </a:bodyPr>
          <a:lstStyle/>
          <a:p>
            <a:pPr algn="just">
              <a:spcAft>
                <a:spcPts val="0"/>
              </a:spcAft>
            </a:pPr>
            <a:r>
              <a:rPr lang="zh-CN" altLang="zh-CN" kern="100" dirty="0">
                <a:latin typeface="Calibri" panose="020F0502020204030204" pitchFamily="34" charset="0"/>
                <a:ea typeface="宋体" pitchFamily="2" charset="-122"/>
                <a:cs typeface="Times New Roman" panose="02020503050405090304" pitchFamily="18" charset="0"/>
              </a:rPr>
              <a:t>（</a:t>
            </a:r>
            <a:r>
              <a:rPr lang="en-US" altLang="zh-CN" kern="100" dirty="0">
                <a:latin typeface="Calibri" panose="020F0502020204030204" pitchFamily="34" charset="0"/>
                <a:ea typeface="宋体" pitchFamily="2" charset="-122"/>
                <a:cs typeface="Times New Roman" panose="02020503050405090304" pitchFamily="18" charset="0"/>
              </a:rPr>
              <a:t>1</a:t>
            </a:r>
            <a:r>
              <a:rPr lang="zh-CN" altLang="zh-CN" kern="100" dirty="0">
                <a:latin typeface="Calibri" panose="020F0502020204030204" pitchFamily="34" charset="0"/>
                <a:ea typeface="宋体" pitchFamily="2" charset="-122"/>
                <a:cs typeface="Times New Roman" panose="02020503050405090304" pitchFamily="18" charset="0"/>
              </a:rPr>
              <a:t>）从指针所指示的当前位置开始，扫描循环队列，寻找</a:t>
            </a:r>
            <a:r>
              <a:rPr lang="en-US" altLang="zh-CN" kern="100" dirty="0">
                <a:latin typeface="Calibri" panose="020F0502020204030204" pitchFamily="34" charset="0"/>
                <a:ea typeface="宋体" pitchFamily="2" charset="-122"/>
                <a:cs typeface="Times New Roman" panose="02020503050405090304" pitchFamily="18" charset="0"/>
              </a:rPr>
              <a:t>00</a:t>
            </a:r>
            <a:r>
              <a:rPr lang="zh-CN" altLang="zh-CN" kern="100" dirty="0">
                <a:latin typeface="Calibri" panose="020F0502020204030204" pitchFamily="34" charset="0"/>
                <a:ea typeface="宋体" pitchFamily="2" charset="-122"/>
                <a:cs typeface="Times New Roman" panose="02020503050405090304" pitchFamily="18" charset="0"/>
              </a:rPr>
              <a:t>的第一类页面，将所遇到的第一个页面作为所选中的淘汰页。在第一次扫描期间不改变访问位。</a:t>
            </a:r>
            <a:endParaRPr lang="zh-CN" altLang="zh-CN" kern="100" dirty="0">
              <a:latin typeface="Calibri" panose="020F0502020204030204" pitchFamily="34" charset="0"/>
              <a:ea typeface="宋体" pitchFamily="2" charset="-122"/>
              <a:cs typeface="Times New Roman" panose="02020503050405090304" pitchFamily="18" charset="0"/>
            </a:endParaRPr>
          </a:p>
          <a:p>
            <a:pPr algn="just">
              <a:spcAft>
                <a:spcPts val="0"/>
              </a:spcAft>
            </a:pPr>
            <a:r>
              <a:rPr lang="zh-CN" altLang="zh-CN" kern="100" dirty="0">
                <a:latin typeface="Calibri" panose="020F0502020204030204" pitchFamily="34" charset="0"/>
                <a:ea typeface="宋体" pitchFamily="2" charset="-122"/>
                <a:cs typeface="Times New Roman" panose="02020503050405090304" pitchFamily="18" charset="0"/>
              </a:rPr>
              <a:t>（</a:t>
            </a:r>
            <a:r>
              <a:rPr lang="en-US" altLang="zh-CN" kern="100" dirty="0">
                <a:latin typeface="Calibri" panose="020F0502020204030204" pitchFamily="34" charset="0"/>
                <a:ea typeface="宋体" pitchFamily="2" charset="-122"/>
                <a:cs typeface="Times New Roman" panose="02020503050405090304" pitchFamily="18" charset="0"/>
              </a:rPr>
              <a:t>2</a:t>
            </a:r>
            <a:r>
              <a:rPr lang="zh-CN" altLang="zh-CN" kern="100" dirty="0">
                <a:latin typeface="Calibri" panose="020F0502020204030204" pitchFamily="34" charset="0"/>
                <a:ea typeface="宋体" pitchFamily="2" charset="-122"/>
                <a:cs typeface="Times New Roman" panose="02020503050405090304" pitchFamily="18" charset="0"/>
              </a:rPr>
              <a:t>）如果第一步失败，即查找一轮后未遇到第一类页面，则开始第二轮扫描，寻找</a:t>
            </a:r>
            <a:r>
              <a:rPr lang="en-US" altLang="zh-CN" kern="100" dirty="0">
                <a:latin typeface="Calibri" panose="020F0502020204030204" pitchFamily="34" charset="0"/>
                <a:ea typeface="宋体" pitchFamily="2" charset="-122"/>
                <a:cs typeface="Times New Roman" panose="02020503050405090304" pitchFamily="18" charset="0"/>
              </a:rPr>
              <a:t>01</a:t>
            </a:r>
            <a:r>
              <a:rPr lang="zh-CN" altLang="zh-CN" kern="100" dirty="0">
                <a:latin typeface="Calibri" panose="020F0502020204030204" pitchFamily="34" charset="0"/>
                <a:ea typeface="宋体" pitchFamily="2" charset="-122"/>
                <a:cs typeface="Times New Roman" panose="02020503050405090304" pitchFamily="18" charset="0"/>
              </a:rPr>
              <a:t>的第二类页面，将所遇到的第一个这类页面作为淘汰页。在第二轮扫描期间，将所有扫描过的页面的访问位都置</a:t>
            </a:r>
            <a:r>
              <a:rPr lang="en-US" altLang="zh-CN" kern="100" dirty="0">
                <a:latin typeface="Calibri" panose="020F0502020204030204" pitchFamily="34" charset="0"/>
                <a:ea typeface="宋体" pitchFamily="2" charset="-122"/>
                <a:cs typeface="Times New Roman" panose="02020503050405090304" pitchFamily="18" charset="0"/>
              </a:rPr>
              <a:t>0</a:t>
            </a:r>
            <a:r>
              <a:rPr lang="zh-CN" altLang="zh-CN" kern="100" dirty="0">
                <a:latin typeface="Calibri" panose="020F0502020204030204" pitchFamily="34" charset="0"/>
                <a:ea typeface="宋体" pitchFamily="2" charset="-122"/>
                <a:cs typeface="Times New Roman" panose="02020503050405090304" pitchFamily="18" charset="0"/>
              </a:rPr>
              <a:t>。</a:t>
            </a:r>
            <a:endParaRPr lang="zh-CN" altLang="zh-CN" kern="100" dirty="0">
              <a:latin typeface="Calibri" panose="020F0502020204030204" pitchFamily="34" charset="0"/>
              <a:ea typeface="宋体" pitchFamily="2" charset="-122"/>
              <a:cs typeface="Times New Roman" panose="02020503050405090304" pitchFamily="18" charset="0"/>
            </a:endParaRPr>
          </a:p>
          <a:p>
            <a:pPr algn="just">
              <a:spcAft>
                <a:spcPts val="0"/>
              </a:spcAft>
            </a:pPr>
            <a:r>
              <a:rPr lang="en-US" altLang="zh-CN" kern="100" dirty="0">
                <a:latin typeface="Calibri" panose="020F0502020204030204" pitchFamily="34" charset="0"/>
                <a:ea typeface="宋体" pitchFamily="2" charset="-122"/>
                <a:cs typeface="Times New Roman" panose="02020503050405090304" pitchFamily="18" charset="0"/>
              </a:rPr>
              <a:t>(3</a:t>
            </a:r>
            <a:r>
              <a:rPr lang="zh-CN" altLang="zh-CN" kern="100" dirty="0">
                <a:latin typeface="Calibri" panose="020F0502020204030204" pitchFamily="34" charset="0"/>
                <a:ea typeface="宋体" pitchFamily="2" charset="-122"/>
                <a:cs typeface="Times New Roman" panose="02020503050405090304" pitchFamily="18" charset="0"/>
              </a:rPr>
              <a:t>）如果第二步也失败，亦即未找到第二类页面，则将指针返回到开始的位置。然后重复第一步，即寻找</a:t>
            </a:r>
            <a:r>
              <a:rPr lang="en-US" altLang="zh-CN" kern="100" dirty="0">
                <a:latin typeface="Calibri" panose="020F0502020204030204" pitchFamily="34" charset="0"/>
                <a:ea typeface="宋体" pitchFamily="2" charset="-122"/>
                <a:cs typeface="Times New Roman" panose="02020503050405090304" pitchFamily="18" charset="0"/>
              </a:rPr>
              <a:t>00</a:t>
            </a:r>
            <a:r>
              <a:rPr lang="zh-CN" altLang="zh-CN" kern="100" dirty="0">
                <a:latin typeface="Calibri" panose="020F0502020204030204" pitchFamily="34" charset="0"/>
                <a:ea typeface="宋体" pitchFamily="2" charset="-122"/>
                <a:cs typeface="Times New Roman" panose="02020503050405090304" pitchFamily="18" charset="0"/>
              </a:rPr>
              <a:t>的第一类页面，如果仍失败</a:t>
            </a:r>
            <a:r>
              <a:rPr lang="en-US" altLang="zh-CN" kern="100" dirty="0">
                <a:latin typeface="Calibri" panose="020F0502020204030204" pitchFamily="34" charset="0"/>
                <a:ea typeface="宋体" pitchFamily="2" charset="-122"/>
                <a:cs typeface="Times New Roman" panose="02020503050405090304" pitchFamily="18" charset="0"/>
              </a:rPr>
              <a:t>,</a:t>
            </a:r>
            <a:r>
              <a:rPr lang="zh-CN" altLang="zh-CN" kern="100" dirty="0">
                <a:latin typeface="Calibri" panose="020F0502020204030204" pitchFamily="34" charset="0"/>
                <a:ea typeface="宋体" pitchFamily="2" charset="-122"/>
                <a:cs typeface="Times New Roman" panose="02020503050405090304" pitchFamily="18" charset="0"/>
              </a:rPr>
              <a:t>再重复第二步，寻找</a:t>
            </a:r>
            <a:r>
              <a:rPr lang="en-US" altLang="zh-CN" kern="100" dirty="0">
                <a:latin typeface="Calibri" panose="020F0502020204030204" pitchFamily="34" charset="0"/>
                <a:ea typeface="宋体" pitchFamily="2" charset="-122"/>
                <a:cs typeface="Times New Roman" panose="02020503050405090304" pitchFamily="18" charset="0"/>
              </a:rPr>
              <a:t>01</a:t>
            </a:r>
            <a:r>
              <a:rPr lang="zh-CN" altLang="zh-CN" kern="100" dirty="0">
                <a:latin typeface="Calibri" panose="020F0502020204030204" pitchFamily="34" charset="0"/>
                <a:ea typeface="宋体" pitchFamily="2" charset="-122"/>
                <a:cs typeface="Times New Roman" panose="02020503050405090304" pitchFamily="18" charset="0"/>
              </a:rPr>
              <a:t>的第二类页面，此时就一定能找到被淘汰的页。</a:t>
            </a:r>
            <a:endParaRPr lang="zh-CN" altLang="zh-CN" kern="100" dirty="0">
              <a:latin typeface="Calibri" panose="020F0502020204030204" pitchFamily="34" charset="0"/>
              <a:ea typeface="宋体" pitchFamily="2" charset="-122"/>
              <a:cs typeface="Times New Roman" panose="02020503050405090304" pitchFamily="18" charset="0"/>
            </a:endParaRPr>
          </a:p>
          <a:p>
            <a:pPr algn="just">
              <a:spcAft>
                <a:spcPts val="0"/>
              </a:spcAft>
            </a:pPr>
            <a:r>
              <a:rPr lang="zh-CN" altLang="zh-CN" kern="100" dirty="0">
                <a:latin typeface="Calibri" panose="020F0502020204030204" pitchFamily="34" charset="0"/>
                <a:ea typeface="宋体" pitchFamily="2" charset="-122"/>
                <a:cs typeface="Times New Roman" panose="02020503050405090304" pitchFamily="18" charset="0"/>
              </a:rPr>
              <a:t>总结：先替换（</a:t>
            </a:r>
            <a:r>
              <a:rPr lang="en-US" altLang="zh-CN" kern="100" dirty="0">
                <a:latin typeface="Calibri" panose="020F0502020204030204" pitchFamily="34" charset="0"/>
                <a:ea typeface="宋体" pitchFamily="2" charset="-122"/>
                <a:cs typeface="Times New Roman" panose="02020503050405090304" pitchFamily="18" charset="0"/>
              </a:rPr>
              <a:t>0,0</a:t>
            </a:r>
            <a:r>
              <a:rPr lang="zh-CN" altLang="zh-CN" kern="100" dirty="0">
                <a:latin typeface="Calibri" panose="020F0502020204030204" pitchFamily="34" charset="0"/>
                <a:ea typeface="宋体" pitchFamily="2" charset="-122"/>
                <a:cs typeface="Times New Roman" panose="02020503050405090304" pitchFamily="18" charset="0"/>
              </a:rPr>
              <a:t>），再替换（</a:t>
            </a:r>
            <a:r>
              <a:rPr lang="en-US" altLang="zh-CN" kern="100" dirty="0">
                <a:latin typeface="Calibri" panose="020F0502020204030204" pitchFamily="34" charset="0"/>
                <a:ea typeface="宋体" pitchFamily="2" charset="-122"/>
                <a:cs typeface="Times New Roman" panose="02020503050405090304" pitchFamily="18" charset="0"/>
              </a:rPr>
              <a:t>0,1</a:t>
            </a:r>
            <a:r>
              <a:rPr lang="zh-CN" altLang="zh-CN" kern="100" dirty="0">
                <a:latin typeface="Calibri" panose="020F0502020204030204" pitchFamily="34" charset="0"/>
                <a:ea typeface="宋体" pitchFamily="2" charset="-122"/>
                <a:cs typeface="Times New Roman" panose="02020503050405090304" pitchFamily="18" charset="0"/>
              </a:rPr>
              <a:t>），然后是（</a:t>
            </a:r>
            <a:r>
              <a:rPr lang="en-US" altLang="zh-CN" kern="100" dirty="0">
                <a:latin typeface="Calibri" panose="020F0502020204030204" pitchFamily="34" charset="0"/>
                <a:ea typeface="宋体" pitchFamily="2" charset="-122"/>
                <a:cs typeface="Times New Roman" panose="02020503050405090304" pitchFamily="18" charset="0"/>
              </a:rPr>
              <a:t>1,0</a:t>
            </a:r>
            <a:r>
              <a:rPr lang="zh-CN" altLang="zh-CN" kern="100" dirty="0">
                <a:latin typeface="Calibri" panose="020F0502020204030204" pitchFamily="34" charset="0"/>
                <a:ea typeface="宋体" pitchFamily="2" charset="-122"/>
                <a:cs typeface="Times New Roman" panose="02020503050405090304" pitchFamily="18" charset="0"/>
              </a:rPr>
              <a:t>），最后是（</a:t>
            </a:r>
            <a:r>
              <a:rPr lang="en-US" altLang="zh-CN" kern="100" dirty="0">
                <a:latin typeface="Calibri" panose="020F0502020204030204" pitchFamily="34" charset="0"/>
                <a:ea typeface="宋体" pitchFamily="2" charset="-122"/>
                <a:cs typeface="Times New Roman" panose="02020503050405090304" pitchFamily="18" charset="0"/>
              </a:rPr>
              <a:t>1,1</a:t>
            </a:r>
            <a:r>
              <a:rPr lang="zh-CN" altLang="zh-CN" kern="100" dirty="0">
                <a:latin typeface="Calibri" panose="020F0502020204030204" pitchFamily="34" charset="0"/>
                <a:ea typeface="宋体" pitchFamily="2" charset="-122"/>
                <a:cs typeface="Times New Roman" panose="02020503050405090304" pitchFamily="18" charset="0"/>
              </a:rPr>
              <a:t>）</a:t>
            </a:r>
            <a:endParaRPr lang="zh-CN" altLang="zh-CN" kern="100" dirty="0">
              <a:latin typeface="Calibri" panose="020F0502020204030204" pitchFamily="34" charset="0"/>
              <a:ea typeface="宋体" pitchFamily="2" charset="-122"/>
              <a:cs typeface="Times New Roman" panose="02020503050405090304" pitchFamily="18"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62466"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52227" name="Rectangle 3"/>
          <p:cNvSpPr>
            <a:spLocks noGrp="1" noChangeArrowheads="1"/>
          </p:cNvSpPr>
          <p:nvPr>
            <p:ph idx="1"/>
          </p:nvPr>
        </p:nvSpPr>
        <p:spPr>
          <a:xfrm>
            <a:off x="468313" y="1447800"/>
            <a:ext cx="8167688" cy="4648200"/>
          </a:xfrm>
        </p:spPr>
        <p:txBody>
          <a:bodyPr vert="horz" wrap="square" lIns="91440" tIns="45720" rIns="91440" bIns="45720" numCol="1" anchor="t" anchorCtr="0" compatLnSpc="1"/>
          <a:lstStyle/>
          <a:p>
            <a:pPr eaLnBrk="1" hangingPunct="1">
              <a:buFont typeface="Wingdings" panose="05000000000000000000" pitchFamily="2" charset="2"/>
              <a:buNone/>
            </a:pPr>
            <a:r>
              <a:rPr lang="en-US" altLang="zh-CN" sz="2400" b="0">
                <a:latin typeface="黑体" panose="02010609060101010101" pitchFamily="49" charset="-122"/>
              </a:rPr>
              <a:t>5. </a:t>
            </a:r>
            <a:r>
              <a:rPr lang="zh-CN" altLang="en-US" sz="2400" b="0">
                <a:latin typeface="黑体" panose="02010609060101010101" pitchFamily="49" charset="-122"/>
              </a:rPr>
              <a:t>最不经常使用（</a:t>
            </a:r>
            <a:r>
              <a:rPr lang="en-US" altLang="zh-CN" sz="2400" b="0">
                <a:latin typeface="黑体" panose="02010609060101010101" pitchFamily="49" charset="-122"/>
              </a:rPr>
              <a:t>NFU, Not Frequently Used)</a:t>
            </a:r>
            <a:endParaRPr lang="en-US" altLang="zh-CN" sz="2400" b="0">
              <a:latin typeface="黑体" panose="02010609060101010101" pitchFamily="49" charset="-122"/>
            </a:endParaRPr>
          </a:p>
          <a:p>
            <a:pPr lvl="1" eaLnBrk="1" hangingPunct="1"/>
            <a:r>
              <a:rPr lang="zh-CN" altLang="en-US" b="0">
                <a:latin typeface="黑体" panose="02010609060101010101" pitchFamily="49" charset="-122"/>
              </a:rPr>
              <a:t>淘汰访问次数最少的页面：每页设置一个软件计数器，初值为0。每次时钟中断时，由操作系统对内存中的页进行扫描，把每个页的计数器加</a:t>
            </a:r>
            <a:r>
              <a:rPr lang="en-US" altLang="zh-CN" b="0">
                <a:latin typeface="黑体" panose="02010609060101010101" pitchFamily="49" charset="-122"/>
              </a:rPr>
              <a:t>R（0</a:t>
            </a:r>
            <a:r>
              <a:rPr lang="zh-CN" altLang="en-US" b="0">
                <a:latin typeface="黑体" panose="02010609060101010101" pitchFamily="49" charset="-122"/>
              </a:rPr>
              <a:t>或1）。这样，计数器跟踪各个页被访问的频繁程度，发生缺页中断时，选择计数器值最小的一页淘汰。</a:t>
            </a:r>
            <a:endParaRPr lang="zh-CN" altLang="en-US" b="0">
              <a:latin typeface="黑体" panose="02010609060101010101" pitchFamily="49" charset="-122"/>
            </a:endParaRPr>
          </a:p>
          <a:p>
            <a:pPr lvl="1" eaLnBrk="1" hangingPunct="1"/>
            <a:r>
              <a:rPr lang="zh-CN" altLang="en-US" b="0">
                <a:solidFill>
                  <a:schemeClr val="folHlink"/>
                </a:solidFill>
                <a:latin typeface="黑体" panose="02010609060101010101" pitchFamily="49" charset="-122"/>
              </a:rPr>
              <a:t>老化</a:t>
            </a:r>
            <a:r>
              <a:rPr lang="zh-CN" altLang="en-US" b="0">
                <a:latin typeface="黑体" panose="02010609060101010101" pitchFamily="49" charset="-122"/>
              </a:rPr>
              <a:t>（</a:t>
            </a:r>
            <a:r>
              <a:rPr lang="en-US" altLang="zh-CN" b="0">
                <a:latin typeface="黑体" panose="02010609060101010101" pitchFamily="49" charset="-122"/>
              </a:rPr>
              <a:t>aging）</a:t>
            </a:r>
            <a:r>
              <a:rPr lang="zh-CN" altLang="en-US" b="0">
                <a:latin typeface="黑体" panose="02010609060101010101" pitchFamily="49" charset="-122"/>
              </a:rPr>
              <a:t>算法：计数器在</a:t>
            </a:r>
            <a:r>
              <a:rPr lang="en-US" altLang="zh-CN" b="0">
                <a:latin typeface="黑体" panose="02010609060101010101" pitchFamily="49" charset="-122"/>
              </a:rPr>
              <a:t>R</a:t>
            </a:r>
            <a:r>
              <a:rPr lang="zh-CN" altLang="en-US" b="0">
                <a:latin typeface="黑体" panose="02010609060101010101" pitchFamily="49" charset="-122"/>
              </a:rPr>
              <a:t>位加进来之前右移一位；二是</a:t>
            </a:r>
            <a:r>
              <a:rPr lang="en-US" altLang="zh-CN" b="0">
                <a:latin typeface="黑体" panose="02010609060101010101" pitchFamily="49" charset="-122"/>
              </a:rPr>
              <a:t>R</a:t>
            </a:r>
            <a:r>
              <a:rPr lang="zh-CN" altLang="en-US" b="0">
                <a:latin typeface="黑体" panose="02010609060101010101" pitchFamily="49" charset="-122"/>
              </a:rPr>
              <a:t>位加到计数器的最左端而不是最右端。</a:t>
            </a:r>
            <a:endParaRPr lang="zh-CN" altLang="en-US" b="0">
              <a:latin typeface="黑体" panose="02010609060101010101" pitchFamily="49"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63490"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53251" name="Rectangle 3"/>
          <p:cNvSpPr>
            <a:spLocks noGrp="1" noChangeArrowheads="1"/>
          </p:cNvSpPr>
          <p:nvPr>
            <p:ph idx="1"/>
          </p:nvPr>
        </p:nvSpPr>
        <p:spPr>
          <a:xfrm>
            <a:off x="723900" y="1395413"/>
            <a:ext cx="7772400" cy="4648200"/>
          </a:xfrm>
        </p:spPr>
        <p:txBody>
          <a:bodyPr vert="horz" wrap="square" lIns="91440" tIns="45720" rIns="91440" bIns="45720" numCol="1" anchor="t" anchorCtr="0" compatLnSpc="1"/>
          <a:lstStyle/>
          <a:p>
            <a:pPr eaLnBrk="1" hangingPunct="1">
              <a:buFont typeface="Wingdings" panose="05000000000000000000" pitchFamily="2" charset="2"/>
              <a:buNone/>
            </a:pPr>
            <a:r>
              <a:rPr lang="zh-CN" altLang="en-US" sz="2400" b="0" dirty="0">
                <a:solidFill>
                  <a:schemeClr val="folHlink"/>
                </a:solidFill>
                <a:latin typeface="黑体" panose="02010609060101010101" pitchFamily="49" charset="-122"/>
              </a:rPr>
              <a:t>老化</a:t>
            </a:r>
            <a:r>
              <a:rPr lang="zh-CN" altLang="en-US" sz="2400" b="0" dirty="0">
                <a:latin typeface="黑体" panose="02010609060101010101" pitchFamily="49" charset="-122"/>
              </a:rPr>
              <a:t>（</a:t>
            </a:r>
            <a:r>
              <a:rPr lang="en-US" altLang="zh-CN" sz="2400" b="0" dirty="0">
                <a:latin typeface="黑体" panose="02010609060101010101" pitchFamily="49" charset="-122"/>
              </a:rPr>
              <a:t>aging）</a:t>
            </a:r>
            <a:r>
              <a:rPr lang="zh-CN" altLang="en-US" sz="2400" b="0" dirty="0">
                <a:latin typeface="黑体" panose="02010609060101010101" pitchFamily="49" charset="-122"/>
              </a:rPr>
              <a:t>算法</a:t>
            </a:r>
            <a:endParaRPr lang="en-US" altLang="zh-CN" sz="2400" b="0" dirty="0">
              <a:latin typeface="黑体" panose="02010609060101010101" pitchFamily="49" charset="-122"/>
            </a:endParaRPr>
          </a:p>
          <a:p>
            <a:pPr eaLnBrk="1" hangingPunct="1">
              <a:buFont typeface="Wingdings" panose="05000000000000000000" pitchFamily="2" charset="2"/>
              <a:buNone/>
            </a:pPr>
            <a:r>
              <a:rPr lang="en-US" altLang="zh-CN" sz="2400" b="0" dirty="0">
                <a:latin typeface="黑体" panose="02010609060101010101" pitchFamily="49" charset="-122"/>
              </a:rPr>
              <a:t>	</a:t>
            </a:r>
            <a:r>
              <a:rPr lang="zh-CN" altLang="en-US" sz="2400" b="0" dirty="0">
                <a:latin typeface="黑体" panose="02010609060101010101" pitchFamily="49" charset="-122"/>
              </a:rPr>
              <a:t>设页0，1，2，3，4，5，</a:t>
            </a:r>
            <a:r>
              <a:rPr lang="en-US" altLang="zh-CN" sz="2400" b="0" dirty="0">
                <a:latin typeface="黑体" panose="02010609060101010101" pitchFamily="49" charset="-122"/>
              </a:rPr>
              <a:t>R</a:t>
            </a:r>
            <a:r>
              <a:rPr lang="zh-CN" altLang="en-US" sz="2400" b="0" dirty="0">
                <a:latin typeface="黑体" panose="02010609060101010101" pitchFamily="49" charset="-122"/>
              </a:rPr>
              <a:t>位值分别是101011，访问了</a:t>
            </a:r>
            <a:r>
              <a:rPr lang="en-US" altLang="zh-CN" sz="2400" b="0" dirty="0">
                <a:latin typeface="黑体" panose="02010609060101010101" pitchFamily="49" charset="-122"/>
              </a:rPr>
              <a:t>0,2,4,5</a:t>
            </a:r>
            <a:r>
              <a:rPr lang="zh-CN" altLang="en-US" sz="2400" b="0" dirty="0">
                <a:latin typeface="黑体" panose="02010609060101010101" pitchFamily="49" charset="-122"/>
              </a:rPr>
              <a:t>页面</a:t>
            </a:r>
            <a:endParaRPr lang="zh-CN" altLang="en-US" sz="2400" b="0" dirty="0">
              <a:latin typeface="黑体" panose="02010609060101010101" pitchFamily="49" charset="-122"/>
            </a:endParaRPr>
          </a:p>
        </p:txBody>
      </p:sp>
      <p:grpSp>
        <p:nvGrpSpPr>
          <p:cNvPr id="2" name="Group 4"/>
          <p:cNvGrpSpPr/>
          <p:nvPr/>
        </p:nvGrpSpPr>
        <p:grpSpPr>
          <a:xfrm>
            <a:off x="14288" y="2708920"/>
            <a:ext cx="1828800" cy="3657600"/>
            <a:chOff x="9" y="1488"/>
            <a:chExt cx="1152" cy="2304"/>
          </a:xfrm>
        </p:grpSpPr>
        <p:sp>
          <p:nvSpPr>
            <p:cNvPr id="63627" name="Rectangle 5"/>
            <p:cNvSpPr/>
            <p:nvPr/>
          </p:nvSpPr>
          <p:spPr>
            <a:xfrm>
              <a:off x="9" y="1488"/>
              <a:ext cx="1104" cy="230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63628" name="Text Box 6"/>
            <p:cNvSpPr txBox="1"/>
            <p:nvPr/>
          </p:nvSpPr>
          <p:spPr>
            <a:xfrm>
              <a:off x="57" y="1536"/>
              <a:ext cx="1104"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1800" b="0">
                  <a:ea typeface="楷体_GB2312" pitchFamily="49" charset="-122"/>
                </a:rPr>
                <a:t>页0到5的</a:t>
              </a:r>
              <a:r>
                <a:rPr lang="en-US" altLang="zh-CN" sz="1800" b="0">
                  <a:ea typeface="楷体_GB2312" pitchFamily="49" charset="-122"/>
                </a:rPr>
                <a:t>R</a:t>
              </a:r>
              <a:r>
                <a:rPr lang="zh-CN" altLang="en-US" sz="1800" b="0">
                  <a:ea typeface="楷体_GB2312" pitchFamily="49" charset="-122"/>
                </a:rPr>
                <a:t>位，时钟周期0</a:t>
              </a:r>
              <a:endParaRPr lang="zh-CN" altLang="en-US" sz="1800" b="0">
                <a:ea typeface="楷体_GB2312" pitchFamily="49" charset="-122"/>
              </a:endParaRPr>
            </a:p>
          </p:txBody>
        </p:sp>
        <p:sp>
          <p:nvSpPr>
            <p:cNvPr id="63629" name="Rectangle 7"/>
            <p:cNvSpPr/>
            <p:nvPr/>
          </p:nvSpPr>
          <p:spPr>
            <a:xfrm>
              <a:off x="825"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630" name="Rectangle 8"/>
            <p:cNvSpPr/>
            <p:nvPr/>
          </p:nvSpPr>
          <p:spPr>
            <a:xfrm>
              <a:off x="681"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631" name="Rectangle 9"/>
            <p:cNvSpPr/>
            <p:nvPr/>
          </p:nvSpPr>
          <p:spPr>
            <a:xfrm>
              <a:off x="537"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632" name="Rectangle 10"/>
            <p:cNvSpPr/>
            <p:nvPr/>
          </p:nvSpPr>
          <p:spPr>
            <a:xfrm>
              <a:off x="393"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633" name="Rectangle 11"/>
            <p:cNvSpPr/>
            <p:nvPr/>
          </p:nvSpPr>
          <p:spPr>
            <a:xfrm>
              <a:off x="249"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634" name="Rectangle 12"/>
            <p:cNvSpPr/>
            <p:nvPr/>
          </p:nvSpPr>
          <p:spPr>
            <a:xfrm>
              <a:off x="105" y="196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635" name="Line 13"/>
            <p:cNvSpPr/>
            <p:nvPr/>
          </p:nvSpPr>
          <p:spPr>
            <a:xfrm>
              <a:off x="105" y="1968"/>
              <a:ext cx="864" cy="0"/>
            </a:xfrm>
            <a:prstGeom prst="line">
              <a:avLst/>
            </a:prstGeom>
            <a:ln w="28575" cap="sq" cmpd="sng">
              <a:solidFill>
                <a:schemeClr val="tx1"/>
              </a:solidFill>
              <a:prstDash val="solid"/>
              <a:miter/>
              <a:headEnd type="none" w="med" len="med"/>
              <a:tailEnd type="none" w="med" len="med"/>
            </a:ln>
          </p:spPr>
        </p:sp>
        <p:sp>
          <p:nvSpPr>
            <p:cNvPr id="63636" name="Line 14"/>
            <p:cNvSpPr/>
            <p:nvPr/>
          </p:nvSpPr>
          <p:spPr>
            <a:xfrm>
              <a:off x="105" y="2192"/>
              <a:ext cx="864" cy="0"/>
            </a:xfrm>
            <a:prstGeom prst="line">
              <a:avLst/>
            </a:prstGeom>
            <a:ln w="28575" cap="sq" cmpd="sng">
              <a:solidFill>
                <a:schemeClr val="tx1"/>
              </a:solidFill>
              <a:prstDash val="solid"/>
              <a:miter/>
              <a:headEnd type="none" w="med" len="med"/>
              <a:tailEnd type="none" w="med" len="med"/>
            </a:ln>
          </p:spPr>
        </p:sp>
        <p:sp>
          <p:nvSpPr>
            <p:cNvPr id="63637" name="Line 15"/>
            <p:cNvSpPr/>
            <p:nvPr/>
          </p:nvSpPr>
          <p:spPr>
            <a:xfrm>
              <a:off x="105" y="1968"/>
              <a:ext cx="0" cy="224"/>
            </a:xfrm>
            <a:prstGeom prst="line">
              <a:avLst/>
            </a:prstGeom>
            <a:ln w="28575" cap="sq" cmpd="sng">
              <a:solidFill>
                <a:schemeClr val="tx1"/>
              </a:solidFill>
              <a:prstDash val="solid"/>
              <a:miter/>
              <a:headEnd type="none" w="med" len="med"/>
              <a:tailEnd type="none" w="med" len="med"/>
            </a:ln>
          </p:spPr>
        </p:sp>
        <p:sp>
          <p:nvSpPr>
            <p:cNvPr id="63638" name="Line 16"/>
            <p:cNvSpPr/>
            <p:nvPr/>
          </p:nvSpPr>
          <p:spPr>
            <a:xfrm>
              <a:off x="249" y="1968"/>
              <a:ext cx="0" cy="224"/>
            </a:xfrm>
            <a:prstGeom prst="line">
              <a:avLst/>
            </a:prstGeom>
            <a:ln w="12700" cap="flat" cmpd="sng">
              <a:solidFill>
                <a:schemeClr val="tx1"/>
              </a:solidFill>
              <a:prstDash val="solid"/>
              <a:miter/>
              <a:headEnd type="none" w="med" len="med"/>
              <a:tailEnd type="none" w="med" len="med"/>
            </a:ln>
          </p:spPr>
        </p:sp>
        <p:sp>
          <p:nvSpPr>
            <p:cNvPr id="63639" name="Line 17"/>
            <p:cNvSpPr/>
            <p:nvPr/>
          </p:nvSpPr>
          <p:spPr>
            <a:xfrm>
              <a:off x="393" y="1968"/>
              <a:ext cx="0" cy="224"/>
            </a:xfrm>
            <a:prstGeom prst="line">
              <a:avLst/>
            </a:prstGeom>
            <a:ln w="12700" cap="flat" cmpd="sng">
              <a:solidFill>
                <a:schemeClr val="tx1"/>
              </a:solidFill>
              <a:prstDash val="solid"/>
              <a:miter/>
              <a:headEnd type="none" w="med" len="med"/>
              <a:tailEnd type="none" w="med" len="med"/>
            </a:ln>
          </p:spPr>
        </p:sp>
        <p:sp>
          <p:nvSpPr>
            <p:cNvPr id="63640" name="Line 18"/>
            <p:cNvSpPr/>
            <p:nvPr/>
          </p:nvSpPr>
          <p:spPr>
            <a:xfrm>
              <a:off x="537" y="1968"/>
              <a:ext cx="0" cy="224"/>
            </a:xfrm>
            <a:prstGeom prst="line">
              <a:avLst/>
            </a:prstGeom>
            <a:ln w="12700" cap="flat" cmpd="sng">
              <a:solidFill>
                <a:schemeClr val="tx1"/>
              </a:solidFill>
              <a:prstDash val="solid"/>
              <a:miter/>
              <a:headEnd type="none" w="med" len="med"/>
              <a:tailEnd type="none" w="med" len="med"/>
            </a:ln>
          </p:spPr>
        </p:sp>
        <p:sp>
          <p:nvSpPr>
            <p:cNvPr id="63641" name="Line 19"/>
            <p:cNvSpPr/>
            <p:nvPr/>
          </p:nvSpPr>
          <p:spPr>
            <a:xfrm>
              <a:off x="681" y="1968"/>
              <a:ext cx="0" cy="224"/>
            </a:xfrm>
            <a:prstGeom prst="line">
              <a:avLst/>
            </a:prstGeom>
            <a:ln w="12700" cap="flat" cmpd="sng">
              <a:solidFill>
                <a:schemeClr val="tx1"/>
              </a:solidFill>
              <a:prstDash val="solid"/>
              <a:miter/>
              <a:headEnd type="none" w="med" len="med"/>
              <a:tailEnd type="none" w="med" len="med"/>
            </a:ln>
          </p:spPr>
        </p:sp>
        <p:sp>
          <p:nvSpPr>
            <p:cNvPr id="63642" name="Line 20"/>
            <p:cNvSpPr/>
            <p:nvPr/>
          </p:nvSpPr>
          <p:spPr>
            <a:xfrm>
              <a:off x="825" y="1968"/>
              <a:ext cx="0" cy="224"/>
            </a:xfrm>
            <a:prstGeom prst="line">
              <a:avLst/>
            </a:prstGeom>
            <a:ln w="12700" cap="flat" cmpd="sng">
              <a:solidFill>
                <a:schemeClr val="tx1"/>
              </a:solidFill>
              <a:prstDash val="solid"/>
              <a:miter/>
              <a:headEnd type="none" w="med" len="med"/>
              <a:tailEnd type="none" w="med" len="med"/>
            </a:ln>
          </p:spPr>
        </p:sp>
        <p:sp>
          <p:nvSpPr>
            <p:cNvPr id="63643" name="Line 21"/>
            <p:cNvSpPr/>
            <p:nvPr/>
          </p:nvSpPr>
          <p:spPr>
            <a:xfrm>
              <a:off x="969" y="1968"/>
              <a:ext cx="0" cy="224"/>
            </a:xfrm>
            <a:prstGeom prst="line">
              <a:avLst/>
            </a:prstGeom>
            <a:ln w="28575" cap="sq" cmpd="sng">
              <a:solidFill>
                <a:schemeClr val="tx1"/>
              </a:solidFill>
              <a:prstDash val="solid"/>
              <a:miter/>
              <a:headEnd type="none" w="med" len="med"/>
              <a:tailEnd type="none" w="med" len="med"/>
            </a:ln>
          </p:spPr>
        </p:sp>
        <p:sp>
          <p:nvSpPr>
            <p:cNvPr id="63644" name="Rectangle 22"/>
            <p:cNvSpPr/>
            <p:nvPr/>
          </p:nvSpPr>
          <p:spPr>
            <a:xfrm>
              <a:off x="153" y="3493"/>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endParaRPr lang="zh-CN" altLang="en-US" sz="1800" b="0">
                <a:ea typeface="楷体_GB2312" pitchFamily="49" charset="-122"/>
              </a:endParaRPr>
            </a:p>
          </p:txBody>
        </p:sp>
        <p:sp>
          <p:nvSpPr>
            <p:cNvPr id="63645" name="Rectangle 23"/>
            <p:cNvSpPr/>
            <p:nvPr/>
          </p:nvSpPr>
          <p:spPr>
            <a:xfrm>
              <a:off x="153" y="3242"/>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endParaRPr lang="zh-CN" altLang="en-US" sz="1800" b="0">
                <a:ea typeface="楷体_GB2312" pitchFamily="49" charset="-122"/>
              </a:endParaRPr>
            </a:p>
          </p:txBody>
        </p:sp>
        <p:sp>
          <p:nvSpPr>
            <p:cNvPr id="63646" name="Rectangle 24"/>
            <p:cNvSpPr/>
            <p:nvPr/>
          </p:nvSpPr>
          <p:spPr>
            <a:xfrm>
              <a:off x="153" y="2989"/>
              <a:ext cx="720" cy="253"/>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00000000</a:t>
              </a:r>
              <a:endParaRPr lang="zh-CN" altLang="en-US" sz="1800" b="0">
                <a:ea typeface="楷体_GB2312" pitchFamily="49" charset="-122"/>
              </a:endParaRPr>
            </a:p>
          </p:txBody>
        </p:sp>
        <p:sp>
          <p:nvSpPr>
            <p:cNvPr id="63647" name="Rectangle 25"/>
            <p:cNvSpPr/>
            <p:nvPr/>
          </p:nvSpPr>
          <p:spPr>
            <a:xfrm>
              <a:off x="153" y="2737"/>
              <a:ext cx="720" cy="25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endParaRPr lang="zh-CN" altLang="en-US" sz="1800" b="0">
                <a:ea typeface="楷体_GB2312" pitchFamily="49" charset="-122"/>
              </a:endParaRPr>
            </a:p>
          </p:txBody>
        </p:sp>
        <p:sp>
          <p:nvSpPr>
            <p:cNvPr id="63648" name="Rectangle 26"/>
            <p:cNvSpPr/>
            <p:nvPr/>
          </p:nvSpPr>
          <p:spPr>
            <a:xfrm>
              <a:off x="153" y="2486"/>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00000000</a:t>
              </a:r>
              <a:endParaRPr lang="zh-CN" altLang="en-US" sz="1800" b="0">
                <a:ea typeface="楷体_GB2312" pitchFamily="49" charset="-122"/>
              </a:endParaRPr>
            </a:p>
          </p:txBody>
        </p:sp>
        <p:sp>
          <p:nvSpPr>
            <p:cNvPr id="63649" name="Rectangle 27"/>
            <p:cNvSpPr/>
            <p:nvPr/>
          </p:nvSpPr>
          <p:spPr>
            <a:xfrm>
              <a:off x="153" y="2256"/>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endParaRPr lang="zh-CN" altLang="en-US" sz="1800" b="0">
                <a:ea typeface="楷体_GB2312" pitchFamily="49" charset="-122"/>
              </a:endParaRPr>
            </a:p>
          </p:txBody>
        </p:sp>
        <p:sp>
          <p:nvSpPr>
            <p:cNvPr id="63650" name="Line 28"/>
            <p:cNvSpPr/>
            <p:nvPr/>
          </p:nvSpPr>
          <p:spPr>
            <a:xfrm>
              <a:off x="153" y="2256"/>
              <a:ext cx="720" cy="0"/>
            </a:xfrm>
            <a:prstGeom prst="line">
              <a:avLst/>
            </a:prstGeom>
            <a:ln w="28575" cap="sq" cmpd="sng">
              <a:solidFill>
                <a:schemeClr val="tx1"/>
              </a:solidFill>
              <a:prstDash val="solid"/>
              <a:miter/>
              <a:headEnd type="none" w="med" len="med"/>
              <a:tailEnd type="none" w="med" len="med"/>
            </a:ln>
          </p:spPr>
        </p:sp>
        <p:sp>
          <p:nvSpPr>
            <p:cNvPr id="63651" name="Line 29"/>
            <p:cNvSpPr/>
            <p:nvPr/>
          </p:nvSpPr>
          <p:spPr>
            <a:xfrm>
              <a:off x="153" y="2486"/>
              <a:ext cx="720" cy="0"/>
            </a:xfrm>
            <a:prstGeom prst="line">
              <a:avLst/>
            </a:prstGeom>
            <a:ln w="12700" cap="flat" cmpd="sng">
              <a:solidFill>
                <a:schemeClr val="tx1"/>
              </a:solidFill>
              <a:prstDash val="solid"/>
              <a:miter/>
              <a:headEnd type="none" w="med" len="med"/>
              <a:tailEnd type="none" w="med" len="med"/>
            </a:ln>
          </p:spPr>
        </p:sp>
        <p:sp>
          <p:nvSpPr>
            <p:cNvPr id="63652" name="Line 30"/>
            <p:cNvSpPr/>
            <p:nvPr/>
          </p:nvSpPr>
          <p:spPr>
            <a:xfrm>
              <a:off x="153" y="2737"/>
              <a:ext cx="720" cy="0"/>
            </a:xfrm>
            <a:prstGeom prst="line">
              <a:avLst/>
            </a:prstGeom>
            <a:ln w="12700" cap="flat" cmpd="sng">
              <a:solidFill>
                <a:schemeClr val="tx1"/>
              </a:solidFill>
              <a:prstDash val="solid"/>
              <a:miter/>
              <a:headEnd type="none" w="med" len="med"/>
              <a:tailEnd type="none" w="med" len="med"/>
            </a:ln>
          </p:spPr>
        </p:sp>
        <p:sp>
          <p:nvSpPr>
            <p:cNvPr id="63653" name="Line 31"/>
            <p:cNvSpPr/>
            <p:nvPr/>
          </p:nvSpPr>
          <p:spPr>
            <a:xfrm>
              <a:off x="153" y="2989"/>
              <a:ext cx="720" cy="0"/>
            </a:xfrm>
            <a:prstGeom prst="line">
              <a:avLst/>
            </a:prstGeom>
            <a:ln w="12700" cap="flat" cmpd="sng">
              <a:solidFill>
                <a:schemeClr val="tx1"/>
              </a:solidFill>
              <a:prstDash val="solid"/>
              <a:miter/>
              <a:headEnd type="none" w="med" len="med"/>
              <a:tailEnd type="none" w="med" len="med"/>
            </a:ln>
          </p:spPr>
        </p:sp>
        <p:sp>
          <p:nvSpPr>
            <p:cNvPr id="63654" name="Line 32"/>
            <p:cNvSpPr/>
            <p:nvPr/>
          </p:nvSpPr>
          <p:spPr>
            <a:xfrm>
              <a:off x="153" y="3242"/>
              <a:ext cx="720" cy="0"/>
            </a:xfrm>
            <a:prstGeom prst="line">
              <a:avLst/>
            </a:prstGeom>
            <a:ln w="12700" cap="flat" cmpd="sng">
              <a:solidFill>
                <a:schemeClr val="tx1"/>
              </a:solidFill>
              <a:prstDash val="solid"/>
              <a:miter/>
              <a:headEnd type="none" w="med" len="med"/>
              <a:tailEnd type="none" w="med" len="med"/>
            </a:ln>
          </p:spPr>
        </p:sp>
        <p:sp>
          <p:nvSpPr>
            <p:cNvPr id="63655" name="Line 33"/>
            <p:cNvSpPr/>
            <p:nvPr/>
          </p:nvSpPr>
          <p:spPr>
            <a:xfrm>
              <a:off x="153" y="3493"/>
              <a:ext cx="720" cy="0"/>
            </a:xfrm>
            <a:prstGeom prst="line">
              <a:avLst/>
            </a:prstGeom>
            <a:ln w="12700" cap="flat" cmpd="sng">
              <a:solidFill>
                <a:schemeClr val="tx1"/>
              </a:solidFill>
              <a:prstDash val="solid"/>
              <a:miter/>
              <a:headEnd type="none" w="med" len="med"/>
              <a:tailEnd type="none" w="med" len="med"/>
            </a:ln>
          </p:spPr>
        </p:sp>
        <p:sp>
          <p:nvSpPr>
            <p:cNvPr id="63656" name="Line 34"/>
            <p:cNvSpPr/>
            <p:nvPr/>
          </p:nvSpPr>
          <p:spPr>
            <a:xfrm>
              <a:off x="153" y="3723"/>
              <a:ext cx="720" cy="0"/>
            </a:xfrm>
            <a:prstGeom prst="line">
              <a:avLst/>
            </a:prstGeom>
            <a:ln w="28575" cap="sq" cmpd="sng">
              <a:solidFill>
                <a:schemeClr val="tx1"/>
              </a:solidFill>
              <a:prstDash val="solid"/>
              <a:miter/>
              <a:headEnd type="none" w="med" len="med"/>
              <a:tailEnd type="none" w="med" len="med"/>
            </a:ln>
          </p:spPr>
        </p:sp>
        <p:sp>
          <p:nvSpPr>
            <p:cNvPr id="63657" name="Line 35"/>
            <p:cNvSpPr/>
            <p:nvPr/>
          </p:nvSpPr>
          <p:spPr>
            <a:xfrm>
              <a:off x="153" y="2256"/>
              <a:ext cx="0" cy="1467"/>
            </a:xfrm>
            <a:prstGeom prst="line">
              <a:avLst/>
            </a:prstGeom>
            <a:ln w="28575" cap="sq" cmpd="sng">
              <a:solidFill>
                <a:schemeClr val="tx1"/>
              </a:solidFill>
              <a:prstDash val="solid"/>
              <a:miter/>
              <a:headEnd type="none" w="med" len="med"/>
              <a:tailEnd type="none" w="med" len="med"/>
            </a:ln>
          </p:spPr>
        </p:sp>
        <p:sp>
          <p:nvSpPr>
            <p:cNvPr id="63658" name="Line 36"/>
            <p:cNvSpPr/>
            <p:nvPr/>
          </p:nvSpPr>
          <p:spPr>
            <a:xfrm>
              <a:off x="873" y="2256"/>
              <a:ext cx="0" cy="1467"/>
            </a:xfrm>
            <a:prstGeom prst="line">
              <a:avLst/>
            </a:prstGeom>
            <a:ln w="28575" cap="sq" cmpd="sng">
              <a:solidFill>
                <a:schemeClr val="tx1"/>
              </a:solidFill>
              <a:prstDash val="solid"/>
              <a:miter/>
              <a:headEnd type="none" w="med" len="med"/>
              <a:tailEnd type="none" w="med" len="med"/>
            </a:ln>
          </p:spPr>
        </p:sp>
      </p:grpSp>
      <p:grpSp>
        <p:nvGrpSpPr>
          <p:cNvPr id="3" name="Group 37"/>
          <p:cNvGrpSpPr/>
          <p:nvPr/>
        </p:nvGrpSpPr>
        <p:grpSpPr>
          <a:xfrm>
            <a:off x="1800225" y="2708920"/>
            <a:ext cx="1828800" cy="3657600"/>
            <a:chOff x="1134" y="1488"/>
            <a:chExt cx="1152" cy="2304"/>
          </a:xfrm>
        </p:grpSpPr>
        <p:sp>
          <p:nvSpPr>
            <p:cNvPr id="63595" name="Rectangle 38"/>
            <p:cNvSpPr/>
            <p:nvPr/>
          </p:nvSpPr>
          <p:spPr>
            <a:xfrm>
              <a:off x="1134" y="1488"/>
              <a:ext cx="1104" cy="230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63596" name="Text Box 39"/>
            <p:cNvSpPr txBox="1"/>
            <p:nvPr/>
          </p:nvSpPr>
          <p:spPr>
            <a:xfrm>
              <a:off x="1182" y="1536"/>
              <a:ext cx="1104"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1800" b="0">
                  <a:ea typeface="楷体_GB2312" pitchFamily="49" charset="-122"/>
                </a:rPr>
                <a:t>页0到5的</a:t>
              </a:r>
              <a:r>
                <a:rPr lang="en-US" altLang="zh-CN" sz="1800" b="0">
                  <a:ea typeface="楷体_GB2312" pitchFamily="49" charset="-122"/>
                </a:rPr>
                <a:t>R</a:t>
              </a:r>
              <a:r>
                <a:rPr lang="zh-CN" altLang="en-US" sz="1800" b="0">
                  <a:ea typeface="楷体_GB2312" pitchFamily="49" charset="-122"/>
                </a:rPr>
                <a:t>位，时钟周期1</a:t>
              </a:r>
              <a:endParaRPr lang="zh-CN" altLang="en-US" sz="1800" b="0">
                <a:ea typeface="楷体_GB2312" pitchFamily="49" charset="-122"/>
              </a:endParaRPr>
            </a:p>
          </p:txBody>
        </p:sp>
        <p:sp>
          <p:nvSpPr>
            <p:cNvPr id="63597" name="Rectangle 40"/>
            <p:cNvSpPr/>
            <p:nvPr/>
          </p:nvSpPr>
          <p:spPr>
            <a:xfrm>
              <a:off x="1950"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98" name="Rectangle 41"/>
            <p:cNvSpPr/>
            <p:nvPr/>
          </p:nvSpPr>
          <p:spPr>
            <a:xfrm>
              <a:off x="1806"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599" name="Rectangle 42"/>
            <p:cNvSpPr/>
            <p:nvPr/>
          </p:nvSpPr>
          <p:spPr>
            <a:xfrm>
              <a:off x="1662"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600" name="Rectangle 43"/>
            <p:cNvSpPr/>
            <p:nvPr/>
          </p:nvSpPr>
          <p:spPr>
            <a:xfrm>
              <a:off x="1518"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601" name="Rectangle 44"/>
            <p:cNvSpPr/>
            <p:nvPr/>
          </p:nvSpPr>
          <p:spPr>
            <a:xfrm>
              <a:off x="1374"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602" name="Rectangle 45"/>
            <p:cNvSpPr/>
            <p:nvPr/>
          </p:nvSpPr>
          <p:spPr>
            <a:xfrm>
              <a:off x="1230"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603" name="Line 46"/>
            <p:cNvSpPr/>
            <p:nvPr/>
          </p:nvSpPr>
          <p:spPr>
            <a:xfrm>
              <a:off x="1230" y="1978"/>
              <a:ext cx="864" cy="0"/>
            </a:xfrm>
            <a:prstGeom prst="line">
              <a:avLst/>
            </a:prstGeom>
            <a:ln w="28575" cap="sq" cmpd="sng">
              <a:solidFill>
                <a:schemeClr val="tx1"/>
              </a:solidFill>
              <a:prstDash val="solid"/>
              <a:miter/>
              <a:headEnd type="none" w="med" len="med"/>
              <a:tailEnd type="none" w="med" len="med"/>
            </a:ln>
          </p:spPr>
        </p:sp>
        <p:sp>
          <p:nvSpPr>
            <p:cNvPr id="63604" name="Line 47"/>
            <p:cNvSpPr/>
            <p:nvPr/>
          </p:nvSpPr>
          <p:spPr>
            <a:xfrm>
              <a:off x="1230" y="2202"/>
              <a:ext cx="864" cy="0"/>
            </a:xfrm>
            <a:prstGeom prst="line">
              <a:avLst/>
            </a:prstGeom>
            <a:ln w="28575" cap="sq" cmpd="sng">
              <a:solidFill>
                <a:schemeClr val="tx1"/>
              </a:solidFill>
              <a:prstDash val="solid"/>
              <a:miter/>
              <a:headEnd type="none" w="med" len="med"/>
              <a:tailEnd type="none" w="med" len="med"/>
            </a:ln>
          </p:spPr>
        </p:sp>
        <p:sp>
          <p:nvSpPr>
            <p:cNvPr id="63605" name="Line 48"/>
            <p:cNvSpPr/>
            <p:nvPr/>
          </p:nvSpPr>
          <p:spPr>
            <a:xfrm>
              <a:off x="1230" y="1978"/>
              <a:ext cx="0" cy="224"/>
            </a:xfrm>
            <a:prstGeom prst="line">
              <a:avLst/>
            </a:prstGeom>
            <a:ln w="28575" cap="sq" cmpd="sng">
              <a:solidFill>
                <a:schemeClr val="tx1"/>
              </a:solidFill>
              <a:prstDash val="solid"/>
              <a:miter/>
              <a:headEnd type="none" w="med" len="med"/>
              <a:tailEnd type="none" w="med" len="med"/>
            </a:ln>
          </p:spPr>
        </p:sp>
        <p:sp>
          <p:nvSpPr>
            <p:cNvPr id="63606" name="Line 49"/>
            <p:cNvSpPr/>
            <p:nvPr/>
          </p:nvSpPr>
          <p:spPr>
            <a:xfrm>
              <a:off x="1374" y="1978"/>
              <a:ext cx="0" cy="224"/>
            </a:xfrm>
            <a:prstGeom prst="line">
              <a:avLst/>
            </a:prstGeom>
            <a:ln w="12700" cap="flat" cmpd="sng">
              <a:solidFill>
                <a:schemeClr val="tx1"/>
              </a:solidFill>
              <a:prstDash val="solid"/>
              <a:miter/>
              <a:headEnd type="none" w="med" len="med"/>
              <a:tailEnd type="none" w="med" len="med"/>
            </a:ln>
          </p:spPr>
        </p:sp>
        <p:sp>
          <p:nvSpPr>
            <p:cNvPr id="63607" name="Line 50"/>
            <p:cNvSpPr/>
            <p:nvPr/>
          </p:nvSpPr>
          <p:spPr>
            <a:xfrm>
              <a:off x="1518" y="1978"/>
              <a:ext cx="0" cy="224"/>
            </a:xfrm>
            <a:prstGeom prst="line">
              <a:avLst/>
            </a:prstGeom>
            <a:ln w="12700" cap="flat" cmpd="sng">
              <a:solidFill>
                <a:schemeClr val="tx1"/>
              </a:solidFill>
              <a:prstDash val="solid"/>
              <a:miter/>
              <a:headEnd type="none" w="med" len="med"/>
              <a:tailEnd type="none" w="med" len="med"/>
            </a:ln>
          </p:spPr>
        </p:sp>
        <p:sp>
          <p:nvSpPr>
            <p:cNvPr id="63608" name="Line 51"/>
            <p:cNvSpPr/>
            <p:nvPr/>
          </p:nvSpPr>
          <p:spPr>
            <a:xfrm>
              <a:off x="1662" y="1978"/>
              <a:ext cx="0" cy="224"/>
            </a:xfrm>
            <a:prstGeom prst="line">
              <a:avLst/>
            </a:prstGeom>
            <a:ln w="12700" cap="flat" cmpd="sng">
              <a:solidFill>
                <a:schemeClr val="tx1"/>
              </a:solidFill>
              <a:prstDash val="solid"/>
              <a:miter/>
              <a:headEnd type="none" w="med" len="med"/>
              <a:tailEnd type="none" w="med" len="med"/>
            </a:ln>
          </p:spPr>
        </p:sp>
        <p:sp>
          <p:nvSpPr>
            <p:cNvPr id="63609" name="Line 52"/>
            <p:cNvSpPr/>
            <p:nvPr/>
          </p:nvSpPr>
          <p:spPr>
            <a:xfrm>
              <a:off x="1806" y="1978"/>
              <a:ext cx="0" cy="224"/>
            </a:xfrm>
            <a:prstGeom prst="line">
              <a:avLst/>
            </a:prstGeom>
            <a:ln w="12700" cap="flat" cmpd="sng">
              <a:solidFill>
                <a:schemeClr val="tx1"/>
              </a:solidFill>
              <a:prstDash val="solid"/>
              <a:miter/>
              <a:headEnd type="none" w="med" len="med"/>
              <a:tailEnd type="none" w="med" len="med"/>
            </a:ln>
          </p:spPr>
        </p:sp>
        <p:sp>
          <p:nvSpPr>
            <p:cNvPr id="63610" name="Line 53"/>
            <p:cNvSpPr/>
            <p:nvPr/>
          </p:nvSpPr>
          <p:spPr>
            <a:xfrm>
              <a:off x="1950" y="1978"/>
              <a:ext cx="0" cy="224"/>
            </a:xfrm>
            <a:prstGeom prst="line">
              <a:avLst/>
            </a:prstGeom>
            <a:ln w="12700" cap="flat" cmpd="sng">
              <a:solidFill>
                <a:schemeClr val="tx1"/>
              </a:solidFill>
              <a:prstDash val="solid"/>
              <a:miter/>
              <a:headEnd type="none" w="med" len="med"/>
              <a:tailEnd type="none" w="med" len="med"/>
            </a:ln>
          </p:spPr>
        </p:sp>
        <p:sp>
          <p:nvSpPr>
            <p:cNvPr id="63611" name="Line 54"/>
            <p:cNvSpPr/>
            <p:nvPr/>
          </p:nvSpPr>
          <p:spPr>
            <a:xfrm>
              <a:off x="2094" y="1978"/>
              <a:ext cx="0" cy="224"/>
            </a:xfrm>
            <a:prstGeom prst="line">
              <a:avLst/>
            </a:prstGeom>
            <a:ln w="28575" cap="sq" cmpd="sng">
              <a:solidFill>
                <a:schemeClr val="tx1"/>
              </a:solidFill>
              <a:prstDash val="solid"/>
              <a:miter/>
              <a:headEnd type="none" w="med" len="med"/>
              <a:tailEnd type="none" w="med" len="med"/>
            </a:ln>
          </p:spPr>
        </p:sp>
        <p:sp>
          <p:nvSpPr>
            <p:cNvPr id="63612" name="Rectangle 55"/>
            <p:cNvSpPr/>
            <p:nvPr/>
          </p:nvSpPr>
          <p:spPr>
            <a:xfrm>
              <a:off x="1278" y="3493"/>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01000000</a:t>
              </a:r>
              <a:endParaRPr lang="zh-CN" altLang="en-US" sz="1800" b="0">
                <a:ea typeface="楷体_GB2312" pitchFamily="49" charset="-122"/>
              </a:endParaRPr>
            </a:p>
          </p:txBody>
        </p:sp>
        <p:sp>
          <p:nvSpPr>
            <p:cNvPr id="63613" name="Rectangle 56"/>
            <p:cNvSpPr/>
            <p:nvPr/>
          </p:nvSpPr>
          <p:spPr>
            <a:xfrm>
              <a:off x="1278" y="3242"/>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11000000</a:t>
              </a:r>
              <a:endParaRPr lang="zh-CN" altLang="en-US" sz="1800" b="0">
                <a:ea typeface="楷体_GB2312" pitchFamily="49" charset="-122"/>
              </a:endParaRPr>
            </a:p>
          </p:txBody>
        </p:sp>
        <p:sp>
          <p:nvSpPr>
            <p:cNvPr id="63614" name="Rectangle 57"/>
            <p:cNvSpPr/>
            <p:nvPr/>
          </p:nvSpPr>
          <p:spPr>
            <a:xfrm>
              <a:off x="1278" y="2989"/>
              <a:ext cx="720" cy="253"/>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00000000</a:t>
              </a:r>
              <a:endParaRPr lang="zh-CN" altLang="en-US" sz="1800" b="0">
                <a:ea typeface="楷体_GB2312" pitchFamily="49" charset="-122"/>
              </a:endParaRPr>
            </a:p>
          </p:txBody>
        </p:sp>
        <p:sp>
          <p:nvSpPr>
            <p:cNvPr id="63615" name="Rectangle 58"/>
            <p:cNvSpPr/>
            <p:nvPr/>
          </p:nvSpPr>
          <p:spPr>
            <a:xfrm>
              <a:off x="1278" y="2737"/>
              <a:ext cx="720" cy="25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01000000</a:t>
              </a:r>
              <a:endParaRPr lang="zh-CN" altLang="en-US" sz="1800" b="0">
                <a:ea typeface="楷体_GB2312" pitchFamily="49" charset="-122"/>
              </a:endParaRPr>
            </a:p>
          </p:txBody>
        </p:sp>
        <p:sp>
          <p:nvSpPr>
            <p:cNvPr id="63616" name="Rectangle 59"/>
            <p:cNvSpPr/>
            <p:nvPr/>
          </p:nvSpPr>
          <p:spPr>
            <a:xfrm>
              <a:off x="1278" y="2486"/>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endParaRPr lang="zh-CN" altLang="en-US" sz="1800" b="0">
                <a:ea typeface="楷体_GB2312" pitchFamily="49" charset="-122"/>
              </a:endParaRPr>
            </a:p>
          </p:txBody>
        </p:sp>
        <p:sp>
          <p:nvSpPr>
            <p:cNvPr id="63617" name="Rectangle 60"/>
            <p:cNvSpPr/>
            <p:nvPr/>
          </p:nvSpPr>
          <p:spPr>
            <a:xfrm>
              <a:off x="1278" y="2256"/>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11000000</a:t>
              </a:r>
              <a:endParaRPr lang="zh-CN" altLang="en-US" sz="1800" b="0">
                <a:ea typeface="楷体_GB2312" pitchFamily="49" charset="-122"/>
              </a:endParaRPr>
            </a:p>
          </p:txBody>
        </p:sp>
        <p:sp>
          <p:nvSpPr>
            <p:cNvPr id="63618" name="Line 61"/>
            <p:cNvSpPr/>
            <p:nvPr/>
          </p:nvSpPr>
          <p:spPr>
            <a:xfrm>
              <a:off x="1278" y="2256"/>
              <a:ext cx="720" cy="0"/>
            </a:xfrm>
            <a:prstGeom prst="line">
              <a:avLst/>
            </a:prstGeom>
            <a:ln w="28575" cap="sq" cmpd="sng">
              <a:solidFill>
                <a:schemeClr val="tx1"/>
              </a:solidFill>
              <a:prstDash val="solid"/>
              <a:miter/>
              <a:headEnd type="none" w="med" len="med"/>
              <a:tailEnd type="none" w="med" len="med"/>
            </a:ln>
          </p:spPr>
        </p:sp>
        <p:sp>
          <p:nvSpPr>
            <p:cNvPr id="63619" name="Line 62"/>
            <p:cNvSpPr/>
            <p:nvPr/>
          </p:nvSpPr>
          <p:spPr>
            <a:xfrm>
              <a:off x="1278" y="2486"/>
              <a:ext cx="720" cy="0"/>
            </a:xfrm>
            <a:prstGeom prst="line">
              <a:avLst/>
            </a:prstGeom>
            <a:ln w="12700" cap="flat" cmpd="sng">
              <a:solidFill>
                <a:schemeClr val="tx1"/>
              </a:solidFill>
              <a:prstDash val="solid"/>
              <a:miter/>
              <a:headEnd type="none" w="med" len="med"/>
              <a:tailEnd type="none" w="med" len="med"/>
            </a:ln>
          </p:spPr>
        </p:sp>
        <p:sp>
          <p:nvSpPr>
            <p:cNvPr id="63620" name="Line 63"/>
            <p:cNvSpPr/>
            <p:nvPr/>
          </p:nvSpPr>
          <p:spPr>
            <a:xfrm>
              <a:off x="1278" y="2737"/>
              <a:ext cx="720" cy="0"/>
            </a:xfrm>
            <a:prstGeom prst="line">
              <a:avLst/>
            </a:prstGeom>
            <a:ln w="12700" cap="flat" cmpd="sng">
              <a:solidFill>
                <a:schemeClr val="tx1"/>
              </a:solidFill>
              <a:prstDash val="solid"/>
              <a:miter/>
              <a:headEnd type="none" w="med" len="med"/>
              <a:tailEnd type="none" w="med" len="med"/>
            </a:ln>
          </p:spPr>
        </p:sp>
        <p:sp>
          <p:nvSpPr>
            <p:cNvPr id="63621" name="Line 64"/>
            <p:cNvSpPr/>
            <p:nvPr/>
          </p:nvSpPr>
          <p:spPr>
            <a:xfrm>
              <a:off x="1278" y="2989"/>
              <a:ext cx="720" cy="0"/>
            </a:xfrm>
            <a:prstGeom prst="line">
              <a:avLst/>
            </a:prstGeom>
            <a:ln w="12700" cap="flat" cmpd="sng">
              <a:solidFill>
                <a:schemeClr val="tx1"/>
              </a:solidFill>
              <a:prstDash val="solid"/>
              <a:miter/>
              <a:headEnd type="none" w="med" len="med"/>
              <a:tailEnd type="none" w="med" len="med"/>
            </a:ln>
          </p:spPr>
        </p:sp>
        <p:sp>
          <p:nvSpPr>
            <p:cNvPr id="63622" name="Line 65"/>
            <p:cNvSpPr/>
            <p:nvPr/>
          </p:nvSpPr>
          <p:spPr>
            <a:xfrm>
              <a:off x="1278" y="3242"/>
              <a:ext cx="720" cy="0"/>
            </a:xfrm>
            <a:prstGeom prst="line">
              <a:avLst/>
            </a:prstGeom>
            <a:ln w="12700" cap="flat" cmpd="sng">
              <a:solidFill>
                <a:schemeClr val="tx1"/>
              </a:solidFill>
              <a:prstDash val="solid"/>
              <a:miter/>
              <a:headEnd type="none" w="med" len="med"/>
              <a:tailEnd type="none" w="med" len="med"/>
            </a:ln>
          </p:spPr>
        </p:sp>
        <p:sp>
          <p:nvSpPr>
            <p:cNvPr id="63623" name="Line 66"/>
            <p:cNvSpPr/>
            <p:nvPr/>
          </p:nvSpPr>
          <p:spPr>
            <a:xfrm>
              <a:off x="1278" y="3493"/>
              <a:ext cx="720" cy="0"/>
            </a:xfrm>
            <a:prstGeom prst="line">
              <a:avLst/>
            </a:prstGeom>
            <a:ln w="12700" cap="flat" cmpd="sng">
              <a:solidFill>
                <a:schemeClr val="tx1"/>
              </a:solidFill>
              <a:prstDash val="solid"/>
              <a:miter/>
              <a:headEnd type="none" w="med" len="med"/>
              <a:tailEnd type="none" w="med" len="med"/>
            </a:ln>
          </p:spPr>
        </p:sp>
        <p:sp>
          <p:nvSpPr>
            <p:cNvPr id="63624" name="Line 67"/>
            <p:cNvSpPr/>
            <p:nvPr/>
          </p:nvSpPr>
          <p:spPr>
            <a:xfrm>
              <a:off x="1278" y="3723"/>
              <a:ext cx="720" cy="0"/>
            </a:xfrm>
            <a:prstGeom prst="line">
              <a:avLst/>
            </a:prstGeom>
            <a:ln w="28575" cap="sq" cmpd="sng">
              <a:solidFill>
                <a:schemeClr val="tx1"/>
              </a:solidFill>
              <a:prstDash val="solid"/>
              <a:miter/>
              <a:headEnd type="none" w="med" len="med"/>
              <a:tailEnd type="none" w="med" len="med"/>
            </a:ln>
          </p:spPr>
        </p:sp>
        <p:sp>
          <p:nvSpPr>
            <p:cNvPr id="63625" name="Line 68"/>
            <p:cNvSpPr/>
            <p:nvPr/>
          </p:nvSpPr>
          <p:spPr>
            <a:xfrm>
              <a:off x="1278" y="2256"/>
              <a:ext cx="0" cy="1467"/>
            </a:xfrm>
            <a:prstGeom prst="line">
              <a:avLst/>
            </a:prstGeom>
            <a:ln w="28575" cap="sq" cmpd="sng">
              <a:solidFill>
                <a:schemeClr val="tx1"/>
              </a:solidFill>
              <a:prstDash val="solid"/>
              <a:miter/>
              <a:headEnd type="none" w="med" len="med"/>
              <a:tailEnd type="none" w="med" len="med"/>
            </a:ln>
          </p:spPr>
        </p:sp>
        <p:sp>
          <p:nvSpPr>
            <p:cNvPr id="63626" name="Line 69"/>
            <p:cNvSpPr/>
            <p:nvPr/>
          </p:nvSpPr>
          <p:spPr>
            <a:xfrm>
              <a:off x="1998" y="2256"/>
              <a:ext cx="0" cy="1467"/>
            </a:xfrm>
            <a:prstGeom prst="line">
              <a:avLst/>
            </a:prstGeom>
            <a:ln w="28575" cap="sq" cmpd="sng">
              <a:solidFill>
                <a:schemeClr val="tx1"/>
              </a:solidFill>
              <a:prstDash val="solid"/>
              <a:miter/>
              <a:headEnd type="none" w="med" len="med"/>
              <a:tailEnd type="none" w="med" len="med"/>
            </a:ln>
          </p:spPr>
        </p:sp>
      </p:grpSp>
      <p:grpSp>
        <p:nvGrpSpPr>
          <p:cNvPr id="4" name="Group 70"/>
          <p:cNvGrpSpPr/>
          <p:nvPr/>
        </p:nvGrpSpPr>
        <p:grpSpPr>
          <a:xfrm>
            <a:off x="3595688" y="2708920"/>
            <a:ext cx="1828800" cy="3657600"/>
            <a:chOff x="2265" y="1488"/>
            <a:chExt cx="1152" cy="2304"/>
          </a:xfrm>
        </p:grpSpPr>
        <p:sp>
          <p:nvSpPr>
            <p:cNvPr id="63563" name="Rectangle 71"/>
            <p:cNvSpPr/>
            <p:nvPr/>
          </p:nvSpPr>
          <p:spPr>
            <a:xfrm>
              <a:off x="2265" y="1488"/>
              <a:ext cx="1104" cy="230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63564" name="Text Box 72"/>
            <p:cNvSpPr txBox="1"/>
            <p:nvPr/>
          </p:nvSpPr>
          <p:spPr>
            <a:xfrm>
              <a:off x="2313" y="1536"/>
              <a:ext cx="1104"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1800" b="0">
                  <a:ea typeface="楷体_GB2312" pitchFamily="49" charset="-122"/>
                </a:rPr>
                <a:t>页0到5的</a:t>
              </a:r>
              <a:r>
                <a:rPr lang="en-US" altLang="zh-CN" sz="1800" b="0">
                  <a:ea typeface="楷体_GB2312" pitchFamily="49" charset="-122"/>
                </a:rPr>
                <a:t>R</a:t>
              </a:r>
              <a:r>
                <a:rPr lang="zh-CN" altLang="en-US" sz="1800" b="0">
                  <a:ea typeface="楷体_GB2312" pitchFamily="49" charset="-122"/>
                </a:rPr>
                <a:t>位，时钟周期2</a:t>
              </a:r>
              <a:endParaRPr lang="zh-CN" altLang="en-US" sz="1800" b="0">
                <a:ea typeface="楷体_GB2312" pitchFamily="49" charset="-122"/>
              </a:endParaRPr>
            </a:p>
          </p:txBody>
        </p:sp>
        <p:sp>
          <p:nvSpPr>
            <p:cNvPr id="63565" name="Rectangle 73"/>
            <p:cNvSpPr/>
            <p:nvPr/>
          </p:nvSpPr>
          <p:spPr>
            <a:xfrm>
              <a:off x="3081"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566" name="Rectangle 74"/>
            <p:cNvSpPr/>
            <p:nvPr/>
          </p:nvSpPr>
          <p:spPr>
            <a:xfrm>
              <a:off x="2937"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67" name="Rectangle 75"/>
            <p:cNvSpPr/>
            <p:nvPr/>
          </p:nvSpPr>
          <p:spPr>
            <a:xfrm>
              <a:off x="2793"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568" name="Rectangle 76"/>
            <p:cNvSpPr/>
            <p:nvPr/>
          </p:nvSpPr>
          <p:spPr>
            <a:xfrm>
              <a:off x="2649"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69" name="Rectangle 77"/>
            <p:cNvSpPr/>
            <p:nvPr/>
          </p:nvSpPr>
          <p:spPr>
            <a:xfrm>
              <a:off x="2505"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570" name="Rectangle 78"/>
            <p:cNvSpPr/>
            <p:nvPr/>
          </p:nvSpPr>
          <p:spPr>
            <a:xfrm>
              <a:off x="2361"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571" name="Line 79"/>
            <p:cNvSpPr/>
            <p:nvPr/>
          </p:nvSpPr>
          <p:spPr>
            <a:xfrm>
              <a:off x="2361" y="1978"/>
              <a:ext cx="864" cy="0"/>
            </a:xfrm>
            <a:prstGeom prst="line">
              <a:avLst/>
            </a:prstGeom>
            <a:ln w="28575" cap="sq" cmpd="sng">
              <a:solidFill>
                <a:schemeClr val="tx1"/>
              </a:solidFill>
              <a:prstDash val="solid"/>
              <a:miter/>
              <a:headEnd type="none" w="med" len="med"/>
              <a:tailEnd type="none" w="med" len="med"/>
            </a:ln>
          </p:spPr>
        </p:sp>
        <p:sp>
          <p:nvSpPr>
            <p:cNvPr id="63572" name="Line 80"/>
            <p:cNvSpPr/>
            <p:nvPr/>
          </p:nvSpPr>
          <p:spPr>
            <a:xfrm>
              <a:off x="2361" y="2202"/>
              <a:ext cx="864" cy="0"/>
            </a:xfrm>
            <a:prstGeom prst="line">
              <a:avLst/>
            </a:prstGeom>
            <a:ln w="28575" cap="sq" cmpd="sng">
              <a:solidFill>
                <a:schemeClr val="tx1"/>
              </a:solidFill>
              <a:prstDash val="solid"/>
              <a:miter/>
              <a:headEnd type="none" w="med" len="med"/>
              <a:tailEnd type="none" w="med" len="med"/>
            </a:ln>
          </p:spPr>
        </p:sp>
        <p:sp>
          <p:nvSpPr>
            <p:cNvPr id="63573" name="Line 81"/>
            <p:cNvSpPr/>
            <p:nvPr/>
          </p:nvSpPr>
          <p:spPr>
            <a:xfrm>
              <a:off x="2361" y="1978"/>
              <a:ext cx="0" cy="224"/>
            </a:xfrm>
            <a:prstGeom prst="line">
              <a:avLst/>
            </a:prstGeom>
            <a:ln w="28575" cap="sq" cmpd="sng">
              <a:solidFill>
                <a:schemeClr val="tx1"/>
              </a:solidFill>
              <a:prstDash val="solid"/>
              <a:miter/>
              <a:headEnd type="none" w="med" len="med"/>
              <a:tailEnd type="none" w="med" len="med"/>
            </a:ln>
          </p:spPr>
        </p:sp>
        <p:sp>
          <p:nvSpPr>
            <p:cNvPr id="63574" name="Line 82"/>
            <p:cNvSpPr/>
            <p:nvPr/>
          </p:nvSpPr>
          <p:spPr>
            <a:xfrm>
              <a:off x="2505" y="1978"/>
              <a:ext cx="0" cy="224"/>
            </a:xfrm>
            <a:prstGeom prst="line">
              <a:avLst/>
            </a:prstGeom>
            <a:ln w="12700" cap="flat" cmpd="sng">
              <a:solidFill>
                <a:schemeClr val="tx1"/>
              </a:solidFill>
              <a:prstDash val="solid"/>
              <a:miter/>
              <a:headEnd type="none" w="med" len="med"/>
              <a:tailEnd type="none" w="med" len="med"/>
            </a:ln>
          </p:spPr>
        </p:sp>
        <p:sp>
          <p:nvSpPr>
            <p:cNvPr id="63575" name="Line 83"/>
            <p:cNvSpPr/>
            <p:nvPr/>
          </p:nvSpPr>
          <p:spPr>
            <a:xfrm>
              <a:off x="2649" y="1978"/>
              <a:ext cx="0" cy="224"/>
            </a:xfrm>
            <a:prstGeom prst="line">
              <a:avLst/>
            </a:prstGeom>
            <a:ln w="12700" cap="flat" cmpd="sng">
              <a:solidFill>
                <a:schemeClr val="tx1"/>
              </a:solidFill>
              <a:prstDash val="solid"/>
              <a:miter/>
              <a:headEnd type="none" w="med" len="med"/>
              <a:tailEnd type="none" w="med" len="med"/>
            </a:ln>
          </p:spPr>
        </p:sp>
        <p:sp>
          <p:nvSpPr>
            <p:cNvPr id="63576" name="Line 84"/>
            <p:cNvSpPr/>
            <p:nvPr/>
          </p:nvSpPr>
          <p:spPr>
            <a:xfrm>
              <a:off x="2793" y="1978"/>
              <a:ext cx="0" cy="224"/>
            </a:xfrm>
            <a:prstGeom prst="line">
              <a:avLst/>
            </a:prstGeom>
            <a:ln w="12700" cap="flat" cmpd="sng">
              <a:solidFill>
                <a:schemeClr val="tx1"/>
              </a:solidFill>
              <a:prstDash val="solid"/>
              <a:miter/>
              <a:headEnd type="none" w="med" len="med"/>
              <a:tailEnd type="none" w="med" len="med"/>
            </a:ln>
          </p:spPr>
        </p:sp>
        <p:sp>
          <p:nvSpPr>
            <p:cNvPr id="63577" name="Line 85"/>
            <p:cNvSpPr/>
            <p:nvPr/>
          </p:nvSpPr>
          <p:spPr>
            <a:xfrm>
              <a:off x="2937" y="1978"/>
              <a:ext cx="0" cy="224"/>
            </a:xfrm>
            <a:prstGeom prst="line">
              <a:avLst/>
            </a:prstGeom>
            <a:ln w="12700" cap="flat" cmpd="sng">
              <a:solidFill>
                <a:schemeClr val="tx1"/>
              </a:solidFill>
              <a:prstDash val="solid"/>
              <a:miter/>
              <a:headEnd type="none" w="med" len="med"/>
              <a:tailEnd type="none" w="med" len="med"/>
            </a:ln>
          </p:spPr>
        </p:sp>
        <p:sp>
          <p:nvSpPr>
            <p:cNvPr id="63578" name="Line 86"/>
            <p:cNvSpPr/>
            <p:nvPr/>
          </p:nvSpPr>
          <p:spPr>
            <a:xfrm>
              <a:off x="3081" y="1978"/>
              <a:ext cx="0" cy="224"/>
            </a:xfrm>
            <a:prstGeom prst="line">
              <a:avLst/>
            </a:prstGeom>
            <a:ln w="12700" cap="flat" cmpd="sng">
              <a:solidFill>
                <a:schemeClr val="tx1"/>
              </a:solidFill>
              <a:prstDash val="solid"/>
              <a:miter/>
              <a:headEnd type="none" w="med" len="med"/>
              <a:tailEnd type="none" w="med" len="med"/>
            </a:ln>
          </p:spPr>
        </p:sp>
        <p:sp>
          <p:nvSpPr>
            <p:cNvPr id="63579" name="Line 87"/>
            <p:cNvSpPr/>
            <p:nvPr/>
          </p:nvSpPr>
          <p:spPr>
            <a:xfrm>
              <a:off x="3225" y="1978"/>
              <a:ext cx="0" cy="224"/>
            </a:xfrm>
            <a:prstGeom prst="line">
              <a:avLst/>
            </a:prstGeom>
            <a:ln w="28575" cap="sq" cmpd="sng">
              <a:solidFill>
                <a:schemeClr val="tx1"/>
              </a:solidFill>
              <a:prstDash val="solid"/>
              <a:miter/>
              <a:headEnd type="none" w="med" len="med"/>
              <a:tailEnd type="none" w="med" len="med"/>
            </a:ln>
          </p:spPr>
        </p:sp>
        <p:sp>
          <p:nvSpPr>
            <p:cNvPr id="63580" name="Rectangle 88"/>
            <p:cNvSpPr/>
            <p:nvPr/>
          </p:nvSpPr>
          <p:spPr>
            <a:xfrm>
              <a:off x="2409" y="3493"/>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10100000</a:t>
              </a:r>
              <a:endParaRPr lang="zh-CN" altLang="en-US" sz="1800" b="0">
                <a:ea typeface="楷体_GB2312" pitchFamily="49" charset="-122"/>
              </a:endParaRPr>
            </a:p>
          </p:txBody>
        </p:sp>
        <p:sp>
          <p:nvSpPr>
            <p:cNvPr id="63581" name="Rectangle 89"/>
            <p:cNvSpPr/>
            <p:nvPr/>
          </p:nvSpPr>
          <p:spPr>
            <a:xfrm>
              <a:off x="2409" y="3242"/>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01100000</a:t>
              </a:r>
              <a:endParaRPr lang="zh-CN" altLang="en-US" sz="1800" b="0">
                <a:ea typeface="楷体_GB2312" pitchFamily="49" charset="-122"/>
              </a:endParaRPr>
            </a:p>
          </p:txBody>
        </p:sp>
        <p:sp>
          <p:nvSpPr>
            <p:cNvPr id="63582" name="Rectangle 90"/>
            <p:cNvSpPr/>
            <p:nvPr/>
          </p:nvSpPr>
          <p:spPr>
            <a:xfrm>
              <a:off x="2409" y="2989"/>
              <a:ext cx="720" cy="253"/>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10000000</a:t>
              </a:r>
              <a:endParaRPr lang="zh-CN" altLang="en-US" sz="1800" b="0">
                <a:ea typeface="楷体_GB2312" pitchFamily="49" charset="-122"/>
              </a:endParaRPr>
            </a:p>
          </p:txBody>
        </p:sp>
        <p:sp>
          <p:nvSpPr>
            <p:cNvPr id="63583" name="Rectangle 91"/>
            <p:cNvSpPr/>
            <p:nvPr/>
          </p:nvSpPr>
          <p:spPr>
            <a:xfrm>
              <a:off x="2409" y="2737"/>
              <a:ext cx="720" cy="25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00100000</a:t>
              </a:r>
              <a:endParaRPr lang="zh-CN" altLang="en-US" sz="1800" b="0">
                <a:ea typeface="楷体_GB2312" pitchFamily="49" charset="-122"/>
              </a:endParaRPr>
            </a:p>
          </p:txBody>
        </p:sp>
        <p:sp>
          <p:nvSpPr>
            <p:cNvPr id="63584" name="Rectangle 92"/>
            <p:cNvSpPr/>
            <p:nvPr/>
          </p:nvSpPr>
          <p:spPr>
            <a:xfrm>
              <a:off x="2409" y="2486"/>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11000000</a:t>
              </a:r>
              <a:endParaRPr lang="zh-CN" altLang="en-US" sz="1800" b="0">
                <a:ea typeface="楷体_GB2312" pitchFamily="49" charset="-122"/>
              </a:endParaRPr>
            </a:p>
          </p:txBody>
        </p:sp>
        <p:sp>
          <p:nvSpPr>
            <p:cNvPr id="63585" name="Rectangle 93"/>
            <p:cNvSpPr/>
            <p:nvPr/>
          </p:nvSpPr>
          <p:spPr>
            <a:xfrm>
              <a:off x="2409" y="2256"/>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11100000</a:t>
              </a:r>
              <a:endParaRPr lang="zh-CN" altLang="en-US" sz="1800" b="0">
                <a:ea typeface="楷体_GB2312" pitchFamily="49" charset="-122"/>
              </a:endParaRPr>
            </a:p>
          </p:txBody>
        </p:sp>
        <p:sp>
          <p:nvSpPr>
            <p:cNvPr id="63586" name="Line 94"/>
            <p:cNvSpPr/>
            <p:nvPr/>
          </p:nvSpPr>
          <p:spPr>
            <a:xfrm>
              <a:off x="2409" y="2256"/>
              <a:ext cx="720" cy="0"/>
            </a:xfrm>
            <a:prstGeom prst="line">
              <a:avLst/>
            </a:prstGeom>
            <a:ln w="28575" cap="sq" cmpd="sng">
              <a:solidFill>
                <a:schemeClr val="tx1"/>
              </a:solidFill>
              <a:prstDash val="solid"/>
              <a:miter/>
              <a:headEnd type="none" w="med" len="med"/>
              <a:tailEnd type="none" w="med" len="med"/>
            </a:ln>
          </p:spPr>
        </p:sp>
        <p:sp>
          <p:nvSpPr>
            <p:cNvPr id="63587" name="Line 95"/>
            <p:cNvSpPr/>
            <p:nvPr/>
          </p:nvSpPr>
          <p:spPr>
            <a:xfrm>
              <a:off x="2409" y="2486"/>
              <a:ext cx="720" cy="0"/>
            </a:xfrm>
            <a:prstGeom prst="line">
              <a:avLst/>
            </a:prstGeom>
            <a:ln w="12700" cap="flat" cmpd="sng">
              <a:solidFill>
                <a:schemeClr val="tx1"/>
              </a:solidFill>
              <a:prstDash val="solid"/>
              <a:miter/>
              <a:headEnd type="none" w="med" len="med"/>
              <a:tailEnd type="none" w="med" len="med"/>
            </a:ln>
          </p:spPr>
        </p:sp>
        <p:sp>
          <p:nvSpPr>
            <p:cNvPr id="63588" name="Line 96"/>
            <p:cNvSpPr/>
            <p:nvPr/>
          </p:nvSpPr>
          <p:spPr>
            <a:xfrm>
              <a:off x="2409" y="2737"/>
              <a:ext cx="720" cy="0"/>
            </a:xfrm>
            <a:prstGeom prst="line">
              <a:avLst/>
            </a:prstGeom>
            <a:ln w="12700" cap="flat" cmpd="sng">
              <a:solidFill>
                <a:schemeClr val="tx1"/>
              </a:solidFill>
              <a:prstDash val="solid"/>
              <a:miter/>
              <a:headEnd type="none" w="med" len="med"/>
              <a:tailEnd type="none" w="med" len="med"/>
            </a:ln>
          </p:spPr>
        </p:sp>
        <p:sp>
          <p:nvSpPr>
            <p:cNvPr id="63589" name="Line 97"/>
            <p:cNvSpPr/>
            <p:nvPr/>
          </p:nvSpPr>
          <p:spPr>
            <a:xfrm>
              <a:off x="2409" y="2989"/>
              <a:ext cx="720" cy="0"/>
            </a:xfrm>
            <a:prstGeom prst="line">
              <a:avLst/>
            </a:prstGeom>
            <a:ln w="12700" cap="flat" cmpd="sng">
              <a:solidFill>
                <a:schemeClr val="tx1"/>
              </a:solidFill>
              <a:prstDash val="solid"/>
              <a:miter/>
              <a:headEnd type="none" w="med" len="med"/>
              <a:tailEnd type="none" w="med" len="med"/>
            </a:ln>
          </p:spPr>
        </p:sp>
        <p:sp>
          <p:nvSpPr>
            <p:cNvPr id="63590" name="Line 98"/>
            <p:cNvSpPr/>
            <p:nvPr/>
          </p:nvSpPr>
          <p:spPr>
            <a:xfrm>
              <a:off x="2409" y="3242"/>
              <a:ext cx="720" cy="0"/>
            </a:xfrm>
            <a:prstGeom prst="line">
              <a:avLst/>
            </a:prstGeom>
            <a:ln w="12700" cap="flat" cmpd="sng">
              <a:solidFill>
                <a:schemeClr val="tx1"/>
              </a:solidFill>
              <a:prstDash val="solid"/>
              <a:miter/>
              <a:headEnd type="none" w="med" len="med"/>
              <a:tailEnd type="none" w="med" len="med"/>
            </a:ln>
          </p:spPr>
        </p:sp>
        <p:sp>
          <p:nvSpPr>
            <p:cNvPr id="63591" name="Line 99"/>
            <p:cNvSpPr/>
            <p:nvPr/>
          </p:nvSpPr>
          <p:spPr>
            <a:xfrm>
              <a:off x="2409" y="3493"/>
              <a:ext cx="720" cy="0"/>
            </a:xfrm>
            <a:prstGeom prst="line">
              <a:avLst/>
            </a:prstGeom>
            <a:ln w="12700" cap="flat" cmpd="sng">
              <a:solidFill>
                <a:schemeClr val="tx1"/>
              </a:solidFill>
              <a:prstDash val="solid"/>
              <a:miter/>
              <a:headEnd type="none" w="med" len="med"/>
              <a:tailEnd type="none" w="med" len="med"/>
            </a:ln>
          </p:spPr>
        </p:sp>
        <p:sp>
          <p:nvSpPr>
            <p:cNvPr id="63592" name="Line 100"/>
            <p:cNvSpPr/>
            <p:nvPr/>
          </p:nvSpPr>
          <p:spPr>
            <a:xfrm>
              <a:off x="2409" y="3723"/>
              <a:ext cx="720" cy="0"/>
            </a:xfrm>
            <a:prstGeom prst="line">
              <a:avLst/>
            </a:prstGeom>
            <a:ln w="28575" cap="sq" cmpd="sng">
              <a:solidFill>
                <a:schemeClr val="tx1"/>
              </a:solidFill>
              <a:prstDash val="solid"/>
              <a:miter/>
              <a:headEnd type="none" w="med" len="med"/>
              <a:tailEnd type="none" w="med" len="med"/>
            </a:ln>
          </p:spPr>
        </p:sp>
        <p:sp>
          <p:nvSpPr>
            <p:cNvPr id="63593" name="Line 101"/>
            <p:cNvSpPr/>
            <p:nvPr/>
          </p:nvSpPr>
          <p:spPr>
            <a:xfrm>
              <a:off x="2409" y="2256"/>
              <a:ext cx="0" cy="1467"/>
            </a:xfrm>
            <a:prstGeom prst="line">
              <a:avLst/>
            </a:prstGeom>
            <a:ln w="28575" cap="sq" cmpd="sng">
              <a:solidFill>
                <a:schemeClr val="tx1"/>
              </a:solidFill>
              <a:prstDash val="solid"/>
              <a:miter/>
              <a:headEnd type="none" w="med" len="med"/>
              <a:tailEnd type="none" w="med" len="med"/>
            </a:ln>
          </p:spPr>
        </p:sp>
        <p:sp>
          <p:nvSpPr>
            <p:cNvPr id="63594" name="Line 102"/>
            <p:cNvSpPr/>
            <p:nvPr/>
          </p:nvSpPr>
          <p:spPr>
            <a:xfrm>
              <a:off x="3129" y="2256"/>
              <a:ext cx="0" cy="1467"/>
            </a:xfrm>
            <a:prstGeom prst="line">
              <a:avLst/>
            </a:prstGeom>
            <a:ln w="28575" cap="sq" cmpd="sng">
              <a:solidFill>
                <a:schemeClr val="tx1"/>
              </a:solidFill>
              <a:prstDash val="solid"/>
              <a:miter/>
              <a:headEnd type="none" w="med" len="med"/>
              <a:tailEnd type="none" w="med" len="med"/>
            </a:ln>
          </p:spPr>
        </p:sp>
      </p:grpSp>
      <p:grpSp>
        <p:nvGrpSpPr>
          <p:cNvPr id="5" name="Group 103"/>
          <p:cNvGrpSpPr/>
          <p:nvPr/>
        </p:nvGrpSpPr>
        <p:grpSpPr>
          <a:xfrm>
            <a:off x="5395913" y="2708920"/>
            <a:ext cx="1828800" cy="3657600"/>
            <a:chOff x="3399" y="1488"/>
            <a:chExt cx="1152" cy="2304"/>
          </a:xfrm>
        </p:grpSpPr>
        <p:sp>
          <p:nvSpPr>
            <p:cNvPr id="63531" name="Rectangle 104"/>
            <p:cNvSpPr/>
            <p:nvPr/>
          </p:nvSpPr>
          <p:spPr>
            <a:xfrm>
              <a:off x="3399" y="1488"/>
              <a:ext cx="1104" cy="230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63532" name="Text Box 105"/>
            <p:cNvSpPr txBox="1"/>
            <p:nvPr/>
          </p:nvSpPr>
          <p:spPr>
            <a:xfrm>
              <a:off x="3447" y="1536"/>
              <a:ext cx="1104"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1800" b="0">
                  <a:ea typeface="楷体_GB2312" pitchFamily="49" charset="-122"/>
                </a:rPr>
                <a:t>页0到5的</a:t>
              </a:r>
              <a:r>
                <a:rPr lang="en-US" altLang="zh-CN" sz="1800" b="0">
                  <a:ea typeface="楷体_GB2312" pitchFamily="49" charset="-122"/>
                </a:rPr>
                <a:t>R</a:t>
              </a:r>
              <a:r>
                <a:rPr lang="zh-CN" altLang="en-US" sz="1800" b="0">
                  <a:ea typeface="楷体_GB2312" pitchFamily="49" charset="-122"/>
                </a:rPr>
                <a:t>位，时钟周期3</a:t>
              </a:r>
              <a:endParaRPr lang="zh-CN" altLang="en-US" sz="1800" b="0">
                <a:ea typeface="楷体_GB2312" pitchFamily="49" charset="-122"/>
              </a:endParaRPr>
            </a:p>
          </p:txBody>
        </p:sp>
        <p:sp>
          <p:nvSpPr>
            <p:cNvPr id="63533" name="Rectangle 106"/>
            <p:cNvSpPr/>
            <p:nvPr/>
          </p:nvSpPr>
          <p:spPr>
            <a:xfrm>
              <a:off x="4215"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34" name="Rectangle 107"/>
            <p:cNvSpPr/>
            <p:nvPr/>
          </p:nvSpPr>
          <p:spPr>
            <a:xfrm>
              <a:off x="4071"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535" name="Rectangle 108"/>
            <p:cNvSpPr/>
            <p:nvPr/>
          </p:nvSpPr>
          <p:spPr>
            <a:xfrm>
              <a:off x="3927"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36" name="Rectangle 109"/>
            <p:cNvSpPr/>
            <p:nvPr/>
          </p:nvSpPr>
          <p:spPr>
            <a:xfrm>
              <a:off x="3783"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37" name="Rectangle 110"/>
            <p:cNvSpPr/>
            <p:nvPr/>
          </p:nvSpPr>
          <p:spPr>
            <a:xfrm>
              <a:off x="3639"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38" name="Rectangle 111"/>
            <p:cNvSpPr/>
            <p:nvPr/>
          </p:nvSpPr>
          <p:spPr>
            <a:xfrm>
              <a:off x="3495"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539" name="Line 112"/>
            <p:cNvSpPr/>
            <p:nvPr/>
          </p:nvSpPr>
          <p:spPr>
            <a:xfrm>
              <a:off x="3495" y="1978"/>
              <a:ext cx="864" cy="0"/>
            </a:xfrm>
            <a:prstGeom prst="line">
              <a:avLst/>
            </a:prstGeom>
            <a:ln w="28575" cap="sq" cmpd="sng">
              <a:solidFill>
                <a:schemeClr val="tx1"/>
              </a:solidFill>
              <a:prstDash val="solid"/>
              <a:miter/>
              <a:headEnd type="none" w="med" len="med"/>
              <a:tailEnd type="none" w="med" len="med"/>
            </a:ln>
          </p:spPr>
        </p:sp>
        <p:sp>
          <p:nvSpPr>
            <p:cNvPr id="63540" name="Line 113"/>
            <p:cNvSpPr/>
            <p:nvPr/>
          </p:nvSpPr>
          <p:spPr>
            <a:xfrm>
              <a:off x="3495" y="2202"/>
              <a:ext cx="864" cy="0"/>
            </a:xfrm>
            <a:prstGeom prst="line">
              <a:avLst/>
            </a:prstGeom>
            <a:ln w="28575" cap="sq" cmpd="sng">
              <a:solidFill>
                <a:schemeClr val="tx1"/>
              </a:solidFill>
              <a:prstDash val="solid"/>
              <a:miter/>
              <a:headEnd type="none" w="med" len="med"/>
              <a:tailEnd type="none" w="med" len="med"/>
            </a:ln>
          </p:spPr>
        </p:sp>
        <p:sp>
          <p:nvSpPr>
            <p:cNvPr id="63541" name="Line 114"/>
            <p:cNvSpPr/>
            <p:nvPr/>
          </p:nvSpPr>
          <p:spPr>
            <a:xfrm>
              <a:off x="3495" y="1978"/>
              <a:ext cx="0" cy="224"/>
            </a:xfrm>
            <a:prstGeom prst="line">
              <a:avLst/>
            </a:prstGeom>
            <a:ln w="28575" cap="sq" cmpd="sng">
              <a:solidFill>
                <a:schemeClr val="tx1"/>
              </a:solidFill>
              <a:prstDash val="solid"/>
              <a:miter/>
              <a:headEnd type="none" w="med" len="med"/>
              <a:tailEnd type="none" w="med" len="med"/>
            </a:ln>
          </p:spPr>
        </p:sp>
        <p:sp>
          <p:nvSpPr>
            <p:cNvPr id="63542" name="Line 115"/>
            <p:cNvSpPr/>
            <p:nvPr/>
          </p:nvSpPr>
          <p:spPr>
            <a:xfrm>
              <a:off x="3639" y="1978"/>
              <a:ext cx="0" cy="224"/>
            </a:xfrm>
            <a:prstGeom prst="line">
              <a:avLst/>
            </a:prstGeom>
            <a:ln w="12700" cap="flat" cmpd="sng">
              <a:solidFill>
                <a:schemeClr val="tx1"/>
              </a:solidFill>
              <a:prstDash val="solid"/>
              <a:miter/>
              <a:headEnd type="none" w="med" len="med"/>
              <a:tailEnd type="none" w="med" len="med"/>
            </a:ln>
          </p:spPr>
        </p:sp>
        <p:sp>
          <p:nvSpPr>
            <p:cNvPr id="63543" name="Line 116"/>
            <p:cNvSpPr/>
            <p:nvPr/>
          </p:nvSpPr>
          <p:spPr>
            <a:xfrm>
              <a:off x="3783" y="1978"/>
              <a:ext cx="0" cy="224"/>
            </a:xfrm>
            <a:prstGeom prst="line">
              <a:avLst/>
            </a:prstGeom>
            <a:ln w="12700" cap="flat" cmpd="sng">
              <a:solidFill>
                <a:schemeClr val="tx1"/>
              </a:solidFill>
              <a:prstDash val="solid"/>
              <a:miter/>
              <a:headEnd type="none" w="med" len="med"/>
              <a:tailEnd type="none" w="med" len="med"/>
            </a:ln>
          </p:spPr>
        </p:sp>
        <p:sp>
          <p:nvSpPr>
            <p:cNvPr id="63544" name="Line 117"/>
            <p:cNvSpPr/>
            <p:nvPr/>
          </p:nvSpPr>
          <p:spPr>
            <a:xfrm>
              <a:off x="3927" y="1978"/>
              <a:ext cx="0" cy="224"/>
            </a:xfrm>
            <a:prstGeom prst="line">
              <a:avLst/>
            </a:prstGeom>
            <a:ln w="12700" cap="flat" cmpd="sng">
              <a:solidFill>
                <a:schemeClr val="tx1"/>
              </a:solidFill>
              <a:prstDash val="solid"/>
              <a:miter/>
              <a:headEnd type="none" w="med" len="med"/>
              <a:tailEnd type="none" w="med" len="med"/>
            </a:ln>
          </p:spPr>
        </p:sp>
        <p:sp>
          <p:nvSpPr>
            <p:cNvPr id="63545" name="Line 118"/>
            <p:cNvSpPr/>
            <p:nvPr/>
          </p:nvSpPr>
          <p:spPr>
            <a:xfrm>
              <a:off x="4071" y="1978"/>
              <a:ext cx="0" cy="224"/>
            </a:xfrm>
            <a:prstGeom prst="line">
              <a:avLst/>
            </a:prstGeom>
            <a:ln w="12700" cap="flat" cmpd="sng">
              <a:solidFill>
                <a:schemeClr val="tx1"/>
              </a:solidFill>
              <a:prstDash val="solid"/>
              <a:miter/>
              <a:headEnd type="none" w="med" len="med"/>
              <a:tailEnd type="none" w="med" len="med"/>
            </a:ln>
          </p:spPr>
        </p:sp>
        <p:sp>
          <p:nvSpPr>
            <p:cNvPr id="63546" name="Line 119"/>
            <p:cNvSpPr/>
            <p:nvPr/>
          </p:nvSpPr>
          <p:spPr>
            <a:xfrm>
              <a:off x="4215" y="1978"/>
              <a:ext cx="0" cy="224"/>
            </a:xfrm>
            <a:prstGeom prst="line">
              <a:avLst/>
            </a:prstGeom>
            <a:ln w="12700" cap="flat" cmpd="sng">
              <a:solidFill>
                <a:schemeClr val="tx1"/>
              </a:solidFill>
              <a:prstDash val="solid"/>
              <a:miter/>
              <a:headEnd type="none" w="med" len="med"/>
              <a:tailEnd type="none" w="med" len="med"/>
            </a:ln>
          </p:spPr>
        </p:sp>
        <p:sp>
          <p:nvSpPr>
            <p:cNvPr id="63547" name="Line 120"/>
            <p:cNvSpPr/>
            <p:nvPr/>
          </p:nvSpPr>
          <p:spPr>
            <a:xfrm>
              <a:off x="4359" y="1978"/>
              <a:ext cx="0" cy="224"/>
            </a:xfrm>
            <a:prstGeom prst="line">
              <a:avLst/>
            </a:prstGeom>
            <a:ln w="28575" cap="sq" cmpd="sng">
              <a:solidFill>
                <a:schemeClr val="tx1"/>
              </a:solidFill>
              <a:prstDash val="solid"/>
              <a:miter/>
              <a:headEnd type="none" w="med" len="med"/>
              <a:tailEnd type="none" w="med" len="med"/>
            </a:ln>
          </p:spPr>
        </p:sp>
        <p:sp>
          <p:nvSpPr>
            <p:cNvPr id="63548" name="Rectangle 121"/>
            <p:cNvSpPr/>
            <p:nvPr/>
          </p:nvSpPr>
          <p:spPr>
            <a:xfrm>
              <a:off x="3543" y="3493"/>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01010000</a:t>
              </a:r>
              <a:endParaRPr lang="zh-CN" altLang="en-US" sz="1800" b="0">
                <a:ea typeface="楷体_GB2312" pitchFamily="49" charset="-122"/>
              </a:endParaRPr>
            </a:p>
          </p:txBody>
        </p:sp>
        <p:sp>
          <p:nvSpPr>
            <p:cNvPr id="63549" name="Rectangle 122"/>
            <p:cNvSpPr/>
            <p:nvPr/>
          </p:nvSpPr>
          <p:spPr>
            <a:xfrm>
              <a:off x="3543" y="3242"/>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10110000</a:t>
              </a:r>
              <a:endParaRPr lang="zh-CN" altLang="en-US" sz="1800" b="0">
                <a:ea typeface="楷体_GB2312" pitchFamily="49" charset="-122"/>
              </a:endParaRPr>
            </a:p>
          </p:txBody>
        </p:sp>
        <p:sp>
          <p:nvSpPr>
            <p:cNvPr id="63550" name="Rectangle 123"/>
            <p:cNvSpPr/>
            <p:nvPr/>
          </p:nvSpPr>
          <p:spPr>
            <a:xfrm>
              <a:off x="3543" y="2989"/>
              <a:ext cx="720" cy="253"/>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01000000</a:t>
              </a:r>
              <a:endParaRPr lang="zh-CN" altLang="en-US" sz="1800" b="0">
                <a:ea typeface="楷体_GB2312" pitchFamily="49" charset="-122"/>
              </a:endParaRPr>
            </a:p>
          </p:txBody>
        </p:sp>
        <p:sp>
          <p:nvSpPr>
            <p:cNvPr id="63551" name="Rectangle 124"/>
            <p:cNvSpPr/>
            <p:nvPr/>
          </p:nvSpPr>
          <p:spPr>
            <a:xfrm>
              <a:off x="3543" y="2737"/>
              <a:ext cx="720" cy="25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00010000</a:t>
              </a:r>
              <a:endParaRPr lang="zh-CN" altLang="en-US" sz="1800" b="0">
                <a:ea typeface="楷体_GB2312" pitchFamily="49" charset="-122"/>
              </a:endParaRPr>
            </a:p>
          </p:txBody>
        </p:sp>
        <p:sp>
          <p:nvSpPr>
            <p:cNvPr id="63552" name="Rectangle 125"/>
            <p:cNvSpPr/>
            <p:nvPr/>
          </p:nvSpPr>
          <p:spPr>
            <a:xfrm>
              <a:off x="3543" y="2486"/>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01100000</a:t>
              </a:r>
              <a:endParaRPr lang="zh-CN" altLang="en-US" sz="1800" b="0">
                <a:ea typeface="楷体_GB2312" pitchFamily="49" charset="-122"/>
              </a:endParaRPr>
            </a:p>
          </p:txBody>
        </p:sp>
        <p:sp>
          <p:nvSpPr>
            <p:cNvPr id="63553" name="Rectangle 126"/>
            <p:cNvSpPr/>
            <p:nvPr/>
          </p:nvSpPr>
          <p:spPr>
            <a:xfrm>
              <a:off x="3543" y="2256"/>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11110000</a:t>
              </a:r>
              <a:endParaRPr lang="zh-CN" altLang="en-US" sz="1800" b="0">
                <a:ea typeface="楷体_GB2312" pitchFamily="49" charset="-122"/>
              </a:endParaRPr>
            </a:p>
          </p:txBody>
        </p:sp>
        <p:sp>
          <p:nvSpPr>
            <p:cNvPr id="63554" name="Line 127"/>
            <p:cNvSpPr/>
            <p:nvPr/>
          </p:nvSpPr>
          <p:spPr>
            <a:xfrm>
              <a:off x="3543" y="2256"/>
              <a:ext cx="720" cy="0"/>
            </a:xfrm>
            <a:prstGeom prst="line">
              <a:avLst/>
            </a:prstGeom>
            <a:ln w="28575" cap="sq" cmpd="sng">
              <a:solidFill>
                <a:schemeClr val="tx1"/>
              </a:solidFill>
              <a:prstDash val="solid"/>
              <a:miter/>
              <a:headEnd type="none" w="med" len="med"/>
              <a:tailEnd type="none" w="med" len="med"/>
            </a:ln>
          </p:spPr>
        </p:sp>
        <p:sp>
          <p:nvSpPr>
            <p:cNvPr id="63555" name="Line 128"/>
            <p:cNvSpPr/>
            <p:nvPr/>
          </p:nvSpPr>
          <p:spPr>
            <a:xfrm>
              <a:off x="3543" y="2486"/>
              <a:ext cx="720" cy="0"/>
            </a:xfrm>
            <a:prstGeom prst="line">
              <a:avLst/>
            </a:prstGeom>
            <a:ln w="12700" cap="flat" cmpd="sng">
              <a:solidFill>
                <a:schemeClr val="tx1"/>
              </a:solidFill>
              <a:prstDash val="solid"/>
              <a:miter/>
              <a:headEnd type="none" w="med" len="med"/>
              <a:tailEnd type="none" w="med" len="med"/>
            </a:ln>
          </p:spPr>
        </p:sp>
        <p:sp>
          <p:nvSpPr>
            <p:cNvPr id="63556" name="Line 129"/>
            <p:cNvSpPr/>
            <p:nvPr/>
          </p:nvSpPr>
          <p:spPr>
            <a:xfrm>
              <a:off x="3543" y="2737"/>
              <a:ext cx="720" cy="0"/>
            </a:xfrm>
            <a:prstGeom prst="line">
              <a:avLst/>
            </a:prstGeom>
            <a:ln w="12700" cap="flat" cmpd="sng">
              <a:solidFill>
                <a:schemeClr val="tx1"/>
              </a:solidFill>
              <a:prstDash val="solid"/>
              <a:miter/>
              <a:headEnd type="none" w="med" len="med"/>
              <a:tailEnd type="none" w="med" len="med"/>
            </a:ln>
          </p:spPr>
        </p:sp>
        <p:sp>
          <p:nvSpPr>
            <p:cNvPr id="63557" name="Line 130"/>
            <p:cNvSpPr/>
            <p:nvPr/>
          </p:nvSpPr>
          <p:spPr>
            <a:xfrm>
              <a:off x="3543" y="2989"/>
              <a:ext cx="720" cy="0"/>
            </a:xfrm>
            <a:prstGeom prst="line">
              <a:avLst/>
            </a:prstGeom>
            <a:ln w="12700" cap="flat" cmpd="sng">
              <a:solidFill>
                <a:schemeClr val="tx1"/>
              </a:solidFill>
              <a:prstDash val="solid"/>
              <a:miter/>
              <a:headEnd type="none" w="med" len="med"/>
              <a:tailEnd type="none" w="med" len="med"/>
            </a:ln>
          </p:spPr>
        </p:sp>
        <p:sp>
          <p:nvSpPr>
            <p:cNvPr id="63558" name="Line 131"/>
            <p:cNvSpPr/>
            <p:nvPr/>
          </p:nvSpPr>
          <p:spPr>
            <a:xfrm>
              <a:off x="3543" y="3242"/>
              <a:ext cx="720" cy="0"/>
            </a:xfrm>
            <a:prstGeom prst="line">
              <a:avLst/>
            </a:prstGeom>
            <a:ln w="12700" cap="flat" cmpd="sng">
              <a:solidFill>
                <a:schemeClr val="tx1"/>
              </a:solidFill>
              <a:prstDash val="solid"/>
              <a:miter/>
              <a:headEnd type="none" w="med" len="med"/>
              <a:tailEnd type="none" w="med" len="med"/>
            </a:ln>
          </p:spPr>
        </p:sp>
        <p:sp>
          <p:nvSpPr>
            <p:cNvPr id="63559" name="Line 132"/>
            <p:cNvSpPr/>
            <p:nvPr/>
          </p:nvSpPr>
          <p:spPr>
            <a:xfrm>
              <a:off x="3543" y="3493"/>
              <a:ext cx="720" cy="0"/>
            </a:xfrm>
            <a:prstGeom prst="line">
              <a:avLst/>
            </a:prstGeom>
            <a:ln w="12700" cap="flat" cmpd="sng">
              <a:solidFill>
                <a:schemeClr val="tx1"/>
              </a:solidFill>
              <a:prstDash val="solid"/>
              <a:miter/>
              <a:headEnd type="none" w="med" len="med"/>
              <a:tailEnd type="none" w="med" len="med"/>
            </a:ln>
          </p:spPr>
        </p:sp>
        <p:sp>
          <p:nvSpPr>
            <p:cNvPr id="63560" name="Line 133"/>
            <p:cNvSpPr/>
            <p:nvPr/>
          </p:nvSpPr>
          <p:spPr>
            <a:xfrm>
              <a:off x="3543" y="3723"/>
              <a:ext cx="720" cy="0"/>
            </a:xfrm>
            <a:prstGeom prst="line">
              <a:avLst/>
            </a:prstGeom>
            <a:ln w="28575" cap="sq" cmpd="sng">
              <a:solidFill>
                <a:schemeClr val="tx1"/>
              </a:solidFill>
              <a:prstDash val="solid"/>
              <a:miter/>
              <a:headEnd type="none" w="med" len="med"/>
              <a:tailEnd type="none" w="med" len="med"/>
            </a:ln>
          </p:spPr>
        </p:sp>
        <p:sp>
          <p:nvSpPr>
            <p:cNvPr id="63561" name="Line 134"/>
            <p:cNvSpPr/>
            <p:nvPr/>
          </p:nvSpPr>
          <p:spPr>
            <a:xfrm>
              <a:off x="3543" y="2256"/>
              <a:ext cx="0" cy="1467"/>
            </a:xfrm>
            <a:prstGeom prst="line">
              <a:avLst/>
            </a:prstGeom>
            <a:ln w="28575" cap="sq" cmpd="sng">
              <a:solidFill>
                <a:schemeClr val="tx1"/>
              </a:solidFill>
              <a:prstDash val="solid"/>
              <a:miter/>
              <a:headEnd type="none" w="med" len="med"/>
              <a:tailEnd type="none" w="med" len="med"/>
            </a:ln>
          </p:spPr>
        </p:sp>
        <p:sp>
          <p:nvSpPr>
            <p:cNvPr id="63562" name="Line 135"/>
            <p:cNvSpPr/>
            <p:nvPr/>
          </p:nvSpPr>
          <p:spPr>
            <a:xfrm>
              <a:off x="4263" y="2256"/>
              <a:ext cx="0" cy="1467"/>
            </a:xfrm>
            <a:prstGeom prst="line">
              <a:avLst/>
            </a:prstGeom>
            <a:ln w="28575" cap="sq" cmpd="sng">
              <a:solidFill>
                <a:schemeClr val="tx1"/>
              </a:solidFill>
              <a:prstDash val="solid"/>
              <a:miter/>
              <a:headEnd type="none" w="med" len="med"/>
              <a:tailEnd type="none" w="med" len="med"/>
            </a:ln>
          </p:spPr>
        </p:sp>
      </p:grpSp>
      <p:grpSp>
        <p:nvGrpSpPr>
          <p:cNvPr id="6" name="Group 136"/>
          <p:cNvGrpSpPr/>
          <p:nvPr/>
        </p:nvGrpSpPr>
        <p:grpSpPr>
          <a:xfrm>
            <a:off x="7239000" y="2708920"/>
            <a:ext cx="1828800" cy="3657600"/>
            <a:chOff x="4560" y="1488"/>
            <a:chExt cx="1152" cy="2304"/>
          </a:xfrm>
        </p:grpSpPr>
        <p:sp>
          <p:nvSpPr>
            <p:cNvPr id="63499" name="Rectangle 137"/>
            <p:cNvSpPr/>
            <p:nvPr/>
          </p:nvSpPr>
          <p:spPr>
            <a:xfrm>
              <a:off x="4560" y="1488"/>
              <a:ext cx="1104" cy="2304"/>
            </a:xfrm>
            <a:prstGeom prst="rect">
              <a:avLst/>
            </a:prstGeom>
            <a:solidFill>
              <a:srgbClr val="FF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63500" name="Text Box 138"/>
            <p:cNvSpPr txBox="1"/>
            <p:nvPr/>
          </p:nvSpPr>
          <p:spPr>
            <a:xfrm>
              <a:off x="4608" y="1536"/>
              <a:ext cx="1104"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1800" b="0">
                  <a:ea typeface="楷体_GB2312" pitchFamily="49" charset="-122"/>
                </a:rPr>
                <a:t>页0到5的</a:t>
              </a:r>
              <a:r>
                <a:rPr lang="en-US" altLang="zh-CN" sz="1800" b="0">
                  <a:ea typeface="楷体_GB2312" pitchFamily="49" charset="-122"/>
                </a:rPr>
                <a:t>R</a:t>
              </a:r>
              <a:r>
                <a:rPr lang="zh-CN" altLang="en-US" sz="1800" b="0">
                  <a:ea typeface="楷体_GB2312" pitchFamily="49" charset="-122"/>
                </a:rPr>
                <a:t>位，时钟周期4</a:t>
              </a:r>
              <a:endParaRPr lang="zh-CN" altLang="en-US" sz="1800" b="0">
                <a:ea typeface="楷体_GB2312" pitchFamily="49" charset="-122"/>
              </a:endParaRPr>
            </a:p>
          </p:txBody>
        </p:sp>
        <p:sp>
          <p:nvSpPr>
            <p:cNvPr id="63501" name="Rectangle 139"/>
            <p:cNvSpPr/>
            <p:nvPr/>
          </p:nvSpPr>
          <p:spPr>
            <a:xfrm>
              <a:off x="5376"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02" name="Rectangle 140"/>
            <p:cNvSpPr/>
            <p:nvPr/>
          </p:nvSpPr>
          <p:spPr>
            <a:xfrm>
              <a:off x="5232"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03" name="Rectangle 141"/>
            <p:cNvSpPr/>
            <p:nvPr/>
          </p:nvSpPr>
          <p:spPr>
            <a:xfrm>
              <a:off x="5088"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04" name="Rectangle 142"/>
            <p:cNvSpPr/>
            <p:nvPr/>
          </p:nvSpPr>
          <p:spPr>
            <a:xfrm>
              <a:off x="4944"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505" name="Rectangle 143"/>
            <p:cNvSpPr/>
            <p:nvPr/>
          </p:nvSpPr>
          <p:spPr>
            <a:xfrm>
              <a:off x="4800"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1</a:t>
              </a:r>
              <a:endParaRPr lang="zh-CN" altLang="en-US" sz="1600" b="0">
                <a:ea typeface="楷体_GB2312" pitchFamily="49" charset="-122"/>
              </a:endParaRPr>
            </a:p>
          </p:txBody>
        </p:sp>
        <p:sp>
          <p:nvSpPr>
            <p:cNvPr id="63506" name="Rectangle 144"/>
            <p:cNvSpPr/>
            <p:nvPr/>
          </p:nvSpPr>
          <p:spPr>
            <a:xfrm>
              <a:off x="4656" y="1978"/>
              <a:ext cx="144" cy="22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600" b="0">
                  <a:ea typeface="楷体_GB2312" pitchFamily="49" charset="-122"/>
                </a:rPr>
                <a:t>0</a:t>
              </a:r>
              <a:endParaRPr lang="zh-CN" altLang="en-US" sz="1600" b="0">
                <a:ea typeface="楷体_GB2312" pitchFamily="49" charset="-122"/>
              </a:endParaRPr>
            </a:p>
          </p:txBody>
        </p:sp>
        <p:sp>
          <p:nvSpPr>
            <p:cNvPr id="63507" name="Line 145"/>
            <p:cNvSpPr/>
            <p:nvPr/>
          </p:nvSpPr>
          <p:spPr>
            <a:xfrm>
              <a:off x="4656" y="1978"/>
              <a:ext cx="864" cy="0"/>
            </a:xfrm>
            <a:prstGeom prst="line">
              <a:avLst/>
            </a:prstGeom>
            <a:ln w="28575" cap="sq" cmpd="sng">
              <a:solidFill>
                <a:schemeClr val="tx1"/>
              </a:solidFill>
              <a:prstDash val="solid"/>
              <a:miter/>
              <a:headEnd type="none" w="med" len="med"/>
              <a:tailEnd type="none" w="med" len="med"/>
            </a:ln>
          </p:spPr>
        </p:sp>
        <p:sp>
          <p:nvSpPr>
            <p:cNvPr id="63508" name="Line 146"/>
            <p:cNvSpPr/>
            <p:nvPr/>
          </p:nvSpPr>
          <p:spPr>
            <a:xfrm>
              <a:off x="4656" y="2202"/>
              <a:ext cx="864" cy="0"/>
            </a:xfrm>
            <a:prstGeom prst="line">
              <a:avLst/>
            </a:prstGeom>
            <a:ln w="28575" cap="sq" cmpd="sng">
              <a:solidFill>
                <a:schemeClr val="tx1"/>
              </a:solidFill>
              <a:prstDash val="solid"/>
              <a:miter/>
              <a:headEnd type="none" w="med" len="med"/>
              <a:tailEnd type="none" w="med" len="med"/>
            </a:ln>
          </p:spPr>
        </p:sp>
        <p:sp>
          <p:nvSpPr>
            <p:cNvPr id="63509" name="Line 147"/>
            <p:cNvSpPr/>
            <p:nvPr/>
          </p:nvSpPr>
          <p:spPr>
            <a:xfrm>
              <a:off x="4656" y="1978"/>
              <a:ext cx="0" cy="224"/>
            </a:xfrm>
            <a:prstGeom prst="line">
              <a:avLst/>
            </a:prstGeom>
            <a:ln w="28575" cap="sq" cmpd="sng">
              <a:solidFill>
                <a:schemeClr val="tx1"/>
              </a:solidFill>
              <a:prstDash val="solid"/>
              <a:miter/>
              <a:headEnd type="none" w="med" len="med"/>
              <a:tailEnd type="none" w="med" len="med"/>
            </a:ln>
          </p:spPr>
        </p:sp>
        <p:sp>
          <p:nvSpPr>
            <p:cNvPr id="63510" name="Line 148"/>
            <p:cNvSpPr/>
            <p:nvPr/>
          </p:nvSpPr>
          <p:spPr>
            <a:xfrm>
              <a:off x="4800" y="1978"/>
              <a:ext cx="0" cy="224"/>
            </a:xfrm>
            <a:prstGeom prst="line">
              <a:avLst/>
            </a:prstGeom>
            <a:ln w="12700" cap="flat" cmpd="sng">
              <a:solidFill>
                <a:schemeClr val="tx1"/>
              </a:solidFill>
              <a:prstDash val="solid"/>
              <a:miter/>
              <a:headEnd type="none" w="med" len="med"/>
              <a:tailEnd type="none" w="med" len="med"/>
            </a:ln>
          </p:spPr>
        </p:sp>
        <p:sp>
          <p:nvSpPr>
            <p:cNvPr id="63511" name="Line 149"/>
            <p:cNvSpPr/>
            <p:nvPr/>
          </p:nvSpPr>
          <p:spPr>
            <a:xfrm>
              <a:off x="4944" y="1978"/>
              <a:ext cx="0" cy="224"/>
            </a:xfrm>
            <a:prstGeom prst="line">
              <a:avLst/>
            </a:prstGeom>
            <a:ln w="12700" cap="flat" cmpd="sng">
              <a:solidFill>
                <a:schemeClr val="tx1"/>
              </a:solidFill>
              <a:prstDash val="solid"/>
              <a:miter/>
              <a:headEnd type="none" w="med" len="med"/>
              <a:tailEnd type="none" w="med" len="med"/>
            </a:ln>
          </p:spPr>
        </p:sp>
        <p:sp>
          <p:nvSpPr>
            <p:cNvPr id="63512" name="Line 150"/>
            <p:cNvSpPr/>
            <p:nvPr/>
          </p:nvSpPr>
          <p:spPr>
            <a:xfrm>
              <a:off x="5088" y="1978"/>
              <a:ext cx="0" cy="224"/>
            </a:xfrm>
            <a:prstGeom prst="line">
              <a:avLst/>
            </a:prstGeom>
            <a:ln w="12700" cap="flat" cmpd="sng">
              <a:solidFill>
                <a:schemeClr val="tx1"/>
              </a:solidFill>
              <a:prstDash val="solid"/>
              <a:miter/>
              <a:headEnd type="none" w="med" len="med"/>
              <a:tailEnd type="none" w="med" len="med"/>
            </a:ln>
          </p:spPr>
        </p:sp>
        <p:sp>
          <p:nvSpPr>
            <p:cNvPr id="63513" name="Line 151"/>
            <p:cNvSpPr/>
            <p:nvPr/>
          </p:nvSpPr>
          <p:spPr>
            <a:xfrm>
              <a:off x="5232" y="1978"/>
              <a:ext cx="0" cy="224"/>
            </a:xfrm>
            <a:prstGeom prst="line">
              <a:avLst/>
            </a:prstGeom>
            <a:ln w="12700" cap="flat" cmpd="sng">
              <a:solidFill>
                <a:schemeClr val="tx1"/>
              </a:solidFill>
              <a:prstDash val="solid"/>
              <a:miter/>
              <a:headEnd type="none" w="med" len="med"/>
              <a:tailEnd type="none" w="med" len="med"/>
            </a:ln>
          </p:spPr>
        </p:sp>
        <p:sp>
          <p:nvSpPr>
            <p:cNvPr id="63514" name="Line 152"/>
            <p:cNvSpPr/>
            <p:nvPr/>
          </p:nvSpPr>
          <p:spPr>
            <a:xfrm>
              <a:off x="5376" y="1978"/>
              <a:ext cx="0" cy="224"/>
            </a:xfrm>
            <a:prstGeom prst="line">
              <a:avLst/>
            </a:prstGeom>
            <a:ln w="12700" cap="flat" cmpd="sng">
              <a:solidFill>
                <a:schemeClr val="tx1"/>
              </a:solidFill>
              <a:prstDash val="solid"/>
              <a:miter/>
              <a:headEnd type="none" w="med" len="med"/>
              <a:tailEnd type="none" w="med" len="med"/>
            </a:ln>
          </p:spPr>
        </p:sp>
        <p:sp>
          <p:nvSpPr>
            <p:cNvPr id="63515" name="Line 153"/>
            <p:cNvSpPr/>
            <p:nvPr/>
          </p:nvSpPr>
          <p:spPr>
            <a:xfrm>
              <a:off x="5520" y="1978"/>
              <a:ext cx="0" cy="224"/>
            </a:xfrm>
            <a:prstGeom prst="line">
              <a:avLst/>
            </a:prstGeom>
            <a:ln w="28575" cap="sq" cmpd="sng">
              <a:solidFill>
                <a:schemeClr val="tx1"/>
              </a:solidFill>
              <a:prstDash val="solid"/>
              <a:miter/>
              <a:headEnd type="none" w="med" len="med"/>
              <a:tailEnd type="none" w="med" len="med"/>
            </a:ln>
          </p:spPr>
        </p:sp>
        <p:sp>
          <p:nvSpPr>
            <p:cNvPr id="63516" name="Rectangle 154"/>
            <p:cNvSpPr/>
            <p:nvPr/>
          </p:nvSpPr>
          <p:spPr>
            <a:xfrm>
              <a:off x="4704" y="3493"/>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00101000</a:t>
              </a:r>
              <a:endParaRPr lang="zh-CN" altLang="en-US" sz="1800" b="0">
                <a:ea typeface="楷体_GB2312" pitchFamily="49" charset="-122"/>
              </a:endParaRPr>
            </a:p>
          </p:txBody>
        </p:sp>
        <p:sp>
          <p:nvSpPr>
            <p:cNvPr id="63517" name="Rectangle 155"/>
            <p:cNvSpPr/>
            <p:nvPr/>
          </p:nvSpPr>
          <p:spPr>
            <a:xfrm>
              <a:off x="4704" y="3242"/>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01011000</a:t>
              </a:r>
              <a:endParaRPr lang="zh-CN" altLang="en-US" sz="1800" b="0">
                <a:ea typeface="楷体_GB2312" pitchFamily="49" charset="-122"/>
              </a:endParaRPr>
            </a:p>
          </p:txBody>
        </p:sp>
        <p:sp>
          <p:nvSpPr>
            <p:cNvPr id="63518" name="Rectangle 156"/>
            <p:cNvSpPr/>
            <p:nvPr/>
          </p:nvSpPr>
          <p:spPr>
            <a:xfrm>
              <a:off x="4704" y="2989"/>
              <a:ext cx="720" cy="253"/>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00100000</a:t>
              </a:r>
              <a:endParaRPr lang="zh-CN" altLang="en-US" sz="1800" b="0">
                <a:ea typeface="楷体_GB2312" pitchFamily="49" charset="-122"/>
              </a:endParaRPr>
            </a:p>
          </p:txBody>
        </p:sp>
        <p:sp>
          <p:nvSpPr>
            <p:cNvPr id="63519" name="Rectangle 157"/>
            <p:cNvSpPr/>
            <p:nvPr/>
          </p:nvSpPr>
          <p:spPr>
            <a:xfrm>
              <a:off x="4704" y="2737"/>
              <a:ext cx="720" cy="25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10001000</a:t>
              </a:r>
              <a:endParaRPr lang="zh-CN" altLang="en-US" sz="1800" b="0">
                <a:ea typeface="楷体_GB2312" pitchFamily="49" charset="-122"/>
              </a:endParaRPr>
            </a:p>
          </p:txBody>
        </p:sp>
        <p:sp>
          <p:nvSpPr>
            <p:cNvPr id="63520" name="Rectangle 158"/>
            <p:cNvSpPr/>
            <p:nvPr/>
          </p:nvSpPr>
          <p:spPr>
            <a:xfrm>
              <a:off x="4704" y="2486"/>
              <a:ext cx="720" cy="251"/>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10110000</a:t>
              </a:r>
              <a:endParaRPr lang="zh-CN" altLang="en-US" sz="1800" b="0">
                <a:ea typeface="楷体_GB2312" pitchFamily="49" charset="-122"/>
              </a:endParaRPr>
            </a:p>
          </p:txBody>
        </p:sp>
        <p:sp>
          <p:nvSpPr>
            <p:cNvPr id="63521" name="Rectangle 159"/>
            <p:cNvSpPr/>
            <p:nvPr/>
          </p:nvSpPr>
          <p:spPr>
            <a:xfrm>
              <a:off x="4704" y="2256"/>
              <a:ext cx="720" cy="23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1800" b="0">
                  <a:ea typeface="楷体_GB2312" pitchFamily="49" charset="-122"/>
                </a:rPr>
                <a:t>01111000</a:t>
              </a:r>
              <a:endParaRPr lang="zh-CN" altLang="en-US" sz="1800" b="0">
                <a:ea typeface="楷体_GB2312" pitchFamily="49" charset="-122"/>
              </a:endParaRPr>
            </a:p>
          </p:txBody>
        </p:sp>
        <p:sp>
          <p:nvSpPr>
            <p:cNvPr id="63522" name="Line 160"/>
            <p:cNvSpPr/>
            <p:nvPr/>
          </p:nvSpPr>
          <p:spPr>
            <a:xfrm>
              <a:off x="4704" y="2256"/>
              <a:ext cx="720" cy="0"/>
            </a:xfrm>
            <a:prstGeom prst="line">
              <a:avLst/>
            </a:prstGeom>
            <a:ln w="28575" cap="sq" cmpd="sng">
              <a:solidFill>
                <a:schemeClr val="tx1"/>
              </a:solidFill>
              <a:prstDash val="solid"/>
              <a:miter/>
              <a:headEnd type="none" w="med" len="med"/>
              <a:tailEnd type="none" w="med" len="med"/>
            </a:ln>
          </p:spPr>
        </p:sp>
        <p:sp>
          <p:nvSpPr>
            <p:cNvPr id="63523" name="Line 161"/>
            <p:cNvSpPr/>
            <p:nvPr/>
          </p:nvSpPr>
          <p:spPr>
            <a:xfrm>
              <a:off x="4704" y="2486"/>
              <a:ext cx="720" cy="0"/>
            </a:xfrm>
            <a:prstGeom prst="line">
              <a:avLst/>
            </a:prstGeom>
            <a:ln w="12700" cap="flat" cmpd="sng">
              <a:solidFill>
                <a:schemeClr val="tx1"/>
              </a:solidFill>
              <a:prstDash val="solid"/>
              <a:miter/>
              <a:headEnd type="none" w="med" len="med"/>
              <a:tailEnd type="none" w="med" len="med"/>
            </a:ln>
          </p:spPr>
        </p:sp>
        <p:sp>
          <p:nvSpPr>
            <p:cNvPr id="63524" name="Line 162"/>
            <p:cNvSpPr/>
            <p:nvPr/>
          </p:nvSpPr>
          <p:spPr>
            <a:xfrm>
              <a:off x="4704" y="2737"/>
              <a:ext cx="720" cy="0"/>
            </a:xfrm>
            <a:prstGeom prst="line">
              <a:avLst/>
            </a:prstGeom>
            <a:ln w="12700" cap="flat" cmpd="sng">
              <a:solidFill>
                <a:schemeClr val="tx1"/>
              </a:solidFill>
              <a:prstDash val="solid"/>
              <a:miter/>
              <a:headEnd type="none" w="med" len="med"/>
              <a:tailEnd type="none" w="med" len="med"/>
            </a:ln>
          </p:spPr>
        </p:sp>
        <p:sp>
          <p:nvSpPr>
            <p:cNvPr id="63525" name="Line 163"/>
            <p:cNvSpPr/>
            <p:nvPr/>
          </p:nvSpPr>
          <p:spPr>
            <a:xfrm>
              <a:off x="4704" y="2989"/>
              <a:ext cx="720" cy="0"/>
            </a:xfrm>
            <a:prstGeom prst="line">
              <a:avLst/>
            </a:prstGeom>
            <a:ln w="12700" cap="flat" cmpd="sng">
              <a:solidFill>
                <a:schemeClr val="tx1"/>
              </a:solidFill>
              <a:prstDash val="solid"/>
              <a:miter/>
              <a:headEnd type="none" w="med" len="med"/>
              <a:tailEnd type="none" w="med" len="med"/>
            </a:ln>
          </p:spPr>
        </p:sp>
        <p:sp>
          <p:nvSpPr>
            <p:cNvPr id="63526" name="Line 164"/>
            <p:cNvSpPr/>
            <p:nvPr/>
          </p:nvSpPr>
          <p:spPr>
            <a:xfrm>
              <a:off x="4704" y="3242"/>
              <a:ext cx="720" cy="0"/>
            </a:xfrm>
            <a:prstGeom prst="line">
              <a:avLst/>
            </a:prstGeom>
            <a:ln w="12700" cap="flat" cmpd="sng">
              <a:solidFill>
                <a:schemeClr val="tx1"/>
              </a:solidFill>
              <a:prstDash val="solid"/>
              <a:miter/>
              <a:headEnd type="none" w="med" len="med"/>
              <a:tailEnd type="none" w="med" len="med"/>
            </a:ln>
          </p:spPr>
        </p:sp>
        <p:sp>
          <p:nvSpPr>
            <p:cNvPr id="63527" name="Line 165"/>
            <p:cNvSpPr/>
            <p:nvPr/>
          </p:nvSpPr>
          <p:spPr>
            <a:xfrm>
              <a:off x="4704" y="3493"/>
              <a:ext cx="720" cy="0"/>
            </a:xfrm>
            <a:prstGeom prst="line">
              <a:avLst/>
            </a:prstGeom>
            <a:ln w="12700" cap="flat" cmpd="sng">
              <a:solidFill>
                <a:schemeClr val="tx1"/>
              </a:solidFill>
              <a:prstDash val="solid"/>
              <a:miter/>
              <a:headEnd type="none" w="med" len="med"/>
              <a:tailEnd type="none" w="med" len="med"/>
            </a:ln>
          </p:spPr>
        </p:sp>
        <p:sp>
          <p:nvSpPr>
            <p:cNvPr id="63528" name="Line 166"/>
            <p:cNvSpPr/>
            <p:nvPr/>
          </p:nvSpPr>
          <p:spPr>
            <a:xfrm>
              <a:off x="4704" y="3723"/>
              <a:ext cx="720" cy="0"/>
            </a:xfrm>
            <a:prstGeom prst="line">
              <a:avLst/>
            </a:prstGeom>
            <a:ln w="28575" cap="sq" cmpd="sng">
              <a:solidFill>
                <a:schemeClr val="tx1"/>
              </a:solidFill>
              <a:prstDash val="solid"/>
              <a:miter/>
              <a:headEnd type="none" w="med" len="med"/>
              <a:tailEnd type="none" w="med" len="med"/>
            </a:ln>
          </p:spPr>
        </p:sp>
        <p:sp>
          <p:nvSpPr>
            <p:cNvPr id="63529" name="Line 167"/>
            <p:cNvSpPr/>
            <p:nvPr/>
          </p:nvSpPr>
          <p:spPr>
            <a:xfrm>
              <a:off x="4704" y="2256"/>
              <a:ext cx="0" cy="1467"/>
            </a:xfrm>
            <a:prstGeom prst="line">
              <a:avLst/>
            </a:prstGeom>
            <a:ln w="28575" cap="sq" cmpd="sng">
              <a:solidFill>
                <a:schemeClr val="tx1"/>
              </a:solidFill>
              <a:prstDash val="solid"/>
              <a:miter/>
              <a:headEnd type="none" w="med" len="med"/>
              <a:tailEnd type="none" w="med" len="med"/>
            </a:ln>
          </p:spPr>
        </p:sp>
        <p:sp>
          <p:nvSpPr>
            <p:cNvPr id="63530" name="Line 168"/>
            <p:cNvSpPr/>
            <p:nvPr/>
          </p:nvSpPr>
          <p:spPr>
            <a:xfrm>
              <a:off x="5424" y="2256"/>
              <a:ext cx="0" cy="1467"/>
            </a:xfrm>
            <a:prstGeom prst="line">
              <a:avLst/>
            </a:prstGeom>
            <a:ln w="28575" cap="sq" cmpd="sng">
              <a:solidFill>
                <a:schemeClr val="tx1"/>
              </a:solidFill>
              <a:prstDash val="solid"/>
              <a:miter/>
              <a:headEnd type="none" w="med" len="med"/>
              <a:tailEnd type="none" w="med" len="med"/>
            </a:ln>
          </p:spPr>
        </p:sp>
      </p:grpSp>
      <p:sp>
        <p:nvSpPr>
          <p:cNvPr id="389289" name="Line 169"/>
          <p:cNvSpPr/>
          <p:nvPr/>
        </p:nvSpPr>
        <p:spPr>
          <a:xfrm>
            <a:off x="7543800" y="6214120"/>
            <a:ext cx="990600" cy="0"/>
          </a:xfrm>
          <a:prstGeom prst="line">
            <a:avLst/>
          </a:prstGeom>
          <a:ln w="38100" cap="flat" cmpd="sng">
            <a:solidFill>
              <a:schemeClr val="hlink"/>
            </a:solidFill>
            <a:prstDash val="solid"/>
            <a:miter/>
            <a:headEnd type="none" w="med" len="med"/>
            <a:tailEnd type="none" w="med" len="med"/>
          </a:ln>
        </p:spPr>
      </p:sp>
      <p:sp>
        <p:nvSpPr>
          <p:cNvPr id="389290" name="Line 170"/>
          <p:cNvSpPr/>
          <p:nvPr/>
        </p:nvSpPr>
        <p:spPr>
          <a:xfrm>
            <a:off x="7543800" y="5452120"/>
            <a:ext cx="990600" cy="0"/>
          </a:xfrm>
          <a:prstGeom prst="line">
            <a:avLst/>
          </a:prstGeom>
          <a:ln w="38100" cap="flat" cmpd="sng">
            <a:solidFill>
              <a:schemeClr val="hlink"/>
            </a:solidFill>
            <a:prstDash val="solid"/>
            <a:miter/>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ou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ox(ou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ou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389290"/>
                                        </p:tgtEl>
                                        <p:attrNameLst>
                                          <p:attrName>style.visibility</p:attrName>
                                        </p:attrNameLst>
                                      </p:cBhvr>
                                      <p:to>
                                        <p:strVal val="visible"/>
                                      </p:to>
                                    </p:set>
                                    <p:animEffect transition="in" filter="barn(outVertical)">
                                      <p:cBhvr>
                                        <p:cTn id="32" dur="500"/>
                                        <p:tgtEl>
                                          <p:spTgt spid="38929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nodeType="clickEffect">
                                  <p:stCondLst>
                                    <p:cond delay="0"/>
                                  </p:stCondLst>
                                  <p:childTnLst>
                                    <p:set>
                                      <p:cBhvr>
                                        <p:cTn id="36" dur="1" fill="hold">
                                          <p:stCondLst>
                                            <p:cond delay="0"/>
                                          </p:stCondLst>
                                        </p:cTn>
                                        <p:tgtEl>
                                          <p:spTgt spid="389289"/>
                                        </p:tgtEl>
                                        <p:attrNameLst>
                                          <p:attrName>style.visibility</p:attrName>
                                        </p:attrNameLst>
                                      </p:cBhvr>
                                      <p:to>
                                        <p:strVal val="visible"/>
                                      </p:to>
                                    </p:set>
                                    <p:animEffect transition="in" filter="barn(outVertical)">
                                      <p:cBhvr>
                                        <p:cTn id="37" dur="500"/>
                                        <p:tgtEl>
                                          <p:spTgt spid="3892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3"/>
          <p:cNvSpPr txBox="1">
            <a:spLocks noGrp="1"/>
          </p:cNvSpPr>
          <p:nvPr>
            <p:ph type="sldNum" sz="quarter" idx="12"/>
          </p:nvPr>
        </p:nvSpPr>
        <p:spPr>
          <a:xfrm>
            <a:off x="6731000" y="6308725"/>
            <a:ext cx="1905000" cy="457200"/>
          </a:xfrm>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grpSp>
        <p:nvGrpSpPr>
          <p:cNvPr id="64514" name="Group 3"/>
          <p:cNvGrpSpPr/>
          <p:nvPr/>
        </p:nvGrpSpPr>
        <p:grpSpPr>
          <a:xfrm>
            <a:off x="228600" y="2781300"/>
            <a:ext cx="8610600" cy="2895600"/>
            <a:chOff x="96" y="1488"/>
            <a:chExt cx="5424" cy="1824"/>
          </a:xfrm>
        </p:grpSpPr>
        <p:sp>
          <p:nvSpPr>
            <p:cNvPr id="64662" name="Rectangle 4"/>
            <p:cNvSpPr/>
            <p:nvPr/>
          </p:nvSpPr>
          <p:spPr>
            <a:xfrm>
              <a:off x="511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64663" name="Rectangle 5"/>
            <p:cNvSpPr/>
            <p:nvPr/>
          </p:nvSpPr>
          <p:spPr>
            <a:xfrm>
              <a:off x="4715"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64664" name="Rectangle 6"/>
            <p:cNvSpPr/>
            <p:nvPr/>
          </p:nvSpPr>
          <p:spPr>
            <a:xfrm>
              <a:off x="4313"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64665" name="Rectangle 7"/>
            <p:cNvSpPr/>
            <p:nvPr/>
          </p:nvSpPr>
          <p:spPr>
            <a:xfrm>
              <a:off x="3910"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64666" name="Rectangle 8"/>
            <p:cNvSpPr/>
            <p:nvPr/>
          </p:nvSpPr>
          <p:spPr>
            <a:xfrm>
              <a:off x="350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64667" name="Rectangle 9"/>
            <p:cNvSpPr/>
            <p:nvPr/>
          </p:nvSpPr>
          <p:spPr>
            <a:xfrm>
              <a:off x="310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64668" name="Rectangle 10"/>
            <p:cNvSpPr/>
            <p:nvPr/>
          </p:nvSpPr>
          <p:spPr>
            <a:xfrm>
              <a:off x="2702" y="1814"/>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64669" name="Rectangle 11"/>
            <p:cNvSpPr/>
            <p:nvPr/>
          </p:nvSpPr>
          <p:spPr>
            <a:xfrm>
              <a:off x="2300"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64670" name="Rectangle 12"/>
            <p:cNvSpPr/>
            <p:nvPr/>
          </p:nvSpPr>
          <p:spPr>
            <a:xfrm>
              <a:off x="189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64671" name="Rectangle 13"/>
            <p:cNvSpPr/>
            <p:nvPr/>
          </p:nvSpPr>
          <p:spPr>
            <a:xfrm>
              <a:off x="1495"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64672" name="Rectangle 14"/>
            <p:cNvSpPr/>
            <p:nvPr/>
          </p:nvSpPr>
          <p:spPr>
            <a:xfrm>
              <a:off x="1093"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64673" name="Rectangle 15"/>
            <p:cNvSpPr/>
            <p:nvPr/>
          </p:nvSpPr>
          <p:spPr>
            <a:xfrm>
              <a:off x="672" y="1814"/>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64674" name="Rectangle 16"/>
            <p:cNvSpPr/>
            <p:nvPr/>
          </p:nvSpPr>
          <p:spPr>
            <a:xfrm>
              <a:off x="96" y="1814"/>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P</a:t>
              </a:r>
              <a:endParaRPr lang="en-US" altLang="zh-CN" b="0">
                <a:ea typeface="楷体_GB2312" pitchFamily="49" charset="-122"/>
              </a:endParaRPr>
            </a:p>
          </p:txBody>
        </p:sp>
        <p:sp>
          <p:nvSpPr>
            <p:cNvPr id="64675" name="Rectangle 17"/>
            <p:cNvSpPr/>
            <p:nvPr/>
          </p:nvSpPr>
          <p:spPr>
            <a:xfrm>
              <a:off x="511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12</a:t>
              </a:r>
              <a:endParaRPr lang="zh-CN" altLang="en-US" b="0">
                <a:ea typeface="楷体_GB2312" pitchFamily="49" charset="-122"/>
              </a:endParaRPr>
            </a:p>
          </p:txBody>
        </p:sp>
        <p:sp>
          <p:nvSpPr>
            <p:cNvPr id="64676" name="Rectangle 18"/>
            <p:cNvSpPr/>
            <p:nvPr/>
          </p:nvSpPr>
          <p:spPr>
            <a:xfrm>
              <a:off x="4715"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11</a:t>
              </a:r>
              <a:endParaRPr lang="zh-CN" altLang="en-US" b="0">
                <a:ea typeface="楷体_GB2312" pitchFamily="49" charset="-122"/>
              </a:endParaRPr>
            </a:p>
          </p:txBody>
        </p:sp>
        <p:sp>
          <p:nvSpPr>
            <p:cNvPr id="64677" name="Rectangle 19"/>
            <p:cNvSpPr/>
            <p:nvPr/>
          </p:nvSpPr>
          <p:spPr>
            <a:xfrm>
              <a:off x="4313"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10</a:t>
              </a:r>
              <a:endParaRPr lang="zh-CN" altLang="en-US" b="0">
                <a:ea typeface="楷体_GB2312" pitchFamily="49" charset="-122"/>
              </a:endParaRPr>
            </a:p>
          </p:txBody>
        </p:sp>
        <p:sp>
          <p:nvSpPr>
            <p:cNvPr id="64678" name="Rectangle 20"/>
            <p:cNvSpPr/>
            <p:nvPr/>
          </p:nvSpPr>
          <p:spPr>
            <a:xfrm>
              <a:off x="3910"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9</a:t>
              </a:r>
              <a:endParaRPr lang="zh-CN" altLang="en-US" b="0">
                <a:ea typeface="楷体_GB2312" pitchFamily="49" charset="-122"/>
              </a:endParaRPr>
            </a:p>
          </p:txBody>
        </p:sp>
        <p:sp>
          <p:nvSpPr>
            <p:cNvPr id="64679" name="Rectangle 21"/>
            <p:cNvSpPr/>
            <p:nvPr/>
          </p:nvSpPr>
          <p:spPr>
            <a:xfrm>
              <a:off x="350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8</a:t>
              </a:r>
              <a:endParaRPr lang="zh-CN" altLang="en-US" b="0">
                <a:ea typeface="楷体_GB2312" pitchFamily="49" charset="-122"/>
              </a:endParaRPr>
            </a:p>
          </p:txBody>
        </p:sp>
        <p:sp>
          <p:nvSpPr>
            <p:cNvPr id="64680" name="Rectangle 22"/>
            <p:cNvSpPr/>
            <p:nvPr/>
          </p:nvSpPr>
          <p:spPr>
            <a:xfrm>
              <a:off x="310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7</a:t>
              </a:r>
              <a:endParaRPr lang="zh-CN" altLang="en-US" b="0">
                <a:ea typeface="楷体_GB2312" pitchFamily="49" charset="-122"/>
              </a:endParaRPr>
            </a:p>
          </p:txBody>
        </p:sp>
        <p:sp>
          <p:nvSpPr>
            <p:cNvPr id="64681" name="Rectangle 23"/>
            <p:cNvSpPr/>
            <p:nvPr/>
          </p:nvSpPr>
          <p:spPr>
            <a:xfrm>
              <a:off x="2702" y="1488"/>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6</a:t>
              </a:r>
              <a:endParaRPr lang="zh-CN" altLang="en-US" b="0">
                <a:ea typeface="楷体_GB2312" pitchFamily="49" charset="-122"/>
              </a:endParaRPr>
            </a:p>
          </p:txBody>
        </p:sp>
        <p:sp>
          <p:nvSpPr>
            <p:cNvPr id="64682" name="Rectangle 24"/>
            <p:cNvSpPr/>
            <p:nvPr/>
          </p:nvSpPr>
          <p:spPr>
            <a:xfrm>
              <a:off x="2300"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64683" name="Rectangle 25"/>
            <p:cNvSpPr/>
            <p:nvPr/>
          </p:nvSpPr>
          <p:spPr>
            <a:xfrm>
              <a:off x="189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64684" name="Rectangle 26"/>
            <p:cNvSpPr/>
            <p:nvPr/>
          </p:nvSpPr>
          <p:spPr>
            <a:xfrm>
              <a:off x="1495"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64685" name="Rectangle 27"/>
            <p:cNvSpPr/>
            <p:nvPr/>
          </p:nvSpPr>
          <p:spPr>
            <a:xfrm>
              <a:off x="1093"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64686" name="Rectangle 28"/>
            <p:cNvSpPr/>
            <p:nvPr/>
          </p:nvSpPr>
          <p:spPr>
            <a:xfrm>
              <a:off x="672" y="1488"/>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64687" name="Rectangle 29"/>
            <p:cNvSpPr/>
            <p:nvPr/>
          </p:nvSpPr>
          <p:spPr>
            <a:xfrm>
              <a:off x="96" y="1488"/>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sz="2400" b="0">
                  <a:ea typeface="楷体_GB2312" pitchFamily="49" charset="-122"/>
                </a:rPr>
                <a:t>时刻</a:t>
              </a:r>
              <a:endParaRPr lang="zh-CN" altLang="en-US" sz="2400" b="0">
                <a:ea typeface="楷体_GB2312" pitchFamily="49" charset="-122"/>
              </a:endParaRPr>
            </a:p>
          </p:txBody>
        </p:sp>
        <p:sp>
          <p:nvSpPr>
            <p:cNvPr id="64688" name="Line 30"/>
            <p:cNvSpPr/>
            <p:nvPr/>
          </p:nvSpPr>
          <p:spPr>
            <a:xfrm>
              <a:off x="96" y="1488"/>
              <a:ext cx="5424" cy="0"/>
            </a:xfrm>
            <a:prstGeom prst="line">
              <a:avLst/>
            </a:prstGeom>
            <a:ln w="28575" cap="sq" cmpd="sng">
              <a:solidFill>
                <a:schemeClr val="tx1"/>
              </a:solidFill>
              <a:prstDash val="solid"/>
              <a:miter/>
              <a:headEnd type="none" w="med" len="med"/>
              <a:tailEnd type="none" w="med" len="med"/>
            </a:ln>
          </p:spPr>
        </p:sp>
        <p:sp>
          <p:nvSpPr>
            <p:cNvPr id="64689" name="Line 31"/>
            <p:cNvSpPr/>
            <p:nvPr/>
          </p:nvSpPr>
          <p:spPr>
            <a:xfrm>
              <a:off x="96" y="1814"/>
              <a:ext cx="5424" cy="0"/>
            </a:xfrm>
            <a:prstGeom prst="line">
              <a:avLst/>
            </a:prstGeom>
            <a:ln w="12700" cap="flat" cmpd="sng">
              <a:solidFill>
                <a:schemeClr val="tx1"/>
              </a:solidFill>
              <a:prstDash val="solid"/>
              <a:miter/>
              <a:headEnd type="none" w="med" len="med"/>
              <a:tailEnd type="none" w="med" len="med"/>
            </a:ln>
          </p:spPr>
        </p:sp>
        <p:sp>
          <p:nvSpPr>
            <p:cNvPr id="64690" name="Line 32"/>
            <p:cNvSpPr/>
            <p:nvPr/>
          </p:nvSpPr>
          <p:spPr>
            <a:xfrm>
              <a:off x="96" y="2140"/>
              <a:ext cx="5424" cy="0"/>
            </a:xfrm>
            <a:prstGeom prst="line">
              <a:avLst/>
            </a:prstGeom>
            <a:ln w="28575" cap="sq" cmpd="sng">
              <a:solidFill>
                <a:schemeClr val="tx1"/>
              </a:solidFill>
              <a:prstDash val="solid"/>
              <a:miter/>
              <a:headEnd type="none" w="med" len="med"/>
              <a:tailEnd type="none" w="med" len="med"/>
            </a:ln>
          </p:spPr>
        </p:sp>
        <p:sp>
          <p:nvSpPr>
            <p:cNvPr id="64691" name="Line 33"/>
            <p:cNvSpPr/>
            <p:nvPr/>
          </p:nvSpPr>
          <p:spPr>
            <a:xfrm>
              <a:off x="96" y="1488"/>
              <a:ext cx="0" cy="652"/>
            </a:xfrm>
            <a:prstGeom prst="line">
              <a:avLst/>
            </a:prstGeom>
            <a:ln w="28575" cap="sq" cmpd="sng">
              <a:solidFill>
                <a:schemeClr val="tx1"/>
              </a:solidFill>
              <a:prstDash val="solid"/>
              <a:miter/>
              <a:headEnd type="none" w="med" len="med"/>
              <a:tailEnd type="none" w="med" len="med"/>
            </a:ln>
          </p:spPr>
        </p:sp>
        <p:sp>
          <p:nvSpPr>
            <p:cNvPr id="64692" name="Line 34"/>
            <p:cNvSpPr/>
            <p:nvPr/>
          </p:nvSpPr>
          <p:spPr>
            <a:xfrm>
              <a:off x="672" y="1488"/>
              <a:ext cx="0" cy="652"/>
            </a:xfrm>
            <a:prstGeom prst="line">
              <a:avLst/>
            </a:prstGeom>
            <a:ln w="12700" cap="flat" cmpd="sng">
              <a:solidFill>
                <a:schemeClr val="tx1"/>
              </a:solidFill>
              <a:prstDash val="solid"/>
              <a:miter/>
              <a:headEnd type="none" w="med" len="med"/>
              <a:tailEnd type="none" w="med" len="med"/>
            </a:ln>
          </p:spPr>
        </p:sp>
        <p:sp>
          <p:nvSpPr>
            <p:cNvPr id="64693" name="Line 35"/>
            <p:cNvSpPr/>
            <p:nvPr/>
          </p:nvSpPr>
          <p:spPr>
            <a:xfrm>
              <a:off x="1093" y="1488"/>
              <a:ext cx="0" cy="652"/>
            </a:xfrm>
            <a:prstGeom prst="line">
              <a:avLst/>
            </a:prstGeom>
            <a:ln w="12700" cap="flat" cmpd="sng">
              <a:solidFill>
                <a:schemeClr val="tx1"/>
              </a:solidFill>
              <a:prstDash val="solid"/>
              <a:miter/>
              <a:headEnd type="none" w="med" len="med"/>
              <a:tailEnd type="none" w="med" len="med"/>
            </a:ln>
          </p:spPr>
        </p:sp>
        <p:sp>
          <p:nvSpPr>
            <p:cNvPr id="64694" name="Line 36"/>
            <p:cNvSpPr/>
            <p:nvPr/>
          </p:nvSpPr>
          <p:spPr>
            <a:xfrm>
              <a:off x="1495" y="1488"/>
              <a:ext cx="0" cy="652"/>
            </a:xfrm>
            <a:prstGeom prst="line">
              <a:avLst/>
            </a:prstGeom>
            <a:ln w="12700" cap="flat" cmpd="sng">
              <a:solidFill>
                <a:schemeClr val="tx1"/>
              </a:solidFill>
              <a:prstDash val="solid"/>
              <a:miter/>
              <a:headEnd type="none" w="med" len="med"/>
              <a:tailEnd type="none" w="med" len="med"/>
            </a:ln>
          </p:spPr>
        </p:sp>
        <p:sp>
          <p:nvSpPr>
            <p:cNvPr id="64695" name="Line 37"/>
            <p:cNvSpPr/>
            <p:nvPr/>
          </p:nvSpPr>
          <p:spPr>
            <a:xfrm>
              <a:off x="1898" y="1488"/>
              <a:ext cx="0" cy="652"/>
            </a:xfrm>
            <a:prstGeom prst="line">
              <a:avLst/>
            </a:prstGeom>
            <a:ln w="12700" cap="flat" cmpd="sng">
              <a:solidFill>
                <a:schemeClr val="tx1"/>
              </a:solidFill>
              <a:prstDash val="solid"/>
              <a:miter/>
              <a:headEnd type="none" w="med" len="med"/>
              <a:tailEnd type="none" w="med" len="med"/>
            </a:ln>
          </p:spPr>
        </p:sp>
        <p:sp>
          <p:nvSpPr>
            <p:cNvPr id="64696" name="Line 38"/>
            <p:cNvSpPr/>
            <p:nvPr/>
          </p:nvSpPr>
          <p:spPr>
            <a:xfrm>
              <a:off x="2300" y="1488"/>
              <a:ext cx="0" cy="652"/>
            </a:xfrm>
            <a:prstGeom prst="line">
              <a:avLst/>
            </a:prstGeom>
            <a:ln w="12700" cap="flat" cmpd="sng">
              <a:solidFill>
                <a:schemeClr val="tx1"/>
              </a:solidFill>
              <a:prstDash val="solid"/>
              <a:miter/>
              <a:headEnd type="none" w="med" len="med"/>
              <a:tailEnd type="none" w="med" len="med"/>
            </a:ln>
          </p:spPr>
        </p:sp>
        <p:sp>
          <p:nvSpPr>
            <p:cNvPr id="64697" name="Line 39"/>
            <p:cNvSpPr/>
            <p:nvPr/>
          </p:nvSpPr>
          <p:spPr>
            <a:xfrm>
              <a:off x="2702" y="1488"/>
              <a:ext cx="0" cy="652"/>
            </a:xfrm>
            <a:prstGeom prst="line">
              <a:avLst/>
            </a:prstGeom>
            <a:ln w="12700" cap="flat" cmpd="sng">
              <a:solidFill>
                <a:schemeClr val="tx1"/>
              </a:solidFill>
              <a:prstDash val="solid"/>
              <a:miter/>
              <a:headEnd type="none" w="med" len="med"/>
              <a:tailEnd type="none" w="med" len="med"/>
            </a:ln>
          </p:spPr>
        </p:sp>
        <p:sp>
          <p:nvSpPr>
            <p:cNvPr id="64698" name="Line 40"/>
            <p:cNvSpPr/>
            <p:nvPr/>
          </p:nvSpPr>
          <p:spPr>
            <a:xfrm>
              <a:off x="3106" y="1488"/>
              <a:ext cx="0" cy="652"/>
            </a:xfrm>
            <a:prstGeom prst="line">
              <a:avLst/>
            </a:prstGeom>
            <a:ln w="12700" cap="flat" cmpd="sng">
              <a:solidFill>
                <a:schemeClr val="tx1"/>
              </a:solidFill>
              <a:prstDash val="solid"/>
              <a:miter/>
              <a:headEnd type="none" w="med" len="med"/>
              <a:tailEnd type="none" w="med" len="med"/>
            </a:ln>
          </p:spPr>
        </p:sp>
        <p:sp>
          <p:nvSpPr>
            <p:cNvPr id="64699" name="Line 41"/>
            <p:cNvSpPr/>
            <p:nvPr/>
          </p:nvSpPr>
          <p:spPr>
            <a:xfrm>
              <a:off x="3508" y="1488"/>
              <a:ext cx="0" cy="652"/>
            </a:xfrm>
            <a:prstGeom prst="line">
              <a:avLst/>
            </a:prstGeom>
            <a:ln w="12700" cap="flat" cmpd="sng">
              <a:solidFill>
                <a:schemeClr val="tx1"/>
              </a:solidFill>
              <a:prstDash val="solid"/>
              <a:miter/>
              <a:headEnd type="none" w="med" len="med"/>
              <a:tailEnd type="none" w="med" len="med"/>
            </a:ln>
          </p:spPr>
        </p:sp>
        <p:sp>
          <p:nvSpPr>
            <p:cNvPr id="64700" name="Line 42"/>
            <p:cNvSpPr/>
            <p:nvPr/>
          </p:nvSpPr>
          <p:spPr>
            <a:xfrm>
              <a:off x="3910" y="1488"/>
              <a:ext cx="0" cy="652"/>
            </a:xfrm>
            <a:prstGeom prst="line">
              <a:avLst/>
            </a:prstGeom>
            <a:ln w="12700" cap="flat" cmpd="sng">
              <a:solidFill>
                <a:schemeClr val="tx1"/>
              </a:solidFill>
              <a:prstDash val="solid"/>
              <a:miter/>
              <a:headEnd type="none" w="med" len="med"/>
              <a:tailEnd type="none" w="med" len="med"/>
            </a:ln>
          </p:spPr>
        </p:sp>
        <p:sp>
          <p:nvSpPr>
            <p:cNvPr id="64701" name="Line 43"/>
            <p:cNvSpPr/>
            <p:nvPr/>
          </p:nvSpPr>
          <p:spPr>
            <a:xfrm>
              <a:off x="4313" y="1488"/>
              <a:ext cx="0" cy="652"/>
            </a:xfrm>
            <a:prstGeom prst="line">
              <a:avLst/>
            </a:prstGeom>
            <a:ln w="12700" cap="flat" cmpd="sng">
              <a:solidFill>
                <a:schemeClr val="tx1"/>
              </a:solidFill>
              <a:prstDash val="solid"/>
              <a:miter/>
              <a:headEnd type="none" w="med" len="med"/>
              <a:tailEnd type="none" w="med" len="med"/>
            </a:ln>
          </p:spPr>
        </p:sp>
        <p:sp>
          <p:nvSpPr>
            <p:cNvPr id="64702" name="Line 44"/>
            <p:cNvSpPr/>
            <p:nvPr/>
          </p:nvSpPr>
          <p:spPr>
            <a:xfrm>
              <a:off x="4715" y="1488"/>
              <a:ext cx="0" cy="652"/>
            </a:xfrm>
            <a:prstGeom prst="line">
              <a:avLst/>
            </a:prstGeom>
            <a:ln w="12700" cap="flat" cmpd="sng">
              <a:solidFill>
                <a:schemeClr val="tx1"/>
              </a:solidFill>
              <a:prstDash val="solid"/>
              <a:miter/>
              <a:headEnd type="none" w="med" len="med"/>
              <a:tailEnd type="none" w="med" len="med"/>
            </a:ln>
          </p:spPr>
        </p:sp>
        <p:sp>
          <p:nvSpPr>
            <p:cNvPr id="64703" name="Line 45"/>
            <p:cNvSpPr/>
            <p:nvPr/>
          </p:nvSpPr>
          <p:spPr>
            <a:xfrm>
              <a:off x="5118" y="1488"/>
              <a:ext cx="0" cy="652"/>
            </a:xfrm>
            <a:prstGeom prst="line">
              <a:avLst/>
            </a:prstGeom>
            <a:ln w="12700" cap="flat" cmpd="sng">
              <a:solidFill>
                <a:schemeClr val="tx1"/>
              </a:solidFill>
              <a:prstDash val="solid"/>
              <a:miter/>
              <a:headEnd type="none" w="med" len="med"/>
              <a:tailEnd type="none" w="med" len="med"/>
            </a:ln>
          </p:spPr>
        </p:sp>
        <p:sp>
          <p:nvSpPr>
            <p:cNvPr id="64704" name="Line 46"/>
            <p:cNvSpPr/>
            <p:nvPr/>
          </p:nvSpPr>
          <p:spPr>
            <a:xfrm>
              <a:off x="5520" y="1488"/>
              <a:ext cx="0" cy="652"/>
            </a:xfrm>
            <a:prstGeom prst="line">
              <a:avLst/>
            </a:prstGeom>
            <a:ln w="28575" cap="sq" cmpd="sng">
              <a:solidFill>
                <a:schemeClr val="tx1"/>
              </a:solidFill>
              <a:prstDash val="solid"/>
              <a:miter/>
              <a:headEnd type="none" w="med" len="med"/>
              <a:tailEnd type="none" w="med" len="med"/>
            </a:ln>
          </p:spPr>
        </p:sp>
        <p:sp>
          <p:nvSpPr>
            <p:cNvPr id="64705" name="Rectangle 47"/>
            <p:cNvSpPr/>
            <p:nvPr/>
          </p:nvSpPr>
          <p:spPr>
            <a:xfrm>
              <a:off x="96" y="2968"/>
              <a:ext cx="576" cy="34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F</a:t>
              </a:r>
              <a:endParaRPr lang="en-US" altLang="zh-CN" b="0">
                <a:ea typeface="楷体_GB2312" pitchFamily="49" charset="-122"/>
              </a:endParaRPr>
            </a:p>
          </p:txBody>
        </p:sp>
        <p:sp>
          <p:nvSpPr>
            <p:cNvPr id="64706" name="Rectangle 48"/>
            <p:cNvSpPr/>
            <p:nvPr/>
          </p:nvSpPr>
          <p:spPr>
            <a:xfrm>
              <a:off x="96" y="2152"/>
              <a:ext cx="576" cy="81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M</a:t>
              </a:r>
              <a:endParaRPr lang="en-US" altLang="zh-CN" b="0">
                <a:ea typeface="楷体_GB2312" pitchFamily="49" charset="-122"/>
              </a:endParaRPr>
            </a:p>
          </p:txBody>
        </p:sp>
        <p:sp>
          <p:nvSpPr>
            <p:cNvPr id="64707" name="Line 49"/>
            <p:cNvSpPr/>
            <p:nvPr/>
          </p:nvSpPr>
          <p:spPr>
            <a:xfrm>
              <a:off x="96" y="2152"/>
              <a:ext cx="576" cy="0"/>
            </a:xfrm>
            <a:prstGeom prst="line">
              <a:avLst/>
            </a:prstGeom>
            <a:ln w="28575" cap="sq" cmpd="sng">
              <a:solidFill>
                <a:schemeClr val="tx1"/>
              </a:solidFill>
              <a:prstDash val="solid"/>
              <a:miter/>
              <a:headEnd type="none" w="med" len="med"/>
              <a:tailEnd type="none" w="med" len="med"/>
            </a:ln>
          </p:spPr>
        </p:sp>
        <p:sp>
          <p:nvSpPr>
            <p:cNvPr id="64708" name="Line 50"/>
            <p:cNvSpPr/>
            <p:nvPr/>
          </p:nvSpPr>
          <p:spPr>
            <a:xfrm>
              <a:off x="96" y="2968"/>
              <a:ext cx="576" cy="0"/>
            </a:xfrm>
            <a:prstGeom prst="line">
              <a:avLst/>
            </a:prstGeom>
            <a:ln w="12700" cap="flat" cmpd="sng">
              <a:solidFill>
                <a:schemeClr val="tx1"/>
              </a:solidFill>
              <a:prstDash val="solid"/>
              <a:miter/>
              <a:headEnd type="none" w="med" len="med"/>
              <a:tailEnd type="none" w="med" len="med"/>
            </a:ln>
          </p:spPr>
        </p:sp>
        <p:sp>
          <p:nvSpPr>
            <p:cNvPr id="64709" name="Line 51"/>
            <p:cNvSpPr/>
            <p:nvPr/>
          </p:nvSpPr>
          <p:spPr>
            <a:xfrm>
              <a:off x="96" y="3312"/>
              <a:ext cx="576" cy="0"/>
            </a:xfrm>
            <a:prstGeom prst="line">
              <a:avLst/>
            </a:prstGeom>
            <a:ln w="28575" cap="sq" cmpd="sng">
              <a:solidFill>
                <a:schemeClr val="tx1"/>
              </a:solidFill>
              <a:prstDash val="solid"/>
              <a:miter/>
              <a:headEnd type="none" w="med" len="med"/>
              <a:tailEnd type="none" w="med" len="med"/>
            </a:ln>
          </p:spPr>
        </p:sp>
        <p:sp>
          <p:nvSpPr>
            <p:cNvPr id="64710" name="Line 52"/>
            <p:cNvSpPr/>
            <p:nvPr/>
          </p:nvSpPr>
          <p:spPr>
            <a:xfrm>
              <a:off x="96" y="2152"/>
              <a:ext cx="0" cy="1160"/>
            </a:xfrm>
            <a:prstGeom prst="line">
              <a:avLst/>
            </a:prstGeom>
            <a:ln w="28575" cap="sq" cmpd="sng">
              <a:solidFill>
                <a:schemeClr val="tx1"/>
              </a:solidFill>
              <a:prstDash val="solid"/>
              <a:miter/>
              <a:headEnd type="none" w="med" len="med"/>
              <a:tailEnd type="none" w="med" len="med"/>
            </a:ln>
          </p:spPr>
        </p:sp>
        <p:sp>
          <p:nvSpPr>
            <p:cNvPr id="64711" name="Line 53"/>
            <p:cNvSpPr/>
            <p:nvPr/>
          </p:nvSpPr>
          <p:spPr>
            <a:xfrm>
              <a:off x="672" y="2152"/>
              <a:ext cx="0" cy="1160"/>
            </a:xfrm>
            <a:prstGeom prst="line">
              <a:avLst/>
            </a:prstGeom>
            <a:ln w="28575" cap="sq" cmpd="sng">
              <a:solidFill>
                <a:schemeClr val="tx1"/>
              </a:solidFill>
              <a:prstDash val="solid"/>
              <a:miter/>
              <a:headEnd type="none" w="med" len="med"/>
              <a:tailEnd type="none" w="med" len="med"/>
            </a:ln>
          </p:spPr>
        </p:sp>
      </p:grpSp>
      <p:graphicFrame>
        <p:nvGraphicFramePr>
          <p:cNvPr id="64515" name="表格 64514"/>
          <p:cNvGraphicFramePr/>
          <p:nvPr/>
        </p:nvGraphicFramePr>
        <p:xfrm>
          <a:off x="1143000" y="3835400"/>
          <a:ext cx="685800" cy="1843088"/>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527" name="表格 64526"/>
          <p:cNvGraphicFramePr/>
          <p:nvPr/>
        </p:nvGraphicFramePr>
        <p:xfrm>
          <a:off x="1828800" y="3835400"/>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539" name="表格 64538"/>
          <p:cNvGraphicFramePr/>
          <p:nvPr/>
        </p:nvGraphicFramePr>
        <p:xfrm>
          <a:off x="2438400" y="3835400"/>
          <a:ext cx="685800" cy="1843088"/>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551" name="表格 64550"/>
          <p:cNvGraphicFramePr/>
          <p:nvPr/>
        </p:nvGraphicFramePr>
        <p:xfrm>
          <a:off x="3124200" y="3835400"/>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563" name="表格 64562"/>
          <p:cNvGraphicFramePr/>
          <p:nvPr/>
        </p:nvGraphicFramePr>
        <p:xfrm>
          <a:off x="3733800" y="3835400"/>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575" name="表格 64574"/>
          <p:cNvGraphicFramePr/>
          <p:nvPr/>
        </p:nvGraphicFramePr>
        <p:xfrm>
          <a:off x="4343400" y="3835400"/>
          <a:ext cx="685800" cy="1843088"/>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587" name="表格 64586"/>
          <p:cNvGraphicFramePr/>
          <p:nvPr/>
        </p:nvGraphicFramePr>
        <p:xfrm>
          <a:off x="5029200" y="3833813"/>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599" name="表格 64598"/>
          <p:cNvGraphicFramePr/>
          <p:nvPr/>
        </p:nvGraphicFramePr>
        <p:xfrm>
          <a:off x="5638800" y="3833813"/>
          <a:ext cx="685800" cy="1843088"/>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611" name="表格 64610"/>
          <p:cNvGraphicFramePr/>
          <p:nvPr/>
        </p:nvGraphicFramePr>
        <p:xfrm>
          <a:off x="6324600" y="3833813"/>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623" name="表格 64622"/>
          <p:cNvGraphicFramePr/>
          <p:nvPr/>
        </p:nvGraphicFramePr>
        <p:xfrm>
          <a:off x="6934200" y="3833813"/>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635" name="表格 64634"/>
          <p:cNvGraphicFramePr/>
          <p:nvPr/>
        </p:nvGraphicFramePr>
        <p:xfrm>
          <a:off x="7543800" y="3833813"/>
          <a:ext cx="685800" cy="1843088"/>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4647" name="表格 64646"/>
          <p:cNvGraphicFramePr/>
          <p:nvPr/>
        </p:nvGraphicFramePr>
        <p:xfrm>
          <a:off x="8229600" y="3835400"/>
          <a:ext cx="609600" cy="1843088"/>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36" marB="45736"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
        <p:nvSpPr>
          <p:cNvPr id="394438" name="Text Box 198"/>
          <p:cNvSpPr txBox="1"/>
          <p:nvPr/>
        </p:nvSpPr>
        <p:spPr>
          <a:xfrm>
            <a:off x="228600" y="5829300"/>
            <a:ext cx="8229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buClr>
                <a:schemeClr val="folHlink"/>
              </a:buClr>
              <a:buSzPct val="60000"/>
              <a:buFont typeface="Wingdings" panose="05000000000000000000" pitchFamily="2" charset="2"/>
              <a:buNone/>
            </a:pPr>
            <a:r>
              <a:rPr lang="zh-CN" altLang="en-US" sz="2400" b="0">
                <a:ea typeface="楷体_GB2312" pitchFamily="49" charset="-122"/>
              </a:rPr>
              <a:t>算出缺页中断次数</a:t>
            </a:r>
            <a:r>
              <a:rPr lang="en-US" altLang="zh-CN" sz="2400" b="0">
                <a:ea typeface="楷体_GB2312" pitchFamily="49" charset="-122"/>
              </a:rPr>
              <a:t>F=10</a:t>
            </a:r>
            <a:r>
              <a:rPr lang="zh-CN" altLang="en-US" sz="2400" b="0">
                <a:ea typeface="楷体_GB2312" pitchFamily="49" charset="-122"/>
              </a:rPr>
              <a:t>，缺页率</a:t>
            </a:r>
            <a:r>
              <a:rPr lang="en-US" altLang="zh-CN" sz="2400" b="0" i="1">
                <a:ea typeface="楷体_GB2312" pitchFamily="49" charset="-122"/>
              </a:rPr>
              <a:t>f </a:t>
            </a:r>
            <a:r>
              <a:rPr lang="en-US" altLang="zh-CN" sz="2400" b="0">
                <a:ea typeface="楷体_GB2312" pitchFamily="49" charset="-122"/>
              </a:rPr>
              <a:t>=10</a:t>
            </a:r>
            <a:r>
              <a:rPr lang="zh-CN" altLang="en-US" sz="2400" b="0">
                <a:ea typeface="楷体_GB2312" pitchFamily="49" charset="-122"/>
              </a:rPr>
              <a:t>／</a:t>
            </a:r>
            <a:r>
              <a:rPr lang="en-US" altLang="zh-CN" sz="2400" b="0">
                <a:ea typeface="楷体_GB2312" pitchFamily="49" charset="-122"/>
              </a:rPr>
              <a:t>12=83</a:t>
            </a:r>
            <a:r>
              <a:rPr lang="zh-CN" altLang="en-US" sz="2400" b="0">
                <a:ea typeface="楷体_GB2312" pitchFamily="49" charset="-122"/>
              </a:rPr>
              <a:t>％。</a:t>
            </a:r>
            <a:endParaRPr lang="zh-CN" altLang="en-US" sz="2400" b="0">
              <a:ea typeface="楷体_GB2312" pitchFamily="49" charset="-122"/>
            </a:endParaRPr>
          </a:p>
        </p:txBody>
      </p:sp>
      <p:sp>
        <p:nvSpPr>
          <p:cNvPr id="64660" name="矩形 1"/>
          <p:cNvSpPr/>
          <p:nvPr/>
        </p:nvSpPr>
        <p:spPr>
          <a:xfrm>
            <a:off x="228600" y="1484313"/>
            <a:ext cx="8807450"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 typeface="Wingdings" panose="05000000000000000000" pitchFamily="2" charset="2"/>
              <a:buNone/>
            </a:pPr>
            <a:r>
              <a:rPr lang="zh-CN" altLang="en-US" sz="2400" b="0"/>
              <a:t>例</a:t>
            </a:r>
            <a:r>
              <a:rPr lang="en-US" altLang="zh-CN" sz="2400" b="0"/>
              <a:t>3.   </a:t>
            </a:r>
            <a:r>
              <a:rPr lang="zh-CN" altLang="en-US" sz="2400" b="0"/>
              <a:t>设</a:t>
            </a:r>
            <a:r>
              <a:rPr lang="en-US" altLang="zh-CN" sz="2400" b="0"/>
              <a:t>M=3</a:t>
            </a:r>
            <a:r>
              <a:rPr lang="zh-CN" altLang="en-US" sz="2400" b="0"/>
              <a:t>，置换算法为</a:t>
            </a:r>
            <a:r>
              <a:rPr lang="en-US" altLang="zh-CN" sz="2400" b="0"/>
              <a:t>LRU</a:t>
            </a:r>
            <a:r>
              <a:rPr lang="zh-CN" altLang="en-US" sz="2400" b="0"/>
              <a:t>。由于采用</a:t>
            </a:r>
            <a:r>
              <a:rPr lang="en-US" altLang="zh-CN" sz="2400" b="0"/>
              <a:t>LRU</a:t>
            </a:r>
            <a:r>
              <a:rPr lang="zh-CN" altLang="en-US" sz="2400" b="0"/>
              <a:t>算法，</a:t>
            </a:r>
            <a:r>
              <a:rPr lang="en-US" altLang="zh-CN" sz="2400" b="0"/>
              <a:t>M</a:t>
            </a:r>
            <a:r>
              <a:rPr lang="zh-CN" altLang="en-US" sz="2400" b="0"/>
              <a:t>中各列按访问的时间顺序排列，最近被访问的页面在最前。</a:t>
            </a:r>
            <a:endParaRPr lang="zh-CN" altLang="en-US" sz="2400" b="0"/>
          </a:p>
        </p:txBody>
      </p:sp>
      <p:sp>
        <p:nvSpPr>
          <p:cNvPr id="69"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nb-NO" altLang="zh-CN" sz="3600" b="0">
                <a:solidFill>
                  <a:schemeClr val="tx2"/>
                </a:solidFill>
                <a:latin typeface="Arial Black" panose="020B0A04020102020204" pitchFamily="34" charset="0"/>
              </a:rPr>
              <a:t>5.</a:t>
            </a:r>
            <a:r>
              <a:rPr lang="en-US" altLang="zh-CN" sz="3600" b="0">
                <a:solidFill>
                  <a:schemeClr val="tx2"/>
                </a:solidFill>
                <a:latin typeface="Arial Black" panose="020B0A04020102020204" pitchFamily="34" charset="0"/>
              </a:rPr>
              <a:t>8</a:t>
            </a:r>
            <a:r>
              <a:rPr lang="nb-NO" altLang="zh-CN" sz="3600" b="0">
                <a:solidFill>
                  <a:schemeClr val="tx2"/>
                </a:solidFill>
                <a:latin typeface="Arial Black" panose="020B0A04020102020204" pitchFamily="34" charset="0"/>
              </a:rPr>
              <a:t>.</a:t>
            </a:r>
            <a:r>
              <a:rPr lang="en-US" altLang="zh-CN" sz="3600" b="0">
                <a:solidFill>
                  <a:schemeClr val="tx2"/>
                </a:solidFill>
                <a:latin typeface="Arial Black" panose="020B0A04020102020204" pitchFamily="34" charset="0"/>
              </a:rPr>
              <a:t>4</a:t>
            </a:r>
            <a:r>
              <a:rPr lang="zh-CN" altLang="en-US" sz="3600" b="0">
                <a:solidFill>
                  <a:schemeClr val="tx2"/>
                </a:solidFill>
                <a:latin typeface="Arial Black" panose="020B0A04020102020204" pitchFamily="34" charset="0"/>
              </a:rPr>
              <a:t>页面置换算法</a:t>
            </a:r>
            <a:endParaRPr lang="zh-CN" altLang="en-US" sz="3600" b="0">
              <a:solidFill>
                <a:schemeClr val="tx2"/>
              </a:solidFill>
              <a:latin typeface="Arial Black" panose="020B0A040201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4515"/>
                                        </p:tgtEl>
                                        <p:attrNameLst>
                                          <p:attrName>style.visibility</p:attrName>
                                        </p:attrNameLst>
                                      </p:cBhvr>
                                      <p:to>
                                        <p:strVal val="visible"/>
                                      </p:to>
                                    </p:set>
                                    <p:anim calcmode="lin" valueType="num">
                                      <p:cBhvr additive="base">
                                        <p:cTn id="7" dur="500" fill="hold"/>
                                        <p:tgtEl>
                                          <p:spTgt spid="64515"/>
                                        </p:tgtEl>
                                        <p:attrNameLst>
                                          <p:attrName>ppt_x</p:attrName>
                                        </p:attrNameLst>
                                      </p:cBhvr>
                                      <p:tavLst>
                                        <p:tav tm="0">
                                          <p:val>
                                            <p:strVal val="1+#ppt_w/2"/>
                                          </p:val>
                                        </p:tav>
                                        <p:tav tm="100000">
                                          <p:val>
                                            <p:strVal val="#ppt_x"/>
                                          </p:val>
                                        </p:tav>
                                      </p:tavLst>
                                    </p:anim>
                                    <p:anim calcmode="lin" valueType="num">
                                      <p:cBhvr additive="base">
                                        <p:cTn id="8" dur="500" fill="hold"/>
                                        <p:tgtEl>
                                          <p:spTgt spid="645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4527"/>
                                        </p:tgtEl>
                                        <p:attrNameLst>
                                          <p:attrName>style.visibility</p:attrName>
                                        </p:attrNameLst>
                                      </p:cBhvr>
                                      <p:to>
                                        <p:strVal val="visible"/>
                                      </p:to>
                                    </p:set>
                                    <p:anim calcmode="lin" valueType="num">
                                      <p:cBhvr additive="base">
                                        <p:cTn id="13" dur="500" fill="hold"/>
                                        <p:tgtEl>
                                          <p:spTgt spid="64527"/>
                                        </p:tgtEl>
                                        <p:attrNameLst>
                                          <p:attrName>ppt_x</p:attrName>
                                        </p:attrNameLst>
                                      </p:cBhvr>
                                      <p:tavLst>
                                        <p:tav tm="0">
                                          <p:val>
                                            <p:strVal val="1+#ppt_w/2"/>
                                          </p:val>
                                        </p:tav>
                                        <p:tav tm="100000">
                                          <p:val>
                                            <p:strVal val="#ppt_x"/>
                                          </p:val>
                                        </p:tav>
                                      </p:tavLst>
                                    </p:anim>
                                    <p:anim calcmode="lin" valueType="num">
                                      <p:cBhvr additive="base">
                                        <p:cTn id="14" dur="500" fill="hold"/>
                                        <p:tgtEl>
                                          <p:spTgt spid="645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4539"/>
                                        </p:tgtEl>
                                        <p:attrNameLst>
                                          <p:attrName>style.visibility</p:attrName>
                                        </p:attrNameLst>
                                      </p:cBhvr>
                                      <p:to>
                                        <p:strVal val="visible"/>
                                      </p:to>
                                    </p:set>
                                    <p:anim calcmode="lin" valueType="num">
                                      <p:cBhvr additive="base">
                                        <p:cTn id="19" dur="500" fill="hold"/>
                                        <p:tgtEl>
                                          <p:spTgt spid="64539"/>
                                        </p:tgtEl>
                                        <p:attrNameLst>
                                          <p:attrName>ppt_x</p:attrName>
                                        </p:attrNameLst>
                                      </p:cBhvr>
                                      <p:tavLst>
                                        <p:tav tm="0">
                                          <p:val>
                                            <p:strVal val="1+#ppt_w/2"/>
                                          </p:val>
                                        </p:tav>
                                        <p:tav tm="100000">
                                          <p:val>
                                            <p:strVal val="#ppt_x"/>
                                          </p:val>
                                        </p:tav>
                                      </p:tavLst>
                                    </p:anim>
                                    <p:anim calcmode="lin" valueType="num">
                                      <p:cBhvr additive="base">
                                        <p:cTn id="20" dur="500" fill="hold"/>
                                        <p:tgtEl>
                                          <p:spTgt spid="6453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4551"/>
                                        </p:tgtEl>
                                        <p:attrNameLst>
                                          <p:attrName>style.visibility</p:attrName>
                                        </p:attrNameLst>
                                      </p:cBhvr>
                                      <p:to>
                                        <p:strVal val="visible"/>
                                      </p:to>
                                    </p:set>
                                    <p:anim calcmode="lin" valueType="num">
                                      <p:cBhvr additive="base">
                                        <p:cTn id="25" dur="500" fill="hold"/>
                                        <p:tgtEl>
                                          <p:spTgt spid="64551"/>
                                        </p:tgtEl>
                                        <p:attrNameLst>
                                          <p:attrName>ppt_x</p:attrName>
                                        </p:attrNameLst>
                                      </p:cBhvr>
                                      <p:tavLst>
                                        <p:tav tm="0">
                                          <p:val>
                                            <p:strVal val="1+#ppt_w/2"/>
                                          </p:val>
                                        </p:tav>
                                        <p:tav tm="100000">
                                          <p:val>
                                            <p:strVal val="#ppt_x"/>
                                          </p:val>
                                        </p:tav>
                                      </p:tavLst>
                                    </p:anim>
                                    <p:anim calcmode="lin" valueType="num">
                                      <p:cBhvr additive="base">
                                        <p:cTn id="26" dur="500" fill="hold"/>
                                        <p:tgtEl>
                                          <p:spTgt spid="6455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64563"/>
                                        </p:tgtEl>
                                        <p:attrNameLst>
                                          <p:attrName>style.visibility</p:attrName>
                                        </p:attrNameLst>
                                      </p:cBhvr>
                                      <p:to>
                                        <p:strVal val="visible"/>
                                      </p:to>
                                    </p:set>
                                    <p:anim calcmode="lin" valueType="num">
                                      <p:cBhvr additive="base">
                                        <p:cTn id="31" dur="500" fill="hold"/>
                                        <p:tgtEl>
                                          <p:spTgt spid="64563"/>
                                        </p:tgtEl>
                                        <p:attrNameLst>
                                          <p:attrName>ppt_x</p:attrName>
                                        </p:attrNameLst>
                                      </p:cBhvr>
                                      <p:tavLst>
                                        <p:tav tm="0">
                                          <p:val>
                                            <p:strVal val="1+#ppt_w/2"/>
                                          </p:val>
                                        </p:tav>
                                        <p:tav tm="100000">
                                          <p:val>
                                            <p:strVal val="#ppt_x"/>
                                          </p:val>
                                        </p:tav>
                                      </p:tavLst>
                                    </p:anim>
                                    <p:anim calcmode="lin" valueType="num">
                                      <p:cBhvr additive="base">
                                        <p:cTn id="32" dur="500" fill="hold"/>
                                        <p:tgtEl>
                                          <p:spTgt spid="6456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64575"/>
                                        </p:tgtEl>
                                        <p:attrNameLst>
                                          <p:attrName>style.visibility</p:attrName>
                                        </p:attrNameLst>
                                      </p:cBhvr>
                                      <p:to>
                                        <p:strVal val="visible"/>
                                      </p:to>
                                    </p:set>
                                    <p:anim calcmode="lin" valueType="num">
                                      <p:cBhvr additive="base">
                                        <p:cTn id="37" dur="500" fill="hold"/>
                                        <p:tgtEl>
                                          <p:spTgt spid="64575"/>
                                        </p:tgtEl>
                                        <p:attrNameLst>
                                          <p:attrName>ppt_x</p:attrName>
                                        </p:attrNameLst>
                                      </p:cBhvr>
                                      <p:tavLst>
                                        <p:tav tm="0">
                                          <p:val>
                                            <p:strVal val="1+#ppt_w/2"/>
                                          </p:val>
                                        </p:tav>
                                        <p:tav tm="100000">
                                          <p:val>
                                            <p:strVal val="#ppt_x"/>
                                          </p:val>
                                        </p:tav>
                                      </p:tavLst>
                                    </p:anim>
                                    <p:anim calcmode="lin" valueType="num">
                                      <p:cBhvr additive="base">
                                        <p:cTn id="38" dur="500" fill="hold"/>
                                        <p:tgtEl>
                                          <p:spTgt spid="6457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64587"/>
                                        </p:tgtEl>
                                        <p:attrNameLst>
                                          <p:attrName>style.visibility</p:attrName>
                                        </p:attrNameLst>
                                      </p:cBhvr>
                                      <p:to>
                                        <p:strVal val="visible"/>
                                      </p:to>
                                    </p:set>
                                    <p:anim calcmode="lin" valueType="num">
                                      <p:cBhvr additive="base">
                                        <p:cTn id="43" dur="500" fill="hold"/>
                                        <p:tgtEl>
                                          <p:spTgt spid="64587"/>
                                        </p:tgtEl>
                                        <p:attrNameLst>
                                          <p:attrName>ppt_x</p:attrName>
                                        </p:attrNameLst>
                                      </p:cBhvr>
                                      <p:tavLst>
                                        <p:tav tm="0">
                                          <p:val>
                                            <p:strVal val="1+#ppt_w/2"/>
                                          </p:val>
                                        </p:tav>
                                        <p:tav tm="100000">
                                          <p:val>
                                            <p:strVal val="#ppt_x"/>
                                          </p:val>
                                        </p:tav>
                                      </p:tavLst>
                                    </p:anim>
                                    <p:anim calcmode="lin" valueType="num">
                                      <p:cBhvr additive="base">
                                        <p:cTn id="44" dur="500" fill="hold"/>
                                        <p:tgtEl>
                                          <p:spTgt spid="6458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64599"/>
                                        </p:tgtEl>
                                        <p:attrNameLst>
                                          <p:attrName>style.visibility</p:attrName>
                                        </p:attrNameLst>
                                      </p:cBhvr>
                                      <p:to>
                                        <p:strVal val="visible"/>
                                      </p:to>
                                    </p:set>
                                    <p:anim calcmode="lin" valueType="num">
                                      <p:cBhvr additive="base">
                                        <p:cTn id="49" dur="500" fill="hold"/>
                                        <p:tgtEl>
                                          <p:spTgt spid="64599"/>
                                        </p:tgtEl>
                                        <p:attrNameLst>
                                          <p:attrName>ppt_x</p:attrName>
                                        </p:attrNameLst>
                                      </p:cBhvr>
                                      <p:tavLst>
                                        <p:tav tm="0">
                                          <p:val>
                                            <p:strVal val="1+#ppt_w/2"/>
                                          </p:val>
                                        </p:tav>
                                        <p:tav tm="100000">
                                          <p:val>
                                            <p:strVal val="#ppt_x"/>
                                          </p:val>
                                        </p:tav>
                                      </p:tavLst>
                                    </p:anim>
                                    <p:anim calcmode="lin" valueType="num">
                                      <p:cBhvr additive="base">
                                        <p:cTn id="50" dur="500" fill="hold"/>
                                        <p:tgtEl>
                                          <p:spTgt spid="6459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64611"/>
                                        </p:tgtEl>
                                        <p:attrNameLst>
                                          <p:attrName>style.visibility</p:attrName>
                                        </p:attrNameLst>
                                      </p:cBhvr>
                                      <p:to>
                                        <p:strVal val="visible"/>
                                      </p:to>
                                    </p:set>
                                    <p:anim calcmode="lin" valueType="num">
                                      <p:cBhvr additive="base">
                                        <p:cTn id="55" dur="500" fill="hold"/>
                                        <p:tgtEl>
                                          <p:spTgt spid="64611"/>
                                        </p:tgtEl>
                                        <p:attrNameLst>
                                          <p:attrName>ppt_x</p:attrName>
                                        </p:attrNameLst>
                                      </p:cBhvr>
                                      <p:tavLst>
                                        <p:tav tm="0">
                                          <p:val>
                                            <p:strVal val="1+#ppt_w/2"/>
                                          </p:val>
                                        </p:tav>
                                        <p:tav tm="100000">
                                          <p:val>
                                            <p:strVal val="#ppt_x"/>
                                          </p:val>
                                        </p:tav>
                                      </p:tavLst>
                                    </p:anim>
                                    <p:anim calcmode="lin" valueType="num">
                                      <p:cBhvr additive="base">
                                        <p:cTn id="56" dur="500" fill="hold"/>
                                        <p:tgtEl>
                                          <p:spTgt spid="6461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64623"/>
                                        </p:tgtEl>
                                        <p:attrNameLst>
                                          <p:attrName>style.visibility</p:attrName>
                                        </p:attrNameLst>
                                      </p:cBhvr>
                                      <p:to>
                                        <p:strVal val="visible"/>
                                      </p:to>
                                    </p:set>
                                    <p:anim calcmode="lin" valueType="num">
                                      <p:cBhvr additive="base">
                                        <p:cTn id="61" dur="500" fill="hold"/>
                                        <p:tgtEl>
                                          <p:spTgt spid="64623"/>
                                        </p:tgtEl>
                                        <p:attrNameLst>
                                          <p:attrName>ppt_x</p:attrName>
                                        </p:attrNameLst>
                                      </p:cBhvr>
                                      <p:tavLst>
                                        <p:tav tm="0">
                                          <p:val>
                                            <p:strVal val="1+#ppt_w/2"/>
                                          </p:val>
                                        </p:tav>
                                        <p:tav tm="100000">
                                          <p:val>
                                            <p:strVal val="#ppt_x"/>
                                          </p:val>
                                        </p:tav>
                                      </p:tavLst>
                                    </p:anim>
                                    <p:anim calcmode="lin" valueType="num">
                                      <p:cBhvr additive="base">
                                        <p:cTn id="62" dur="500" fill="hold"/>
                                        <p:tgtEl>
                                          <p:spTgt spid="6462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64635"/>
                                        </p:tgtEl>
                                        <p:attrNameLst>
                                          <p:attrName>style.visibility</p:attrName>
                                        </p:attrNameLst>
                                      </p:cBhvr>
                                      <p:to>
                                        <p:strVal val="visible"/>
                                      </p:to>
                                    </p:set>
                                    <p:anim calcmode="lin" valueType="num">
                                      <p:cBhvr additive="base">
                                        <p:cTn id="67" dur="500" fill="hold"/>
                                        <p:tgtEl>
                                          <p:spTgt spid="64635"/>
                                        </p:tgtEl>
                                        <p:attrNameLst>
                                          <p:attrName>ppt_x</p:attrName>
                                        </p:attrNameLst>
                                      </p:cBhvr>
                                      <p:tavLst>
                                        <p:tav tm="0">
                                          <p:val>
                                            <p:strVal val="1+#ppt_w/2"/>
                                          </p:val>
                                        </p:tav>
                                        <p:tav tm="100000">
                                          <p:val>
                                            <p:strVal val="#ppt_x"/>
                                          </p:val>
                                        </p:tav>
                                      </p:tavLst>
                                    </p:anim>
                                    <p:anim calcmode="lin" valueType="num">
                                      <p:cBhvr additive="base">
                                        <p:cTn id="68" dur="500" fill="hold"/>
                                        <p:tgtEl>
                                          <p:spTgt spid="6463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64647"/>
                                        </p:tgtEl>
                                        <p:attrNameLst>
                                          <p:attrName>style.visibility</p:attrName>
                                        </p:attrNameLst>
                                      </p:cBhvr>
                                      <p:to>
                                        <p:strVal val="visible"/>
                                      </p:to>
                                    </p:set>
                                    <p:anim calcmode="lin" valueType="num">
                                      <p:cBhvr additive="base">
                                        <p:cTn id="73" dur="500" fill="hold"/>
                                        <p:tgtEl>
                                          <p:spTgt spid="64647"/>
                                        </p:tgtEl>
                                        <p:attrNameLst>
                                          <p:attrName>ppt_x</p:attrName>
                                        </p:attrNameLst>
                                      </p:cBhvr>
                                      <p:tavLst>
                                        <p:tav tm="0">
                                          <p:val>
                                            <p:strVal val="1+#ppt_w/2"/>
                                          </p:val>
                                        </p:tav>
                                        <p:tav tm="100000">
                                          <p:val>
                                            <p:strVal val="#ppt_x"/>
                                          </p:val>
                                        </p:tav>
                                      </p:tavLst>
                                    </p:anim>
                                    <p:anim calcmode="lin" valueType="num">
                                      <p:cBhvr additive="base">
                                        <p:cTn id="74" dur="500" fill="hold"/>
                                        <p:tgtEl>
                                          <p:spTgt spid="6464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394438"/>
                                        </p:tgtEl>
                                        <p:attrNameLst>
                                          <p:attrName>style.visibility</p:attrName>
                                        </p:attrNameLst>
                                      </p:cBhvr>
                                      <p:to>
                                        <p:strVal val="visible"/>
                                      </p:to>
                                    </p:set>
                                    <p:anim calcmode="lin" valueType="num">
                                      <p:cBhvr additive="base">
                                        <p:cTn id="79" dur="500" fill="hold"/>
                                        <p:tgtEl>
                                          <p:spTgt spid="394438"/>
                                        </p:tgtEl>
                                        <p:attrNameLst>
                                          <p:attrName>ppt_x</p:attrName>
                                        </p:attrNameLst>
                                      </p:cBhvr>
                                      <p:tavLst>
                                        <p:tav tm="0">
                                          <p:val>
                                            <p:strVal val="1+#ppt_w/2"/>
                                          </p:val>
                                        </p:tav>
                                        <p:tav tm="100000">
                                          <p:val>
                                            <p:strVal val="#ppt_x"/>
                                          </p:val>
                                        </p:tav>
                                      </p:tavLst>
                                    </p:anim>
                                    <p:anim calcmode="lin" valueType="num">
                                      <p:cBhvr additive="base">
                                        <p:cTn id="80" dur="500" fill="hold"/>
                                        <p:tgtEl>
                                          <p:spTgt spid="3944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43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65538" name="Rectangle 3"/>
          <p:cNvSpPr>
            <a:spLocks noGrp="1"/>
          </p:cNvSpPr>
          <p:nvPr>
            <p:ph idx="1"/>
          </p:nvPr>
        </p:nvSpPr>
        <p:spPr>
          <a:xfrm>
            <a:off x="228600" y="1828800"/>
            <a:ext cx="8534400" cy="457200"/>
          </a:xfrm>
        </p:spPr>
        <p:txBody>
          <a:bodyPr vert="horz" wrap="square" lIns="91440" tIns="45720" rIns="91440" bIns="45720" anchor="t" anchorCtr="0"/>
          <a:lstStyle/>
          <a:p>
            <a:pPr eaLnBrk="1" hangingPunct="1">
              <a:buFont typeface="Wingdings" panose="05000000000000000000" pitchFamily="2" charset="2"/>
              <a:buNone/>
            </a:pPr>
            <a:r>
              <a:rPr lang="zh-CN" altLang="en-US" sz="2400" b="0"/>
              <a:t>例</a:t>
            </a:r>
            <a:r>
              <a:rPr lang="en-US" altLang="zh-CN" sz="2400" b="0"/>
              <a:t>4.  </a:t>
            </a:r>
            <a:r>
              <a:rPr lang="zh-CN" altLang="en-US" sz="2400" b="0"/>
              <a:t>设</a:t>
            </a:r>
            <a:r>
              <a:rPr lang="en-US" altLang="zh-CN" sz="2400" b="0"/>
              <a:t>M=4</a:t>
            </a:r>
            <a:r>
              <a:rPr lang="zh-CN" altLang="en-US" sz="2400" b="0"/>
              <a:t>，其余同例</a:t>
            </a:r>
            <a:r>
              <a:rPr lang="en-US" altLang="zh-CN" sz="2400" b="0"/>
              <a:t>3</a:t>
            </a:r>
            <a:r>
              <a:rPr lang="zh-CN" altLang="en-US" sz="2400" b="0"/>
              <a:t>。缺页中断次数和缺页率如表所示。</a:t>
            </a:r>
            <a:endParaRPr lang="zh-CN" altLang="en-US" sz="2400" b="0"/>
          </a:p>
        </p:txBody>
      </p:sp>
      <p:sp>
        <p:nvSpPr>
          <p:cNvPr id="65539" name="Line 4"/>
          <p:cNvSpPr/>
          <p:nvPr/>
        </p:nvSpPr>
        <p:spPr>
          <a:xfrm>
            <a:off x="228600" y="3402013"/>
            <a:ext cx="914400" cy="0"/>
          </a:xfrm>
          <a:prstGeom prst="line">
            <a:avLst/>
          </a:prstGeom>
          <a:ln w="28575" cap="sq" cmpd="sng">
            <a:solidFill>
              <a:schemeClr val="tx1"/>
            </a:solidFill>
            <a:prstDash val="solid"/>
            <a:miter/>
            <a:headEnd type="none" w="med" len="med"/>
            <a:tailEnd type="none" w="med" len="med"/>
          </a:ln>
        </p:spPr>
      </p:sp>
      <p:grpSp>
        <p:nvGrpSpPr>
          <p:cNvPr id="65540" name="Group 5"/>
          <p:cNvGrpSpPr/>
          <p:nvPr/>
        </p:nvGrpSpPr>
        <p:grpSpPr>
          <a:xfrm>
            <a:off x="228600" y="2362200"/>
            <a:ext cx="8610600" cy="3276600"/>
            <a:chOff x="144" y="1488"/>
            <a:chExt cx="5424" cy="2064"/>
          </a:xfrm>
        </p:grpSpPr>
        <p:sp>
          <p:nvSpPr>
            <p:cNvPr id="65711" name="Rectangle 6"/>
            <p:cNvSpPr/>
            <p:nvPr/>
          </p:nvSpPr>
          <p:spPr>
            <a:xfrm>
              <a:off x="516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65712" name="Rectangle 7"/>
            <p:cNvSpPr/>
            <p:nvPr/>
          </p:nvSpPr>
          <p:spPr>
            <a:xfrm>
              <a:off x="4763"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65713" name="Rectangle 8"/>
            <p:cNvSpPr/>
            <p:nvPr/>
          </p:nvSpPr>
          <p:spPr>
            <a:xfrm>
              <a:off x="4361"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65714" name="Rectangle 9"/>
            <p:cNvSpPr/>
            <p:nvPr/>
          </p:nvSpPr>
          <p:spPr>
            <a:xfrm>
              <a:off x="3958"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65715" name="Rectangle 10"/>
            <p:cNvSpPr/>
            <p:nvPr/>
          </p:nvSpPr>
          <p:spPr>
            <a:xfrm>
              <a:off x="355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65716" name="Rectangle 11"/>
            <p:cNvSpPr/>
            <p:nvPr/>
          </p:nvSpPr>
          <p:spPr>
            <a:xfrm>
              <a:off x="3154"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65717" name="Rectangle 12"/>
            <p:cNvSpPr/>
            <p:nvPr/>
          </p:nvSpPr>
          <p:spPr>
            <a:xfrm>
              <a:off x="2750" y="1814"/>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65718" name="Rectangle 13"/>
            <p:cNvSpPr/>
            <p:nvPr/>
          </p:nvSpPr>
          <p:spPr>
            <a:xfrm>
              <a:off x="2348"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65719" name="Rectangle 14"/>
            <p:cNvSpPr/>
            <p:nvPr/>
          </p:nvSpPr>
          <p:spPr>
            <a:xfrm>
              <a:off x="1946"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65720" name="Rectangle 15"/>
            <p:cNvSpPr/>
            <p:nvPr/>
          </p:nvSpPr>
          <p:spPr>
            <a:xfrm>
              <a:off x="1543" y="1814"/>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65721" name="Rectangle 16"/>
            <p:cNvSpPr/>
            <p:nvPr/>
          </p:nvSpPr>
          <p:spPr>
            <a:xfrm>
              <a:off x="1141" y="1814"/>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65722" name="Rectangle 17"/>
            <p:cNvSpPr/>
            <p:nvPr/>
          </p:nvSpPr>
          <p:spPr>
            <a:xfrm>
              <a:off x="720" y="1814"/>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65723" name="Rectangle 18"/>
            <p:cNvSpPr/>
            <p:nvPr/>
          </p:nvSpPr>
          <p:spPr>
            <a:xfrm>
              <a:off x="144" y="1814"/>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P</a:t>
              </a:r>
              <a:endParaRPr lang="en-US" altLang="zh-CN" b="0">
                <a:ea typeface="楷体_GB2312" pitchFamily="49" charset="-122"/>
              </a:endParaRPr>
            </a:p>
          </p:txBody>
        </p:sp>
        <p:sp>
          <p:nvSpPr>
            <p:cNvPr id="65724" name="Rectangle 19"/>
            <p:cNvSpPr/>
            <p:nvPr/>
          </p:nvSpPr>
          <p:spPr>
            <a:xfrm>
              <a:off x="516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12</a:t>
              </a:r>
              <a:endParaRPr lang="zh-CN" altLang="en-US" b="0">
                <a:ea typeface="楷体_GB2312" pitchFamily="49" charset="-122"/>
              </a:endParaRPr>
            </a:p>
          </p:txBody>
        </p:sp>
        <p:sp>
          <p:nvSpPr>
            <p:cNvPr id="65725" name="Rectangle 20"/>
            <p:cNvSpPr/>
            <p:nvPr/>
          </p:nvSpPr>
          <p:spPr>
            <a:xfrm>
              <a:off x="4763"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11</a:t>
              </a:r>
              <a:endParaRPr lang="zh-CN" altLang="en-US" b="0">
                <a:ea typeface="楷体_GB2312" pitchFamily="49" charset="-122"/>
              </a:endParaRPr>
            </a:p>
          </p:txBody>
        </p:sp>
        <p:sp>
          <p:nvSpPr>
            <p:cNvPr id="65726" name="Rectangle 21"/>
            <p:cNvSpPr/>
            <p:nvPr/>
          </p:nvSpPr>
          <p:spPr>
            <a:xfrm>
              <a:off x="4361"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10</a:t>
              </a:r>
              <a:endParaRPr lang="zh-CN" altLang="en-US" b="0">
                <a:ea typeface="楷体_GB2312" pitchFamily="49" charset="-122"/>
              </a:endParaRPr>
            </a:p>
          </p:txBody>
        </p:sp>
        <p:sp>
          <p:nvSpPr>
            <p:cNvPr id="65727" name="Rectangle 22"/>
            <p:cNvSpPr/>
            <p:nvPr/>
          </p:nvSpPr>
          <p:spPr>
            <a:xfrm>
              <a:off x="3958"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9</a:t>
              </a:r>
              <a:endParaRPr lang="zh-CN" altLang="en-US" b="0">
                <a:ea typeface="楷体_GB2312" pitchFamily="49" charset="-122"/>
              </a:endParaRPr>
            </a:p>
          </p:txBody>
        </p:sp>
        <p:sp>
          <p:nvSpPr>
            <p:cNvPr id="65728" name="Rectangle 23"/>
            <p:cNvSpPr/>
            <p:nvPr/>
          </p:nvSpPr>
          <p:spPr>
            <a:xfrm>
              <a:off x="355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8</a:t>
              </a:r>
              <a:endParaRPr lang="zh-CN" altLang="en-US" b="0">
                <a:ea typeface="楷体_GB2312" pitchFamily="49" charset="-122"/>
              </a:endParaRPr>
            </a:p>
          </p:txBody>
        </p:sp>
        <p:sp>
          <p:nvSpPr>
            <p:cNvPr id="65729" name="Rectangle 24"/>
            <p:cNvSpPr/>
            <p:nvPr/>
          </p:nvSpPr>
          <p:spPr>
            <a:xfrm>
              <a:off x="3154"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7</a:t>
              </a:r>
              <a:endParaRPr lang="zh-CN" altLang="en-US" b="0">
                <a:ea typeface="楷体_GB2312" pitchFamily="49" charset="-122"/>
              </a:endParaRPr>
            </a:p>
          </p:txBody>
        </p:sp>
        <p:sp>
          <p:nvSpPr>
            <p:cNvPr id="65730" name="Rectangle 25"/>
            <p:cNvSpPr/>
            <p:nvPr/>
          </p:nvSpPr>
          <p:spPr>
            <a:xfrm>
              <a:off x="2750" y="1488"/>
              <a:ext cx="404"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6</a:t>
              </a:r>
              <a:endParaRPr lang="zh-CN" altLang="en-US" b="0">
                <a:ea typeface="楷体_GB2312" pitchFamily="49" charset="-122"/>
              </a:endParaRPr>
            </a:p>
          </p:txBody>
        </p:sp>
        <p:sp>
          <p:nvSpPr>
            <p:cNvPr id="65731" name="Rectangle 26"/>
            <p:cNvSpPr/>
            <p:nvPr/>
          </p:nvSpPr>
          <p:spPr>
            <a:xfrm>
              <a:off x="2348"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5</a:t>
              </a:r>
              <a:endParaRPr lang="zh-CN" altLang="en-US" b="0">
                <a:ea typeface="楷体_GB2312" pitchFamily="49" charset="-122"/>
              </a:endParaRPr>
            </a:p>
          </p:txBody>
        </p:sp>
        <p:sp>
          <p:nvSpPr>
            <p:cNvPr id="65732" name="Rectangle 27"/>
            <p:cNvSpPr/>
            <p:nvPr/>
          </p:nvSpPr>
          <p:spPr>
            <a:xfrm>
              <a:off x="1946"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4</a:t>
              </a:r>
              <a:endParaRPr lang="zh-CN" altLang="en-US" b="0">
                <a:ea typeface="楷体_GB2312" pitchFamily="49" charset="-122"/>
              </a:endParaRPr>
            </a:p>
          </p:txBody>
        </p:sp>
        <p:sp>
          <p:nvSpPr>
            <p:cNvPr id="65733" name="Rectangle 28"/>
            <p:cNvSpPr/>
            <p:nvPr/>
          </p:nvSpPr>
          <p:spPr>
            <a:xfrm>
              <a:off x="1543" y="1488"/>
              <a:ext cx="403"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3</a:t>
              </a:r>
              <a:endParaRPr lang="zh-CN" altLang="en-US" b="0">
                <a:ea typeface="楷体_GB2312" pitchFamily="49" charset="-122"/>
              </a:endParaRPr>
            </a:p>
          </p:txBody>
        </p:sp>
        <p:sp>
          <p:nvSpPr>
            <p:cNvPr id="65734" name="Rectangle 29"/>
            <p:cNvSpPr/>
            <p:nvPr/>
          </p:nvSpPr>
          <p:spPr>
            <a:xfrm>
              <a:off x="1141" y="1488"/>
              <a:ext cx="402"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2</a:t>
              </a:r>
              <a:endParaRPr lang="zh-CN" altLang="en-US" b="0">
                <a:ea typeface="楷体_GB2312" pitchFamily="49" charset="-122"/>
              </a:endParaRPr>
            </a:p>
          </p:txBody>
        </p:sp>
        <p:sp>
          <p:nvSpPr>
            <p:cNvPr id="65735" name="Rectangle 30"/>
            <p:cNvSpPr/>
            <p:nvPr/>
          </p:nvSpPr>
          <p:spPr>
            <a:xfrm>
              <a:off x="720" y="1488"/>
              <a:ext cx="421"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b="0">
                  <a:ea typeface="楷体_GB2312" pitchFamily="49" charset="-122"/>
                </a:rPr>
                <a:t>1</a:t>
              </a:r>
              <a:endParaRPr lang="zh-CN" altLang="en-US" b="0">
                <a:ea typeface="楷体_GB2312" pitchFamily="49" charset="-122"/>
              </a:endParaRPr>
            </a:p>
          </p:txBody>
        </p:sp>
        <p:sp>
          <p:nvSpPr>
            <p:cNvPr id="65736" name="Rectangle 31"/>
            <p:cNvSpPr/>
            <p:nvPr/>
          </p:nvSpPr>
          <p:spPr>
            <a:xfrm>
              <a:off x="144" y="1488"/>
              <a:ext cx="576" cy="326"/>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zh-CN" altLang="en-US" sz="2400" b="0">
                  <a:ea typeface="楷体_GB2312" pitchFamily="49" charset="-122"/>
                </a:rPr>
                <a:t>时刻</a:t>
              </a:r>
              <a:endParaRPr lang="zh-CN" altLang="en-US" sz="2400" b="0">
                <a:ea typeface="楷体_GB2312" pitchFamily="49" charset="-122"/>
              </a:endParaRPr>
            </a:p>
          </p:txBody>
        </p:sp>
        <p:sp>
          <p:nvSpPr>
            <p:cNvPr id="65737" name="Line 32"/>
            <p:cNvSpPr/>
            <p:nvPr/>
          </p:nvSpPr>
          <p:spPr>
            <a:xfrm>
              <a:off x="144" y="1488"/>
              <a:ext cx="5424" cy="0"/>
            </a:xfrm>
            <a:prstGeom prst="line">
              <a:avLst/>
            </a:prstGeom>
            <a:ln w="28575" cap="sq" cmpd="sng">
              <a:solidFill>
                <a:schemeClr val="tx1"/>
              </a:solidFill>
              <a:prstDash val="solid"/>
              <a:miter/>
              <a:headEnd type="none" w="med" len="med"/>
              <a:tailEnd type="none" w="med" len="med"/>
            </a:ln>
          </p:spPr>
        </p:sp>
        <p:sp>
          <p:nvSpPr>
            <p:cNvPr id="65738" name="Line 33"/>
            <p:cNvSpPr/>
            <p:nvPr/>
          </p:nvSpPr>
          <p:spPr>
            <a:xfrm>
              <a:off x="144" y="1814"/>
              <a:ext cx="5424" cy="0"/>
            </a:xfrm>
            <a:prstGeom prst="line">
              <a:avLst/>
            </a:prstGeom>
            <a:ln w="12700" cap="flat" cmpd="sng">
              <a:solidFill>
                <a:schemeClr val="tx1"/>
              </a:solidFill>
              <a:prstDash val="solid"/>
              <a:miter/>
              <a:headEnd type="none" w="med" len="med"/>
              <a:tailEnd type="none" w="med" len="med"/>
            </a:ln>
          </p:spPr>
        </p:sp>
        <p:sp>
          <p:nvSpPr>
            <p:cNvPr id="65739" name="Line 34"/>
            <p:cNvSpPr/>
            <p:nvPr/>
          </p:nvSpPr>
          <p:spPr>
            <a:xfrm>
              <a:off x="144" y="2140"/>
              <a:ext cx="5424" cy="0"/>
            </a:xfrm>
            <a:prstGeom prst="line">
              <a:avLst/>
            </a:prstGeom>
            <a:ln w="28575" cap="sq" cmpd="sng">
              <a:solidFill>
                <a:schemeClr val="tx1"/>
              </a:solidFill>
              <a:prstDash val="solid"/>
              <a:miter/>
              <a:headEnd type="none" w="med" len="med"/>
              <a:tailEnd type="none" w="med" len="med"/>
            </a:ln>
          </p:spPr>
        </p:sp>
        <p:sp>
          <p:nvSpPr>
            <p:cNvPr id="65740" name="Line 35"/>
            <p:cNvSpPr/>
            <p:nvPr/>
          </p:nvSpPr>
          <p:spPr>
            <a:xfrm>
              <a:off x="144" y="1488"/>
              <a:ext cx="0" cy="652"/>
            </a:xfrm>
            <a:prstGeom prst="line">
              <a:avLst/>
            </a:prstGeom>
            <a:ln w="28575" cap="sq" cmpd="sng">
              <a:solidFill>
                <a:schemeClr val="tx1"/>
              </a:solidFill>
              <a:prstDash val="solid"/>
              <a:miter/>
              <a:headEnd type="none" w="med" len="med"/>
              <a:tailEnd type="none" w="med" len="med"/>
            </a:ln>
          </p:spPr>
        </p:sp>
        <p:sp>
          <p:nvSpPr>
            <p:cNvPr id="65741" name="Line 36"/>
            <p:cNvSpPr/>
            <p:nvPr/>
          </p:nvSpPr>
          <p:spPr>
            <a:xfrm>
              <a:off x="720" y="1488"/>
              <a:ext cx="0" cy="652"/>
            </a:xfrm>
            <a:prstGeom prst="line">
              <a:avLst/>
            </a:prstGeom>
            <a:ln w="12700" cap="flat" cmpd="sng">
              <a:solidFill>
                <a:schemeClr val="tx1"/>
              </a:solidFill>
              <a:prstDash val="solid"/>
              <a:miter/>
              <a:headEnd type="none" w="med" len="med"/>
              <a:tailEnd type="none" w="med" len="med"/>
            </a:ln>
          </p:spPr>
        </p:sp>
        <p:sp>
          <p:nvSpPr>
            <p:cNvPr id="65742" name="Line 37"/>
            <p:cNvSpPr/>
            <p:nvPr/>
          </p:nvSpPr>
          <p:spPr>
            <a:xfrm>
              <a:off x="1141" y="1488"/>
              <a:ext cx="0" cy="652"/>
            </a:xfrm>
            <a:prstGeom prst="line">
              <a:avLst/>
            </a:prstGeom>
            <a:ln w="12700" cap="flat" cmpd="sng">
              <a:solidFill>
                <a:schemeClr val="tx1"/>
              </a:solidFill>
              <a:prstDash val="solid"/>
              <a:miter/>
              <a:headEnd type="none" w="med" len="med"/>
              <a:tailEnd type="none" w="med" len="med"/>
            </a:ln>
          </p:spPr>
        </p:sp>
        <p:sp>
          <p:nvSpPr>
            <p:cNvPr id="65743" name="Line 38"/>
            <p:cNvSpPr/>
            <p:nvPr/>
          </p:nvSpPr>
          <p:spPr>
            <a:xfrm>
              <a:off x="1543" y="1488"/>
              <a:ext cx="0" cy="652"/>
            </a:xfrm>
            <a:prstGeom prst="line">
              <a:avLst/>
            </a:prstGeom>
            <a:ln w="12700" cap="flat" cmpd="sng">
              <a:solidFill>
                <a:schemeClr val="tx1"/>
              </a:solidFill>
              <a:prstDash val="solid"/>
              <a:miter/>
              <a:headEnd type="none" w="med" len="med"/>
              <a:tailEnd type="none" w="med" len="med"/>
            </a:ln>
          </p:spPr>
        </p:sp>
        <p:sp>
          <p:nvSpPr>
            <p:cNvPr id="65744" name="Line 39"/>
            <p:cNvSpPr/>
            <p:nvPr/>
          </p:nvSpPr>
          <p:spPr>
            <a:xfrm>
              <a:off x="1946" y="1488"/>
              <a:ext cx="0" cy="652"/>
            </a:xfrm>
            <a:prstGeom prst="line">
              <a:avLst/>
            </a:prstGeom>
            <a:ln w="12700" cap="flat" cmpd="sng">
              <a:solidFill>
                <a:schemeClr val="tx1"/>
              </a:solidFill>
              <a:prstDash val="solid"/>
              <a:miter/>
              <a:headEnd type="none" w="med" len="med"/>
              <a:tailEnd type="none" w="med" len="med"/>
            </a:ln>
          </p:spPr>
        </p:sp>
        <p:sp>
          <p:nvSpPr>
            <p:cNvPr id="65745" name="Line 40"/>
            <p:cNvSpPr/>
            <p:nvPr/>
          </p:nvSpPr>
          <p:spPr>
            <a:xfrm>
              <a:off x="2348" y="1488"/>
              <a:ext cx="0" cy="652"/>
            </a:xfrm>
            <a:prstGeom prst="line">
              <a:avLst/>
            </a:prstGeom>
            <a:ln w="12700" cap="flat" cmpd="sng">
              <a:solidFill>
                <a:schemeClr val="tx1"/>
              </a:solidFill>
              <a:prstDash val="solid"/>
              <a:miter/>
              <a:headEnd type="none" w="med" len="med"/>
              <a:tailEnd type="none" w="med" len="med"/>
            </a:ln>
          </p:spPr>
        </p:sp>
        <p:sp>
          <p:nvSpPr>
            <p:cNvPr id="65746" name="Line 41"/>
            <p:cNvSpPr/>
            <p:nvPr/>
          </p:nvSpPr>
          <p:spPr>
            <a:xfrm>
              <a:off x="2750" y="1488"/>
              <a:ext cx="0" cy="652"/>
            </a:xfrm>
            <a:prstGeom prst="line">
              <a:avLst/>
            </a:prstGeom>
            <a:ln w="12700" cap="flat" cmpd="sng">
              <a:solidFill>
                <a:schemeClr val="tx1"/>
              </a:solidFill>
              <a:prstDash val="solid"/>
              <a:miter/>
              <a:headEnd type="none" w="med" len="med"/>
              <a:tailEnd type="none" w="med" len="med"/>
            </a:ln>
          </p:spPr>
        </p:sp>
        <p:sp>
          <p:nvSpPr>
            <p:cNvPr id="65747" name="Line 42"/>
            <p:cNvSpPr/>
            <p:nvPr/>
          </p:nvSpPr>
          <p:spPr>
            <a:xfrm>
              <a:off x="3154" y="1488"/>
              <a:ext cx="0" cy="652"/>
            </a:xfrm>
            <a:prstGeom prst="line">
              <a:avLst/>
            </a:prstGeom>
            <a:ln w="12700" cap="flat" cmpd="sng">
              <a:solidFill>
                <a:schemeClr val="tx1"/>
              </a:solidFill>
              <a:prstDash val="solid"/>
              <a:miter/>
              <a:headEnd type="none" w="med" len="med"/>
              <a:tailEnd type="none" w="med" len="med"/>
            </a:ln>
          </p:spPr>
        </p:sp>
        <p:sp>
          <p:nvSpPr>
            <p:cNvPr id="65748" name="Line 43"/>
            <p:cNvSpPr/>
            <p:nvPr/>
          </p:nvSpPr>
          <p:spPr>
            <a:xfrm>
              <a:off x="3556" y="1488"/>
              <a:ext cx="0" cy="652"/>
            </a:xfrm>
            <a:prstGeom prst="line">
              <a:avLst/>
            </a:prstGeom>
            <a:ln w="12700" cap="flat" cmpd="sng">
              <a:solidFill>
                <a:schemeClr val="tx1"/>
              </a:solidFill>
              <a:prstDash val="solid"/>
              <a:miter/>
              <a:headEnd type="none" w="med" len="med"/>
              <a:tailEnd type="none" w="med" len="med"/>
            </a:ln>
          </p:spPr>
        </p:sp>
        <p:sp>
          <p:nvSpPr>
            <p:cNvPr id="65749" name="Line 44"/>
            <p:cNvSpPr/>
            <p:nvPr/>
          </p:nvSpPr>
          <p:spPr>
            <a:xfrm>
              <a:off x="3958" y="1488"/>
              <a:ext cx="0" cy="652"/>
            </a:xfrm>
            <a:prstGeom prst="line">
              <a:avLst/>
            </a:prstGeom>
            <a:ln w="12700" cap="flat" cmpd="sng">
              <a:solidFill>
                <a:schemeClr val="tx1"/>
              </a:solidFill>
              <a:prstDash val="solid"/>
              <a:miter/>
              <a:headEnd type="none" w="med" len="med"/>
              <a:tailEnd type="none" w="med" len="med"/>
            </a:ln>
          </p:spPr>
        </p:sp>
        <p:sp>
          <p:nvSpPr>
            <p:cNvPr id="65750" name="Line 45"/>
            <p:cNvSpPr/>
            <p:nvPr/>
          </p:nvSpPr>
          <p:spPr>
            <a:xfrm>
              <a:off x="4361" y="1488"/>
              <a:ext cx="0" cy="652"/>
            </a:xfrm>
            <a:prstGeom prst="line">
              <a:avLst/>
            </a:prstGeom>
            <a:ln w="12700" cap="flat" cmpd="sng">
              <a:solidFill>
                <a:schemeClr val="tx1"/>
              </a:solidFill>
              <a:prstDash val="solid"/>
              <a:miter/>
              <a:headEnd type="none" w="med" len="med"/>
              <a:tailEnd type="none" w="med" len="med"/>
            </a:ln>
          </p:spPr>
        </p:sp>
        <p:sp>
          <p:nvSpPr>
            <p:cNvPr id="65751" name="Line 46"/>
            <p:cNvSpPr/>
            <p:nvPr/>
          </p:nvSpPr>
          <p:spPr>
            <a:xfrm>
              <a:off x="4763" y="1488"/>
              <a:ext cx="0" cy="652"/>
            </a:xfrm>
            <a:prstGeom prst="line">
              <a:avLst/>
            </a:prstGeom>
            <a:ln w="12700" cap="flat" cmpd="sng">
              <a:solidFill>
                <a:schemeClr val="tx1"/>
              </a:solidFill>
              <a:prstDash val="solid"/>
              <a:miter/>
              <a:headEnd type="none" w="med" len="med"/>
              <a:tailEnd type="none" w="med" len="med"/>
            </a:ln>
          </p:spPr>
        </p:sp>
        <p:sp>
          <p:nvSpPr>
            <p:cNvPr id="65752" name="Line 47"/>
            <p:cNvSpPr/>
            <p:nvPr/>
          </p:nvSpPr>
          <p:spPr>
            <a:xfrm>
              <a:off x="5166" y="1488"/>
              <a:ext cx="0" cy="652"/>
            </a:xfrm>
            <a:prstGeom prst="line">
              <a:avLst/>
            </a:prstGeom>
            <a:ln w="12700" cap="flat" cmpd="sng">
              <a:solidFill>
                <a:schemeClr val="tx1"/>
              </a:solidFill>
              <a:prstDash val="solid"/>
              <a:miter/>
              <a:headEnd type="none" w="med" len="med"/>
              <a:tailEnd type="none" w="med" len="med"/>
            </a:ln>
          </p:spPr>
        </p:sp>
        <p:sp>
          <p:nvSpPr>
            <p:cNvPr id="65753" name="Line 48"/>
            <p:cNvSpPr/>
            <p:nvPr/>
          </p:nvSpPr>
          <p:spPr>
            <a:xfrm>
              <a:off x="5568" y="1488"/>
              <a:ext cx="0" cy="652"/>
            </a:xfrm>
            <a:prstGeom prst="line">
              <a:avLst/>
            </a:prstGeom>
            <a:ln w="28575" cap="sq" cmpd="sng">
              <a:solidFill>
                <a:schemeClr val="tx1"/>
              </a:solidFill>
              <a:prstDash val="solid"/>
              <a:miter/>
              <a:headEnd type="none" w="med" len="med"/>
              <a:tailEnd type="none" w="med" len="med"/>
            </a:ln>
          </p:spPr>
        </p:sp>
        <p:sp>
          <p:nvSpPr>
            <p:cNvPr id="65754" name="Rectangle 49"/>
            <p:cNvSpPr/>
            <p:nvPr/>
          </p:nvSpPr>
          <p:spPr>
            <a:xfrm>
              <a:off x="144" y="3199"/>
              <a:ext cx="576" cy="344"/>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F</a:t>
              </a:r>
              <a:endParaRPr lang="en-US" altLang="zh-CN" b="0">
                <a:ea typeface="楷体_GB2312" pitchFamily="49" charset="-122"/>
              </a:endParaRPr>
            </a:p>
          </p:txBody>
        </p:sp>
        <p:sp>
          <p:nvSpPr>
            <p:cNvPr id="65755" name="Rectangle 50"/>
            <p:cNvSpPr/>
            <p:nvPr/>
          </p:nvSpPr>
          <p:spPr>
            <a:xfrm>
              <a:off x="144" y="2143"/>
              <a:ext cx="576" cy="98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buClr>
                  <a:schemeClr val="folHlink"/>
                </a:buClr>
                <a:buSzPct val="60000"/>
                <a:buFont typeface="Wingdings" panose="05000000000000000000" pitchFamily="2" charset="2"/>
                <a:buNone/>
              </a:pPr>
              <a:r>
                <a:rPr lang="en-US" altLang="zh-CN" b="0">
                  <a:ea typeface="楷体_GB2312" pitchFamily="49" charset="-122"/>
                </a:rPr>
                <a:t>M</a:t>
              </a:r>
              <a:endParaRPr lang="en-US" altLang="zh-CN" b="0">
                <a:ea typeface="楷体_GB2312" pitchFamily="49" charset="-122"/>
              </a:endParaRPr>
            </a:p>
          </p:txBody>
        </p:sp>
        <p:sp>
          <p:nvSpPr>
            <p:cNvPr id="65756" name="Line 51"/>
            <p:cNvSpPr/>
            <p:nvPr/>
          </p:nvSpPr>
          <p:spPr>
            <a:xfrm>
              <a:off x="144" y="3199"/>
              <a:ext cx="576" cy="0"/>
            </a:xfrm>
            <a:prstGeom prst="line">
              <a:avLst/>
            </a:prstGeom>
            <a:ln w="12700" cap="flat" cmpd="sng">
              <a:solidFill>
                <a:schemeClr val="tx1"/>
              </a:solidFill>
              <a:prstDash val="solid"/>
              <a:miter/>
              <a:headEnd type="none" w="med" len="med"/>
              <a:tailEnd type="none" w="med" len="med"/>
            </a:ln>
          </p:spPr>
        </p:sp>
        <p:sp>
          <p:nvSpPr>
            <p:cNvPr id="65757" name="Line 52"/>
            <p:cNvSpPr/>
            <p:nvPr/>
          </p:nvSpPr>
          <p:spPr>
            <a:xfrm>
              <a:off x="144" y="3552"/>
              <a:ext cx="576" cy="0"/>
            </a:xfrm>
            <a:prstGeom prst="line">
              <a:avLst/>
            </a:prstGeom>
            <a:ln w="28575" cap="sq" cmpd="sng">
              <a:solidFill>
                <a:schemeClr val="tx1"/>
              </a:solidFill>
              <a:prstDash val="solid"/>
              <a:miter/>
              <a:headEnd type="none" w="med" len="med"/>
              <a:tailEnd type="none" w="med" len="med"/>
            </a:ln>
          </p:spPr>
        </p:sp>
        <p:sp>
          <p:nvSpPr>
            <p:cNvPr id="65758" name="Line 53"/>
            <p:cNvSpPr/>
            <p:nvPr/>
          </p:nvSpPr>
          <p:spPr>
            <a:xfrm>
              <a:off x="144" y="2143"/>
              <a:ext cx="0" cy="1400"/>
            </a:xfrm>
            <a:prstGeom prst="line">
              <a:avLst/>
            </a:prstGeom>
            <a:ln w="28575" cap="sq" cmpd="sng">
              <a:solidFill>
                <a:schemeClr val="tx1"/>
              </a:solidFill>
              <a:prstDash val="solid"/>
              <a:miter/>
              <a:headEnd type="none" w="med" len="med"/>
              <a:tailEnd type="none" w="med" len="med"/>
            </a:ln>
          </p:spPr>
        </p:sp>
        <p:sp>
          <p:nvSpPr>
            <p:cNvPr id="65759" name="Line 54"/>
            <p:cNvSpPr/>
            <p:nvPr/>
          </p:nvSpPr>
          <p:spPr>
            <a:xfrm>
              <a:off x="720" y="2143"/>
              <a:ext cx="0" cy="1400"/>
            </a:xfrm>
            <a:prstGeom prst="line">
              <a:avLst/>
            </a:prstGeom>
            <a:ln w="28575" cap="sq" cmpd="sng">
              <a:solidFill>
                <a:schemeClr val="tx1"/>
              </a:solidFill>
              <a:prstDash val="solid"/>
              <a:miter/>
              <a:headEnd type="none" w="med" len="med"/>
              <a:tailEnd type="none" w="med" len="med"/>
            </a:ln>
          </p:spPr>
        </p:sp>
      </p:grpSp>
      <p:graphicFrame>
        <p:nvGraphicFramePr>
          <p:cNvPr id="65541" name="表格 65540"/>
          <p:cNvGraphicFramePr/>
          <p:nvPr/>
        </p:nvGraphicFramePr>
        <p:xfrm>
          <a:off x="1143000" y="3416300"/>
          <a:ext cx="685800" cy="2239963"/>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555" name="表格 65554"/>
          <p:cNvGraphicFramePr/>
          <p:nvPr/>
        </p:nvGraphicFramePr>
        <p:xfrm>
          <a:off x="1828800" y="3416300"/>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569" name="表格 65568"/>
          <p:cNvGraphicFramePr/>
          <p:nvPr/>
        </p:nvGraphicFramePr>
        <p:xfrm>
          <a:off x="2438400" y="3416300"/>
          <a:ext cx="685800" cy="2239963"/>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583" name="表格 65582"/>
          <p:cNvGraphicFramePr/>
          <p:nvPr/>
        </p:nvGraphicFramePr>
        <p:xfrm>
          <a:off x="3124200" y="3416300"/>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597" name="表格 65596"/>
          <p:cNvGraphicFramePr/>
          <p:nvPr/>
        </p:nvGraphicFramePr>
        <p:xfrm>
          <a:off x="3733800" y="3416300"/>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611" name="表格 65610"/>
          <p:cNvGraphicFramePr/>
          <p:nvPr/>
        </p:nvGraphicFramePr>
        <p:xfrm>
          <a:off x="4343400" y="3416300"/>
          <a:ext cx="685800" cy="2239963"/>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625" name="表格 65624"/>
          <p:cNvGraphicFramePr/>
          <p:nvPr/>
        </p:nvGraphicFramePr>
        <p:xfrm>
          <a:off x="5029200" y="3414713"/>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639" name="表格 65638"/>
          <p:cNvGraphicFramePr/>
          <p:nvPr/>
        </p:nvGraphicFramePr>
        <p:xfrm>
          <a:off x="5638800" y="3414713"/>
          <a:ext cx="685800" cy="2239963"/>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653" name="表格 65652"/>
          <p:cNvGraphicFramePr/>
          <p:nvPr/>
        </p:nvGraphicFramePr>
        <p:xfrm>
          <a:off x="6324600" y="3414713"/>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667" name="表格 65666"/>
          <p:cNvGraphicFramePr/>
          <p:nvPr/>
        </p:nvGraphicFramePr>
        <p:xfrm>
          <a:off x="6934200" y="3414713"/>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681" name="表格 65680"/>
          <p:cNvGraphicFramePr/>
          <p:nvPr/>
        </p:nvGraphicFramePr>
        <p:xfrm>
          <a:off x="7543800" y="3414713"/>
          <a:ext cx="685800" cy="2239963"/>
        </p:xfrm>
        <a:graphic>
          <a:graphicData uri="http://schemas.openxmlformats.org/drawingml/2006/table">
            <a:tbl>
              <a:tblPr/>
              <a:tblGrid>
                <a:gridCol w="6858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4-</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aphicFrame>
        <p:nvGraphicFramePr>
          <p:cNvPr id="65695" name="表格 65694"/>
          <p:cNvGraphicFramePr/>
          <p:nvPr/>
        </p:nvGraphicFramePr>
        <p:xfrm>
          <a:off x="8229600" y="3416300"/>
          <a:ext cx="609600" cy="2239963"/>
        </p:xfrm>
        <a:graphic>
          <a:graphicData uri="http://schemas.openxmlformats.org/drawingml/2006/table">
            <a:tbl>
              <a:tblPr/>
              <a:tblGrid>
                <a:gridCol w="609600"/>
              </a:tblGrid>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5+</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1</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2</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68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3-</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52546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ctr" eaLnBrk="1" hangingPunct="1">
                        <a:spcBef>
                          <a:spcPct val="20000"/>
                        </a:spcBef>
                        <a:buClr>
                          <a:schemeClr val="folHlink"/>
                        </a:buClr>
                        <a:buSzPct val="60000"/>
                        <a:buFont typeface="Wingdings" panose="05000000000000000000" pitchFamily="2" charset="2"/>
                        <a:buNone/>
                      </a:pPr>
                      <a:r>
                        <a:rPr lang="zh-CN" altLang="en-US" sz="2000">
                          <a:latin typeface="Times New Roman" panose="02020503050405090304" pitchFamily="18" charset="0"/>
                          <a:ea typeface="楷体_GB2312" pitchFamily="49" charset="-122"/>
                        </a:rPr>
                        <a:t>+</a:t>
                      </a:r>
                      <a:endParaRPr lang="zh-CN" altLang="en-US" sz="2000">
                        <a:latin typeface="Times New Roman" panose="02020503050405090304" pitchFamily="18" charset="0"/>
                        <a:ea typeface="楷体_GB2312" pitchFamily="49" charset="-122"/>
                      </a:endParaRPr>
                    </a:p>
                  </a:txBody>
                  <a:tcPr marT="45712" marB="45712" anchor="ctr">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
        <p:nvSpPr>
          <p:cNvPr id="395487" name="Text Box 223"/>
          <p:cNvSpPr txBox="1"/>
          <p:nvPr/>
        </p:nvSpPr>
        <p:spPr>
          <a:xfrm>
            <a:off x="228600" y="5638800"/>
            <a:ext cx="8229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50000"/>
              </a:spcBef>
              <a:buClrTx/>
              <a:buFontTx/>
              <a:buNone/>
            </a:pPr>
            <a:r>
              <a:rPr lang="zh-CN" altLang="en-US" sz="2400" b="0">
                <a:ea typeface="楷体_GB2312" pitchFamily="49" charset="-122"/>
              </a:rPr>
              <a:t>由表可以算出缺页中断次数</a:t>
            </a:r>
            <a:r>
              <a:rPr lang="en-US" altLang="zh-CN" sz="2400" b="0">
                <a:ea typeface="楷体_GB2312" pitchFamily="49" charset="-122"/>
              </a:rPr>
              <a:t>F=8</a:t>
            </a:r>
            <a:r>
              <a:rPr lang="zh-CN" altLang="en-US" sz="2400" b="0">
                <a:ea typeface="楷体_GB2312" pitchFamily="49" charset="-122"/>
              </a:rPr>
              <a:t>，而缺页率：</a:t>
            </a:r>
            <a:r>
              <a:rPr lang="en-US" altLang="zh-CN" sz="2400" b="0">
                <a:ea typeface="楷体_GB2312" pitchFamily="49" charset="-122"/>
              </a:rPr>
              <a:t>8</a:t>
            </a:r>
            <a:r>
              <a:rPr lang="zh-CN" altLang="en-US" sz="2400" b="0">
                <a:ea typeface="楷体_GB2312" pitchFamily="49" charset="-122"/>
              </a:rPr>
              <a:t>／</a:t>
            </a:r>
            <a:r>
              <a:rPr lang="en-US" altLang="zh-CN" sz="2400" b="0">
                <a:ea typeface="楷体_GB2312" pitchFamily="49" charset="-122"/>
              </a:rPr>
              <a:t>12=67%</a:t>
            </a:r>
            <a:r>
              <a:rPr lang="zh-CN" altLang="en-US" sz="2400" b="0">
                <a:ea typeface="楷体_GB2312" pitchFamily="49" charset="-122"/>
              </a:rPr>
              <a:t>。</a:t>
            </a:r>
            <a:endParaRPr lang="zh-CN" altLang="en-US" sz="2400" b="0">
              <a:ea typeface="楷体_GB2312" pitchFamily="49" charset="-122"/>
            </a:endParaRPr>
          </a:p>
        </p:txBody>
      </p:sp>
      <p:sp>
        <p:nvSpPr>
          <p:cNvPr id="68"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nb-NO" altLang="zh-CN" sz="3600" b="0">
                <a:solidFill>
                  <a:schemeClr val="tx2"/>
                </a:solidFill>
                <a:latin typeface="Arial Black" panose="020B0A04020102020204" pitchFamily="34" charset="0"/>
              </a:rPr>
              <a:t>5.</a:t>
            </a:r>
            <a:r>
              <a:rPr lang="en-US" altLang="zh-CN" sz="3600" b="0">
                <a:solidFill>
                  <a:schemeClr val="tx2"/>
                </a:solidFill>
                <a:latin typeface="Arial Black" panose="020B0A04020102020204" pitchFamily="34" charset="0"/>
              </a:rPr>
              <a:t>8</a:t>
            </a:r>
            <a:r>
              <a:rPr lang="nb-NO" altLang="zh-CN" sz="3600" b="0">
                <a:solidFill>
                  <a:schemeClr val="tx2"/>
                </a:solidFill>
                <a:latin typeface="Arial Black" panose="020B0A04020102020204" pitchFamily="34" charset="0"/>
              </a:rPr>
              <a:t>.</a:t>
            </a:r>
            <a:r>
              <a:rPr lang="en-US" altLang="zh-CN" sz="3600" b="0">
                <a:solidFill>
                  <a:schemeClr val="tx2"/>
                </a:solidFill>
                <a:latin typeface="Arial Black" panose="020B0A04020102020204" pitchFamily="34" charset="0"/>
              </a:rPr>
              <a:t>4</a:t>
            </a:r>
            <a:r>
              <a:rPr lang="zh-CN" altLang="en-US" sz="3600" b="0">
                <a:solidFill>
                  <a:schemeClr val="tx2"/>
                </a:solidFill>
                <a:latin typeface="Arial Black" panose="020B0A04020102020204" pitchFamily="34" charset="0"/>
              </a:rPr>
              <a:t>页面置换算法</a:t>
            </a:r>
            <a:endParaRPr lang="zh-CN" altLang="en-US" sz="3600" b="0">
              <a:solidFill>
                <a:schemeClr val="tx2"/>
              </a:solidFill>
              <a:latin typeface="Arial Black" panose="020B0A040201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5541"/>
                                        </p:tgtEl>
                                        <p:attrNameLst>
                                          <p:attrName>style.visibility</p:attrName>
                                        </p:attrNameLst>
                                      </p:cBhvr>
                                      <p:to>
                                        <p:strVal val="visible"/>
                                      </p:to>
                                    </p:set>
                                    <p:anim calcmode="lin" valueType="num">
                                      <p:cBhvr additive="base">
                                        <p:cTn id="7" dur="500" fill="hold"/>
                                        <p:tgtEl>
                                          <p:spTgt spid="65541"/>
                                        </p:tgtEl>
                                        <p:attrNameLst>
                                          <p:attrName>ppt_x</p:attrName>
                                        </p:attrNameLst>
                                      </p:cBhvr>
                                      <p:tavLst>
                                        <p:tav tm="0">
                                          <p:val>
                                            <p:strVal val="1+#ppt_w/2"/>
                                          </p:val>
                                        </p:tav>
                                        <p:tav tm="100000">
                                          <p:val>
                                            <p:strVal val="#ppt_x"/>
                                          </p:val>
                                        </p:tav>
                                      </p:tavLst>
                                    </p:anim>
                                    <p:anim calcmode="lin" valueType="num">
                                      <p:cBhvr additive="base">
                                        <p:cTn id="8" dur="500" fill="hold"/>
                                        <p:tgtEl>
                                          <p:spTgt spid="655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5555"/>
                                        </p:tgtEl>
                                        <p:attrNameLst>
                                          <p:attrName>style.visibility</p:attrName>
                                        </p:attrNameLst>
                                      </p:cBhvr>
                                      <p:to>
                                        <p:strVal val="visible"/>
                                      </p:to>
                                    </p:set>
                                    <p:anim calcmode="lin" valueType="num">
                                      <p:cBhvr additive="base">
                                        <p:cTn id="13" dur="500" fill="hold"/>
                                        <p:tgtEl>
                                          <p:spTgt spid="65555"/>
                                        </p:tgtEl>
                                        <p:attrNameLst>
                                          <p:attrName>ppt_x</p:attrName>
                                        </p:attrNameLst>
                                      </p:cBhvr>
                                      <p:tavLst>
                                        <p:tav tm="0">
                                          <p:val>
                                            <p:strVal val="1+#ppt_w/2"/>
                                          </p:val>
                                        </p:tav>
                                        <p:tav tm="100000">
                                          <p:val>
                                            <p:strVal val="#ppt_x"/>
                                          </p:val>
                                        </p:tav>
                                      </p:tavLst>
                                    </p:anim>
                                    <p:anim calcmode="lin" valueType="num">
                                      <p:cBhvr additive="base">
                                        <p:cTn id="14" dur="500" fill="hold"/>
                                        <p:tgtEl>
                                          <p:spTgt spid="6555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5569"/>
                                        </p:tgtEl>
                                        <p:attrNameLst>
                                          <p:attrName>style.visibility</p:attrName>
                                        </p:attrNameLst>
                                      </p:cBhvr>
                                      <p:to>
                                        <p:strVal val="visible"/>
                                      </p:to>
                                    </p:set>
                                    <p:anim calcmode="lin" valueType="num">
                                      <p:cBhvr additive="base">
                                        <p:cTn id="19" dur="500" fill="hold"/>
                                        <p:tgtEl>
                                          <p:spTgt spid="65569"/>
                                        </p:tgtEl>
                                        <p:attrNameLst>
                                          <p:attrName>ppt_x</p:attrName>
                                        </p:attrNameLst>
                                      </p:cBhvr>
                                      <p:tavLst>
                                        <p:tav tm="0">
                                          <p:val>
                                            <p:strVal val="1+#ppt_w/2"/>
                                          </p:val>
                                        </p:tav>
                                        <p:tav tm="100000">
                                          <p:val>
                                            <p:strVal val="#ppt_x"/>
                                          </p:val>
                                        </p:tav>
                                      </p:tavLst>
                                    </p:anim>
                                    <p:anim calcmode="lin" valueType="num">
                                      <p:cBhvr additive="base">
                                        <p:cTn id="20" dur="500" fill="hold"/>
                                        <p:tgtEl>
                                          <p:spTgt spid="6556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5583"/>
                                        </p:tgtEl>
                                        <p:attrNameLst>
                                          <p:attrName>style.visibility</p:attrName>
                                        </p:attrNameLst>
                                      </p:cBhvr>
                                      <p:to>
                                        <p:strVal val="visible"/>
                                      </p:to>
                                    </p:set>
                                    <p:anim calcmode="lin" valueType="num">
                                      <p:cBhvr additive="base">
                                        <p:cTn id="25" dur="500" fill="hold"/>
                                        <p:tgtEl>
                                          <p:spTgt spid="65583"/>
                                        </p:tgtEl>
                                        <p:attrNameLst>
                                          <p:attrName>ppt_x</p:attrName>
                                        </p:attrNameLst>
                                      </p:cBhvr>
                                      <p:tavLst>
                                        <p:tav tm="0">
                                          <p:val>
                                            <p:strVal val="1+#ppt_w/2"/>
                                          </p:val>
                                        </p:tav>
                                        <p:tav tm="100000">
                                          <p:val>
                                            <p:strVal val="#ppt_x"/>
                                          </p:val>
                                        </p:tav>
                                      </p:tavLst>
                                    </p:anim>
                                    <p:anim calcmode="lin" valueType="num">
                                      <p:cBhvr additive="base">
                                        <p:cTn id="26" dur="500" fill="hold"/>
                                        <p:tgtEl>
                                          <p:spTgt spid="6558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65597"/>
                                        </p:tgtEl>
                                        <p:attrNameLst>
                                          <p:attrName>style.visibility</p:attrName>
                                        </p:attrNameLst>
                                      </p:cBhvr>
                                      <p:to>
                                        <p:strVal val="visible"/>
                                      </p:to>
                                    </p:set>
                                    <p:anim calcmode="lin" valueType="num">
                                      <p:cBhvr additive="base">
                                        <p:cTn id="31" dur="500" fill="hold"/>
                                        <p:tgtEl>
                                          <p:spTgt spid="65597"/>
                                        </p:tgtEl>
                                        <p:attrNameLst>
                                          <p:attrName>ppt_x</p:attrName>
                                        </p:attrNameLst>
                                      </p:cBhvr>
                                      <p:tavLst>
                                        <p:tav tm="0">
                                          <p:val>
                                            <p:strVal val="1+#ppt_w/2"/>
                                          </p:val>
                                        </p:tav>
                                        <p:tav tm="100000">
                                          <p:val>
                                            <p:strVal val="#ppt_x"/>
                                          </p:val>
                                        </p:tav>
                                      </p:tavLst>
                                    </p:anim>
                                    <p:anim calcmode="lin" valueType="num">
                                      <p:cBhvr additive="base">
                                        <p:cTn id="32" dur="500" fill="hold"/>
                                        <p:tgtEl>
                                          <p:spTgt spid="6559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65611"/>
                                        </p:tgtEl>
                                        <p:attrNameLst>
                                          <p:attrName>style.visibility</p:attrName>
                                        </p:attrNameLst>
                                      </p:cBhvr>
                                      <p:to>
                                        <p:strVal val="visible"/>
                                      </p:to>
                                    </p:set>
                                    <p:anim calcmode="lin" valueType="num">
                                      <p:cBhvr additive="base">
                                        <p:cTn id="37" dur="500" fill="hold"/>
                                        <p:tgtEl>
                                          <p:spTgt spid="65611"/>
                                        </p:tgtEl>
                                        <p:attrNameLst>
                                          <p:attrName>ppt_x</p:attrName>
                                        </p:attrNameLst>
                                      </p:cBhvr>
                                      <p:tavLst>
                                        <p:tav tm="0">
                                          <p:val>
                                            <p:strVal val="1+#ppt_w/2"/>
                                          </p:val>
                                        </p:tav>
                                        <p:tav tm="100000">
                                          <p:val>
                                            <p:strVal val="#ppt_x"/>
                                          </p:val>
                                        </p:tav>
                                      </p:tavLst>
                                    </p:anim>
                                    <p:anim calcmode="lin" valueType="num">
                                      <p:cBhvr additive="base">
                                        <p:cTn id="38" dur="500" fill="hold"/>
                                        <p:tgtEl>
                                          <p:spTgt spid="6561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65625"/>
                                        </p:tgtEl>
                                        <p:attrNameLst>
                                          <p:attrName>style.visibility</p:attrName>
                                        </p:attrNameLst>
                                      </p:cBhvr>
                                      <p:to>
                                        <p:strVal val="visible"/>
                                      </p:to>
                                    </p:set>
                                    <p:anim calcmode="lin" valueType="num">
                                      <p:cBhvr additive="base">
                                        <p:cTn id="43" dur="500" fill="hold"/>
                                        <p:tgtEl>
                                          <p:spTgt spid="65625"/>
                                        </p:tgtEl>
                                        <p:attrNameLst>
                                          <p:attrName>ppt_x</p:attrName>
                                        </p:attrNameLst>
                                      </p:cBhvr>
                                      <p:tavLst>
                                        <p:tav tm="0">
                                          <p:val>
                                            <p:strVal val="1+#ppt_w/2"/>
                                          </p:val>
                                        </p:tav>
                                        <p:tav tm="100000">
                                          <p:val>
                                            <p:strVal val="#ppt_x"/>
                                          </p:val>
                                        </p:tav>
                                      </p:tavLst>
                                    </p:anim>
                                    <p:anim calcmode="lin" valueType="num">
                                      <p:cBhvr additive="base">
                                        <p:cTn id="44" dur="500" fill="hold"/>
                                        <p:tgtEl>
                                          <p:spTgt spid="6562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65639"/>
                                        </p:tgtEl>
                                        <p:attrNameLst>
                                          <p:attrName>style.visibility</p:attrName>
                                        </p:attrNameLst>
                                      </p:cBhvr>
                                      <p:to>
                                        <p:strVal val="visible"/>
                                      </p:to>
                                    </p:set>
                                    <p:anim calcmode="lin" valueType="num">
                                      <p:cBhvr additive="base">
                                        <p:cTn id="49" dur="500" fill="hold"/>
                                        <p:tgtEl>
                                          <p:spTgt spid="65639"/>
                                        </p:tgtEl>
                                        <p:attrNameLst>
                                          <p:attrName>ppt_x</p:attrName>
                                        </p:attrNameLst>
                                      </p:cBhvr>
                                      <p:tavLst>
                                        <p:tav tm="0">
                                          <p:val>
                                            <p:strVal val="1+#ppt_w/2"/>
                                          </p:val>
                                        </p:tav>
                                        <p:tav tm="100000">
                                          <p:val>
                                            <p:strVal val="#ppt_x"/>
                                          </p:val>
                                        </p:tav>
                                      </p:tavLst>
                                    </p:anim>
                                    <p:anim calcmode="lin" valueType="num">
                                      <p:cBhvr additive="base">
                                        <p:cTn id="50" dur="500" fill="hold"/>
                                        <p:tgtEl>
                                          <p:spTgt spid="65639"/>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65653"/>
                                        </p:tgtEl>
                                        <p:attrNameLst>
                                          <p:attrName>style.visibility</p:attrName>
                                        </p:attrNameLst>
                                      </p:cBhvr>
                                      <p:to>
                                        <p:strVal val="visible"/>
                                      </p:to>
                                    </p:set>
                                    <p:anim calcmode="lin" valueType="num">
                                      <p:cBhvr additive="base">
                                        <p:cTn id="55" dur="500" fill="hold"/>
                                        <p:tgtEl>
                                          <p:spTgt spid="65653"/>
                                        </p:tgtEl>
                                        <p:attrNameLst>
                                          <p:attrName>ppt_x</p:attrName>
                                        </p:attrNameLst>
                                      </p:cBhvr>
                                      <p:tavLst>
                                        <p:tav tm="0">
                                          <p:val>
                                            <p:strVal val="1+#ppt_w/2"/>
                                          </p:val>
                                        </p:tav>
                                        <p:tav tm="100000">
                                          <p:val>
                                            <p:strVal val="#ppt_x"/>
                                          </p:val>
                                        </p:tav>
                                      </p:tavLst>
                                    </p:anim>
                                    <p:anim calcmode="lin" valueType="num">
                                      <p:cBhvr additive="base">
                                        <p:cTn id="56" dur="500" fill="hold"/>
                                        <p:tgtEl>
                                          <p:spTgt spid="6565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nodeType="clickEffect">
                                  <p:stCondLst>
                                    <p:cond delay="0"/>
                                  </p:stCondLst>
                                  <p:childTnLst>
                                    <p:set>
                                      <p:cBhvr>
                                        <p:cTn id="60" dur="1" fill="hold">
                                          <p:stCondLst>
                                            <p:cond delay="0"/>
                                          </p:stCondLst>
                                        </p:cTn>
                                        <p:tgtEl>
                                          <p:spTgt spid="65667"/>
                                        </p:tgtEl>
                                        <p:attrNameLst>
                                          <p:attrName>style.visibility</p:attrName>
                                        </p:attrNameLst>
                                      </p:cBhvr>
                                      <p:to>
                                        <p:strVal val="visible"/>
                                      </p:to>
                                    </p:set>
                                    <p:anim calcmode="lin" valueType="num">
                                      <p:cBhvr additive="base">
                                        <p:cTn id="61" dur="500" fill="hold"/>
                                        <p:tgtEl>
                                          <p:spTgt spid="65667"/>
                                        </p:tgtEl>
                                        <p:attrNameLst>
                                          <p:attrName>ppt_x</p:attrName>
                                        </p:attrNameLst>
                                      </p:cBhvr>
                                      <p:tavLst>
                                        <p:tav tm="0">
                                          <p:val>
                                            <p:strVal val="1+#ppt_w/2"/>
                                          </p:val>
                                        </p:tav>
                                        <p:tav tm="100000">
                                          <p:val>
                                            <p:strVal val="#ppt_x"/>
                                          </p:val>
                                        </p:tav>
                                      </p:tavLst>
                                    </p:anim>
                                    <p:anim calcmode="lin" valueType="num">
                                      <p:cBhvr additive="base">
                                        <p:cTn id="62" dur="500" fill="hold"/>
                                        <p:tgtEl>
                                          <p:spTgt spid="65667"/>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nodeType="clickEffect">
                                  <p:stCondLst>
                                    <p:cond delay="0"/>
                                  </p:stCondLst>
                                  <p:childTnLst>
                                    <p:set>
                                      <p:cBhvr>
                                        <p:cTn id="66" dur="1" fill="hold">
                                          <p:stCondLst>
                                            <p:cond delay="0"/>
                                          </p:stCondLst>
                                        </p:cTn>
                                        <p:tgtEl>
                                          <p:spTgt spid="65681"/>
                                        </p:tgtEl>
                                        <p:attrNameLst>
                                          <p:attrName>style.visibility</p:attrName>
                                        </p:attrNameLst>
                                      </p:cBhvr>
                                      <p:to>
                                        <p:strVal val="visible"/>
                                      </p:to>
                                    </p:set>
                                    <p:anim calcmode="lin" valueType="num">
                                      <p:cBhvr additive="base">
                                        <p:cTn id="67" dur="500" fill="hold"/>
                                        <p:tgtEl>
                                          <p:spTgt spid="65681"/>
                                        </p:tgtEl>
                                        <p:attrNameLst>
                                          <p:attrName>ppt_x</p:attrName>
                                        </p:attrNameLst>
                                      </p:cBhvr>
                                      <p:tavLst>
                                        <p:tav tm="0">
                                          <p:val>
                                            <p:strVal val="1+#ppt_w/2"/>
                                          </p:val>
                                        </p:tav>
                                        <p:tav tm="100000">
                                          <p:val>
                                            <p:strVal val="#ppt_x"/>
                                          </p:val>
                                        </p:tav>
                                      </p:tavLst>
                                    </p:anim>
                                    <p:anim calcmode="lin" valueType="num">
                                      <p:cBhvr additive="base">
                                        <p:cTn id="68" dur="500" fill="hold"/>
                                        <p:tgtEl>
                                          <p:spTgt spid="65681"/>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nodeType="clickEffect">
                                  <p:stCondLst>
                                    <p:cond delay="0"/>
                                  </p:stCondLst>
                                  <p:childTnLst>
                                    <p:set>
                                      <p:cBhvr>
                                        <p:cTn id="72" dur="1" fill="hold">
                                          <p:stCondLst>
                                            <p:cond delay="0"/>
                                          </p:stCondLst>
                                        </p:cTn>
                                        <p:tgtEl>
                                          <p:spTgt spid="65695"/>
                                        </p:tgtEl>
                                        <p:attrNameLst>
                                          <p:attrName>style.visibility</p:attrName>
                                        </p:attrNameLst>
                                      </p:cBhvr>
                                      <p:to>
                                        <p:strVal val="visible"/>
                                      </p:to>
                                    </p:set>
                                    <p:anim calcmode="lin" valueType="num">
                                      <p:cBhvr additive="base">
                                        <p:cTn id="73" dur="500" fill="hold"/>
                                        <p:tgtEl>
                                          <p:spTgt spid="65695"/>
                                        </p:tgtEl>
                                        <p:attrNameLst>
                                          <p:attrName>ppt_x</p:attrName>
                                        </p:attrNameLst>
                                      </p:cBhvr>
                                      <p:tavLst>
                                        <p:tav tm="0">
                                          <p:val>
                                            <p:strVal val="1+#ppt_w/2"/>
                                          </p:val>
                                        </p:tav>
                                        <p:tav tm="100000">
                                          <p:val>
                                            <p:strVal val="#ppt_x"/>
                                          </p:val>
                                        </p:tav>
                                      </p:tavLst>
                                    </p:anim>
                                    <p:anim calcmode="lin" valueType="num">
                                      <p:cBhvr additive="base">
                                        <p:cTn id="74" dur="500" fill="hold"/>
                                        <p:tgtEl>
                                          <p:spTgt spid="6569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395487"/>
                                        </p:tgtEl>
                                        <p:attrNameLst>
                                          <p:attrName>style.visibility</p:attrName>
                                        </p:attrNameLst>
                                      </p:cBhvr>
                                      <p:to>
                                        <p:strVal val="visible"/>
                                      </p:to>
                                    </p:set>
                                    <p:anim calcmode="lin" valueType="num">
                                      <p:cBhvr additive="base">
                                        <p:cTn id="79" dur="500" fill="hold"/>
                                        <p:tgtEl>
                                          <p:spTgt spid="395487"/>
                                        </p:tgtEl>
                                        <p:attrNameLst>
                                          <p:attrName>ppt_x</p:attrName>
                                        </p:attrNameLst>
                                      </p:cBhvr>
                                      <p:tavLst>
                                        <p:tav tm="0">
                                          <p:val>
                                            <p:strVal val="1+#ppt_w/2"/>
                                          </p:val>
                                        </p:tav>
                                        <p:tav tm="100000">
                                          <p:val>
                                            <p:strVal val="#ppt_x"/>
                                          </p:val>
                                        </p:tav>
                                      </p:tavLst>
                                    </p:anim>
                                    <p:anim calcmode="lin" valueType="num">
                                      <p:cBhvr additive="base">
                                        <p:cTn id="80" dur="500" fill="hold"/>
                                        <p:tgtEl>
                                          <p:spTgt spid="3954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48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66562"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66563" name="Rectangle 3"/>
          <p:cNvSpPr>
            <a:spLocks noGrp="1"/>
          </p:cNvSpPr>
          <p:nvPr>
            <p:ph idx="1"/>
          </p:nvPr>
        </p:nvSpPr>
        <p:spPr>
          <a:xfrm>
            <a:off x="-252412" y="1412875"/>
            <a:ext cx="5832475" cy="2736850"/>
          </a:xfrm>
        </p:spPr>
        <p:txBody>
          <a:bodyPr vert="horz" wrap="square" lIns="91440" tIns="45720" rIns="91440" bIns="45720" anchor="t" anchorCtr="0"/>
          <a:lstStyle/>
          <a:p>
            <a:pPr eaLnBrk="1" hangingPunct="1">
              <a:buFont typeface="Wingdings" panose="05000000000000000000" pitchFamily="2" charset="2"/>
              <a:buNone/>
            </a:pPr>
            <a:r>
              <a:rPr lang="zh-CN" altLang="en-US" sz="2400" b="0"/>
              <a:t>    设</a:t>
            </a:r>
            <a:r>
              <a:rPr lang="en-US" altLang="zh-CN" sz="2400" b="0"/>
              <a:t>G(P</a:t>
            </a:r>
            <a:r>
              <a:rPr lang="zh-CN" altLang="en-US" sz="2400" b="0"/>
              <a:t>，</a:t>
            </a:r>
            <a:r>
              <a:rPr lang="en-US" altLang="zh-CN" sz="2400" b="0"/>
              <a:t>M</a:t>
            </a:r>
            <a:r>
              <a:rPr lang="zh-CN" altLang="en-US" sz="2400" b="0"/>
              <a:t>，</a:t>
            </a:r>
            <a:r>
              <a:rPr lang="en-US" altLang="zh-CN" sz="2400" b="0"/>
              <a:t>t)</a:t>
            </a:r>
            <a:r>
              <a:rPr lang="zh-CN" altLang="en-US" sz="2400" b="0"/>
              <a:t>表示当页面走向为</a:t>
            </a:r>
            <a:r>
              <a:rPr lang="en-US" altLang="zh-CN" sz="2400" b="0"/>
              <a:t>P</a:t>
            </a:r>
            <a:r>
              <a:rPr lang="zh-CN" altLang="en-US" sz="2400" b="0"/>
              <a:t>，主存容量为</a:t>
            </a:r>
            <a:r>
              <a:rPr lang="en-US" altLang="zh-CN" sz="2400" b="0"/>
              <a:t>M</a:t>
            </a:r>
            <a:r>
              <a:rPr lang="zh-CN" altLang="en-US" sz="2400" b="0"/>
              <a:t>，在时刻</a:t>
            </a:r>
            <a:r>
              <a:rPr lang="en-US" altLang="zh-CN" sz="2400" b="0"/>
              <a:t>t</a:t>
            </a:r>
            <a:r>
              <a:rPr lang="zh-CN" altLang="en-US" sz="2400" b="0"/>
              <a:t>的页面集合。对于</a:t>
            </a:r>
            <a:r>
              <a:rPr lang="en-US" altLang="zh-CN" sz="2400" b="0"/>
              <a:t>LRU</a:t>
            </a:r>
            <a:r>
              <a:rPr lang="zh-CN" altLang="en-US" sz="2400" b="0"/>
              <a:t>算法，存在如下关系：即 </a:t>
            </a:r>
            <a:r>
              <a:rPr lang="en-US" altLang="zh-CN" sz="2400" b="0"/>
              <a:t>G(P</a:t>
            </a:r>
            <a:r>
              <a:rPr lang="zh-CN" altLang="en-US" sz="2400" b="0"/>
              <a:t>，</a:t>
            </a:r>
            <a:r>
              <a:rPr lang="en-US" altLang="zh-CN" sz="2400" b="0"/>
              <a:t>M</a:t>
            </a:r>
            <a:r>
              <a:rPr lang="zh-CN" altLang="en-US" sz="2400" b="0"/>
              <a:t>，</a:t>
            </a:r>
            <a:r>
              <a:rPr lang="en-US" altLang="zh-CN" sz="2400" b="0"/>
              <a:t>t)</a:t>
            </a:r>
            <a:r>
              <a:rPr lang="en-US" altLang="en-US" sz="2400" b="0">
                <a:sym typeface="Symbol" panose="05050102010706020507" pitchFamily="18" charset="2"/>
              </a:rPr>
              <a:t></a:t>
            </a:r>
            <a:r>
              <a:rPr lang="en-US" altLang="zh-CN" sz="2400" b="0"/>
              <a:t>G(P</a:t>
            </a:r>
            <a:r>
              <a:rPr lang="zh-CN" altLang="en-US" sz="2400" b="0"/>
              <a:t>，</a:t>
            </a:r>
            <a:r>
              <a:rPr lang="en-US" altLang="zh-CN" sz="2400" b="0"/>
              <a:t>M+1</a:t>
            </a:r>
            <a:r>
              <a:rPr lang="zh-CN" altLang="en-US" sz="2400" b="0"/>
              <a:t>，</a:t>
            </a:r>
            <a:r>
              <a:rPr lang="en-US" altLang="zh-CN" sz="2400" b="0"/>
              <a:t>t)</a:t>
            </a:r>
            <a:r>
              <a:rPr lang="zh-CN" altLang="en-US" sz="2400" b="0"/>
              <a:t>成立。即对于任何时刻</a:t>
            </a:r>
            <a:r>
              <a:rPr lang="en-US" altLang="zh-CN" sz="2400" b="0"/>
              <a:t>t(t=l</a:t>
            </a:r>
            <a:r>
              <a:rPr lang="zh-CN" altLang="en-US" sz="2400" b="0"/>
              <a:t>，</a:t>
            </a:r>
            <a:r>
              <a:rPr lang="en-US" altLang="zh-CN" sz="2400" b="0"/>
              <a:t>2</a:t>
            </a:r>
            <a:r>
              <a:rPr lang="zh-CN" altLang="en-US" sz="2400" b="0"/>
              <a:t>，</a:t>
            </a:r>
            <a:r>
              <a:rPr lang="en-US" altLang="zh-CN" sz="2400" b="0"/>
              <a:t>…</a:t>
            </a:r>
            <a:r>
              <a:rPr lang="zh-CN" altLang="en-US" sz="2400" b="0"/>
              <a:t>，</a:t>
            </a:r>
            <a:r>
              <a:rPr lang="en-US" altLang="zh-CN" sz="2400" b="0"/>
              <a:t>12)</a:t>
            </a:r>
            <a:r>
              <a:rPr lang="zh-CN" altLang="en-US" sz="2400" b="0"/>
              <a:t>，</a:t>
            </a:r>
            <a:r>
              <a:rPr lang="en-US" altLang="zh-CN" sz="2400" b="0"/>
              <a:t>G(P</a:t>
            </a:r>
            <a:r>
              <a:rPr lang="zh-CN" altLang="en-US" sz="2400" b="0"/>
              <a:t>，</a:t>
            </a:r>
            <a:r>
              <a:rPr lang="en-US" altLang="zh-CN" sz="2400" b="0"/>
              <a:t>M</a:t>
            </a:r>
            <a:r>
              <a:rPr lang="zh-CN" altLang="en-US" sz="2400" b="0"/>
              <a:t>，</a:t>
            </a:r>
            <a:r>
              <a:rPr lang="en-US" altLang="zh-CN" sz="2400" b="0"/>
              <a:t>t)</a:t>
            </a:r>
            <a:r>
              <a:rPr lang="zh-CN" altLang="en-US" sz="2400" b="0"/>
              <a:t>所选中的页号必定包含在</a:t>
            </a:r>
            <a:r>
              <a:rPr lang="en-US" altLang="zh-CN" sz="2400" b="0"/>
              <a:t>G(P</a:t>
            </a:r>
            <a:r>
              <a:rPr lang="zh-CN" altLang="en-US" sz="2400" b="0"/>
              <a:t>，</a:t>
            </a:r>
            <a:r>
              <a:rPr lang="en-US" altLang="zh-CN" sz="2400" b="0"/>
              <a:t>M +1</a:t>
            </a:r>
            <a:r>
              <a:rPr lang="zh-CN" altLang="en-US" sz="2400" b="0"/>
              <a:t>，</a:t>
            </a:r>
            <a:r>
              <a:rPr lang="en-US" altLang="zh-CN" sz="2400" b="0"/>
              <a:t>t)</a:t>
            </a:r>
            <a:r>
              <a:rPr lang="zh-CN" altLang="en-US" sz="2400" b="0"/>
              <a:t>中。</a:t>
            </a:r>
            <a:endParaRPr lang="en-US" altLang="zh-CN" sz="2400" b="0"/>
          </a:p>
          <a:p>
            <a:pPr eaLnBrk="1" hangingPunct="1">
              <a:buFont typeface="Wingdings" panose="05000000000000000000" pitchFamily="2" charset="2"/>
              <a:buNone/>
            </a:pPr>
            <a:r>
              <a:rPr lang="en-US" altLang="zh-CN" sz="2400" b="0"/>
              <a:t>    </a:t>
            </a:r>
            <a:r>
              <a:rPr lang="zh-CN" altLang="en-US" sz="2400" b="0">
                <a:solidFill>
                  <a:srgbClr val="FF0000"/>
                </a:solidFill>
              </a:rPr>
              <a:t>说明了增加主存容量不会增加缺页中断次数，然而对</a:t>
            </a:r>
            <a:r>
              <a:rPr lang="en-US" altLang="zh-CN" sz="2400" b="0">
                <a:solidFill>
                  <a:srgbClr val="FF0000"/>
                </a:solidFill>
              </a:rPr>
              <a:t>FIFO</a:t>
            </a:r>
            <a:r>
              <a:rPr lang="zh-CN" altLang="en-US" sz="2400" b="0">
                <a:solidFill>
                  <a:srgbClr val="FF0000"/>
                </a:solidFill>
              </a:rPr>
              <a:t>算法此关系并不成立</a:t>
            </a:r>
            <a:r>
              <a:rPr lang="zh-CN" altLang="en-US" sz="2400" b="0"/>
              <a:t>。</a:t>
            </a:r>
            <a:endParaRPr lang="zh-CN" altLang="en-US" sz="2400" b="0"/>
          </a:p>
        </p:txBody>
      </p:sp>
      <p:sp>
        <p:nvSpPr>
          <p:cNvPr id="66564" name="矩形 1"/>
          <p:cNvSpPr/>
          <p:nvPr/>
        </p:nvSpPr>
        <p:spPr>
          <a:xfrm>
            <a:off x="179388" y="4657725"/>
            <a:ext cx="8928100" cy="19399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t>LRU算法</a:t>
            </a:r>
            <a:endParaRPr lang="en-US" altLang="zh-CN" sz="2400" b="0"/>
          </a:p>
          <a:p>
            <a:pPr marL="0" lvl="0" indent="0">
              <a:spcBef>
                <a:spcPct val="0"/>
              </a:spcBef>
              <a:buClrTx/>
              <a:buFontTx/>
              <a:buNone/>
            </a:pPr>
            <a:r>
              <a:rPr lang="zh-CN" altLang="en-US" sz="2400" b="0"/>
              <a:t>优点</a:t>
            </a:r>
            <a:r>
              <a:rPr lang="en-US" altLang="zh-CN" sz="2400" b="0"/>
              <a:t>:</a:t>
            </a:r>
            <a:r>
              <a:rPr lang="zh-CN" altLang="en-US" sz="2400" b="0"/>
              <a:t>不会出现 Belady现象。性能较好，接近理想情况。</a:t>
            </a:r>
            <a:endParaRPr lang="en-US" altLang="zh-CN" sz="2400" b="0"/>
          </a:p>
          <a:p>
            <a:pPr marL="0" lvl="0" indent="0">
              <a:spcBef>
                <a:spcPct val="0"/>
              </a:spcBef>
              <a:buClrTx/>
              <a:buFontTx/>
              <a:buNone/>
            </a:pPr>
            <a:r>
              <a:rPr lang="zh-CN" altLang="en-US" sz="2400" b="0"/>
              <a:t>缺点是算法效率不高。</a:t>
            </a:r>
            <a:endParaRPr lang="en-US" altLang="zh-CN" sz="2400" b="0"/>
          </a:p>
          <a:p>
            <a:pPr marL="0" lvl="0" indent="0">
              <a:spcBef>
                <a:spcPct val="0"/>
              </a:spcBef>
              <a:buClrTx/>
              <a:buFontTx/>
              <a:buNone/>
            </a:pPr>
            <a:r>
              <a:rPr lang="zh-CN" altLang="en-US" sz="2400" b="0"/>
              <a:t>①需要对整个页表频繁进行维护。    </a:t>
            </a:r>
            <a:endParaRPr lang="en-US" altLang="zh-CN" sz="2400" b="0"/>
          </a:p>
          <a:p>
            <a:pPr marL="0" lvl="0" indent="0">
              <a:spcBef>
                <a:spcPct val="0"/>
              </a:spcBef>
              <a:buClrTx/>
              <a:buFontTx/>
              <a:buNone/>
            </a:pPr>
            <a:r>
              <a:rPr lang="zh-CN" altLang="en-US" sz="2400" b="0"/>
              <a:t>②比较是算法的基本操作，当页面较多时会消耗大量时间。</a:t>
            </a:r>
            <a:endParaRPr lang="zh-CN" altLang="en-US" sz="2400" b="0"/>
          </a:p>
        </p:txBody>
      </p:sp>
      <p:pic>
        <p:nvPicPr>
          <p:cNvPr id="66565" name="图片 1"/>
          <p:cNvPicPr>
            <a:picLocks noChangeAspect="1"/>
          </p:cNvPicPr>
          <p:nvPr/>
        </p:nvPicPr>
        <p:blipFill>
          <a:blip r:embed="rId1"/>
          <a:stretch>
            <a:fillRect/>
          </a:stretch>
        </p:blipFill>
        <p:spPr>
          <a:xfrm>
            <a:off x="5580063" y="1412875"/>
            <a:ext cx="3563937" cy="3119438"/>
          </a:xfrm>
          <a:prstGeom prst="rect">
            <a:avLst/>
          </a:prstGeom>
          <a:noFill/>
          <a:ln w="9525">
            <a:noFill/>
          </a:ln>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67586" name="文本框 6"/>
          <p:cNvSpPr txBox="1"/>
          <p:nvPr>
            <p:custDataLst>
              <p:tags r:id="rId1"/>
            </p:custDataLst>
          </p:nvPr>
        </p:nvSpPr>
        <p:spPr>
          <a:xfrm>
            <a:off x="914400" y="63500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charset="-122"/>
                <a:ea typeface="微软雅黑" charset="-122"/>
                <a:sym typeface="微软雅黑" charset="-122"/>
              </a:rPr>
              <a:t>请您编辑题干</a:t>
            </a:r>
            <a:endParaRPr lang="zh-CN" altLang="en-US" sz="2600" b="0">
              <a:solidFill>
                <a:srgbClr val="000000"/>
              </a:solidFill>
              <a:latin typeface="微软雅黑" charset="-122"/>
              <a:ea typeface="微软雅黑" charset="-122"/>
              <a:sym typeface="微软雅黑" charset="-122"/>
            </a:endParaRPr>
          </a:p>
        </p:txBody>
      </p:sp>
      <p:sp>
        <p:nvSpPr>
          <p:cNvPr id="67587" name="矩形: 圆角 7"/>
          <p:cNvSpPr/>
          <p:nvPr>
            <p:custDataLst>
              <p:tags r:id="rId2"/>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solidFill>
                  <a:srgbClr val="FFFFFF"/>
                </a:solidFill>
                <a:latin typeface="微软雅黑" charset="-122"/>
                <a:ea typeface="微软雅黑" charset="-122"/>
                <a:sym typeface="微软雅黑" charset="-122"/>
              </a:rPr>
              <a:t>作答</a:t>
            </a:r>
            <a:endParaRPr lang="zh-CN" altLang="en-US" sz="1600" b="0">
              <a:solidFill>
                <a:srgbClr val="FFFFFF"/>
              </a:solidFill>
              <a:latin typeface="微软雅黑" charset="-122"/>
              <a:ea typeface="微软雅黑" charset="-122"/>
              <a:sym typeface="微软雅黑" charset="-122"/>
            </a:endParaRPr>
          </a:p>
        </p:txBody>
      </p:sp>
      <p:sp>
        <p:nvSpPr>
          <p:cNvPr id="67588" name="矩形 13"/>
          <p:cNvSpPr/>
          <p:nvPr>
            <p:custDataLst>
              <p:tags r:id="rId3"/>
            </p:custDataLst>
          </p:nvPr>
        </p:nvSpPr>
        <p:spPr>
          <a:xfrm>
            <a:off x="0" y="5849938"/>
            <a:ext cx="9144000" cy="365125"/>
          </a:xfrm>
          <a:prstGeom prst="rect">
            <a:avLst/>
          </a:prstGeom>
          <a:solidFill>
            <a:srgbClr val="FBFAEF"/>
          </a:solidFill>
          <a:ln w="9525">
            <a:noFill/>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200" b="0">
                <a:solidFill>
                  <a:srgbClr val="F84F41"/>
                </a:solidFill>
                <a:latin typeface="微软雅黑" charset="-122"/>
                <a:ea typeface="微软雅黑" charset="-122"/>
                <a:sym typeface="微软雅黑" charset="-122"/>
              </a:rPr>
              <a:t>正常使用主观题需</a:t>
            </a:r>
            <a:r>
              <a:rPr lang="en-US" altLang="zh-CN" sz="1200" b="0">
                <a:solidFill>
                  <a:srgbClr val="F84F41"/>
                </a:solidFill>
                <a:latin typeface="微软雅黑" charset="-122"/>
                <a:ea typeface="微软雅黑" charset="-122"/>
                <a:sym typeface="微软雅黑" charset="-122"/>
              </a:rPr>
              <a:t>2.0</a:t>
            </a:r>
            <a:r>
              <a:rPr lang="zh-CN" altLang="en-US" sz="1200" b="0">
                <a:solidFill>
                  <a:srgbClr val="F84F41"/>
                </a:solidFill>
                <a:latin typeface="微软雅黑" charset="-122"/>
                <a:ea typeface="微软雅黑" charset="-122"/>
                <a:sym typeface="微软雅黑" charset="-122"/>
              </a:rPr>
              <a:t>以上版本雨课堂</a:t>
            </a:r>
            <a:endParaRPr lang="zh-CN" altLang="en-US" sz="1200" b="0">
              <a:solidFill>
                <a:srgbClr val="F84F41"/>
              </a:solidFill>
              <a:latin typeface="微软雅黑" charset="-122"/>
              <a:ea typeface="微软雅黑" charset="-122"/>
              <a:sym typeface="微软雅黑" charset="-122"/>
            </a:endParaRPr>
          </a:p>
        </p:txBody>
      </p:sp>
      <p:pic>
        <p:nvPicPr>
          <p:cNvPr id="1546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2350" y="1333500"/>
            <a:ext cx="6878638"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67590" name="矩形 15"/>
          <p:cNvSpPr/>
          <p:nvPr>
            <p:custDataLst>
              <p:tags r:id="rId5"/>
            </p:custDataLst>
          </p:nvPr>
        </p:nvSpPr>
        <p:spPr>
          <a:xfrm>
            <a:off x="9525000" y="0"/>
            <a:ext cx="3840163" cy="6858000"/>
          </a:xfrm>
          <a:prstGeom prst="rect">
            <a:avLst/>
          </a:prstGeom>
          <a:solidFill>
            <a:srgbClr val="FFFFFF"/>
          </a:solidFill>
          <a:ln w="12700" cap="flat" cmpd="sng">
            <a:solidFill>
              <a:srgbClr val="9B9B9B"/>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solidFill>
                <a:srgbClr val="FFFFFF"/>
              </a:solidFill>
              <a:ea typeface="宋体" pitchFamily="2" charset="-122"/>
            </a:endParaRPr>
          </a:p>
        </p:txBody>
      </p:sp>
      <p:sp>
        <p:nvSpPr>
          <p:cNvPr id="67591" name="文本框 20"/>
          <p:cNvSpPr txBox="1"/>
          <p:nvPr>
            <p:custDataLst>
              <p:tags r:id="rId6"/>
            </p:custDataLst>
          </p:nvPr>
        </p:nvSpPr>
        <p:spPr>
          <a:xfrm>
            <a:off x="9613900" y="6650038"/>
            <a:ext cx="3662363" cy="461962"/>
          </a:xfrm>
          <a:prstGeom prst="rect">
            <a:avLst/>
          </a:prstGeom>
          <a:solidFill>
            <a:srgbClr val="FBFAEF"/>
          </a:solidFill>
          <a:ln w="12700">
            <a:noFill/>
          </a:ln>
        </p:spPr>
        <p:txBody>
          <a:bodyPr anchor="ctr" anchorCtr="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200" b="0">
                <a:solidFill>
                  <a:srgbClr val="F84F41"/>
                </a:solidFill>
                <a:latin typeface="微软雅黑" charset="-122"/>
                <a:ea typeface="微软雅黑" charset="-122"/>
                <a:sym typeface="微软雅黑" charset="-122"/>
              </a:rPr>
              <a:t>可为此题添加文本、图片、公式等解析，且需将内容全部放在本区域内。正常使用需</a:t>
            </a:r>
            <a:r>
              <a:rPr lang="en-US" altLang="zh-CN" sz="1200" b="0">
                <a:solidFill>
                  <a:srgbClr val="F84F41"/>
                </a:solidFill>
                <a:latin typeface="微软雅黑" charset="-122"/>
                <a:ea typeface="微软雅黑" charset="-122"/>
                <a:sym typeface="微软雅黑" charset="-122"/>
              </a:rPr>
              <a:t>3.0</a:t>
            </a:r>
            <a:r>
              <a:rPr lang="zh-CN" altLang="en-US" sz="1200" b="0">
                <a:solidFill>
                  <a:srgbClr val="F84F41"/>
                </a:solidFill>
                <a:latin typeface="微软雅黑" charset="-122"/>
                <a:ea typeface="微软雅黑" charset="-122"/>
                <a:sym typeface="微软雅黑" charset="-122"/>
              </a:rPr>
              <a:t>以上版本</a:t>
            </a:r>
            <a:endParaRPr lang="zh-CN" altLang="en-US" sz="1200" b="0">
              <a:solidFill>
                <a:srgbClr val="F84F41"/>
              </a:solidFill>
              <a:latin typeface="微软雅黑" charset="-122"/>
              <a:ea typeface="微软雅黑" charset="-122"/>
              <a:sym typeface="微软雅黑" charset="-122"/>
            </a:endParaRPr>
          </a:p>
        </p:txBody>
      </p:sp>
      <p:sp>
        <p:nvSpPr>
          <p:cNvPr id="67592" name="文本框 21"/>
          <p:cNvSpPr txBox="1"/>
          <p:nvPr>
            <p:custDataLst>
              <p:tags r:id="rId7"/>
            </p:custDataLst>
          </p:nvPr>
        </p:nvSpPr>
        <p:spPr>
          <a:xfrm>
            <a:off x="9779000" y="1270000"/>
            <a:ext cx="3332163" cy="1905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solidFill>
                  <a:srgbClr val="000000"/>
                </a:solidFill>
                <a:latin typeface="微软雅黑" charset="-122"/>
                <a:ea typeface="微软雅黑" charset="-122"/>
                <a:sym typeface="微软雅黑" charset="-122"/>
              </a:rPr>
              <a:t>此处添加答案解析</a:t>
            </a:r>
            <a:endParaRPr lang="zh-CN" altLang="en-US" sz="2000" b="0">
              <a:solidFill>
                <a:srgbClr val="000000"/>
              </a:solidFill>
              <a:latin typeface="微软雅黑" charset="-122"/>
              <a:ea typeface="微软雅黑" charset="-122"/>
              <a:sym typeface="微软雅黑" charset="-122"/>
            </a:endParaRPr>
          </a:p>
        </p:txBody>
      </p:sp>
      <p:pic>
        <p:nvPicPr>
          <p:cNvPr id="2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69488" y="1092200"/>
            <a:ext cx="2960688" cy="150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4"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61550" y="2879725"/>
            <a:ext cx="2962275" cy="153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5"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04413" y="4724400"/>
            <a:ext cx="2936875" cy="1528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67596" name="组合 12"/>
          <p:cNvGrpSpPr/>
          <p:nvPr/>
        </p:nvGrpSpPr>
        <p:grpSpPr>
          <a:xfrm>
            <a:off x="0" y="0"/>
            <a:ext cx="9144000" cy="635000"/>
            <a:chOff x="0" y="0"/>
            <a:chExt cx="9144000" cy="635000"/>
          </a:xfrm>
        </p:grpSpPr>
        <p:sp>
          <p:nvSpPr>
            <p:cNvPr id="67602" name="TitleBackground"/>
            <p:cNvSpPr/>
            <p:nvPr>
              <p:custDataLst>
                <p:tags r:id="rId11"/>
              </p:custDataLst>
            </p:nvPr>
          </p:nvSpPr>
          <p:spPr>
            <a:xfrm>
              <a:off x="0" y="0"/>
              <a:ext cx="9144000" cy="635000"/>
            </a:xfrm>
            <a:prstGeom prst="rect">
              <a:avLst/>
            </a:prstGeom>
            <a:solidFill>
              <a:srgbClr val="F6F7F8"/>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67603" name="ColorBlock"/>
            <p:cNvSpPr/>
            <p:nvPr>
              <p:custDataLst>
                <p:tags r:id="rId12"/>
              </p:custDataLst>
            </p:nvPr>
          </p:nvSpPr>
          <p:spPr>
            <a:xfrm>
              <a:off x="0" y="0"/>
              <a:ext cx="190500" cy="635000"/>
            </a:xfrm>
            <a:prstGeom prst="rect">
              <a:avLst/>
            </a:prstGeom>
            <a:solidFill>
              <a:srgbClr val="639EF4"/>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67604" name="TypeText"/>
            <p:cNvSpPr txBox="1"/>
            <p:nvPr>
              <p:custDataLst>
                <p:tags r:id="rId13"/>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charset="-122"/>
                  <a:ea typeface="微软雅黑" charset="-122"/>
                  <a:sym typeface="微软雅黑" charset="-122"/>
                </a:rPr>
                <a:t>主观题</a:t>
              </a:r>
              <a:endParaRPr lang="zh-CN" altLang="en-US" sz="2600" b="0">
                <a:solidFill>
                  <a:srgbClr val="000000"/>
                </a:solidFill>
                <a:latin typeface="微软雅黑" charset="-122"/>
                <a:ea typeface="微软雅黑" charset="-122"/>
                <a:sym typeface="微软雅黑" charset="-122"/>
              </a:endParaRPr>
            </a:p>
          </p:txBody>
        </p:sp>
        <p:sp>
          <p:nvSpPr>
            <p:cNvPr id="67605" name="TipText"/>
            <p:cNvSpPr txBox="1"/>
            <p:nvPr>
              <p:custDataLst>
                <p:tags r:id="rId14"/>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charset="-122"/>
                  <a:ea typeface="微软雅黑" charset="-122"/>
                  <a:sym typeface="微软雅黑" charset="-122"/>
                </a:rPr>
                <a:t>10</a:t>
              </a:r>
              <a:r>
                <a:rPr lang="zh-CN" altLang="en-US" sz="2000" b="0">
                  <a:solidFill>
                    <a:srgbClr val="808080"/>
                  </a:solidFill>
                  <a:latin typeface="微软雅黑" charset="-122"/>
                  <a:ea typeface="微软雅黑" charset="-122"/>
                  <a:sym typeface="微软雅黑" charset="-122"/>
                </a:rPr>
                <a:t>分</a:t>
              </a:r>
              <a:endParaRPr lang="zh-CN" altLang="en-US" sz="2000" b="0">
                <a:solidFill>
                  <a:srgbClr val="808080"/>
                </a:solidFill>
                <a:latin typeface="微软雅黑" charset="-122"/>
                <a:ea typeface="微软雅黑" charset="-122"/>
                <a:sym typeface="微软雅黑" charset="-122"/>
              </a:endParaRPr>
            </a:p>
          </p:txBody>
        </p:sp>
      </p:grpSp>
      <p:grpSp>
        <p:nvGrpSpPr>
          <p:cNvPr id="67597" name="组合 19"/>
          <p:cNvGrpSpPr/>
          <p:nvPr/>
        </p:nvGrpSpPr>
        <p:grpSpPr>
          <a:xfrm>
            <a:off x="9537700" y="0"/>
            <a:ext cx="3814763" cy="647700"/>
            <a:chOff x="9537700" y="0"/>
            <a:chExt cx="3815080" cy="647700"/>
          </a:xfrm>
        </p:grpSpPr>
        <p:sp>
          <p:nvSpPr>
            <p:cNvPr id="67599" name="RemarkBack"/>
            <p:cNvSpPr/>
            <p:nvPr>
              <p:custDataLst>
                <p:tags r:id="rId15"/>
              </p:custDataLst>
            </p:nvPr>
          </p:nvSpPr>
          <p:spPr>
            <a:xfrm>
              <a:off x="9537700" y="12700"/>
              <a:ext cx="3815080" cy="635000"/>
            </a:xfrm>
            <a:prstGeom prst="rect">
              <a:avLst/>
            </a:prstGeom>
            <a:solidFill>
              <a:srgbClr val="F6F7F8"/>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67600" name="RemarkBlock"/>
            <p:cNvSpPr/>
            <p:nvPr>
              <p:custDataLst>
                <p:tags r:id="rId16"/>
              </p:custDataLst>
            </p:nvPr>
          </p:nvSpPr>
          <p:spPr>
            <a:xfrm>
              <a:off x="9537700" y="12700"/>
              <a:ext cx="190500" cy="635000"/>
            </a:xfrm>
            <a:prstGeom prst="rect">
              <a:avLst/>
            </a:prstGeom>
            <a:solidFill>
              <a:srgbClr val="639EF4"/>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67601" name="RemarkTitleText"/>
            <p:cNvSpPr txBox="1"/>
            <p:nvPr>
              <p:custDataLst>
                <p:tags r:id="rId17"/>
              </p:custDataLst>
            </p:nvPr>
          </p:nvSpPr>
          <p:spPr>
            <a:xfrm>
              <a:off x="9779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800" b="0">
                  <a:solidFill>
                    <a:srgbClr val="000000"/>
                  </a:solidFill>
                  <a:latin typeface="微软雅黑" charset="-122"/>
                  <a:ea typeface="微软雅黑" charset="-122"/>
                  <a:sym typeface="微软雅黑" charset="-122"/>
                </a:rPr>
                <a:t>答案解析</a:t>
              </a:r>
              <a:endParaRPr lang="zh-CN" altLang="en-US" sz="1800" b="0">
                <a:solidFill>
                  <a:srgbClr val="000000"/>
                </a:solidFill>
                <a:latin typeface="微软雅黑" charset="-122"/>
                <a:ea typeface="微软雅黑" charset="-122"/>
                <a:sym typeface="微软雅黑" charset="-122"/>
              </a:endParaRPr>
            </a:p>
          </p:txBody>
        </p:sp>
      </p:grpSp>
      <p:pic>
        <p:nvPicPr>
          <p:cNvPr id="67598" name="图片 5"/>
          <p:cNvPicPr/>
          <p:nvPr>
            <p:custDataLst>
              <p:tags r:id="rId18"/>
            </p:custDataLst>
          </p:nvPr>
        </p:nvPicPr>
        <p:blipFill>
          <a:blip r:embed="rId19"/>
          <a:stretch>
            <a:fillRect/>
          </a:stretch>
        </p:blipFill>
        <p:spPr>
          <a:xfrm>
            <a:off x="7594600" y="63500"/>
            <a:ext cx="1422400" cy="508000"/>
          </a:xfrm>
          <a:prstGeom prst="rect">
            <a:avLst/>
          </a:prstGeom>
          <a:noFill/>
          <a:ln w="9525">
            <a:noFill/>
          </a:ln>
        </p:spPr>
      </p:pic>
    </p:spTree>
    <p:custDataLst>
      <p:tags r:id="rId20"/>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68610"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118787" name="Rectangle 3"/>
          <p:cNvSpPr>
            <a:spLocks noGrp="1"/>
          </p:cNvSpPr>
          <p:nvPr>
            <p:ph idx="1"/>
          </p:nvPr>
        </p:nvSpPr>
        <p:spPr>
          <a:xfrm>
            <a:off x="1143000" y="1447800"/>
            <a:ext cx="7772400" cy="4648200"/>
          </a:xfrm>
        </p:spPr>
        <p:txBody>
          <a:bodyPr vert="horz" wrap="square" lIns="91440" tIns="45720" rIns="91440" bIns="45720" anchor="t" anchorCtr="0"/>
          <a:lstStyle/>
          <a:p>
            <a:pPr marL="0" indent="0" eaLnBrk="1" hangingPunct="1">
              <a:buFont typeface="Wingdings" panose="05000000000000000000" pitchFamily="2" charset="2"/>
              <a:buNone/>
            </a:pPr>
            <a:endParaRPr lang="en-US" altLang="zh-CN" sz="2400"/>
          </a:p>
        </p:txBody>
      </p:sp>
      <p:pic>
        <p:nvPicPr>
          <p:cNvPr id="15565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2350" y="1333500"/>
            <a:ext cx="6878638"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566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0863" y="3573463"/>
            <a:ext cx="5281613"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blinds(horizontal)">
                                      <p:cBhvr>
                                        <p:cTn id="7" dur="500"/>
                                        <p:tgtEl>
                                          <p:spTgt spid="11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6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ldLvl="2"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69634" name="Rectangle 2"/>
          <p:cNvSpPr>
            <a:spLocks noGrp="1"/>
          </p:cNvSpPr>
          <p:nvPr>
            <p:ph type="title"/>
          </p:nvPr>
        </p:nvSpPr>
        <p:spPr/>
        <p:txBody>
          <a:bodyPr vert="horz" wrap="square" lIns="91440" tIns="45720" rIns="91440" bIns="45720" anchor="b" anchorCtr="0"/>
          <a:lstStyle/>
          <a:p>
            <a:pPr eaLnBrk="1" hangingPunct="1"/>
            <a:r>
              <a:rPr lang="nb-NO" altLang="zh-CN"/>
              <a:t>5.</a:t>
            </a:r>
            <a:r>
              <a:rPr lang="en-US" altLang="zh-CN"/>
              <a:t>8</a:t>
            </a:r>
            <a:r>
              <a:rPr lang="nb-NO" altLang="zh-CN"/>
              <a:t>.</a:t>
            </a:r>
            <a:r>
              <a:rPr lang="en-US" altLang="zh-CN"/>
              <a:t>4</a:t>
            </a:r>
            <a:r>
              <a:rPr lang="zh-CN" altLang="en-US"/>
              <a:t>页面置换算法</a:t>
            </a:r>
            <a:endParaRPr lang="zh-CN" altLang="en-US"/>
          </a:p>
        </p:txBody>
      </p:sp>
      <p:sp>
        <p:nvSpPr>
          <p:cNvPr id="118787" name="Rectangle 3"/>
          <p:cNvSpPr>
            <a:spLocks noGrp="1"/>
          </p:cNvSpPr>
          <p:nvPr>
            <p:ph idx="1"/>
          </p:nvPr>
        </p:nvSpPr>
        <p:spPr>
          <a:xfrm>
            <a:off x="1143000" y="1447800"/>
            <a:ext cx="7772400" cy="4648200"/>
          </a:xfrm>
        </p:spPr>
        <p:txBody>
          <a:bodyPr vert="horz" wrap="square" lIns="91440" tIns="45720" rIns="91440" bIns="45720" anchor="t" anchorCtr="0"/>
          <a:lstStyle/>
          <a:p>
            <a:pPr marL="0" indent="0" eaLnBrk="1" hangingPunct="1">
              <a:buFont typeface="Wingdings" panose="05000000000000000000" pitchFamily="2" charset="2"/>
              <a:buNone/>
            </a:pPr>
            <a:endParaRPr lang="en-US" altLang="zh-CN" sz="2400"/>
          </a:p>
        </p:txBody>
      </p:sp>
      <p:pic>
        <p:nvPicPr>
          <p:cNvPr id="1576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43075" y="1268413"/>
            <a:ext cx="5060950" cy="261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576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9425" y="3910013"/>
            <a:ext cx="4983163" cy="259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blinds(horizontal)">
                                      <p:cBhvr>
                                        <p:cTn id="7" dur="500"/>
                                        <p:tgtEl>
                                          <p:spTgt spid="11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769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76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ldLvl="2"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3"/>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70658" name="文本框 6"/>
          <p:cNvSpPr txBox="1"/>
          <p:nvPr>
            <p:custDataLst>
              <p:tags r:id="rId1"/>
            </p:custDataLst>
          </p:nvPr>
        </p:nvSpPr>
        <p:spPr>
          <a:xfrm>
            <a:off x="914400" y="243840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ea typeface="宋体" pitchFamily="2" charset="-122"/>
              </a:rPr>
              <a:t>请求分页管理系统中，假设某进程的页表内容如下表所示： </a:t>
            </a:r>
            <a:endParaRPr lang="zh-CN" altLang="en-US" sz="600" b="0">
              <a:ea typeface="宋体" pitchFamily="2" charset="-122"/>
            </a:endParaRPr>
          </a:p>
          <a:p>
            <a:pPr marL="0" lvl="0" indent="0">
              <a:spcBef>
                <a:spcPct val="0"/>
              </a:spcBef>
              <a:buClrTx/>
              <a:buFontTx/>
              <a:buNone/>
            </a:pPr>
            <a:r>
              <a:rPr lang="zh-CN" altLang="en-US" sz="2000" b="0">
                <a:ea typeface="宋体" pitchFamily="2" charset="-122"/>
              </a:rPr>
              <a:t>  页面大小为</a:t>
            </a:r>
            <a:r>
              <a:rPr lang="en-US" altLang="zh-CN" sz="2000" b="0">
                <a:ea typeface="宋体" pitchFamily="2" charset="-122"/>
              </a:rPr>
              <a:t>4KB</a:t>
            </a:r>
            <a:r>
              <a:rPr lang="zh-CN" altLang="en-US" sz="2000" b="0">
                <a:ea typeface="宋体" pitchFamily="2" charset="-122"/>
              </a:rPr>
              <a:t>，一次内存的访问时间是</a:t>
            </a:r>
            <a:r>
              <a:rPr lang="en-US" altLang="zh-CN" sz="2000" b="0">
                <a:ea typeface="宋体" pitchFamily="2" charset="-122"/>
              </a:rPr>
              <a:t>100ns</a:t>
            </a:r>
            <a:r>
              <a:rPr lang="zh-CN" altLang="en-US" sz="2000" b="0">
                <a:ea typeface="宋体" pitchFamily="2" charset="-122"/>
              </a:rPr>
              <a:t>，一次快表（</a:t>
            </a:r>
            <a:r>
              <a:rPr lang="en-US" altLang="zh-CN" sz="2000" b="0">
                <a:ea typeface="宋体" pitchFamily="2" charset="-122"/>
              </a:rPr>
              <a:t>TLB</a:t>
            </a:r>
            <a:r>
              <a:rPr lang="zh-CN" altLang="en-US" sz="2000" b="0">
                <a:ea typeface="宋体" pitchFamily="2" charset="-122"/>
              </a:rPr>
              <a:t>）的访问时间是</a:t>
            </a:r>
            <a:r>
              <a:rPr lang="en-US" altLang="zh-CN" sz="2000" b="0">
                <a:ea typeface="宋体" pitchFamily="2" charset="-122"/>
              </a:rPr>
              <a:t>10ns</a:t>
            </a:r>
            <a:r>
              <a:rPr lang="zh-CN" altLang="en-US" sz="2000" b="0">
                <a:ea typeface="宋体" pitchFamily="2" charset="-122"/>
              </a:rPr>
              <a:t>，处理一次缺页的平均时间为</a:t>
            </a:r>
            <a:r>
              <a:rPr lang="en-US" altLang="zh-CN" sz="2000" b="0">
                <a:ea typeface="宋体" pitchFamily="2" charset="-122"/>
              </a:rPr>
              <a:t>10</a:t>
            </a:r>
            <a:r>
              <a:rPr lang="en-US" altLang="zh-CN" sz="2000" b="0" baseline="30000">
                <a:ea typeface="宋体" pitchFamily="2" charset="-122"/>
              </a:rPr>
              <a:t>8</a:t>
            </a:r>
            <a:r>
              <a:rPr lang="en-US" altLang="zh-CN" sz="2000" b="0">
                <a:ea typeface="宋体" pitchFamily="2" charset="-122"/>
              </a:rPr>
              <a:t>ns</a:t>
            </a:r>
            <a:r>
              <a:rPr lang="zh-CN" altLang="en-US" sz="2000" b="0">
                <a:ea typeface="宋体" pitchFamily="2" charset="-122"/>
              </a:rPr>
              <a:t>（已含更新</a:t>
            </a:r>
            <a:r>
              <a:rPr lang="en-US" altLang="zh-CN" sz="2000" b="0">
                <a:ea typeface="宋体" pitchFamily="2" charset="-122"/>
              </a:rPr>
              <a:t>TLB</a:t>
            </a:r>
            <a:r>
              <a:rPr lang="zh-CN" altLang="en-US" sz="2000" b="0">
                <a:ea typeface="宋体" pitchFamily="2" charset="-122"/>
              </a:rPr>
              <a:t>和页表的时间），进程的驻留集大小固定为</a:t>
            </a:r>
            <a:r>
              <a:rPr lang="en-US" altLang="zh-CN" sz="2000" b="0">
                <a:ea typeface="宋体" pitchFamily="2" charset="-122"/>
              </a:rPr>
              <a:t>2</a:t>
            </a:r>
            <a:r>
              <a:rPr lang="zh-CN" altLang="en-US" sz="2000" b="0">
                <a:ea typeface="宋体" pitchFamily="2" charset="-122"/>
              </a:rPr>
              <a:t>，采用最近最少使用置换算法（</a:t>
            </a:r>
            <a:r>
              <a:rPr lang="en-US" altLang="zh-CN" sz="2000" b="0">
                <a:ea typeface="宋体" pitchFamily="2" charset="-122"/>
              </a:rPr>
              <a:t>LRU</a:t>
            </a:r>
            <a:r>
              <a:rPr lang="zh-CN" altLang="en-US" sz="2000" b="0">
                <a:ea typeface="宋体" pitchFamily="2" charset="-122"/>
              </a:rPr>
              <a:t>）和局部淘汰策略。假设：①</a:t>
            </a:r>
            <a:r>
              <a:rPr lang="en-US" altLang="zh-CN" sz="2000" b="0">
                <a:ea typeface="宋体" pitchFamily="2" charset="-122"/>
              </a:rPr>
              <a:t>TLB</a:t>
            </a:r>
            <a:r>
              <a:rPr lang="zh-CN" altLang="en-US" sz="2000" b="0">
                <a:ea typeface="宋体" pitchFamily="2" charset="-122"/>
              </a:rPr>
              <a:t>初始为空②地址转换时先访问</a:t>
            </a:r>
            <a:r>
              <a:rPr lang="en-US" altLang="zh-CN" sz="2000" b="0">
                <a:ea typeface="宋体" pitchFamily="2" charset="-122"/>
              </a:rPr>
              <a:t>TLB</a:t>
            </a:r>
            <a:r>
              <a:rPr lang="zh-CN" altLang="en-US" sz="2000" b="0">
                <a:ea typeface="宋体" pitchFamily="2" charset="-122"/>
              </a:rPr>
              <a:t>，若</a:t>
            </a:r>
            <a:r>
              <a:rPr lang="en-US" altLang="zh-CN" sz="2000" b="0">
                <a:ea typeface="宋体" pitchFamily="2" charset="-122"/>
              </a:rPr>
              <a:t>TLB</a:t>
            </a:r>
            <a:r>
              <a:rPr lang="zh-CN" altLang="en-US" sz="2000" b="0">
                <a:ea typeface="宋体" pitchFamily="2" charset="-122"/>
              </a:rPr>
              <a:t>未命中，再访问页表（忽略访问页表之后的</a:t>
            </a:r>
            <a:r>
              <a:rPr lang="en-US" altLang="zh-CN" sz="2000" b="0">
                <a:ea typeface="宋体" pitchFamily="2" charset="-122"/>
              </a:rPr>
              <a:t>TLB</a:t>
            </a:r>
            <a:r>
              <a:rPr lang="zh-CN" altLang="en-US" sz="2000" b="0">
                <a:ea typeface="宋体" pitchFamily="2" charset="-122"/>
              </a:rPr>
              <a:t>更新时间）；③有效位为</a:t>
            </a:r>
            <a:r>
              <a:rPr lang="en-US" altLang="zh-CN" sz="2000" b="0">
                <a:ea typeface="宋体" pitchFamily="2" charset="-122"/>
              </a:rPr>
              <a:t>0</a:t>
            </a:r>
            <a:r>
              <a:rPr lang="zh-CN" altLang="en-US" sz="2000" b="0">
                <a:ea typeface="宋体" pitchFamily="2" charset="-122"/>
              </a:rPr>
              <a:t>表示页面不在内存，产生缺页中断，缺页中断处理后，返回到产生缺页中断的指令处重新执行。设有虚地址访问序列</a:t>
            </a:r>
            <a:r>
              <a:rPr lang="en-US" altLang="zh-CN" sz="2000" b="0">
                <a:ea typeface="宋体" pitchFamily="2" charset="-122"/>
              </a:rPr>
              <a:t>2362H</a:t>
            </a:r>
            <a:r>
              <a:rPr lang="zh-CN" altLang="en-US" sz="2000" b="0">
                <a:ea typeface="宋体" pitchFamily="2" charset="-122"/>
              </a:rPr>
              <a:t>、</a:t>
            </a:r>
            <a:r>
              <a:rPr lang="en-US" altLang="zh-CN" sz="2000" b="0">
                <a:ea typeface="宋体" pitchFamily="2" charset="-122"/>
              </a:rPr>
              <a:t>1565H</a:t>
            </a:r>
            <a:r>
              <a:rPr lang="zh-CN" altLang="en-US" sz="2000" b="0">
                <a:ea typeface="宋体" pitchFamily="2" charset="-122"/>
              </a:rPr>
              <a:t>、</a:t>
            </a:r>
            <a:r>
              <a:rPr lang="en-US" altLang="zh-CN" sz="2000" b="0">
                <a:ea typeface="宋体" pitchFamily="2" charset="-122"/>
              </a:rPr>
              <a:t>25A5H</a:t>
            </a:r>
            <a:r>
              <a:rPr lang="zh-CN" altLang="en-US" sz="2000" b="0">
                <a:ea typeface="宋体" pitchFamily="2" charset="-122"/>
              </a:rPr>
              <a:t>，请问：  （</a:t>
            </a:r>
            <a:r>
              <a:rPr lang="en-US" altLang="zh-CN" sz="2000" b="0">
                <a:ea typeface="宋体" pitchFamily="2" charset="-122"/>
              </a:rPr>
              <a:t>1</a:t>
            </a:r>
            <a:r>
              <a:rPr lang="zh-CN" altLang="en-US" sz="2000" b="0">
                <a:ea typeface="宋体" pitchFamily="2" charset="-122"/>
              </a:rPr>
              <a:t>） 依次访问上述三个虚地址，各需多少时间？给出计算过程。 （</a:t>
            </a:r>
            <a:r>
              <a:rPr lang="en-US" altLang="zh-CN" sz="2000" b="0">
                <a:ea typeface="宋体" pitchFamily="2" charset="-122"/>
              </a:rPr>
              <a:t>2</a:t>
            </a:r>
            <a:r>
              <a:rPr lang="zh-CN" altLang="en-US" sz="2000" b="0">
                <a:ea typeface="宋体" pitchFamily="2" charset="-122"/>
              </a:rPr>
              <a:t>） 基于上述访问序列，虚地址</a:t>
            </a:r>
            <a:r>
              <a:rPr lang="en-US" altLang="zh-CN" sz="2000" b="0">
                <a:ea typeface="宋体" pitchFamily="2" charset="-122"/>
              </a:rPr>
              <a:t>1565H</a:t>
            </a:r>
            <a:r>
              <a:rPr lang="zh-CN" altLang="en-US" sz="2000" b="0">
                <a:ea typeface="宋体" pitchFamily="2" charset="-122"/>
              </a:rPr>
              <a:t>的物理地址是多少？请说明理由。</a:t>
            </a:r>
            <a:endParaRPr lang="zh-CN" altLang="en-US" sz="2000" b="0">
              <a:solidFill>
                <a:srgbClr val="000000"/>
              </a:solidFill>
              <a:latin typeface="微软雅黑" charset="-122"/>
              <a:ea typeface="微软雅黑" charset="-122"/>
              <a:sym typeface="微软雅黑" charset="-122"/>
            </a:endParaRPr>
          </a:p>
        </p:txBody>
      </p:sp>
      <p:sp>
        <p:nvSpPr>
          <p:cNvPr id="70659" name="矩形: 圆角 7"/>
          <p:cNvSpPr/>
          <p:nvPr>
            <p:custDataLst>
              <p:tags r:id="rId2"/>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miter/>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solidFill>
                  <a:srgbClr val="FFFFFF"/>
                </a:solidFill>
                <a:latin typeface="微软雅黑" charset="-122"/>
                <a:ea typeface="微软雅黑" charset="-122"/>
                <a:sym typeface="微软雅黑" charset="-122"/>
              </a:rPr>
              <a:t>作答</a:t>
            </a:r>
            <a:endParaRPr lang="zh-CN" altLang="en-US" sz="1600" b="0">
              <a:solidFill>
                <a:srgbClr val="FFFFFF"/>
              </a:solidFill>
              <a:latin typeface="微软雅黑" charset="-122"/>
              <a:ea typeface="微软雅黑" charset="-122"/>
              <a:sym typeface="微软雅黑" charset="-122"/>
            </a:endParaRPr>
          </a:p>
        </p:txBody>
      </p:sp>
      <p:sp>
        <p:nvSpPr>
          <p:cNvPr id="70660" name="矩形 13"/>
          <p:cNvSpPr/>
          <p:nvPr>
            <p:custDataLst>
              <p:tags r:id="rId3"/>
            </p:custDataLst>
          </p:nvPr>
        </p:nvSpPr>
        <p:spPr>
          <a:xfrm>
            <a:off x="0" y="5849938"/>
            <a:ext cx="9144000" cy="365125"/>
          </a:xfrm>
          <a:prstGeom prst="rect">
            <a:avLst/>
          </a:prstGeom>
          <a:solidFill>
            <a:srgbClr val="FBFAEF"/>
          </a:solidFill>
          <a:ln w="9525">
            <a:noFill/>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200" b="0">
                <a:solidFill>
                  <a:srgbClr val="F84F41"/>
                </a:solidFill>
                <a:latin typeface="微软雅黑" charset="-122"/>
                <a:ea typeface="微软雅黑" charset="-122"/>
                <a:sym typeface="微软雅黑" charset="-122"/>
              </a:rPr>
              <a:t>正常使用主观题需</a:t>
            </a:r>
            <a:r>
              <a:rPr lang="en-US" altLang="zh-CN" sz="1200" b="0">
                <a:solidFill>
                  <a:srgbClr val="F84F41"/>
                </a:solidFill>
                <a:latin typeface="微软雅黑" charset="-122"/>
                <a:ea typeface="微软雅黑" charset="-122"/>
                <a:sym typeface="微软雅黑" charset="-122"/>
              </a:rPr>
              <a:t>2.0</a:t>
            </a:r>
            <a:r>
              <a:rPr lang="zh-CN" altLang="en-US" sz="1200" b="0">
                <a:solidFill>
                  <a:srgbClr val="F84F41"/>
                </a:solidFill>
                <a:latin typeface="微软雅黑" charset="-122"/>
                <a:ea typeface="微软雅黑" charset="-122"/>
                <a:sym typeface="微软雅黑" charset="-122"/>
              </a:rPr>
              <a:t>以上版本雨课堂</a:t>
            </a:r>
            <a:endParaRPr lang="zh-CN" altLang="en-US" sz="1200" b="0">
              <a:solidFill>
                <a:srgbClr val="F84F41"/>
              </a:solidFill>
              <a:latin typeface="微软雅黑" charset="-122"/>
              <a:ea typeface="微软雅黑" charset="-122"/>
              <a:sym typeface="微软雅黑" charset="-122"/>
            </a:endParaRPr>
          </a:p>
        </p:txBody>
      </p:sp>
      <p:pic>
        <p:nvPicPr>
          <p:cNvPr id="70661" name="图片 14"/>
          <p:cNvPicPr>
            <a:picLocks noChangeAspect="1"/>
          </p:cNvPicPr>
          <p:nvPr/>
        </p:nvPicPr>
        <p:blipFill>
          <a:blip r:embed="rId4"/>
          <a:stretch>
            <a:fillRect/>
          </a:stretch>
        </p:blipFill>
        <p:spPr>
          <a:xfrm>
            <a:off x="1106488" y="5329238"/>
            <a:ext cx="3829050" cy="1133475"/>
          </a:xfrm>
          <a:prstGeom prst="rect">
            <a:avLst/>
          </a:prstGeom>
          <a:noFill/>
          <a:ln w="9525">
            <a:noFill/>
          </a:ln>
        </p:spPr>
      </p:pic>
      <p:sp>
        <p:nvSpPr>
          <p:cNvPr id="70662" name="矩形 15"/>
          <p:cNvSpPr/>
          <p:nvPr>
            <p:custDataLst>
              <p:tags r:id="rId5"/>
            </p:custDataLst>
          </p:nvPr>
        </p:nvSpPr>
        <p:spPr>
          <a:xfrm>
            <a:off x="9525000" y="0"/>
            <a:ext cx="3840163" cy="6858000"/>
          </a:xfrm>
          <a:prstGeom prst="rect">
            <a:avLst/>
          </a:prstGeom>
          <a:solidFill>
            <a:srgbClr val="FFFFFF"/>
          </a:solidFill>
          <a:ln w="12700" cap="flat" cmpd="sng">
            <a:solidFill>
              <a:srgbClr val="9B9B9B"/>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solidFill>
                <a:srgbClr val="FFFFFF"/>
              </a:solidFill>
              <a:ea typeface="宋体" pitchFamily="2" charset="-122"/>
            </a:endParaRPr>
          </a:p>
        </p:txBody>
      </p:sp>
      <p:sp>
        <p:nvSpPr>
          <p:cNvPr id="70663" name="文本框 20"/>
          <p:cNvSpPr txBox="1"/>
          <p:nvPr>
            <p:custDataLst>
              <p:tags r:id="rId6"/>
            </p:custDataLst>
          </p:nvPr>
        </p:nvSpPr>
        <p:spPr>
          <a:xfrm>
            <a:off x="9613900" y="6650038"/>
            <a:ext cx="3662363" cy="461962"/>
          </a:xfrm>
          <a:prstGeom prst="rect">
            <a:avLst/>
          </a:prstGeom>
          <a:solidFill>
            <a:srgbClr val="FBFAEF"/>
          </a:solidFill>
          <a:ln w="12700">
            <a:noFill/>
          </a:ln>
        </p:spPr>
        <p:txBody>
          <a:bodyPr anchor="ctr" anchorCtr="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200" b="0">
                <a:solidFill>
                  <a:srgbClr val="F84F41"/>
                </a:solidFill>
                <a:latin typeface="微软雅黑" charset="-122"/>
                <a:ea typeface="微软雅黑" charset="-122"/>
                <a:sym typeface="微软雅黑" charset="-122"/>
              </a:rPr>
              <a:t>可为此题添加文本、图片、公式等解析，且需将内容全部放在本区域内。正常使用需</a:t>
            </a:r>
            <a:r>
              <a:rPr lang="en-US" altLang="zh-CN" sz="1200" b="0">
                <a:solidFill>
                  <a:srgbClr val="F84F41"/>
                </a:solidFill>
                <a:latin typeface="微软雅黑" charset="-122"/>
                <a:ea typeface="微软雅黑" charset="-122"/>
                <a:sym typeface="微软雅黑" charset="-122"/>
              </a:rPr>
              <a:t>3.0</a:t>
            </a:r>
            <a:r>
              <a:rPr lang="zh-CN" altLang="en-US" sz="1200" b="0">
                <a:solidFill>
                  <a:srgbClr val="F84F41"/>
                </a:solidFill>
                <a:latin typeface="微软雅黑" charset="-122"/>
                <a:ea typeface="微软雅黑" charset="-122"/>
                <a:sym typeface="微软雅黑" charset="-122"/>
              </a:rPr>
              <a:t>以上版本</a:t>
            </a:r>
            <a:endParaRPr lang="zh-CN" altLang="en-US" sz="1200" b="0">
              <a:solidFill>
                <a:srgbClr val="F84F41"/>
              </a:solidFill>
              <a:latin typeface="微软雅黑" charset="-122"/>
              <a:ea typeface="微软雅黑" charset="-122"/>
              <a:sym typeface="微软雅黑" charset="-122"/>
            </a:endParaRPr>
          </a:p>
        </p:txBody>
      </p:sp>
      <p:sp>
        <p:nvSpPr>
          <p:cNvPr id="70664" name="文本框 21"/>
          <p:cNvSpPr txBox="1"/>
          <p:nvPr>
            <p:custDataLst>
              <p:tags r:id="rId7"/>
            </p:custDataLst>
          </p:nvPr>
        </p:nvSpPr>
        <p:spPr>
          <a:xfrm>
            <a:off x="9779000" y="635000"/>
            <a:ext cx="3332163" cy="5588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2000" b="0">
                <a:ea typeface="宋体" pitchFamily="2" charset="-122"/>
              </a:rPr>
              <a:t>解：</a:t>
            </a:r>
            <a:r>
              <a:rPr lang="en-US" altLang="zh-CN" sz="2000" b="0">
                <a:ea typeface="宋体" pitchFamily="2" charset="-122"/>
              </a:rPr>
              <a:t>(1)2362H</a:t>
            </a:r>
            <a:r>
              <a:rPr lang="zh-CN" altLang="en-US" sz="2000" b="0">
                <a:ea typeface="宋体" pitchFamily="2" charset="-122"/>
              </a:rPr>
              <a:t>：页号</a:t>
            </a:r>
            <a:r>
              <a:rPr lang="en-US" altLang="zh-CN" sz="2000" b="0">
                <a:ea typeface="宋体" pitchFamily="2" charset="-122"/>
              </a:rPr>
              <a:t>2</a:t>
            </a:r>
            <a:r>
              <a:rPr lang="zh-CN" altLang="en-US" sz="2000" b="0">
                <a:ea typeface="宋体" pitchFamily="2" charset="-122"/>
              </a:rPr>
              <a:t>，页内地址</a:t>
            </a:r>
            <a:r>
              <a:rPr lang="en-US" altLang="zh-CN" sz="2000" b="0">
                <a:ea typeface="宋体" pitchFamily="2" charset="-122"/>
              </a:rPr>
              <a:t>362H</a:t>
            </a:r>
            <a:r>
              <a:rPr lang="zh-CN" altLang="en-US" sz="2000" b="0">
                <a:ea typeface="宋体" pitchFamily="2" charset="-122"/>
              </a:rPr>
              <a:t>。由页表知，此页在内存。访问时间：</a:t>
            </a:r>
            <a:r>
              <a:rPr lang="en-US" altLang="zh-CN" sz="2000" b="0">
                <a:ea typeface="宋体" pitchFamily="2" charset="-122"/>
              </a:rPr>
              <a:t>10 ns +100 ns +100 ns =210ns </a:t>
            </a:r>
            <a:endParaRPr lang="en-US" altLang="zh-CN" sz="2000" b="0">
              <a:ea typeface="宋体" pitchFamily="2" charset="-122"/>
            </a:endParaRPr>
          </a:p>
          <a:p>
            <a:pPr marL="0" lvl="0" indent="0" eaLnBrk="1" hangingPunct="1">
              <a:spcBef>
                <a:spcPct val="0"/>
              </a:spcBef>
              <a:buClrTx/>
              <a:buFontTx/>
              <a:buNone/>
            </a:pPr>
            <a:r>
              <a:rPr lang="en-US" altLang="zh-CN" sz="2000" b="0">
                <a:ea typeface="宋体" pitchFamily="2" charset="-122"/>
              </a:rPr>
              <a:t>1565H: </a:t>
            </a:r>
            <a:r>
              <a:rPr lang="zh-CN" altLang="en-US" sz="2000" b="0">
                <a:ea typeface="宋体" pitchFamily="2" charset="-122"/>
              </a:rPr>
              <a:t>页号</a:t>
            </a:r>
            <a:r>
              <a:rPr lang="en-US" altLang="zh-CN" sz="2000" b="0">
                <a:ea typeface="宋体" pitchFamily="2" charset="-122"/>
              </a:rPr>
              <a:t>1</a:t>
            </a:r>
            <a:r>
              <a:rPr lang="zh-CN" altLang="en-US" sz="2000" b="0">
                <a:ea typeface="宋体" pitchFamily="2" charset="-122"/>
              </a:rPr>
              <a:t>，页内地址</a:t>
            </a:r>
            <a:r>
              <a:rPr lang="en-US" altLang="zh-CN" sz="2000" b="0">
                <a:ea typeface="宋体" pitchFamily="2" charset="-122"/>
              </a:rPr>
              <a:t>565H</a:t>
            </a:r>
            <a:r>
              <a:rPr lang="zh-CN" altLang="en-US" sz="2000" b="0">
                <a:ea typeface="宋体" pitchFamily="2" charset="-122"/>
              </a:rPr>
              <a:t>。由页表知，此页不在内存。访问时间：</a:t>
            </a:r>
            <a:r>
              <a:rPr lang="en-US" altLang="zh-CN" sz="2000" b="0">
                <a:ea typeface="宋体" pitchFamily="2" charset="-122"/>
              </a:rPr>
              <a:t>10 ns +100 ns +10</a:t>
            </a:r>
            <a:r>
              <a:rPr lang="en-US" altLang="zh-CN" sz="2000" b="0" baseline="30000">
                <a:ea typeface="宋体" pitchFamily="2" charset="-122"/>
              </a:rPr>
              <a:t>8</a:t>
            </a:r>
            <a:r>
              <a:rPr lang="en-US" altLang="zh-CN" sz="2000" b="0">
                <a:ea typeface="宋体" pitchFamily="2" charset="-122"/>
              </a:rPr>
              <a:t>ns+100 ns≈10</a:t>
            </a:r>
            <a:r>
              <a:rPr lang="en-US" altLang="zh-CN" sz="2000" b="0" baseline="30000">
                <a:ea typeface="宋体" pitchFamily="2" charset="-122"/>
              </a:rPr>
              <a:t>8</a:t>
            </a:r>
            <a:r>
              <a:rPr lang="en-US" altLang="zh-CN" sz="2000" b="0">
                <a:ea typeface="宋体" pitchFamily="2" charset="-122"/>
              </a:rPr>
              <a:t> ns</a:t>
            </a:r>
            <a:endParaRPr lang="en-US" altLang="zh-CN" sz="2000" b="0">
              <a:ea typeface="宋体" pitchFamily="2" charset="-122"/>
            </a:endParaRPr>
          </a:p>
          <a:p>
            <a:pPr marL="0" lvl="0" indent="0" eaLnBrk="1" hangingPunct="1">
              <a:spcBef>
                <a:spcPct val="0"/>
              </a:spcBef>
              <a:buClrTx/>
              <a:buFontTx/>
              <a:buNone/>
            </a:pPr>
            <a:r>
              <a:rPr lang="en-US" altLang="zh-CN" sz="2000" b="0">
                <a:ea typeface="宋体" pitchFamily="2" charset="-122"/>
              </a:rPr>
              <a:t>25A5H: </a:t>
            </a:r>
            <a:r>
              <a:rPr lang="zh-CN" altLang="en-US" sz="2000" b="0">
                <a:ea typeface="宋体" pitchFamily="2" charset="-122"/>
              </a:rPr>
              <a:t>页号</a:t>
            </a:r>
            <a:r>
              <a:rPr lang="en-US" altLang="zh-CN" sz="2000" b="0">
                <a:ea typeface="宋体" pitchFamily="2" charset="-122"/>
              </a:rPr>
              <a:t>2</a:t>
            </a:r>
            <a:r>
              <a:rPr lang="zh-CN" altLang="en-US" sz="2000" b="0">
                <a:ea typeface="宋体" pitchFamily="2" charset="-122"/>
              </a:rPr>
              <a:t>，页内地址</a:t>
            </a:r>
            <a:r>
              <a:rPr lang="en-US" altLang="zh-CN" sz="2000" b="0">
                <a:ea typeface="宋体" pitchFamily="2" charset="-122"/>
              </a:rPr>
              <a:t>5A5H</a:t>
            </a:r>
            <a:r>
              <a:rPr lang="zh-CN" altLang="en-US" sz="2000" b="0">
                <a:ea typeface="宋体" pitchFamily="2" charset="-122"/>
              </a:rPr>
              <a:t>。由页表项已放入快表。访问时间：</a:t>
            </a:r>
            <a:r>
              <a:rPr lang="en-US" altLang="zh-CN" sz="2000" b="0">
                <a:ea typeface="宋体" pitchFamily="2" charset="-122"/>
              </a:rPr>
              <a:t>10 ns +100 ns =110ns</a:t>
            </a:r>
            <a:endParaRPr lang="en-US" altLang="zh-CN" sz="2000" b="0">
              <a:ea typeface="宋体" pitchFamily="2" charset="-122"/>
            </a:endParaRPr>
          </a:p>
          <a:p>
            <a:pPr marL="0" lvl="0" indent="0" eaLnBrk="1" hangingPunct="1">
              <a:spcBef>
                <a:spcPct val="0"/>
              </a:spcBef>
              <a:buClrTx/>
              <a:buFontTx/>
              <a:buNone/>
            </a:pPr>
            <a:r>
              <a:rPr lang="en-US" altLang="zh-CN" sz="2000" b="0">
                <a:ea typeface="宋体" pitchFamily="2" charset="-122"/>
              </a:rPr>
              <a:t>(2) 1565H: </a:t>
            </a:r>
            <a:r>
              <a:rPr lang="zh-CN" altLang="en-US" sz="2000" b="0">
                <a:ea typeface="宋体" pitchFamily="2" charset="-122"/>
              </a:rPr>
              <a:t>页号</a:t>
            </a:r>
            <a:r>
              <a:rPr lang="en-US" altLang="zh-CN" sz="2000" b="0">
                <a:ea typeface="宋体" pitchFamily="2" charset="-122"/>
              </a:rPr>
              <a:t>1</a:t>
            </a:r>
            <a:r>
              <a:rPr lang="zh-CN" altLang="en-US" sz="2000" b="0">
                <a:ea typeface="宋体" pitchFamily="2" charset="-122"/>
              </a:rPr>
              <a:t>，页内地址</a:t>
            </a:r>
            <a:r>
              <a:rPr lang="en-US" altLang="zh-CN" sz="2000" b="0">
                <a:ea typeface="宋体" pitchFamily="2" charset="-122"/>
              </a:rPr>
              <a:t>565H</a:t>
            </a:r>
            <a:r>
              <a:rPr lang="zh-CN" altLang="en-US" sz="2000" b="0">
                <a:ea typeface="宋体" pitchFamily="2" charset="-122"/>
              </a:rPr>
              <a:t>。此页不在内存，把</a:t>
            </a:r>
            <a:r>
              <a:rPr lang="en-US" altLang="zh-CN" sz="2000" b="0">
                <a:ea typeface="宋体" pitchFamily="2" charset="-122"/>
              </a:rPr>
              <a:t>0</a:t>
            </a:r>
            <a:r>
              <a:rPr lang="zh-CN" altLang="en-US" sz="2000" b="0">
                <a:ea typeface="宋体" pitchFamily="2" charset="-122"/>
              </a:rPr>
              <a:t>号页面换出，</a:t>
            </a:r>
            <a:r>
              <a:rPr lang="en-US" altLang="zh-CN" sz="2000" b="0">
                <a:ea typeface="宋体" pitchFamily="2" charset="-122"/>
              </a:rPr>
              <a:t>1</a:t>
            </a:r>
            <a:r>
              <a:rPr lang="zh-CN" altLang="en-US" sz="2000" b="0">
                <a:ea typeface="宋体" pitchFamily="2" charset="-122"/>
              </a:rPr>
              <a:t>号页面放入</a:t>
            </a:r>
            <a:r>
              <a:rPr lang="en-US" altLang="zh-CN" sz="2000">
                <a:ea typeface="宋体" pitchFamily="2" charset="-122"/>
              </a:rPr>
              <a:t>101H</a:t>
            </a:r>
            <a:r>
              <a:rPr lang="zh-CN" altLang="en-US" sz="2000">
                <a:ea typeface="宋体" pitchFamily="2" charset="-122"/>
              </a:rPr>
              <a:t>页框，所以物理地址为</a:t>
            </a:r>
            <a:r>
              <a:rPr lang="en-US" altLang="zh-CN" sz="2000">
                <a:ea typeface="宋体" pitchFamily="2" charset="-122"/>
              </a:rPr>
              <a:t>101565H</a:t>
            </a:r>
            <a:r>
              <a:rPr lang="zh-CN" altLang="en-US" sz="2000">
                <a:ea typeface="宋体" pitchFamily="2" charset="-122"/>
              </a:rPr>
              <a:t>。</a:t>
            </a:r>
            <a:endParaRPr lang="zh-CN" altLang="en-US" sz="2000" b="0">
              <a:solidFill>
                <a:srgbClr val="000000"/>
              </a:solidFill>
              <a:latin typeface="微软雅黑" charset="-122"/>
              <a:ea typeface="微软雅黑" charset="-122"/>
              <a:sym typeface="微软雅黑" charset="-122"/>
            </a:endParaRPr>
          </a:p>
        </p:txBody>
      </p:sp>
      <p:grpSp>
        <p:nvGrpSpPr>
          <p:cNvPr id="70665" name="组合 12"/>
          <p:cNvGrpSpPr/>
          <p:nvPr/>
        </p:nvGrpSpPr>
        <p:grpSpPr>
          <a:xfrm>
            <a:off x="0" y="0"/>
            <a:ext cx="9144000" cy="635000"/>
            <a:chOff x="0" y="0"/>
            <a:chExt cx="9144000" cy="635000"/>
          </a:xfrm>
        </p:grpSpPr>
        <p:sp>
          <p:nvSpPr>
            <p:cNvPr id="70671" name="TitleBackground"/>
            <p:cNvSpPr/>
            <p:nvPr>
              <p:custDataLst>
                <p:tags r:id="rId8"/>
              </p:custDataLst>
            </p:nvPr>
          </p:nvSpPr>
          <p:spPr>
            <a:xfrm>
              <a:off x="0" y="0"/>
              <a:ext cx="9144000" cy="635000"/>
            </a:xfrm>
            <a:prstGeom prst="rect">
              <a:avLst/>
            </a:prstGeom>
            <a:solidFill>
              <a:srgbClr val="F6F7F8"/>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70672" name="ColorBlock"/>
            <p:cNvSpPr/>
            <p:nvPr>
              <p:custDataLst>
                <p:tags r:id="rId9"/>
              </p:custDataLst>
            </p:nvPr>
          </p:nvSpPr>
          <p:spPr>
            <a:xfrm>
              <a:off x="0" y="0"/>
              <a:ext cx="190500" cy="635000"/>
            </a:xfrm>
            <a:prstGeom prst="rect">
              <a:avLst/>
            </a:prstGeom>
            <a:solidFill>
              <a:srgbClr val="639EF4"/>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70673" name="TypeText"/>
            <p:cNvSpPr txBox="1"/>
            <p:nvPr>
              <p:custDataLst>
                <p:tags r:id="rId10"/>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charset="-122"/>
                  <a:ea typeface="微软雅黑" charset="-122"/>
                  <a:sym typeface="微软雅黑" charset="-122"/>
                </a:rPr>
                <a:t>主观题</a:t>
              </a:r>
              <a:endParaRPr lang="zh-CN" altLang="en-US" sz="2600" b="0">
                <a:solidFill>
                  <a:srgbClr val="000000"/>
                </a:solidFill>
                <a:latin typeface="微软雅黑" charset="-122"/>
                <a:ea typeface="微软雅黑" charset="-122"/>
                <a:sym typeface="微软雅黑" charset="-122"/>
              </a:endParaRPr>
            </a:p>
          </p:txBody>
        </p:sp>
        <p:sp>
          <p:nvSpPr>
            <p:cNvPr id="70674" name="TipText"/>
            <p:cNvSpPr txBox="1"/>
            <p:nvPr>
              <p:custDataLst>
                <p:tags r:id="rId11"/>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charset="-122"/>
                  <a:ea typeface="微软雅黑" charset="-122"/>
                  <a:sym typeface="微软雅黑" charset="-122"/>
                </a:rPr>
                <a:t>10</a:t>
              </a:r>
              <a:r>
                <a:rPr lang="zh-CN" altLang="en-US" sz="2000" b="0">
                  <a:solidFill>
                    <a:srgbClr val="808080"/>
                  </a:solidFill>
                  <a:latin typeface="微软雅黑" charset="-122"/>
                  <a:ea typeface="微软雅黑" charset="-122"/>
                  <a:sym typeface="微软雅黑" charset="-122"/>
                </a:rPr>
                <a:t>分</a:t>
              </a:r>
              <a:endParaRPr lang="zh-CN" altLang="en-US" sz="2000" b="0">
                <a:solidFill>
                  <a:srgbClr val="808080"/>
                </a:solidFill>
                <a:latin typeface="微软雅黑" charset="-122"/>
                <a:ea typeface="微软雅黑" charset="-122"/>
                <a:sym typeface="微软雅黑" charset="-122"/>
              </a:endParaRPr>
            </a:p>
          </p:txBody>
        </p:sp>
      </p:grpSp>
      <p:grpSp>
        <p:nvGrpSpPr>
          <p:cNvPr id="70666" name="组合 19"/>
          <p:cNvGrpSpPr/>
          <p:nvPr/>
        </p:nvGrpSpPr>
        <p:grpSpPr>
          <a:xfrm>
            <a:off x="9537700" y="0"/>
            <a:ext cx="3814763" cy="647700"/>
            <a:chOff x="9537700" y="0"/>
            <a:chExt cx="3815080" cy="647700"/>
          </a:xfrm>
        </p:grpSpPr>
        <p:sp>
          <p:nvSpPr>
            <p:cNvPr id="70668" name="RemarkBack"/>
            <p:cNvSpPr/>
            <p:nvPr>
              <p:custDataLst>
                <p:tags r:id="rId12"/>
              </p:custDataLst>
            </p:nvPr>
          </p:nvSpPr>
          <p:spPr>
            <a:xfrm>
              <a:off x="9537700" y="12700"/>
              <a:ext cx="3815080" cy="635000"/>
            </a:xfrm>
            <a:prstGeom prst="rect">
              <a:avLst/>
            </a:prstGeom>
            <a:solidFill>
              <a:srgbClr val="F6F7F8"/>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70669" name="RemarkBlock"/>
            <p:cNvSpPr/>
            <p:nvPr>
              <p:custDataLst>
                <p:tags r:id="rId13"/>
              </p:custDataLst>
            </p:nvPr>
          </p:nvSpPr>
          <p:spPr>
            <a:xfrm>
              <a:off x="9537700" y="12700"/>
              <a:ext cx="190500" cy="635000"/>
            </a:xfrm>
            <a:prstGeom prst="rect">
              <a:avLst/>
            </a:prstGeom>
            <a:solidFill>
              <a:srgbClr val="639EF4"/>
            </a:solidFill>
            <a:ln w="9525">
              <a:noFill/>
            </a:ln>
          </p:spPr>
          <p:txBody>
            <a:bodyPr wrap="none"/>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2400" b="0">
                <a:ea typeface="宋体" pitchFamily="2" charset="-122"/>
              </a:endParaRPr>
            </a:p>
          </p:txBody>
        </p:sp>
        <p:sp>
          <p:nvSpPr>
            <p:cNvPr id="70670" name="RemarkTitleText"/>
            <p:cNvSpPr txBox="1"/>
            <p:nvPr>
              <p:custDataLst>
                <p:tags r:id="rId14"/>
              </p:custDataLst>
            </p:nvPr>
          </p:nvSpPr>
          <p:spPr>
            <a:xfrm>
              <a:off x="9779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800" b="0">
                  <a:solidFill>
                    <a:srgbClr val="000000"/>
                  </a:solidFill>
                  <a:latin typeface="微软雅黑" charset="-122"/>
                  <a:ea typeface="微软雅黑" charset="-122"/>
                  <a:sym typeface="微软雅黑" charset="-122"/>
                </a:rPr>
                <a:t>答案解析</a:t>
              </a:r>
              <a:endParaRPr lang="zh-CN" altLang="en-US" sz="1800" b="0">
                <a:solidFill>
                  <a:srgbClr val="000000"/>
                </a:solidFill>
                <a:latin typeface="微软雅黑" charset="-122"/>
                <a:ea typeface="微软雅黑" charset="-122"/>
                <a:sym typeface="微软雅黑" charset="-122"/>
              </a:endParaRPr>
            </a:p>
          </p:txBody>
        </p:sp>
      </p:grpSp>
      <p:pic>
        <p:nvPicPr>
          <p:cNvPr id="70667" name="图片 5"/>
          <p:cNvPicPr/>
          <p:nvPr>
            <p:custDataLst>
              <p:tags r:id="rId15"/>
            </p:custDataLst>
          </p:nvPr>
        </p:nvPicPr>
        <p:blipFill>
          <a:blip r:embed="rId16"/>
          <a:stretch>
            <a:fillRect/>
          </a:stretch>
        </p:blipFill>
        <p:spPr>
          <a:xfrm>
            <a:off x="7594600" y="63500"/>
            <a:ext cx="1422400" cy="508000"/>
          </a:xfrm>
          <a:prstGeom prst="rect">
            <a:avLst/>
          </a:prstGeom>
          <a:noFill/>
          <a:ln w="9525">
            <a:noFill/>
          </a:ln>
        </p:spPr>
      </p:pic>
    </p:spTree>
    <p:custDataLst>
      <p:tags r:id="rId17"/>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graphicFrame>
        <p:nvGraphicFramePr>
          <p:cNvPr id="71682" name="表格 71681"/>
          <p:cNvGraphicFramePr/>
          <p:nvPr/>
        </p:nvGraphicFramePr>
        <p:xfrm>
          <a:off x="2689225" y="4581525"/>
          <a:ext cx="3395663" cy="696913"/>
        </p:xfrm>
        <a:graphic>
          <a:graphicData uri="http://schemas.openxmlformats.org/drawingml/2006/table">
            <a:tbl>
              <a:tblPr/>
              <a:tblGrid>
                <a:gridCol w="673100"/>
                <a:gridCol w="858838"/>
                <a:gridCol w="1863725"/>
              </a:tblGrid>
              <a:tr h="168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zh-CN" altLang="zh-CN" sz="900" b="1">
                          <a:solidFill>
                            <a:srgbClr val="FFFFFF"/>
                          </a:solidFill>
                          <a:latin typeface="Times New Roman" panose="02020503050405090304" pitchFamily="18" charset="0"/>
                          <a:ea typeface="楷体_GB2312" pitchFamily="49" charset="-122"/>
                        </a:rPr>
                        <a:t>页号</a:t>
                      </a:r>
                      <a:endParaRPr lang="zh-CN" altLang="zh-CN" sz="1000" b="1">
                        <a:solidFill>
                          <a:srgbClr val="FFFFFF"/>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zh-CN" altLang="zh-CN" sz="900" b="1">
                          <a:solidFill>
                            <a:srgbClr val="FFFFFF"/>
                          </a:solidFill>
                          <a:latin typeface="Times New Roman" panose="02020503050405090304" pitchFamily="18" charset="0"/>
                          <a:ea typeface="楷体_GB2312" pitchFamily="49" charset="-122"/>
                        </a:rPr>
                        <a:t>页框号</a:t>
                      </a:r>
                      <a:endParaRPr lang="zh-CN" altLang="zh-CN" sz="1000" b="1">
                        <a:solidFill>
                          <a:srgbClr val="FFFFFF"/>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zh-CN" altLang="zh-CN" sz="900" b="1">
                          <a:solidFill>
                            <a:srgbClr val="FFFFFF"/>
                          </a:solidFill>
                          <a:latin typeface="Times New Roman" panose="02020503050405090304" pitchFamily="18" charset="0"/>
                          <a:ea typeface="楷体_GB2312" pitchFamily="49" charset="-122"/>
                        </a:rPr>
                        <a:t>有效位（存在位）</a:t>
                      </a:r>
                      <a:endParaRPr lang="zh-CN" altLang="zh-CN" sz="1000" b="1">
                        <a:solidFill>
                          <a:srgbClr val="FFFFFF"/>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r>
              <a:tr h="176213">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en-US" altLang="zh-CN" sz="900" b="1">
                          <a:solidFill>
                            <a:srgbClr val="FFFFFF"/>
                          </a:solidFill>
                          <a:latin typeface="Times New Roman" panose="02020503050405090304" pitchFamily="18" charset="0"/>
                          <a:ea typeface="楷体_GB2312" pitchFamily="49" charset="-122"/>
                        </a:rPr>
                        <a:t>0</a:t>
                      </a:r>
                      <a:endParaRPr lang="zh-CN" altLang="zh-CN" sz="1000" b="1">
                        <a:solidFill>
                          <a:srgbClr val="FFFFFF"/>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503050405090304" pitchFamily="18" charset="0"/>
                          <a:ea typeface="楷体_GB2312" pitchFamily="49" charset="-122"/>
                        </a:rPr>
                        <a:t>101H</a:t>
                      </a:r>
                      <a:endParaRPr lang="zh-CN" altLang="zh-CN" sz="1000">
                        <a:solidFill>
                          <a:srgbClr val="000000"/>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BF5E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503050405090304" pitchFamily="18" charset="0"/>
                          <a:ea typeface="楷体_GB2312" pitchFamily="49" charset="-122"/>
                        </a:rPr>
                        <a:t>1</a:t>
                      </a:r>
                      <a:endParaRPr lang="zh-CN" altLang="zh-CN" sz="1000">
                        <a:solidFill>
                          <a:srgbClr val="000000"/>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BF5E1"/>
                    </a:solidFill>
                  </a:tcPr>
                </a:tc>
              </a:tr>
              <a:tr h="168275">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en-US" altLang="zh-CN" sz="900" b="1">
                          <a:solidFill>
                            <a:srgbClr val="FFFFFF"/>
                          </a:solidFill>
                          <a:latin typeface="Times New Roman" panose="02020503050405090304" pitchFamily="18" charset="0"/>
                          <a:ea typeface="楷体_GB2312" pitchFamily="49" charset="-122"/>
                        </a:rPr>
                        <a:t>1</a:t>
                      </a:r>
                      <a:endParaRPr lang="zh-CN" altLang="zh-CN" sz="1000" b="1">
                        <a:solidFill>
                          <a:srgbClr val="FFFFFF"/>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503050405090304" pitchFamily="18" charset="0"/>
                          <a:ea typeface="楷体_GB2312" pitchFamily="49" charset="-122"/>
                        </a:rPr>
                        <a:t>--</a:t>
                      </a:r>
                      <a:endParaRPr lang="zh-CN" altLang="zh-CN" sz="1000">
                        <a:solidFill>
                          <a:srgbClr val="000000"/>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BF5E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503050405090304" pitchFamily="18" charset="0"/>
                          <a:ea typeface="楷体_GB2312" pitchFamily="49" charset="-122"/>
                        </a:rPr>
                        <a:t>0</a:t>
                      </a:r>
                      <a:endParaRPr lang="zh-CN" altLang="zh-CN" sz="1000">
                        <a:solidFill>
                          <a:srgbClr val="000000"/>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AF1"/>
                    </a:solidFill>
                  </a:tcPr>
                </a:tc>
              </a:tr>
              <a:tr h="18415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en-US" altLang="zh-CN" sz="900" b="1">
                          <a:solidFill>
                            <a:srgbClr val="FFFFFF"/>
                          </a:solidFill>
                          <a:latin typeface="Times New Roman" panose="02020503050405090304" pitchFamily="18" charset="0"/>
                          <a:ea typeface="楷体_GB2312" pitchFamily="49" charset="-122"/>
                        </a:rPr>
                        <a:t>2</a:t>
                      </a:r>
                      <a:endParaRPr lang="zh-CN" altLang="zh-CN" sz="1000" b="1">
                        <a:solidFill>
                          <a:srgbClr val="FFFFFF"/>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503050405090304" pitchFamily="18" charset="0"/>
                          <a:ea typeface="楷体_GB2312" pitchFamily="49" charset="-122"/>
                        </a:rPr>
                        <a:t>254H</a:t>
                      </a:r>
                      <a:endParaRPr lang="zh-CN" altLang="zh-CN" sz="1000">
                        <a:solidFill>
                          <a:srgbClr val="000000"/>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BF5E1"/>
                    </a:soli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503050405090304" pitchFamily="18" charset="0"/>
                          <a:ea typeface="黑体" panose="02010609060101010101" pitchFamily="49" charset="-122"/>
                          <a:cs typeface="+mn-cs"/>
                        </a:defRPr>
                      </a:lvl5pPr>
                    </a:lstStyle>
                    <a:p>
                      <a:pPr lvl="0" algn="just" eaLnBrk="1" hangingPunct="1">
                        <a:buNone/>
                      </a:pPr>
                      <a:r>
                        <a:rPr lang="en-US" altLang="zh-CN" sz="900">
                          <a:solidFill>
                            <a:srgbClr val="000000"/>
                          </a:solidFill>
                          <a:latin typeface="Times New Roman" panose="02020503050405090304" pitchFamily="18" charset="0"/>
                          <a:ea typeface="楷体_GB2312" pitchFamily="49" charset="-122"/>
                        </a:rPr>
                        <a:t>1</a:t>
                      </a:r>
                      <a:endParaRPr lang="zh-CN" altLang="zh-CN" sz="1000">
                        <a:solidFill>
                          <a:srgbClr val="000000"/>
                        </a:solidFill>
                        <a:latin typeface="Times New Roman" panose="02020503050405090304" pitchFamily="18" charset="0"/>
                        <a:ea typeface="宋体" pitchFamily="2" charset="-122"/>
                      </a:endParaRPr>
                    </a:p>
                  </a:txBody>
                  <a:tcPr marL="68599" marR="68599" marT="0" marB="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CBF5E1"/>
                    </a:solidFill>
                  </a:tcPr>
                </a:tc>
              </a:tr>
            </a:tbl>
          </a:graphicData>
        </a:graphic>
      </p:graphicFrame>
      <p:sp>
        <p:nvSpPr>
          <p:cNvPr id="71704" name="Rectangle 1"/>
          <p:cNvSpPr>
            <a:spLocks noGrp="1"/>
          </p:cNvSpPr>
          <p:nvPr>
            <p:ph idx="1"/>
          </p:nvPr>
        </p:nvSpPr>
        <p:spPr>
          <a:xfrm>
            <a:off x="1116013" y="1370013"/>
            <a:ext cx="6985000" cy="3138487"/>
          </a:xfrm>
        </p:spPr>
        <p:txBody>
          <a:bodyPr vert="horz" wrap="square" lIns="91440" tIns="45720" rIns="91440" bIns="45720" anchor="ctr" anchorCtr="0">
            <a:spAutoFit/>
          </a:bodyPr>
          <a:lstStyle/>
          <a:p>
            <a:pPr marL="0" indent="0">
              <a:spcBef>
                <a:spcPct val="0"/>
              </a:spcBef>
              <a:buClrTx/>
              <a:buFont typeface="Wingdings" panose="05000000000000000000" pitchFamily="2" charset="2"/>
              <a:buNone/>
            </a:pPr>
            <a:r>
              <a:rPr lang="zh-CN" altLang="en-US" sz="1800">
                <a:ea typeface="宋体" pitchFamily="2" charset="-122"/>
              </a:rPr>
              <a:t>请求分页管理系统中，假设某进程的页表内容如下表所示： </a:t>
            </a:r>
            <a:endParaRPr lang="zh-CN" altLang="en-US" sz="600">
              <a:ea typeface="宋体" pitchFamily="2" charset="-122"/>
            </a:endParaRPr>
          </a:p>
          <a:p>
            <a:pPr marL="0" indent="0">
              <a:spcBef>
                <a:spcPct val="0"/>
              </a:spcBef>
              <a:buClrTx/>
              <a:buFont typeface="Wingdings" panose="05000000000000000000" pitchFamily="2" charset="2"/>
              <a:buNone/>
            </a:pPr>
            <a:r>
              <a:rPr lang="zh-CN" altLang="en-US" sz="1800">
                <a:ea typeface="宋体" pitchFamily="2" charset="-122"/>
              </a:rPr>
              <a:t>  页面大小为</a:t>
            </a:r>
            <a:r>
              <a:rPr lang="en-US" altLang="zh-CN" sz="1800">
                <a:ea typeface="宋体" pitchFamily="2" charset="-122"/>
              </a:rPr>
              <a:t>4KB</a:t>
            </a:r>
            <a:r>
              <a:rPr lang="zh-CN" altLang="en-US" sz="1800">
                <a:ea typeface="宋体" pitchFamily="2" charset="-122"/>
              </a:rPr>
              <a:t>，一次内存的访问时间是</a:t>
            </a:r>
            <a:r>
              <a:rPr lang="en-US" altLang="zh-CN" sz="1800">
                <a:ea typeface="宋体" pitchFamily="2" charset="-122"/>
              </a:rPr>
              <a:t>100ns</a:t>
            </a:r>
            <a:r>
              <a:rPr lang="zh-CN" altLang="en-US" sz="1800">
                <a:ea typeface="宋体" pitchFamily="2" charset="-122"/>
              </a:rPr>
              <a:t>，一次快表（</a:t>
            </a:r>
            <a:r>
              <a:rPr lang="en-US" altLang="zh-CN" sz="1800">
                <a:ea typeface="宋体" pitchFamily="2" charset="-122"/>
              </a:rPr>
              <a:t>TLB</a:t>
            </a:r>
            <a:r>
              <a:rPr lang="zh-CN" altLang="en-US" sz="1800">
                <a:ea typeface="宋体" pitchFamily="2" charset="-122"/>
              </a:rPr>
              <a:t>）的访问时间是</a:t>
            </a:r>
            <a:r>
              <a:rPr lang="en-US" altLang="zh-CN" sz="1800">
                <a:ea typeface="宋体" pitchFamily="2" charset="-122"/>
              </a:rPr>
              <a:t>10ns</a:t>
            </a:r>
            <a:r>
              <a:rPr lang="zh-CN" altLang="en-US" sz="1800">
                <a:ea typeface="宋体" pitchFamily="2" charset="-122"/>
              </a:rPr>
              <a:t>，处理一次缺页的平均时间为</a:t>
            </a:r>
            <a:r>
              <a:rPr lang="en-US" altLang="zh-CN" sz="1800">
                <a:ea typeface="宋体" pitchFamily="2" charset="-122"/>
              </a:rPr>
              <a:t>10</a:t>
            </a:r>
            <a:r>
              <a:rPr lang="en-US" altLang="zh-CN" sz="1800" baseline="30000">
                <a:ea typeface="宋体" pitchFamily="2" charset="-122"/>
              </a:rPr>
              <a:t>8</a:t>
            </a:r>
            <a:r>
              <a:rPr lang="en-US" altLang="zh-CN" sz="1800">
                <a:ea typeface="宋体" pitchFamily="2" charset="-122"/>
              </a:rPr>
              <a:t>ns</a:t>
            </a:r>
            <a:r>
              <a:rPr lang="zh-CN" altLang="en-US" sz="1800">
                <a:ea typeface="宋体" pitchFamily="2" charset="-122"/>
              </a:rPr>
              <a:t>（已含更新</a:t>
            </a:r>
            <a:r>
              <a:rPr lang="en-US" altLang="zh-CN" sz="1800">
                <a:ea typeface="宋体" pitchFamily="2" charset="-122"/>
              </a:rPr>
              <a:t>TLB</a:t>
            </a:r>
            <a:r>
              <a:rPr lang="zh-CN" altLang="en-US" sz="1800">
                <a:ea typeface="宋体" pitchFamily="2" charset="-122"/>
              </a:rPr>
              <a:t>和页表的时间），进程的驻留集大小固定为</a:t>
            </a:r>
            <a:r>
              <a:rPr lang="en-US" altLang="zh-CN" sz="1800">
                <a:ea typeface="宋体" pitchFamily="2" charset="-122"/>
              </a:rPr>
              <a:t>2</a:t>
            </a:r>
            <a:r>
              <a:rPr lang="zh-CN" altLang="en-US" sz="1800">
                <a:ea typeface="宋体" pitchFamily="2" charset="-122"/>
              </a:rPr>
              <a:t>，采用最近最少使用置换算法（</a:t>
            </a:r>
            <a:r>
              <a:rPr lang="en-US" altLang="zh-CN" sz="1800">
                <a:ea typeface="宋体" pitchFamily="2" charset="-122"/>
              </a:rPr>
              <a:t>LRU</a:t>
            </a:r>
            <a:r>
              <a:rPr lang="zh-CN" altLang="en-US" sz="1800">
                <a:ea typeface="宋体" pitchFamily="2" charset="-122"/>
              </a:rPr>
              <a:t>）和局部淘汰策略。假设：①</a:t>
            </a:r>
            <a:r>
              <a:rPr lang="en-US" altLang="zh-CN" sz="1800">
                <a:ea typeface="宋体" pitchFamily="2" charset="-122"/>
              </a:rPr>
              <a:t>TLB</a:t>
            </a:r>
            <a:r>
              <a:rPr lang="zh-CN" altLang="en-US" sz="1800">
                <a:ea typeface="宋体" pitchFamily="2" charset="-122"/>
              </a:rPr>
              <a:t>初始为空②地址转换时先访问</a:t>
            </a:r>
            <a:r>
              <a:rPr lang="en-US" altLang="zh-CN" sz="1800">
                <a:ea typeface="宋体" pitchFamily="2" charset="-122"/>
              </a:rPr>
              <a:t>TLB</a:t>
            </a:r>
            <a:r>
              <a:rPr lang="zh-CN" altLang="en-US" sz="1800">
                <a:ea typeface="宋体" pitchFamily="2" charset="-122"/>
              </a:rPr>
              <a:t>，若</a:t>
            </a:r>
            <a:r>
              <a:rPr lang="en-US" altLang="zh-CN" sz="1800">
                <a:ea typeface="宋体" pitchFamily="2" charset="-122"/>
              </a:rPr>
              <a:t>TLB</a:t>
            </a:r>
            <a:r>
              <a:rPr lang="zh-CN" altLang="en-US" sz="1800">
                <a:ea typeface="宋体" pitchFamily="2" charset="-122"/>
              </a:rPr>
              <a:t>未命中，再访问页表（忽略访问页表之后的</a:t>
            </a:r>
            <a:r>
              <a:rPr lang="en-US" altLang="zh-CN" sz="1800">
                <a:ea typeface="宋体" pitchFamily="2" charset="-122"/>
              </a:rPr>
              <a:t>TLB</a:t>
            </a:r>
            <a:r>
              <a:rPr lang="zh-CN" altLang="en-US" sz="1800">
                <a:ea typeface="宋体" pitchFamily="2" charset="-122"/>
              </a:rPr>
              <a:t>更新时间）；③有效位为</a:t>
            </a:r>
            <a:r>
              <a:rPr lang="en-US" altLang="zh-CN" sz="1800">
                <a:ea typeface="宋体" pitchFamily="2" charset="-122"/>
              </a:rPr>
              <a:t>0</a:t>
            </a:r>
            <a:r>
              <a:rPr lang="zh-CN" altLang="en-US" sz="1800">
                <a:ea typeface="宋体" pitchFamily="2" charset="-122"/>
              </a:rPr>
              <a:t>表示页面不在内存，产生缺页中断，缺页中断处理后，返回到产生缺页中断的指令处重新执行。设有虚地址访问序列</a:t>
            </a:r>
            <a:r>
              <a:rPr lang="en-US" altLang="zh-CN" sz="1800">
                <a:ea typeface="宋体" pitchFamily="2" charset="-122"/>
              </a:rPr>
              <a:t>2362H</a:t>
            </a:r>
            <a:r>
              <a:rPr lang="zh-CN" altLang="en-US" sz="1800">
                <a:ea typeface="宋体" pitchFamily="2" charset="-122"/>
              </a:rPr>
              <a:t>、</a:t>
            </a:r>
            <a:r>
              <a:rPr lang="en-US" altLang="zh-CN" sz="1800">
                <a:ea typeface="宋体" pitchFamily="2" charset="-122"/>
              </a:rPr>
              <a:t>1565H</a:t>
            </a:r>
            <a:r>
              <a:rPr lang="zh-CN" altLang="en-US" sz="1800">
                <a:ea typeface="宋体" pitchFamily="2" charset="-122"/>
              </a:rPr>
              <a:t>、</a:t>
            </a:r>
            <a:r>
              <a:rPr lang="en-US" altLang="zh-CN" sz="1800">
                <a:ea typeface="宋体" pitchFamily="2" charset="-122"/>
              </a:rPr>
              <a:t>25A5H</a:t>
            </a:r>
            <a:r>
              <a:rPr lang="zh-CN" altLang="en-US" sz="1800">
                <a:ea typeface="宋体" pitchFamily="2" charset="-122"/>
              </a:rPr>
              <a:t>，请问：  （</a:t>
            </a:r>
            <a:r>
              <a:rPr lang="en-US" altLang="zh-CN" sz="1800">
                <a:ea typeface="宋体" pitchFamily="2" charset="-122"/>
              </a:rPr>
              <a:t>1</a:t>
            </a:r>
            <a:r>
              <a:rPr lang="zh-CN" altLang="en-US" sz="1800">
                <a:ea typeface="宋体" pitchFamily="2" charset="-122"/>
              </a:rPr>
              <a:t>） 依次访问上述三个虚地址，各需多少时间？给出计算过程。 （</a:t>
            </a:r>
            <a:r>
              <a:rPr lang="en-US" altLang="zh-CN" sz="1800">
                <a:ea typeface="宋体" pitchFamily="2" charset="-122"/>
              </a:rPr>
              <a:t>2</a:t>
            </a:r>
            <a:r>
              <a:rPr lang="zh-CN" altLang="en-US" sz="1800">
                <a:ea typeface="宋体" pitchFamily="2" charset="-122"/>
              </a:rPr>
              <a:t>） 基于上述访问序列，虚地址</a:t>
            </a:r>
            <a:r>
              <a:rPr lang="en-US" altLang="zh-CN" sz="1800">
                <a:ea typeface="宋体" pitchFamily="2" charset="-122"/>
              </a:rPr>
              <a:t>1565H</a:t>
            </a:r>
            <a:r>
              <a:rPr lang="zh-CN" altLang="en-US" sz="1800">
                <a:ea typeface="宋体" pitchFamily="2" charset="-122"/>
              </a:rPr>
              <a:t>的 物理地址是多少？请说明理由。 </a:t>
            </a:r>
            <a:endParaRPr lang="en-US" altLang="zh-CN" sz="1800">
              <a:ea typeface="宋体" pitchFamily="2" charset="-122"/>
            </a:endParaRPr>
          </a:p>
        </p:txBody>
      </p:sp>
      <p:sp>
        <p:nvSpPr>
          <p:cNvPr id="4" name="矩形 3"/>
          <p:cNvSpPr/>
          <p:nvPr/>
        </p:nvSpPr>
        <p:spPr>
          <a:xfrm>
            <a:off x="1079500" y="5391150"/>
            <a:ext cx="7164388" cy="12461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endParaRPr lang="zh-CN" altLang="en-US" sz="300" b="0">
              <a:ea typeface="宋体" pitchFamily="2" charset="-122"/>
            </a:endParaRPr>
          </a:p>
          <a:p>
            <a:pPr marL="0" lvl="0" indent="0" eaLnBrk="1" hangingPunct="1">
              <a:spcBef>
                <a:spcPct val="0"/>
              </a:spcBef>
              <a:buClrTx/>
              <a:buFontTx/>
              <a:buNone/>
            </a:pPr>
            <a:r>
              <a:rPr lang="zh-CN" altLang="en-US" sz="1200" b="0">
                <a:ea typeface="宋体" pitchFamily="2" charset="-122"/>
              </a:rPr>
              <a:t>解：</a:t>
            </a:r>
            <a:r>
              <a:rPr lang="en-US" altLang="zh-CN" sz="1200" b="0">
                <a:ea typeface="宋体" pitchFamily="2" charset="-122"/>
              </a:rPr>
              <a:t>(1)2362H</a:t>
            </a:r>
            <a:r>
              <a:rPr lang="zh-CN" altLang="en-US" sz="1200" b="0">
                <a:ea typeface="宋体" pitchFamily="2" charset="-122"/>
              </a:rPr>
              <a:t>：页号</a:t>
            </a:r>
            <a:r>
              <a:rPr lang="en-US" altLang="zh-CN" sz="1200" b="0">
                <a:ea typeface="宋体" pitchFamily="2" charset="-122"/>
              </a:rPr>
              <a:t>2</a:t>
            </a:r>
            <a:r>
              <a:rPr lang="zh-CN" altLang="en-US" sz="1200" b="0">
                <a:ea typeface="宋体" pitchFamily="2" charset="-122"/>
              </a:rPr>
              <a:t>，页内地址</a:t>
            </a:r>
            <a:r>
              <a:rPr lang="en-US" altLang="zh-CN" sz="1200" b="0">
                <a:ea typeface="宋体" pitchFamily="2" charset="-122"/>
              </a:rPr>
              <a:t>362H</a:t>
            </a:r>
            <a:r>
              <a:rPr lang="zh-CN" altLang="en-US" sz="1200" b="0">
                <a:ea typeface="宋体" pitchFamily="2" charset="-122"/>
              </a:rPr>
              <a:t>。由页表知，此页在内存。访问时间：</a:t>
            </a:r>
            <a:r>
              <a:rPr lang="en-US" altLang="zh-CN" sz="1200" b="0">
                <a:ea typeface="宋体" pitchFamily="2" charset="-122"/>
              </a:rPr>
              <a:t>10 ns +100 ns +100 ns =210ns </a:t>
            </a:r>
            <a:endParaRPr lang="en-US" altLang="zh-CN" sz="1200" b="0">
              <a:ea typeface="宋体" pitchFamily="2" charset="-122"/>
            </a:endParaRPr>
          </a:p>
          <a:p>
            <a:pPr marL="0" lvl="0" indent="0" eaLnBrk="1" hangingPunct="1">
              <a:spcBef>
                <a:spcPct val="0"/>
              </a:spcBef>
              <a:buClrTx/>
              <a:buFontTx/>
              <a:buNone/>
            </a:pPr>
            <a:r>
              <a:rPr lang="en-US" altLang="zh-CN" sz="1200" b="0">
                <a:ea typeface="宋体" pitchFamily="2" charset="-122"/>
              </a:rPr>
              <a:t>1565H: </a:t>
            </a:r>
            <a:r>
              <a:rPr lang="zh-CN" altLang="en-US" sz="1200" b="0">
                <a:ea typeface="宋体" pitchFamily="2" charset="-122"/>
              </a:rPr>
              <a:t>页号</a:t>
            </a:r>
            <a:r>
              <a:rPr lang="en-US" altLang="zh-CN" sz="1200" b="0">
                <a:ea typeface="宋体" pitchFamily="2" charset="-122"/>
              </a:rPr>
              <a:t>1</a:t>
            </a:r>
            <a:r>
              <a:rPr lang="zh-CN" altLang="en-US" sz="1200" b="0">
                <a:ea typeface="宋体" pitchFamily="2" charset="-122"/>
              </a:rPr>
              <a:t>，页内地址</a:t>
            </a:r>
            <a:r>
              <a:rPr lang="en-US" altLang="zh-CN" sz="1200" b="0">
                <a:ea typeface="宋体" pitchFamily="2" charset="-122"/>
              </a:rPr>
              <a:t>565H</a:t>
            </a:r>
            <a:r>
              <a:rPr lang="zh-CN" altLang="en-US" sz="1200" b="0">
                <a:ea typeface="宋体" pitchFamily="2" charset="-122"/>
              </a:rPr>
              <a:t>。由页表知，此页不在内存。访问时间：</a:t>
            </a:r>
            <a:r>
              <a:rPr lang="en-US" altLang="zh-CN" sz="1200" b="0">
                <a:ea typeface="宋体" pitchFamily="2" charset="-122"/>
              </a:rPr>
              <a:t>10 ns +100 ns +10</a:t>
            </a:r>
            <a:r>
              <a:rPr lang="en-US" altLang="zh-CN" sz="1200" b="0" baseline="30000">
                <a:ea typeface="宋体" pitchFamily="2" charset="-122"/>
              </a:rPr>
              <a:t>8</a:t>
            </a:r>
            <a:r>
              <a:rPr lang="en-US" altLang="zh-CN" sz="1200" b="0">
                <a:ea typeface="宋体" pitchFamily="2" charset="-122"/>
              </a:rPr>
              <a:t>ns+100 ns≈10</a:t>
            </a:r>
            <a:r>
              <a:rPr lang="en-US" altLang="zh-CN" sz="1200" b="0" baseline="30000">
                <a:ea typeface="宋体" pitchFamily="2" charset="-122"/>
              </a:rPr>
              <a:t>8</a:t>
            </a:r>
            <a:r>
              <a:rPr lang="en-US" altLang="zh-CN" sz="1200" b="0">
                <a:ea typeface="宋体" pitchFamily="2" charset="-122"/>
              </a:rPr>
              <a:t> ns</a:t>
            </a:r>
            <a:endParaRPr lang="en-US" altLang="zh-CN" sz="1200" b="0">
              <a:ea typeface="宋体" pitchFamily="2" charset="-122"/>
            </a:endParaRPr>
          </a:p>
          <a:p>
            <a:pPr marL="0" lvl="0" indent="0" eaLnBrk="1" hangingPunct="1">
              <a:spcBef>
                <a:spcPct val="0"/>
              </a:spcBef>
              <a:buClrTx/>
              <a:buFontTx/>
              <a:buNone/>
            </a:pPr>
            <a:r>
              <a:rPr lang="en-US" altLang="zh-CN" sz="1200" b="0">
                <a:ea typeface="宋体" pitchFamily="2" charset="-122"/>
              </a:rPr>
              <a:t>25A5H: </a:t>
            </a:r>
            <a:r>
              <a:rPr lang="zh-CN" altLang="en-US" sz="1200" b="0">
                <a:ea typeface="宋体" pitchFamily="2" charset="-122"/>
              </a:rPr>
              <a:t>页号</a:t>
            </a:r>
            <a:r>
              <a:rPr lang="en-US" altLang="zh-CN" sz="1200" b="0">
                <a:ea typeface="宋体" pitchFamily="2" charset="-122"/>
              </a:rPr>
              <a:t>2</a:t>
            </a:r>
            <a:r>
              <a:rPr lang="zh-CN" altLang="en-US" sz="1200" b="0">
                <a:ea typeface="宋体" pitchFamily="2" charset="-122"/>
              </a:rPr>
              <a:t>，页内地址</a:t>
            </a:r>
            <a:r>
              <a:rPr lang="en-US" altLang="zh-CN" sz="1200" b="0">
                <a:ea typeface="宋体" pitchFamily="2" charset="-122"/>
              </a:rPr>
              <a:t>5A5H</a:t>
            </a:r>
            <a:r>
              <a:rPr lang="zh-CN" altLang="en-US" sz="1200" b="0">
                <a:ea typeface="宋体" pitchFamily="2" charset="-122"/>
              </a:rPr>
              <a:t>。由页表项已放入快表。访问时间：</a:t>
            </a:r>
            <a:r>
              <a:rPr lang="en-US" altLang="zh-CN" sz="1200" b="0">
                <a:ea typeface="宋体" pitchFamily="2" charset="-122"/>
              </a:rPr>
              <a:t>10 ns +100 ns =110ns</a:t>
            </a:r>
            <a:endParaRPr lang="en-US" altLang="zh-CN" sz="1200" b="0">
              <a:ea typeface="宋体" pitchFamily="2" charset="-122"/>
            </a:endParaRPr>
          </a:p>
          <a:p>
            <a:pPr marL="0" lvl="0" indent="0" eaLnBrk="1" hangingPunct="1">
              <a:spcBef>
                <a:spcPct val="0"/>
              </a:spcBef>
              <a:buClrTx/>
              <a:buFontTx/>
              <a:buNone/>
            </a:pPr>
            <a:r>
              <a:rPr lang="en-US" altLang="zh-CN" sz="1200" b="0">
                <a:ea typeface="宋体" pitchFamily="2" charset="-122"/>
              </a:rPr>
              <a:t>(2) 1565H: </a:t>
            </a:r>
            <a:r>
              <a:rPr lang="zh-CN" altLang="en-US" sz="1200" b="0">
                <a:ea typeface="宋体" pitchFamily="2" charset="-122"/>
              </a:rPr>
              <a:t>页号</a:t>
            </a:r>
            <a:r>
              <a:rPr lang="en-US" altLang="zh-CN" sz="1200" b="0">
                <a:ea typeface="宋体" pitchFamily="2" charset="-122"/>
              </a:rPr>
              <a:t>1</a:t>
            </a:r>
            <a:r>
              <a:rPr lang="zh-CN" altLang="en-US" sz="1200" b="0">
                <a:ea typeface="宋体" pitchFamily="2" charset="-122"/>
              </a:rPr>
              <a:t>，页内地址</a:t>
            </a:r>
            <a:r>
              <a:rPr lang="en-US" altLang="zh-CN" sz="1200" b="0">
                <a:ea typeface="宋体" pitchFamily="2" charset="-122"/>
              </a:rPr>
              <a:t>565H</a:t>
            </a:r>
            <a:r>
              <a:rPr lang="zh-CN" altLang="en-US" sz="1200" b="0">
                <a:ea typeface="宋体" pitchFamily="2" charset="-122"/>
              </a:rPr>
              <a:t>。此页不在内存，把</a:t>
            </a:r>
            <a:r>
              <a:rPr lang="en-US" altLang="zh-CN" sz="1200" b="0">
                <a:ea typeface="宋体" pitchFamily="2" charset="-122"/>
              </a:rPr>
              <a:t>0</a:t>
            </a:r>
            <a:r>
              <a:rPr lang="zh-CN" altLang="en-US" sz="1200" b="0">
                <a:ea typeface="宋体" pitchFamily="2" charset="-122"/>
              </a:rPr>
              <a:t>号页面换出，</a:t>
            </a:r>
            <a:r>
              <a:rPr lang="en-US" altLang="zh-CN" sz="1200" b="0">
                <a:ea typeface="宋体" pitchFamily="2" charset="-122"/>
              </a:rPr>
              <a:t>1</a:t>
            </a:r>
            <a:r>
              <a:rPr lang="zh-CN" altLang="en-US" sz="1200" b="0">
                <a:ea typeface="宋体" pitchFamily="2" charset="-122"/>
              </a:rPr>
              <a:t>号页面放入</a:t>
            </a:r>
            <a:r>
              <a:rPr lang="en-US" altLang="zh-CN" sz="1200">
                <a:ea typeface="宋体" pitchFamily="2" charset="-122"/>
              </a:rPr>
              <a:t>101H</a:t>
            </a:r>
            <a:r>
              <a:rPr lang="zh-CN" altLang="en-US" sz="1200">
                <a:ea typeface="宋体" pitchFamily="2" charset="-122"/>
              </a:rPr>
              <a:t>页框，所以物理地址为</a:t>
            </a:r>
            <a:r>
              <a:rPr lang="en-US" altLang="zh-CN" sz="1200">
                <a:ea typeface="宋体" pitchFamily="2" charset="-122"/>
              </a:rPr>
              <a:t>101565H</a:t>
            </a:r>
            <a:r>
              <a:rPr lang="zh-CN" altLang="en-US" sz="1200">
                <a:ea typeface="宋体" pitchFamily="2" charset="-122"/>
              </a:rPr>
              <a:t>。</a:t>
            </a:r>
            <a:endParaRPr lang="zh-CN" altLang="en-US" sz="4000" b="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72706"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9</a:t>
            </a:r>
            <a:r>
              <a:rPr lang="zh-CN" altLang="en-US"/>
              <a:t>虚拟段式存储</a:t>
            </a:r>
            <a:endParaRPr lang="zh-CN" altLang="en-US"/>
          </a:p>
        </p:txBody>
      </p:sp>
      <p:sp>
        <p:nvSpPr>
          <p:cNvPr id="65539" name="Rectangle 3"/>
          <p:cNvSpPr>
            <a:spLocks noGrp="1" noChangeArrowheads="1"/>
          </p:cNvSpPr>
          <p:nvPr>
            <p:ph idx="1"/>
          </p:nvPr>
        </p:nvSpPr>
        <p:spPr>
          <a:xfrm>
            <a:off x="179388" y="1412875"/>
            <a:ext cx="8569325" cy="4968875"/>
          </a:xfrm>
        </p:spPr>
        <p:txBody>
          <a:bodyPr vert="horz" wrap="square" lIns="91440" tIns="45720" rIns="91440" bIns="45720" numCol="1" anchor="t" anchorCtr="0" compatLnSpc="1"/>
          <a:lstStyle/>
          <a:p>
            <a:pPr eaLnBrk="1" hangingPunct="1"/>
            <a:r>
              <a:rPr lang="zh-CN" altLang="en-US" sz="2400" b="0">
                <a:latin typeface="黑体" panose="02010609060101010101" pitchFamily="49" charset="-122"/>
              </a:rPr>
              <a:t>虚拟段式</a:t>
            </a:r>
            <a:r>
              <a:rPr lang="en-US" altLang="zh-CN" sz="2400" b="0">
                <a:latin typeface="黑体" panose="02010609060101010101" pitchFamily="49" charset="-122"/>
              </a:rPr>
              <a:t>(virtual segmentation)</a:t>
            </a:r>
            <a:endParaRPr lang="en-US" altLang="zh-CN" sz="2400" b="0">
              <a:latin typeface="黑体" panose="02010609060101010101" pitchFamily="49" charset="-122"/>
            </a:endParaRPr>
          </a:p>
          <a:p>
            <a:pPr eaLnBrk="1" hangingPunct="1">
              <a:buFont typeface="Wingdings" panose="05000000000000000000" pitchFamily="2" charset="2"/>
              <a:buNone/>
            </a:pPr>
            <a:r>
              <a:rPr lang="zh-CN" altLang="en-US" sz="2400" b="0">
                <a:latin typeface="黑体" panose="02010609060101010101" pitchFamily="49" charset="-122"/>
              </a:rPr>
              <a:t>	在简单段式存储管理的基础上，增加请求调段和段置换功能。需要在进程段表中添加若干项：</a:t>
            </a:r>
            <a:endParaRPr lang="zh-CN" altLang="en-US" sz="2400" b="0">
              <a:latin typeface="黑体" panose="02010609060101010101" pitchFamily="49" charset="-122"/>
            </a:endParaRPr>
          </a:p>
          <a:p>
            <a:pPr lvl="2" eaLnBrk="1" hangingPunct="1"/>
            <a:r>
              <a:rPr lang="zh-CN" altLang="en-US" sz="2400" b="0">
                <a:latin typeface="黑体" panose="02010609060101010101" pitchFamily="49" charset="-122"/>
              </a:rPr>
              <a:t>标志位：存在位</a:t>
            </a:r>
            <a:r>
              <a:rPr lang="en-US" altLang="zh-CN" sz="2400" b="0">
                <a:latin typeface="黑体" panose="02010609060101010101" pitchFamily="49" charset="-122"/>
              </a:rPr>
              <a:t>(present bit)</a:t>
            </a:r>
            <a:r>
              <a:rPr lang="zh-CN" altLang="en-US" sz="2400" b="0">
                <a:latin typeface="黑体" panose="02010609060101010101" pitchFamily="49" charset="-122"/>
              </a:rPr>
              <a:t>，修改位</a:t>
            </a:r>
            <a:r>
              <a:rPr lang="en-US" altLang="zh-CN" sz="2400" b="0">
                <a:latin typeface="黑体" panose="02010609060101010101" pitchFamily="49" charset="-122"/>
              </a:rPr>
              <a:t>(modified bit/dirty bit)</a:t>
            </a:r>
            <a:r>
              <a:rPr lang="zh-CN" altLang="en-US" sz="2400" b="0">
                <a:latin typeface="黑体" panose="02010609060101010101" pitchFamily="49" charset="-122"/>
              </a:rPr>
              <a:t>，增长位（该段是否增长过），供判断越界时使用。</a:t>
            </a:r>
            <a:endParaRPr lang="zh-CN" altLang="en-US" sz="2400" b="0">
              <a:latin typeface="黑体" panose="02010609060101010101" pitchFamily="49" charset="-122"/>
            </a:endParaRPr>
          </a:p>
          <a:p>
            <a:pPr lvl="2" eaLnBrk="1" hangingPunct="1"/>
            <a:r>
              <a:rPr lang="zh-CN" altLang="en-US" sz="2400" b="0">
                <a:latin typeface="黑体" panose="02010609060101010101" pitchFamily="49" charset="-122"/>
              </a:rPr>
              <a:t>访问统计：如使用位</a:t>
            </a:r>
            <a:r>
              <a:rPr lang="en-US" altLang="zh-CN" sz="2400" b="0">
                <a:latin typeface="黑体" panose="02010609060101010101" pitchFamily="49" charset="-122"/>
              </a:rPr>
              <a:t>(use bit)</a:t>
            </a:r>
            <a:endParaRPr lang="en-US" altLang="zh-CN" sz="2400" b="0">
              <a:latin typeface="黑体" panose="02010609060101010101" pitchFamily="49" charset="-122"/>
            </a:endParaRPr>
          </a:p>
          <a:p>
            <a:pPr lvl="2" eaLnBrk="1" hangingPunct="1"/>
            <a:r>
              <a:rPr lang="zh-CN" altLang="en-US" sz="2400" b="0">
                <a:latin typeface="黑体" panose="02010609060101010101" pitchFamily="49" charset="-122"/>
              </a:rPr>
              <a:t>存取权限：如读</a:t>
            </a:r>
            <a:r>
              <a:rPr lang="en-US" altLang="zh-CN" sz="2400" b="0">
                <a:latin typeface="黑体" panose="02010609060101010101" pitchFamily="49" charset="-122"/>
              </a:rPr>
              <a:t>R</a:t>
            </a:r>
            <a:r>
              <a:rPr lang="zh-CN" altLang="en-US" sz="2400" b="0">
                <a:latin typeface="黑体" panose="02010609060101010101" pitchFamily="49" charset="-122"/>
              </a:rPr>
              <a:t>，写</a:t>
            </a:r>
            <a:r>
              <a:rPr lang="en-US" altLang="zh-CN" sz="2400" b="0">
                <a:latin typeface="黑体" panose="02010609060101010101" pitchFamily="49" charset="-122"/>
              </a:rPr>
              <a:t>W</a:t>
            </a:r>
            <a:r>
              <a:rPr lang="zh-CN" altLang="en-US" sz="2400" b="0">
                <a:latin typeface="黑体" panose="02010609060101010101" pitchFamily="49" charset="-122"/>
              </a:rPr>
              <a:t>，执行</a:t>
            </a:r>
            <a:r>
              <a:rPr lang="en-US" altLang="zh-CN" sz="2400" b="0">
                <a:latin typeface="黑体" panose="02010609060101010101" pitchFamily="49" charset="-122"/>
              </a:rPr>
              <a:t>X</a:t>
            </a:r>
            <a:endParaRPr lang="en-US" altLang="zh-CN" sz="2400" b="0">
              <a:latin typeface="黑体" panose="02010609060101010101" pitchFamily="49" charset="-122"/>
            </a:endParaRPr>
          </a:p>
          <a:p>
            <a:pPr lvl="2" eaLnBrk="1" hangingPunct="1"/>
            <a:r>
              <a:rPr lang="zh-CN" altLang="en-US" sz="2400" b="0">
                <a:latin typeface="黑体" panose="02010609060101010101" pitchFamily="49" charset="-122"/>
              </a:rPr>
              <a:t>外存地址：本段在外存中的起始地址</a:t>
            </a:r>
            <a:endParaRPr lang="zh-CN" altLang="en-US" sz="2400" b="0">
              <a:latin typeface="黑体" panose="02010609060101010101" pitchFamily="49" charset="-122"/>
            </a:endParaRPr>
          </a:p>
          <a:p>
            <a:pPr lvl="1" eaLnBrk="1" hangingPunct="1"/>
            <a:r>
              <a:rPr lang="zh-CN" altLang="en-US" b="0">
                <a:latin typeface="黑体" panose="02010609060101010101" pitchFamily="49" charset="-122"/>
              </a:rPr>
              <a:t>地址变换和缺段中断：指令和操作数必定不会跨越在段边界上。</a:t>
            </a:r>
            <a:endParaRPr lang="zh-CN" altLang="en-US" b="0">
              <a:latin typeface="黑体" panose="02010609060101010101" pitchFamily="49"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73730" name="Rectangle 2"/>
          <p:cNvSpPr>
            <a:spLocks noGrp="1"/>
          </p:cNvSpPr>
          <p:nvPr>
            <p:ph type="title"/>
          </p:nvPr>
        </p:nvSpPr>
        <p:spPr/>
        <p:txBody>
          <a:bodyPr vert="horz" wrap="square" lIns="91440" tIns="45720" rIns="91440" bIns="45720" anchor="b" anchorCtr="0"/>
          <a:lstStyle/>
          <a:p>
            <a:pPr eaLnBrk="1" hangingPunct="1"/>
            <a:r>
              <a:rPr lang="zh-CN" altLang="en-US"/>
              <a:t>5.</a:t>
            </a:r>
            <a:r>
              <a:rPr lang="en-US" altLang="zh-CN"/>
              <a:t>10</a:t>
            </a:r>
            <a:r>
              <a:rPr lang="zh-CN" altLang="en-US"/>
              <a:t> 虚拟段页存储</a:t>
            </a:r>
            <a:endParaRPr lang="zh-CN" altLang="en-US"/>
          </a:p>
        </p:txBody>
      </p:sp>
      <p:sp>
        <p:nvSpPr>
          <p:cNvPr id="66563" name="Rectangle 3"/>
          <p:cNvSpPr>
            <a:spLocks noGrp="1" noChangeArrowheads="1"/>
          </p:cNvSpPr>
          <p:nvPr>
            <p:ph idx="1"/>
          </p:nvPr>
        </p:nvSpPr>
        <p:spPr/>
        <p:txBody>
          <a:bodyPr vert="horz" wrap="square" lIns="91440" tIns="45720" rIns="91440" bIns="45720" numCol="1" anchor="t" anchorCtr="0" compatLnSpc="1"/>
          <a:lstStyle/>
          <a:p>
            <a:pPr eaLnBrk="1" hangingPunct="1"/>
            <a:r>
              <a:rPr lang="zh-CN" altLang="en-US" sz="2400" b="0">
                <a:latin typeface="黑体" panose="02010609060101010101" pitchFamily="49" charset="-122"/>
              </a:rPr>
              <a:t>虚拟段页式</a:t>
            </a:r>
            <a:r>
              <a:rPr lang="en-US" altLang="zh-CN" sz="2400" b="0">
                <a:latin typeface="黑体" panose="02010609060101010101" pitchFamily="49" charset="-122"/>
              </a:rPr>
              <a:t>(combined paging and segmentation)</a:t>
            </a:r>
            <a:endParaRPr lang="en-US" altLang="zh-CN" sz="2400" b="0">
              <a:latin typeface="黑体" panose="02010609060101010101" pitchFamily="49" charset="-122"/>
            </a:endParaRPr>
          </a:p>
          <a:p>
            <a:pPr eaLnBrk="1" hangingPunct="1">
              <a:buFont typeface="Wingdings" panose="05000000000000000000" pitchFamily="2" charset="2"/>
              <a:buNone/>
            </a:pPr>
            <a:r>
              <a:rPr lang="zh-CN" altLang="en-US" sz="2400" b="0">
                <a:latin typeface="黑体" panose="02010609060101010101" pitchFamily="49" charset="-122"/>
              </a:rPr>
              <a:t>	虚拟页式和虚拟段式存储管理的结合。</a:t>
            </a:r>
            <a:endParaRPr lang="en-US" altLang="zh-CN" sz="2400" b="0">
              <a:latin typeface="黑体" panose="02010609060101010101" pitchFamily="49" charset="-122"/>
            </a:endParaRPr>
          </a:p>
          <a:p>
            <a:pPr lvl="1" eaLnBrk="1" hangingPunct="1"/>
            <a:r>
              <a:rPr lang="zh-CN" altLang="en-US" b="0">
                <a:latin typeface="黑体" panose="02010609060101010101" pitchFamily="49" charset="-122"/>
              </a:rPr>
              <a:t>存储管理的分配单位是：段，页</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逻辑地址的组成：段号，页号，页内偏移地址。</a:t>
            </a:r>
            <a:endParaRPr lang="zh-CN" altLang="en-US" b="0">
              <a:latin typeface="黑体" panose="02010609060101010101" pitchFamily="49" charset="-122"/>
            </a:endParaRPr>
          </a:p>
          <a:p>
            <a:pPr lvl="1" eaLnBrk="1" hangingPunct="1"/>
            <a:r>
              <a:rPr lang="zh-CN" altLang="en-US" b="0">
                <a:latin typeface="黑体" panose="02010609060101010101" pitchFamily="49" charset="-122"/>
              </a:rPr>
              <a:t>地址变换：先查段表，再查该段的页表。缺段中断和缺页中断。</a:t>
            </a:r>
            <a:endParaRPr lang="zh-CN" altLang="en-US" b="0">
              <a:latin typeface="黑体" panose="02010609060101010101" pitchFamily="49"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74754" name="Rectangle 3"/>
          <p:cNvSpPr>
            <a:spLocks noGrp="1"/>
          </p:cNvSpPr>
          <p:nvPr>
            <p:ph type="title"/>
          </p:nvPr>
        </p:nvSpPr>
        <p:spPr/>
        <p:txBody>
          <a:bodyPr vert="horz" wrap="square" lIns="91440" tIns="45720" rIns="91440" bIns="45720" anchor="b" anchorCtr="0"/>
          <a:lstStyle/>
          <a:p>
            <a:pPr eaLnBrk="1" hangingPunct="1"/>
            <a:r>
              <a:rPr lang="zh-CN" altLang="en-US"/>
              <a:t>总结</a:t>
            </a:r>
            <a:endParaRPr lang="en-US" altLang="zh-CN"/>
          </a:p>
        </p:txBody>
      </p:sp>
      <p:sp>
        <p:nvSpPr>
          <p:cNvPr id="14342" name="Rectangle 6"/>
          <p:cNvSpPr>
            <a:spLocks noGrp="1"/>
          </p:cNvSpPr>
          <p:nvPr>
            <p:ph idx="1"/>
          </p:nvPr>
        </p:nvSpPr>
        <p:spPr>
          <a:xfrm>
            <a:off x="-36512" y="1436688"/>
            <a:ext cx="3313112" cy="4800600"/>
          </a:xfrm>
        </p:spPr>
        <p:txBody>
          <a:bodyPr vert="horz" wrap="square" lIns="91440" tIns="45720" rIns="91440" bIns="45720" anchor="t" anchorCtr="0"/>
          <a:lstStyle/>
          <a:p>
            <a:pPr marL="0" indent="0">
              <a:buNone/>
            </a:pPr>
            <a:r>
              <a:rPr lang="en-US" altLang="zh-CN" sz="2400" b="0"/>
              <a:t>5.1</a:t>
            </a:r>
            <a:r>
              <a:rPr lang="zh-CN" altLang="en-US" sz="2400" b="0"/>
              <a:t>逻辑地址和物理地址</a:t>
            </a:r>
            <a:endParaRPr lang="en-US" altLang="zh-CN" sz="2400" b="0"/>
          </a:p>
          <a:p>
            <a:pPr marL="0" indent="0">
              <a:buNone/>
            </a:pPr>
            <a:r>
              <a:rPr lang="en-US" altLang="zh-CN" sz="2400" b="0"/>
              <a:t>5.2</a:t>
            </a:r>
            <a:r>
              <a:rPr lang="zh-CN" altLang="en-US" sz="2400" b="0"/>
              <a:t>程序装入方式</a:t>
            </a:r>
            <a:endParaRPr lang="en-US" altLang="zh-CN" sz="2400" b="0"/>
          </a:p>
          <a:p>
            <a:pPr marL="0" indent="0">
              <a:buNone/>
            </a:pPr>
            <a:r>
              <a:rPr lang="en-US" altLang="zh-CN" sz="2400" b="0">
                <a:solidFill>
                  <a:srgbClr val="FF0000"/>
                </a:solidFill>
              </a:rPr>
              <a:t>5.3</a:t>
            </a:r>
            <a:r>
              <a:rPr lang="zh-CN" altLang="en-US" sz="2400" b="0">
                <a:solidFill>
                  <a:srgbClr val="FF0000"/>
                </a:solidFill>
              </a:rPr>
              <a:t>连续存储管理</a:t>
            </a:r>
            <a:endParaRPr lang="en-US" altLang="zh-CN" sz="2400" b="0">
              <a:solidFill>
                <a:srgbClr val="FF0000"/>
              </a:solidFill>
            </a:endParaRPr>
          </a:p>
          <a:p>
            <a:pPr marL="0" indent="0">
              <a:buNone/>
            </a:pPr>
            <a:r>
              <a:rPr lang="en-US" altLang="zh-CN" sz="2400" b="0"/>
              <a:t>5.3.1</a:t>
            </a:r>
            <a:r>
              <a:rPr lang="zh-CN" altLang="en-US" sz="2400" b="0"/>
              <a:t>单一连续分区</a:t>
            </a:r>
            <a:endParaRPr lang="en-US" altLang="zh-CN" sz="2400" b="0"/>
          </a:p>
          <a:p>
            <a:pPr marL="0" indent="0">
              <a:buNone/>
            </a:pPr>
            <a:r>
              <a:rPr lang="en-US" altLang="zh-CN" sz="2400" b="0"/>
              <a:t>5.3.2</a:t>
            </a:r>
            <a:r>
              <a:rPr lang="zh-CN" altLang="en-US" sz="2400" b="0"/>
              <a:t>固定分区</a:t>
            </a:r>
            <a:endParaRPr lang="en-US" altLang="zh-CN" sz="2400" b="0"/>
          </a:p>
          <a:p>
            <a:pPr marL="0" indent="0">
              <a:buNone/>
            </a:pPr>
            <a:r>
              <a:rPr lang="en-US" altLang="zh-CN" sz="2400" b="0"/>
              <a:t>5.3.3</a:t>
            </a:r>
            <a:r>
              <a:rPr lang="zh-CN" altLang="en-US" sz="2400" b="0"/>
              <a:t>可变分区分区 </a:t>
            </a:r>
            <a:endParaRPr lang="en-US" altLang="zh-CN" sz="2400" b="0"/>
          </a:p>
          <a:p>
            <a:pPr marL="0" indent="0">
              <a:buNone/>
            </a:pPr>
            <a:r>
              <a:rPr lang="en-US" altLang="zh-CN" sz="2400" b="0"/>
              <a:t>5.3.4</a:t>
            </a:r>
            <a:r>
              <a:rPr lang="zh-CN" altLang="en-US" sz="2400" b="0"/>
              <a:t>可再定位分区</a:t>
            </a:r>
            <a:endParaRPr lang="en-US" altLang="zh-CN" sz="2400" b="0"/>
          </a:p>
          <a:p>
            <a:pPr marL="0" indent="0">
              <a:buNone/>
            </a:pPr>
            <a:r>
              <a:rPr lang="en-US" altLang="zh-CN" sz="2400" b="0"/>
              <a:t>5.3.5</a:t>
            </a:r>
            <a:r>
              <a:rPr lang="zh-CN" altLang="en-US" sz="2400" b="0"/>
              <a:t>多重分区</a:t>
            </a:r>
            <a:endParaRPr lang="en-US" altLang="zh-CN" sz="2400" b="0"/>
          </a:p>
          <a:p>
            <a:pPr marL="0" indent="0">
              <a:buFont typeface="Wingdings" panose="05000000000000000000" pitchFamily="2" charset="2"/>
              <a:buNone/>
            </a:pPr>
            <a:endParaRPr lang="zh-CN" altLang="en-US" sz="2400"/>
          </a:p>
        </p:txBody>
      </p:sp>
      <p:sp>
        <p:nvSpPr>
          <p:cNvPr id="74756" name="矩形 1"/>
          <p:cNvSpPr/>
          <p:nvPr/>
        </p:nvSpPr>
        <p:spPr>
          <a:xfrm>
            <a:off x="2843213" y="2276475"/>
            <a:ext cx="3889375" cy="37861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solidFill>
                  <a:srgbClr val="FF0000"/>
                </a:solidFill>
              </a:rPr>
              <a:t>非连续分区存储管理</a:t>
            </a:r>
            <a:endParaRPr lang="en-US" altLang="zh-CN" sz="2400" b="0">
              <a:solidFill>
                <a:srgbClr val="FF0000"/>
              </a:solidFill>
            </a:endParaRPr>
          </a:p>
          <a:p>
            <a:pPr marL="0" lvl="0" indent="0">
              <a:spcBef>
                <a:spcPct val="0"/>
              </a:spcBef>
              <a:buClrTx/>
              <a:buFontTx/>
              <a:buNone/>
            </a:pPr>
            <a:r>
              <a:rPr lang="en-US" altLang="zh-CN" sz="2400" b="0"/>
              <a:t>5.4</a:t>
            </a:r>
            <a:r>
              <a:rPr lang="zh-CN" altLang="en-US" sz="2400" b="0"/>
              <a:t>页式存储管理</a:t>
            </a:r>
            <a:endParaRPr lang="en-US" altLang="zh-CN" sz="2400" b="0"/>
          </a:p>
          <a:p>
            <a:pPr marL="0" lvl="0" indent="0">
              <a:spcBef>
                <a:spcPct val="0"/>
              </a:spcBef>
              <a:buClrTx/>
              <a:buFontTx/>
              <a:buNone/>
            </a:pPr>
            <a:r>
              <a:rPr lang="en-US" altLang="zh-CN" sz="2400" b="0"/>
              <a:t>5.4.1</a:t>
            </a:r>
            <a:r>
              <a:rPr lang="zh-CN" altLang="en-US" sz="2400" b="0"/>
              <a:t>页式存储管理原理</a:t>
            </a:r>
            <a:endParaRPr lang="en-US" altLang="zh-CN" sz="2400" b="0"/>
          </a:p>
          <a:p>
            <a:pPr marL="0" lvl="0" indent="0">
              <a:spcBef>
                <a:spcPct val="0"/>
              </a:spcBef>
              <a:buClrTx/>
              <a:buFontTx/>
              <a:buNone/>
            </a:pPr>
            <a:r>
              <a:rPr lang="en-US" altLang="zh-CN" sz="2400" b="0"/>
              <a:t>5.4.2</a:t>
            </a:r>
            <a:r>
              <a:rPr lang="zh-CN" altLang="en-US" sz="2400" b="0"/>
              <a:t>地址变换机构</a:t>
            </a:r>
            <a:endParaRPr lang="en-US" altLang="zh-CN" sz="2400" b="0"/>
          </a:p>
          <a:p>
            <a:pPr marL="0" lvl="0" indent="0">
              <a:spcBef>
                <a:spcPct val="0"/>
              </a:spcBef>
              <a:buClrTx/>
              <a:buFontTx/>
              <a:buNone/>
            </a:pPr>
            <a:r>
              <a:rPr lang="en-US" altLang="zh-CN" sz="2400" b="0"/>
              <a:t>5.4.3</a:t>
            </a:r>
            <a:r>
              <a:rPr lang="zh-CN" altLang="en-US" sz="2400" b="0"/>
              <a:t>页面分配</a:t>
            </a:r>
            <a:endParaRPr lang="en-US" altLang="zh-CN" sz="2400" b="0"/>
          </a:p>
          <a:p>
            <a:pPr marL="0" lvl="0" indent="0">
              <a:spcBef>
                <a:spcPct val="0"/>
              </a:spcBef>
              <a:buClrTx/>
              <a:buFontTx/>
              <a:buNone/>
            </a:pPr>
            <a:r>
              <a:rPr lang="en-US" altLang="zh-CN" sz="2400" b="0"/>
              <a:t>5.4.4</a:t>
            </a:r>
            <a:r>
              <a:rPr lang="zh-CN" altLang="en-US" sz="2400" b="0"/>
              <a:t>多级页表</a:t>
            </a:r>
            <a:endParaRPr lang="en-US" altLang="zh-CN" sz="2400" b="0"/>
          </a:p>
          <a:p>
            <a:pPr marL="0" lvl="0" indent="0">
              <a:spcBef>
                <a:spcPct val="0"/>
              </a:spcBef>
              <a:buClrTx/>
              <a:buFontTx/>
              <a:buNone/>
            </a:pPr>
            <a:r>
              <a:rPr lang="en-US" altLang="zh-CN" sz="2400" b="0"/>
              <a:t>5.5</a:t>
            </a:r>
            <a:r>
              <a:rPr lang="zh-CN" altLang="en-US" sz="2400" b="0"/>
              <a:t> 段式存储管理</a:t>
            </a:r>
            <a:endParaRPr lang="en-US" altLang="zh-CN" sz="2400" b="0"/>
          </a:p>
          <a:p>
            <a:pPr marL="0" lvl="0" indent="0">
              <a:spcBef>
                <a:spcPct val="0"/>
              </a:spcBef>
              <a:buClrTx/>
              <a:buFontTx/>
              <a:buNone/>
            </a:pPr>
            <a:r>
              <a:rPr lang="en-US" altLang="zh-CN" sz="2400" b="0"/>
              <a:t>5.5.1 </a:t>
            </a:r>
            <a:r>
              <a:rPr lang="zh-CN" altLang="en-US" sz="2400" b="0"/>
              <a:t>段式存储管理引入</a:t>
            </a:r>
            <a:endParaRPr lang="en-US" altLang="zh-CN" sz="2400" b="0"/>
          </a:p>
          <a:p>
            <a:pPr marL="0" lvl="0" indent="0">
              <a:spcBef>
                <a:spcPct val="0"/>
              </a:spcBef>
              <a:buClrTx/>
              <a:buFontTx/>
              <a:buNone/>
            </a:pPr>
            <a:r>
              <a:rPr lang="en-US" altLang="zh-CN" sz="2400" b="0"/>
              <a:t>5.5.2 </a:t>
            </a:r>
            <a:r>
              <a:rPr lang="zh-CN" altLang="en-US" sz="2400" b="0"/>
              <a:t>段式存储管理原理</a:t>
            </a:r>
            <a:endParaRPr lang="en-US" altLang="zh-CN" sz="2400" b="0"/>
          </a:p>
          <a:p>
            <a:pPr marL="0" lvl="0" indent="0">
              <a:spcBef>
                <a:spcPct val="0"/>
              </a:spcBef>
              <a:buClrTx/>
              <a:buFontTx/>
              <a:buNone/>
            </a:pPr>
            <a:r>
              <a:rPr lang="zh-CN" altLang="en-US" sz="2400" b="0"/>
              <a:t>5.</a:t>
            </a:r>
            <a:r>
              <a:rPr lang="en-US" altLang="zh-CN" sz="2400" b="0"/>
              <a:t>6</a:t>
            </a:r>
            <a:r>
              <a:rPr lang="zh-CN" altLang="en-US" sz="2400" b="0"/>
              <a:t> 段页式存储管理</a:t>
            </a:r>
            <a:endParaRPr lang="en-US" altLang="zh-CN" sz="2400" b="0"/>
          </a:p>
        </p:txBody>
      </p:sp>
      <p:sp>
        <p:nvSpPr>
          <p:cNvPr id="6" name="Rectangle 6"/>
          <p:cNvSpPr txBox="1">
            <a:spLocks noChangeArrowheads="1"/>
          </p:cNvSpPr>
          <p:nvPr/>
        </p:nvSpPr>
        <p:spPr bwMode="auto">
          <a:xfrm>
            <a:off x="6084888" y="2300288"/>
            <a:ext cx="357187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342900" lvl="0" indent="-342900">
              <a:spcBef>
                <a:spcPct val="0"/>
              </a:spcBef>
              <a:buClrTx/>
              <a:buFontTx/>
              <a:buNone/>
            </a:pPr>
            <a:r>
              <a:rPr lang="zh-CN" altLang="en-US" sz="2400" b="0"/>
              <a:t>5.</a:t>
            </a:r>
            <a:r>
              <a:rPr lang="en-US" altLang="zh-CN" sz="2400" b="0"/>
              <a:t>7</a:t>
            </a:r>
            <a:r>
              <a:rPr lang="zh-CN" altLang="en-US" sz="2400" b="0"/>
              <a:t>内存扩充技术</a:t>
            </a:r>
            <a:endParaRPr lang="en-US" altLang="zh-CN" sz="2400" b="0"/>
          </a:p>
          <a:p>
            <a:pPr marL="342900" lvl="0" indent="-342900">
              <a:spcBef>
                <a:spcPct val="0"/>
              </a:spcBef>
              <a:buClrTx/>
              <a:buFontTx/>
              <a:buNone/>
            </a:pPr>
            <a:r>
              <a:rPr lang="zh-CN" altLang="en-US" sz="2400" b="0"/>
              <a:t>交换</a:t>
            </a:r>
            <a:r>
              <a:rPr lang="en-US" altLang="zh-CN" sz="2400" b="0"/>
              <a:t>,</a:t>
            </a:r>
            <a:r>
              <a:rPr lang="zh-CN" altLang="en-US" sz="2400" b="0"/>
              <a:t>覆盖</a:t>
            </a:r>
            <a:r>
              <a:rPr lang="en-US" altLang="zh-CN" sz="2400" b="0"/>
              <a:t>,</a:t>
            </a:r>
            <a:r>
              <a:rPr lang="zh-CN" altLang="en-US" sz="2400" b="0"/>
              <a:t>虚拟存储</a:t>
            </a:r>
            <a:endParaRPr lang="en-US" altLang="zh-CN" sz="2400" b="0"/>
          </a:p>
          <a:p>
            <a:pPr marL="342900" lvl="0" indent="-342900">
              <a:buNone/>
            </a:pPr>
            <a:r>
              <a:rPr lang="en-US" altLang="zh-CN" sz="2400" b="0"/>
              <a:t>5.8</a:t>
            </a:r>
            <a:r>
              <a:rPr lang="zh-CN" altLang="en-US" sz="2400" b="0"/>
              <a:t>虚拟页式存储</a:t>
            </a:r>
            <a:endParaRPr lang="en-US" altLang="zh-CN" sz="2400" b="0"/>
          </a:p>
          <a:p>
            <a:pPr marL="342900" lvl="0" indent="-342900">
              <a:buNone/>
            </a:pPr>
            <a:r>
              <a:rPr lang="en-US" altLang="zh-CN" sz="2400" b="0"/>
              <a:t>5.8.1</a:t>
            </a:r>
            <a:r>
              <a:rPr lang="zh-CN" altLang="en-US" sz="2400" b="0"/>
              <a:t>工作集，缺页率</a:t>
            </a:r>
            <a:endParaRPr lang="en-US" altLang="zh-CN" sz="2400" b="0"/>
          </a:p>
          <a:p>
            <a:pPr marL="342900" lvl="0" indent="-342900">
              <a:buNone/>
            </a:pPr>
            <a:r>
              <a:rPr lang="en-US" altLang="zh-CN" sz="2400" b="0"/>
              <a:t>5.8.2</a:t>
            </a:r>
            <a:r>
              <a:rPr lang="zh-CN" altLang="en-US" sz="2400" b="0"/>
              <a:t>虚拟页式存储过程</a:t>
            </a:r>
            <a:endParaRPr lang="en-US" altLang="zh-CN" sz="2400" b="0"/>
          </a:p>
          <a:p>
            <a:pPr marL="342900" lvl="0" indent="-342900">
              <a:buNone/>
            </a:pPr>
            <a:r>
              <a:rPr lang="en-US" altLang="zh-CN" sz="2400" b="0"/>
              <a:t>5.8.3</a:t>
            </a:r>
            <a:r>
              <a:rPr lang="zh-CN" altLang="en-US" sz="2400" b="0"/>
              <a:t>页面调入策略</a:t>
            </a:r>
            <a:endParaRPr lang="en-US" altLang="zh-CN" sz="2400" b="0"/>
          </a:p>
          <a:p>
            <a:pPr marL="342900" lvl="0" indent="-342900">
              <a:buNone/>
            </a:pPr>
            <a:r>
              <a:rPr lang="en-US" altLang="zh-CN" sz="2400" b="0"/>
              <a:t>5.8.4</a:t>
            </a:r>
            <a:r>
              <a:rPr lang="zh-CN" altLang="en-US" sz="2400" b="0"/>
              <a:t>页面置换算法</a:t>
            </a:r>
            <a:endParaRPr lang="en-US" altLang="zh-CN" sz="2400" b="0"/>
          </a:p>
          <a:p>
            <a:pPr marL="342900" lvl="0" indent="-342900">
              <a:buNone/>
            </a:pPr>
            <a:r>
              <a:rPr lang="en-US" altLang="zh-CN" sz="2400" b="0"/>
              <a:t>5.9</a:t>
            </a:r>
            <a:r>
              <a:rPr lang="zh-CN" altLang="en-US" sz="2400" b="0"/>
              <a:t>虚拟段式存储</a:t>
            </a:r>
            <a:endParaRPr lang="en-US" altLang="zh-CN" sz="2400" b="0"/>
          </a:p>
          <a:p>
            <a:pPr marL="342900" lvl="0" indent="-342900">
              <a:buNone/>
            </a:pPr>
            <a:r>
              <a:rPr lang="en-US" altLang="zh-CN" sz="2400" b="0"/>
              <a:t>5.10</a:t>
            </a:r>
            <a:r>
              <a:rPr lang="zh-CN" altLang="en-US" sz="2400" b="0"/>
              <a:t>虚拟段页式存储</a:t>
            </a:r>
            <a:endParaRPr lang="en-US" altLang="zh-CN" sz="2400" b="0"/>
          </a:p>
          <a:p>
            <a:pPr marL="342900" lvl="0" indent="-342900">
              <a:buFont typeface="Wingdings" panose="05000000000000000000" pitchFamily="2" charset="2"/>
              <a:buNone/>
            </a:pPr>
            <a:r>
              <a:rPr lang="zh-CN" altLang="en-US" sz="2400"/>
              <a:t> </a:t>
            </a:r>
            <a:endParaRPr lang="en-US" altLang="zh-CN" sz="2400"/>
          </a:p>
          <a:p>
            <a:pPr marL="342900" lvl="0" indent="-342900">
              <a:buFont typeface="Wingdings" panose="05000000000000000000" pitchFamily="2" charset="2"/>
              <a:buNone/>
            </a:pPr>
            <a:br>
              <a:rPr lang="zh-CN" altLang="en-US" sz="2400"/>
            </a:b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2">
                                            <p:txEl>
                                              <p:pRg st="0" end="0"/>
                                            </p:txEl>
                                          </p:spTgt>
                                        </p:tgtEl>
                                        <p:attrNameLst>
                                          <p:attrName>style.visibility</p:attrName>
                                        </p:attrNameLst>
                                      </p:cBhvr>
                                      <p:to>
                                        <p:strVal val="visible"/>
                                      </p:to>
                                    </p:set>
                                    <p:animEffect transition="in" filter="blinds(horizontal)">
                                      <p:cBhvr>
                                        <p:cTn id="7" dur="500"/>
                                        <p:tgtEl>
                                          <p:spTgt spid="143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42">
                                            <p:txEl>
                                              <p:pRg st="1" end="1"/>
                                            </p:txEl>
                                          </p:spTgt>
                                        </p:tgtEl>
                                        <p:attrNameLst>
                                          <p:attrName>style.visibility</p:attrName>
                                        </p:attrNameLst>
                                      </p:cBhvr>
                                      <p:to>
                                        <p:strVal val="visible"/>
                                      </p:to>
                                    </p:set>
                                    <p:animEffect transition="in" filter="blinds(horizontal)">
                                      <p:cBhvr>
                                        <p:cTn id="12" dur="500"/>
                                        <p:tgtEl>
                                          <p:spTgt spid="143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42">
                                            <p:txEl>
                                              <p:pRg st="2" end="2"/>
                                            </p:txEl>
                                          </p:spTgt>
                                        </p:tgtEl>
                                        <p:attrNameLst>
                                          <p:attrName>style.visibility</p:attrName>
                                        </p:attrNameLst>
                                      </p:cBhvr>
                                      <p:to>
                                        <p:strVal val="visible"/>
                                      </p:to>
                                    </p:set>
                                    <p:animEffect transition="in" filter="blinds(horizontal)">
                                      <p:cBhvr>
                                        <p:cTn id="17" dur="500"/>
                                        <p:tgtEl>
                                          <p:spTgt spid="143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42">
                                            <p:txEl>
                                              <p:pRg st="3" end="3"/>
                                            </p:txEl>
                                          </p:spTgt>
                                        </p:tgtEl>
                                        <p:attrNameLst>
                                          <p:attrName>style.visibility</p:attrName>
                                        </p:attrNameLst>
                                      </p:cBhvr>
                                      <p:to>
                                        <p:strVal val="visible"/>
                                      </p:to>
                                    </p:set>
                                    <p:animEffect transition="in" filter="blinds(horizontal)">
                                      <p:cBhvr>
                                        <p:cTn id="22" dur="500"/>
                                        <p:tgtEl>
                                          <p:spTgt spid="1434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342">
                                            <p:txEl>
                                              <p:pRg st="4" end="4"/>
                                            </p:txEl>
                                          </p:spTgt>
                                        </p:tgtEl>
                                        <p:attrNameLst>
                                          <p:attrName>style.visibility</p:attrName>
                                        </p:attrNameLst>
                                      </p:cBhvr>
                                      <p:to>
                                        <p:strVal val="visible"/>
                                      </p:to>
                                    </p:set>
                                    <p:animEffect transition="in" filter="blinds(horizontal)">
                                      <p:cBhvr>
                                        <p:cTn id="27" dur="500"/>
                                        <p:tgtEl>
                                          <p:spTgt spid="1434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342">
                                            <p:txEl>
                                              <p:pRg st="5" end="5"/>
                                            </p:txEl>
                                          </p:spTgt>
                                        </p:tgtEl>
                                        <p:attrNameLst>
                                          <p:attrName>style.visibility</p:attrName>
                                        </p:attrNameLst>
                                      </p:cBhvr>
                                      <p:to>
                                        <p:strVal val="visible"/>
                                      </p:to>
                                    </p:set>
                                    <p:animEffect transition="in" filter="blinds(horizontal)">
                                      <p:cBhvr>
                                        <p:cTn id="32" dur="500"/>
                                        <p:tgtEl>
                                          <p:spTgt spid="1434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342">
                                            <p:txEl>
                                              <p:pRg st="6" end="6"/>
                                            </p:txEl>
                                          </p:spTgt>
                                        </p:tgtEl>
                                        <p:attrNameLst>
                                          <p:attrName>style.visibility</p:attrName>
                                        </p:attrNameLst>
                                      </p:cBhvr>
                                      <p:to>
                                        <p:strVal val="visible"/>
                                      </p:to>
                                    </p:set>
                                    <p:animEffect transition="in" filter="blinds(horizontal)">
                                      <p:cBhvr>
                                        <p:cTn id="37" dur="500"/>
                                        <p:tgtEl>
                                          <p:spTgt spid="1434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342">
                                            <p:txEl>
                                              <p:pRg st="7" end="7"/>
                                            </p:txEl>
                                          </p:spTgt>
                                        </p:tgtEl>
                                        <p:attrNameLst>
                                          <p:attrName>style.visibility</p:attrName>
                                        </p:attrNameLst>
                                      </p:cBhvr>
                                      <p:to>
                                        <p:strVal val="visible"/>
                                      </p:to>
                                    </p:set>
                                    <p:animEffect transition="in" filter="blinds(horizontal)">
                                      <p:cBhvr>
                                        <p:cTn id="42" dur="500"/>
                                        <p:tgtEl>
                                          <p:spTgt spid="1434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Effect transition="in" filter="blinds(horizontal)">
                                      <p:cBhvr>
                                        <p:cTn id="47" dur="500"/>
                                        <p:tgtEl>
                                          <p:spTgt spid="6">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
                                            <p:txEl>
                                              <p:pRg st="1" end="1"/>
                                            </p:txEl>
                                          </p:spTgt>
                                        </p:tgtEl>
                                        <p:attrNameLst>
                                          <p:attrName>style.visibility</p:attrName>
                                        </p:attrNameLst>
                                      </p:cBhvr>
                                      <p:to>
                                        <p:strVal val="visible"/>
                                      </p:to>
                                    </p:set>
                                    <p:animEffect transition="in" filter="blinds(horizontal)">
                                      <p:cBhvr>
                                        <p:cTn id="52" dur="500"/>
                                        <p:tgtEl>
                                          <p:spTgt spid="6">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animEffect transition="in" filter="blinds(horizontal)">
                                      <p:cBhvr>
                                        <p:cTn id="57" dur="500"/>
                                        <p:tgtEl>
                                          <p:spTgt spid="6">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
                                            <p:txEl>
                                              <p:pRg st="3" end="3"/>
                                            </p:txEl>
                                          </p:spTgt>
                                        </p:tgtEl>
                                        <p:attrNameLst>
                                          <p:attrName>style.visibility</p:attrName>
                                        </p:attrNameLst>
                                      </p:cBhvr>
                                      <p:to>
                                        <p:strVal val="visible"/>
                                      </p:to>
                                    </p:set>
                                    <p:animEffect transition="in" filter="blinds(horizontal)">
                                      <p:cBhvr>
                                        <p:cTn id="62" dur="500"/>
                                        <p:tgtEl>
                                          <p:spTgt spid="6">
                                            <p:txEl>
                                              <p:pRg st="3" end="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
                                            <p:txEl>
                                              <p:pRg st="4" end="4"/>
                                            </p:txEl>
                                          </p:spTgt>
                                        </p:tgtEl>
                                        <p:attrNameLst>
                                          <p:attrName>style.visibility</p:attrName>
                                        </p:attrNameLst>
                                      </p:cBhvr>
                                      <p:to>
                                        <p:strVal val="visible"/>
                                      </p:to>
                                    </p:set>
                                    <p:animEffect transition="in" filter="blinds(horizontal)">
                                      <p:cBhvr>
                                        <p:cTn id="67" dur="500"/>
                                        <p:tgtEl>
                                          <p:spTgt spid="6">
                                            <p:txEl>
                                              <p:pRg st="4" end="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
                                            <p:txEl>
                                              <p:pRg st="5" end="5"/>
                                            </p:txEl>
                                          </p:spTgt>
                                        </p:tgtEl>
                                        <p:attrNameLst>
                                          <p:attrName>style.visibility</p:attrName>
                                        </p:attrNameLst>
                                      </p:cBhvr>
                                      <p:to>
                                        <p:strVal val="visible"/>
                                      </p:to>
                                    </p:set>
                                    <p:animEffect transition="in" filter="blinds(horizontal)">
                                      <p:cBhvr>
                                        <p:cTn id="72" dur="500"/>
                                        <p:tgtEl>
                                          <p:spTgt spid="6">
                                            <p:txEl>
                                              <p:pRg st="5" end="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6">
                                            <p:txEl>
                                              <p:pRg st="6" end="6"/>
                                            </p:txEl>
                                          </p:spTgt>
                                        </p:tgtEl>
                                        <p:attrNameLst>
                                          <p:attrName>style.visibility</p:attrName>
                                        </p:attrNameLst>
                                      </p:cBhvr>
                                      <p:to>
                                        <p:strVal val="visible"/>
                                      </p:to>
                                    </p:set>
                                    <p:animEffect transition="in" filter="blinds(horizontal)">
                                      <p:cBhvr>
                                        <p:cTn id="77" dur="500"/>
                                        <p:tgtEl>
                                          <p:spTgt spid="6">
                                            <p:txEl>
                                              <p:pRg st="6" end="6"/>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6">
                                            <p:txEl>
                                              <p:pRg st="7" end="7"/>
                                            </p:txEl>
                                          </p:spTgt>
                                        </p:tgtEl>
                                        <p:attrNameLst>
                                          <p:attrName>style.visibility</p:attrName>
                                        </p:attrNameLst>
                                      </p:cBhvr>
                                      <p:to>
                                        <p:strVal val="visible"/>
                                      </p:to>
                                    </p:set>
                                    <p:animEffect transition="in" filter="blinds(horizontal)">
                                      <p:cBhvr>
                                        <p:cTn id="82" dur="500"/>
                                        <p:tgtEl>
                                          <p:spTgt spid="6">
                                            <p:txEl>
                                              <p:pRg st="7" end="7"/>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6">
                                            <p:txEl>
                                              <p:pRg st="8" end="8"/>
                                            </p:txEl>
                                          </p:spTgt>
                                        </p:tgtEl>
                                        <p:attrNameLst>
                                          <p:attrName>style.visibility</p:attrName>
                                        </p:attrNameLst>
                                      </p:cBhvr>
                                      <p:to>
                                        <p:strVal val="visible"/>
                                      </p:to>
                                    </p:set>
                                    <p:animEffect transition="in" filter="blinds(horizontal)">
                                      <p:cBhvr>
                                        <p:cTn id="87" dur="500"/>
                                        <p:tgtEl>
                                          <p:spTgt spid="6">
                                            <p:txEl>
                                              <p:pRg st="8" end="8"/>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6">
                                            <p:txEl>
                                              <p:pRg st="9" end="9"/>
                                            </p:txEl>
                                          </p:spTgt>
                                        </p:tgtEl>
                                        <p:attrNameLst>
                                          <p:attrName>style.visibility</p:attrName>
                                        </p:attrNameLst>
                                      </p:cBhvr>
                                      <p:to>
                                        <p:strVal val="visible"/>
                                      </p:to>
                                    </p:set>
                                    <p:animEffect transition="in" filter="blinds(horizontal)">
                                      <p:cBhvr>
                                        <p:cTn id="92" dur="500"/>
                                        <p:tgtEl>
                                          <p:spTgt spid="6">
                                            <p:txEl>
                                              <p:pRg st="9" end="9"/>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6">
                                            <p:txEl>
                                              <p:pRg st="10" end="10"/>
                                            </p:txEl>
                                          </p:spTgt>
                                        </p:tgtEl>
                                        <p:attrNameLst>
                                          <p:attrName>style.visibility</p:attrName>
                                        </p:attrNameLst>
                                      </p:cBhvr>
                                      <p:to>
                                        <p:strVal val="visible"/>
                                      </p:to>
                                    </p:set>
                                    <p:animEffect transition="in" filter="blinds(horizontal)">
                                      <p:cBhvr>
                                        <p:cTn id="97"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bldLvl="2" build="p"/>
      <p:bldP spid="6" grpId="0" bldLvl="2"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5"/>
          <p:cNvSpPr txBox="1">
            <a:spLocks noGrp="1"/>
          </p:cNvSpPr>
          <p:nvPr>
            <p:ph type="sldNum" sz="quarter" idx="12"/>
          </p:nvPr>
        </p:nvSpPr>
        <p:spPr/>
        <p:txBody>
          <a:bodyPr anchor="b" anchorCtr="0"/>
          <a:lstStyle/>
          <a:p>
            <a:pPr marL="0" indent="0" algn="r">
              <a:spcBef>
                <a:spcPct val="0"/>
              </a:spcBef>
              <a:buClrTx/>
              <a:buFontTx/>
              <a:buNone/>
            </a:pPr>
            <a:fld id="{9A0DB2DC-4C9A-4742-B13C-FB6460FD3503}" type="slidenum">
              <a:rPr lang="zh-CN" altLang="en-US" sz="1400" b="0">
                <a:latin typeface="Tahoma" panose="020B0604030504040204" pitchFamily="34" charset="0"/>
                <a:ea typeface="宋体" pitchFamily="2" charset="-122"/>
              </a:rPr>
            </a:fld>
            <a:endParaRPr lang="zh-CN" altLang="en-US" sz="1400" b="0">
              <a:latin typeface="Tahoma" panose="020B0604030504040204" pitchFamily="34" charset="0"/>
              <a:ea typeface="宋体" pitchFamily="2" charset="-122"/>
            </a:endParaRPr>
          </a:p>
        </p:txBody>
      </p:sp>
      <p:sp>
        <p:nvSpPr>
          <p:cNvPr id="75778" name="Rectangle 2"/>
          <p:cNvSpPr>
            <a:spLocks noGrp="1"/>
          </p:cNvSpPr>
          <p:nvPr>
            <p:ph type="title"/>
          </p:nvPr>
        </p:nvSpPr>
        <p:spPr/>
        <p:txBody>
          <a:bodyPr vert="horz" wrap="square" lIns="91440" tIns="45720" rIns="91440" bIns="45720" anchor="b" anchorCtr="0"/>
          <a:lstStyle/>
          <a:p>
            <a:pPr eaLnBrk="1" hangingPunct="1"/>
            <a:r>
              <a:rPr lang="zh-CN" altLang="en-US"/>
              <a:t>作业</a:t>
            </a:r>
            <a:endParaRPr lang="zh-CN" altLang="en-US"/>
          </a:p>
        </p:txBody>
      </p:sp>
      <p:sp>
        <p:nvSpPr>
          <p:cNvPr id="75779" name="Rectangle 3"/>
          <p:cNvSpPr>
            <a:spLocks noGrp="1"/>
          </p:cNvSpPr>
          <p:nvPr>
            <p:ph idx="1"/>
          </p:nvPr>
        </p:nvSpPr>
        <p:spPr>
          <a:xfrm>
            <a:off x="1143000" y="2514600"/>
            <a:ext cx="7772400" cy="3505200"/>
          </a:xfrm>
        </p:spPr>
        <p:txBody>
          <a:bodyPr vert="horz" wrap="square" lIns="91440" tIns="45720" rIns="91440" bIns="45720" anchor="t" anchorCtr="0"/>
          <a:lstStyle/>
          <a:p>
            <a:pPr marL="0" indent="0" eaLnBrk="1" hangingPunct="1">
              <a:buNone/>
            </a:pPr>
            <a:r>
              <a:rPr lang="zh-CN" altLang="en-US"/>
              <a:t>2，3，5，6，11，15，16，17，18，19，20</a:t>
            </a:r>
            <a:endParaRPr lang="zh-CN" altLang="en-US"/>
          </a:p>
        </p:txBody>
      </p:sp>
    </p:spTree>
  </p:cSld>
  <p:clrMapOvr>
    <a:masterClrMapping/>
  </p:clrMapOvr>
  <p:transition/>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Correct"/>
</p:tagLst>
</file>

<file path=ppt/tags/tag10.xml><?xml version="1.0" encoding="utf-8"?>
<p:tagLst xmlns:p="http://schemas.openxmlformats.org/presentationml/2006/main">
  <p:tag name="RAINPROBLEM" val="ProblemSubmit"/>
  <p:tag name="RAINPROBLEMTYPE" val="MultipleChoice"/>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 val="ProblemSetting"/>
  <p:tag name="RAINPROBLEMTYPE" val="MultipleChoice"/>
</p:tagLst>
</file>

<file path=ppt/tags/tag16.xml><?xml version="1.0" encoding="utf-8"?>
<p:tagLst xmlns:p="http://schemas.openxmlformats.org/presentationml/2006/main">
  <p:tag name="RAINPROBLEM" val="MultipleChoice"/>
  <p:tag name="PROBLEMSCORE" val="1.0"/>
</p:tagLst>
</file>

<file path=ppt/tags/tag17.xml><?xml version="1.0" encoding="utf-8"?>
<p:tagLst xmlns:p="http://schemas.openxmlformats.org/presentationml/2006/main">
  <p:tag name="RAINPROBLEM" val="ProblemBody"/>
</p:tagLst>
</file>

<file path=ppt/tags/tag18.xml><?xml version="1.0" encoding="utf-8"?>
<p:tagLst xmlns:p="http://schemas.openxmlformats.org/presentationml/2006/main">
  <p:tag name="RAINPROBLEM" val="ProblemSubmit"/>
  <p:tag name="RAINPROBLEMTYPE" val="ShortAnswer"/>
</p:tagLst>
</file>

<file path=ppt/tags/tag19.xml><?xml version="1.0" encoding="utf-8"?>
<p:tagLst xmlns:p="http://schemas.openxmlformats.org/presentationml/2006/main">
  <p:tag name="PRODUCTVERSIONTIP" val="PRODUCTVERSIONTIP"/>
</p:tagLst>
</file>

<file path=ppt/tags/tag20.xml><?xml version="1.0" encoding="utf-8"?>
<p:tagLst xmlns:p="http://schemas.openxmlformats.org/presentationml/2006/main">
  <p:tag name="RAINPROBLEM" val="ProblemRemarkBoard"/>
</p:tagLst>
</file>

<file path=ppt/tags/tag21.xml><?xml version="1.0" encoding="utf-8"?>
<p:tagLst xmlns:p="http://schemas.openxmlformats.org/presentationml/2006/main">
  <p:tag name="PROBLEMREMARKTITLE" val="ProblemRemarkBoardTip"/>
</p:tagLst>
</file>

<file path=ppt/tags/tag22.xml><?xml version="1.0" encoding="utf-8"?>
<p:tagLst xmlns:p="http://schemas.openxmlformats.org/presentationml/2006/main">
  <p:tag name="RAINPROBLEM" val="ProblemRemark"/>
</p:tagLst>
</file>

<file path=ppt/tags/tag23.xml><?xml version="1.0" encoding="utf-8"?>
<p:tagLst xmlns:p="http://schemas.openxmlformats.org/presentationml/2006/main">
  <p:tag name="PROBLEMREMARKTITLE" val="ProblemRemarkBoardTitle"/>
</p:tagLst>
</file>

<file path=ppt/tags/tag24.xml><?xml version="1.0" encoding="utf-8"?>
<p:tagLst xmlns:p="http://schemas.openxmlformats.org/presentationml/2006/main">
  <p:tag name="PROBLEMREMARKTITLE" val="ProblemRemarkBoardTitle"/>
</p:tagLst>
</file>

<file path=ppt/tags/tag25.xml><?xml version="1.0" encoding="utf-8"?>
<p:tagLst xmlns:p="http://schemas.openxmlformats.org/presentationml/2006/main">
  <p:tag name="PROBLEMREMARKTITLE" val="ProblemRemarkBoardTitle"/>
</p:tagLst>
</file>

<file path=ppt/tags/tag26.xml><?xml version="1.0" encoding="utf-8"?>
<p:tagLst xmlns:p="http://schemas.openxmlformats.org/presentationml/2006/main">
  <p:tag name="PROBLEMREMARKTITLE" val="ProblemRemarkBoardTitle"/>
</p:tagLst>
</file>

<file path=ppt/tags/tag27.xml><?xml version="1.0" encoding="utf-8"?>
<p:tagLst xmlns:p="http://schemas.openxmlformats.org/presentationml/2006/main">
  <p:tag name="PROBLEMREMARKTITLE" val="ProblemRemarkBoardTitle"/>
</p:tagLst>
</file>

<file path=ppt/tags/tag28.xml><?xml version="1.0" encoding="utf-8"?>
<p:tagLst xmlns:p="http://schemas.openxmlformats.org/presentationml/2006/main">
  <p:tag name="PROBLEMREMARKTITLE" val="ProblemRemarkBoardTitle"/>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 val="ProblemSetting"/>
  <p:tag name="RAINPROBLEMTYPE" val="ShortAnswer"/>
</p:tagLst>
</file>

<file path=ppt/tags/tag34.xml><?xml version="1.0" encoding="utf-8"?>
<p:tagLst xmlns:p="http://schemas.openxmlformats.org/presentationml/2006/main">
  <p:tag name="KSO_WM_UNIT_TABLE_BEAUTIFY" val="smartTable{339290ff-3faa-4782-81a6-efb3c5258b87}"/>
  <p:tag name="KSO_WM_BEAUTIFY_FLAG" val=""/>
</p:tagLst>
</file>

<file path=ppt/tags/tag35.xml><?xml version="1.0" encoding="utf-8"?>
<p:tagLst xmlns:p="http://schemas.openxmlformats.org/presentationml/2006/main">
  <p:tag name="RAINPROBLEM" val="ShortAnswer"/>
  <p:tag name="PROBLEMSCORE" val="10.0"/>
  <p:tag name="PROBLEMHASREMARK" val="True"/>
  <p:tag name="PROBLEMREMARK" val="解：(1)2362H：页号2，页内地址362H。由页表知，此页在内存。访问时间：10 ns +100 ns +100 ns =210ns &#10;1565H: 页号1，页内地址565H。由页表知，此页不在内存。访问时间：10 ns +100 ns +108ns+100 ns≈108 ns&#10;25A5H: 页号2，页内地址5A5H。由页表项已放入快表。访问时间：10 ns +100 ns =110ns&#10;(2) 1565H: 页号1，页内地址565H。此页不在内存，把0号页面换出，1号页面放入101H页框，所以物理地址为101565H。"/>
  <p:tag name="PROBLEMVOICEALLOWED" val="True"/>
</p:tagLst>
</file>

<file path=ppt/tags/tag36.xml><?xml version="1.0" encoding="utf-8"?>
<p:tagLst xmlns:p="http://schemas.openxmlformats.org/presentationml/2006/main">
  <p:tag name="KSO_WM_UNIT_TABLE_BEAUTIFY" val="smartTable{339290ff-3faa-4782-81a6-efb3c5258b87}"/>
</p:tagLst>
</file>

<file path=ppt/tags/tag37.xml><?xml version="1.0" encoding="utf-8"?>
<p:tagLst xmlns:p="http://schemas.openxmlformats.org/presentationml/2006/main">
  <p:tag name="RAINPROBLEM" val="ProblemBody"/>
</p:tagLst>
</file>

<file path=ppt/tags/tag38.xml><?xml version="1.0" encoding="utf-8"?>
<p:tagLst xmlns:p="http://schemas.openxmlformats.org/presentationml/2006/main">
  <p:tag name="RAINPROBLEM" val="ProblemItem"/>
</p:tagLst>
</file>

<file path=ppt/tags/tag39.xml><?xml version="1.0" encoding="utf-8"?>
<p:tagLst xmlns:p="http://schemas.openxmlformats.org/presentationml/2006/main">
  <p:tag name="RAINPROBLEM" val="ProblemItem"/>
</p:tagLst>
</file>

<file path=ppt/tags/tag40.xml><?xml version="1.0" encoding="utf-8"?>
<p:tagLst xmlns:p="http://schemas.openxmlformats.org/presentationml/2006/main">
  <p:tag name="RAINPROBLEM" val="ProblemItem"/>
</p:tagLst>
</file>

<file path=ppt/tags/tag41.xml><?xml version="1.0" encoding="utf-8"?>
<p:tagLst xmlns:p="http://schemas.openxmlformats.org/presentationml/2006/main">
  <p:tag name="RAINPROBLEM" val="ProblemItem"/>
</p:tagLst>
</file>

<file path=ppt/tags/tag42.xml><?xml version="1.0" encoding="utf-8"?>
<p:tagLst xmlns:p="http://schemas.openxmlformats.org/presentationml/2006/main">
  <p:tag name="RAINPROBLEM" val="ProblemBullet"/>
  <p:tag name="RAINPROBLEMTYPE" val="MultipleChoice"/>
  <p:tag name="RAINBULLET" val="Correct"/>
</p:tagLst>
</file>

<file path=ppt/tags/tag43.xml><?xml version="1.0" encoding="utf-8"?>
<p:tagLst xmlns:p="http://schemas.openxmlformats.org/presentationml/2006/main">
  <p:tag name="RAINPROBLEM" val="ProblemBullet"/>
  <p:tag name="RAINPROBLEMTYPE" val="MultipleChoice"/>
  <p:tag name="RAINBULLET" val="Wrong"/>
</p:tagLst>
</file>

<file path=ppt/tags/tag44.xml><?xml version="1.0" encoding="utf-8"?>
<p:tagLst xmlns:p="http://schemas.openxmlformats.org/presentationml/2006/main">
  <p:tag name="RAINPROBLEM" val="ProblemBullet"/>
  <p:tag name="RAINPROBLEMTYPE" val="MultipleChoice"/>
  <p:tag name="RAINBULLET" val="Wrong"/>
</p:tagLst>
</file>

<file path=ppt/tags/tag45.xml><?xml version="1.0" encoding="utf-8"?>
<p:tagLst xmlns:p="http://schemas.openxmlformats.org/presentationml/2006/main">
  <p:tag name="RAINPROBLEM" val="ProblemBullet"/>
  <p:tag name="RAINPROBLEMTYPE" val="MultipleChoice"/>
  <p:tag name="RAINBULLET" val="Wrong"/>
</p:tagLst>
</file>

<file path=ppt/tags/tag46.xml><?xml version="1.0" encoding="utf-8"?>
<p:tagLst xmlns:p="http://schemas.openxmlformats.org/presentationml/2006/main">
  <p:tag name="RAINPROBLEM" val="ProblemSubmit"/>
  <p:tag name="RAINPROBLEMTYPE" val="MultipleChoice"/>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 val="ProblemSetting"/>
  <p:tag name="RAINPROBLEMTYPE" val="MultipleChoice"/>
</p:tagLst>
</file>

<file path=ppt/tags/tag52.xml><?xml version="1.0" encoding="utf-8"?>
<p:tagLst xmlns:p="http://schemas.openxmlformats.org/presentationml/2006/main">
  <p:tag name="RAINPROBLEM" val="MultipleChoice"/>
  <p:tag name="PROBLEMSCORE" val="1.0"/>
</p:tagLst>
</file>

<file path=ppt/tags/tag53.xml><?xml version="1.0" encoding="utf-8"?>
<p:tagLst xmlns:p="http://schemas.openxmlformats.org/presentationml/2006/main">
  <p:tag name="RAINPROBLEM" val="ProblemBody"/>
</p:tagLst>
</file>

<file path=ppt/tags/tag54.xml><?xml version="1.0" encoding="utf-8"?>
<p:tagLst xmlns:p="http://schemas.openxmlformats.org/presentationml/2006/main">
  <p:tag name="RAINPROBLEM" val="ProblemItem"/>
</p:tagLst>
</file>

<file path=ppt/tags/tag55.xml><?xml version="1.0" encoding="utf-8"?>
<p:tagLst xmlns:p="http://schemas.openxmlformats.org/presentationml/2006/main">
  <p:tag name="RAINPROBLEM" val="ProblemItem"/>
</p:tagLst>
</file>

<file path=ppt/tags/tag56.xml><?xml version="1.0" encoding="utf-8"?>
<p:tagLst xmlns:p="http://schemas.openxmlformats.org/presentationml/2006/main">
  <p:tag name="RAINPROBLEM" val="ProblemItem"/>
</p:tagLst>
</file>

<file path=ppt/tags/tag57.xml><?xml version="1.0" encoding="utf-8"?>
<p:tagLst xmlns:p="http://schemas.openxmlformats.org/presentationml/2006/main">
  <p:tag name="RAINPROBLEM" val="ProblemItem"/>
</p:tagLst>
</file>

<file path=ppt/tags/tag58.xml><?xml version="1.0" encoding="utf-8"?>
<p:tagLst xmlns:p="http://schemas.openxmlformats.org/presentationml/2006/main">
  <p:tag name="RAINPROBLEM" val="ProblemBullet"/>
  <p:tag name="RAINPROBLEMTYPE" val="MultipleChoice"/>
  <p:tag name="RAINBULLET" val="Wrong"/>
</p:tagLst>
</file>

<file path=ppt/tags/tag59.xml><?xml version="1.0" encoding="utf-8"?>
<p:tagLst xmlns:p="http://schemas.openxmlformats.org/presentationml/2006/main">
  <p:tag name="RAINPROBLEM" val="ProblemBullet"/>
  <p:tag name="RAINPROBLEMTYPE" val="MultipleChoice"/>
  <p:tag name="RAINBULLET" val="Wrong"/>
</p:tagLst>
</file>

<file path=ppt/tags/tag60.xml><?xml version="1.0" encoding="utf-8"?>
<p:tagLst xmlns:p="http://schemas.openxmlformats.org/presentationml/2006/main">
  <p:tag name="RAINPROBLEM" val="ProblemBullet"/>
  <p:tag name="RAINPROBLEMTYPE" val="MultipleChoice"/>
  <p:tag name="RAINBULLET" val="Wrong"/>
</p:tagLst>
</file>

<file path=ppt/tags/tag61.xml><?xml version="1.0" encoding="utf-8"?>
<p:tagLst xmlns:p="http://schemas.openxmlformats.org/presentationml/2006/main">
  <p:tag name="RAINPROBLEM" val="ProblemBullet"/>
  <p:tag name="RAINPROBLEMTYPE" val="MultipleChoice"/>
  <p:tag name="RAINBULLET" val="Correct"/>
</p:tagLst>
</file>

<file path=ppt/tags/tag62.xml><?xml version="1.0" encoding="utf-8"?>
<p:tagLst xmlns:p="http://schemas.openxmlformats.org/presentationml/2006/main">
  <p:tag name="RAINPROBLEM" val="ProblemSubmit"/>
  <p:tag name="RAINPROBLEMTYPE" val="MultipleChoice"/>
</p:tagLst>
</file>

<file path=ppt/tags/tag63.xml><?xml version="1.0" encoding="utf-8"?>
<p:tagLst xmlns:p="http://schemas.openxmlformats.org/presentationml/2006/main">
  <p:tag name="RAINPROBLEMTYPE" val="ProblemTypeMarker"/>
</p:tagLst>
</file>

<file path=ppt/tags/tag64.xml><?xml version="1.0" encoding="utf-8"?>
<p:tagLst xmlns:p="http://schemas.openxmlformats.org/presentationml/2006/main">
  <p:tag name="RAINPROBLEMTYPE" val="ProblemTypeMarker"/>
</p:tagLst>
</file>

<file path=ppt/tags/tag65.xml><?xml version="1.0" encoding="utf-8"?>
<p:tagLst xmlns:p="http://schemas.openxmlformats.org/presentationml/2006/main">
  <p:tag name="RAINPROBLEMTYPE" val="ProblemTypeMarker"/>
</p:tagLst>
</file>

<file path=ppt/tags/tag66.xml><?xml version="1.0" encoding="utf-8"?>
<p:tagLst xmlns:p="http://schemas.openxmlformats.org/presentationml/2006/main">
  <p:tag name="RAINPROBLEMTYPE" val="ProblemTypeMarker"/>
</p:tagLst>
</file>

<file path=ppt/tags/tag67.xml><?xml version="1.0" encoding="utf-8"?>
<p:tagLst xmlns:p="http://schemas.openxmlformats.org/presentationml/2006/main">
  <p:tag name="RAINPROBLEM" val="ProblemSetting"/>
  <p:tag name="RAINPROBLEMTYPE" val="MultipleChoice"/>
</p:tagLst>
</file>

<file path=ppt/tags/tag68.xml><?xml version="1.0" encoding="utf-8"?>
<p:tagLst xmlns:p="http://schemas.openxmlformats.org/presentationml/2006/main">
  <p:tag name="RAINPROBLEM" val="MultipleChoice"/>
  <p:tag name="PROBLEMSCORE" val="1.0"/>
</p:tagLst>
</file>

<file path=ppt/tags/tag69.xml><?xml version="1.0" encoding="utf-8"?>
<p:tagLst xmlns:p="http://schemas.openxmlformats.org/presentationml/2006/main">
  <p:tag name="RAINPROBLEM" val="ProblemBody"/>
</p:tagLst>
</file>

<file path=ppt/tags/tag70.xml><?xml version="1.0" encoding="utf-8"?>
<p:tagLst xmlns:p="http://schemas.openxmlformats.org/presentationml/2006/main">
  <p:tag name="RAINPROBLEM" val="ProblemSubmit"/>
  <p:tag name="RAINPROBLEMTYPE" val="ShortAnswer"/>
</p:tagLst>
</file>

<file path=ppt/tags/tag71.xml><?xml version="1.0" encoding="utf-8"?>
<p:tagLst xmlns:p="http://schemas.openxmlformats.org/presentationml/2006/main">
  <p:tag name="PRODUCTVERSIONTIP" val="PRODUCTVERSIONTIP"/>
</p:tagLst>
</file>

<file path=ppt/tags/tag72.xml><?xml version="1.0" encoding="utf-8"?>
<p:tagLst xmlns:p="http://schemas.openxmlformats.org/presentationml/2006/main">
  <p:tag name="RAINPROBLEM" val="ProblemRemarkBoard"/>
</p:tagLst>
</file>

<file path=ppt/tags/tag73.xml><?xml version="1.0" encoding="utf-8"?>
<p:tagLst xmlns:p="http://schemas.openxmlformats.org/presentationml/2006/main">
  <p:tag name="PROBLEMREMARKTITLE" val="ProblemRemarkBoardTip"/>
</p:tagLst>
</file>

<file path=ppt/tags/tag74.xml><?xml version="1.0" encoding="utf-8"?>
<p:tagLst xmlns:p="http://schemas.openxmlformats.org/presentationml/2006/main">
  <p:tag name="RAINPROBLEM" val="ProblemRemark"/>
</p:tagLst>
</file>

<file path=ppt/tags/tag75.xml><?xml version="1.0" encoding="utf-8"?>
<p:tagLst xmlns:p="http://schemas.openxmlformats.org/presentationml/2006/main">
  <p:tag name="RAINPROBLEMTYPE" val="ProblemTypeMarker"/>
</p:tagLst>
</file>

<file path=ppt/tags/tag76.xml><?xml version="1.0" encoding="utf-8"?>
<p:tagLst xmlns:p="http://schemas.openxmlformats.org/presentationml/2006/main">
  <p:tag name="RAINPROBLEMTYPE" val="ProblemTypeMarker"/>
</p:tagLst>
</file>

<file path=ppt/tags/tag77.xml><?xml version="1.0" encoding="utf-8"?>
<p:tagLst xmlns:p="http://schemas.openxmlformats.org/presentationml/2006/main">
  <p:tag name="RAINPROBLEMTYPE" val="ProblemTypeMarker"/>
</p:tagLst>
</file>

<file path=ppt/tags/tag78.xml><?xml version="1.0" encoding="utf-8"?>
<p:tagLst xmlns:p="http://schemas.openxmlformats.org/presentationml/2006/main">
  <p:tag name="RAINPROBLEMTYPE" val="ProblemTypeMarker"/>
</p:tagLst>
</file>

<file path=ppt/tags/tag79.xml><?xml version="1.0" encoding="utf-8"?>
<p:tagLst xmlns:p="http://schemas.openxmlformats.org/presentationml/2006/main">
  <p:tag name="PROBLEMREMARKTITLE" val="ProblemRemarkBoardTitle"/>
</p:tagLst>
</file>

<file path=ppt/tags/tag80.xml><?xml version="1.0" encoding="utf-8"?>
<p:tagLst xmlns:p="http://schemas.openxmlformats.org/presentationml/2006/main">
  <p:tag name="PROBLEMREMARKTITLE" val="ProblemRemarkBoardTitle"/>
</p:tagLst>
</file>

<file path=ppt/tags/tag81.xml><?xml version="1.0" encoding="utf-8"?>
<p:tagLst xmlns:p="http://schemas.openxmlformats.org/presentationml/2006/main">
  <p:tag name="PROBLEMREMARKTITLE" val="ProblemRemarkBoardTitle"/>
</p:tagLst>
</file>

<file path=ppt/tags/tag82.xml><?xml version="1.0" encoding="utf-8"?>
<p:tagLst xmlns:p="http://schemas.openxmlformats.org/presentationml/2006/main">
  <p:tag name="RAINPROBLEM" val="ProblemSetting"/>
  <p:tag name="RAINPROBLEMTYPE" val="ShortAnswer"/>
</p:tagLst>
</file>

<file path=ppt/tags/tag83.xml><?xml version="1.0" encoding="utf-8"?>
<p:tagLst xmlns:p="http://schemas.openxmlformats.org/presentationml/2006/main">
  <p:tag name="RAINPROBLEM" val="ShortAnswer"/>
  <p:tag name="PROBLEMSCORE" val="10.0"/>
  <p:tag name="PROBLEMHASREMARK" val="True"/>
  <p:tag name="PROBLEMVOICEALLOWED" val="True"/>
</p:tagLst>
</file>

<file path=ppt/tags/tag84.xml><?xml version="1.0" encoding="utf-8"?>
<p:tagLst xmlns:p="http://schemas.openxmlformats.org/presentationml/2006/main">
  <p:tag name="RAINPROBLEM" val="ProblemBody"/>
</p:tagLst>
</file>

<file path=ppt/tags/tag85.xml><?xml version="1.0" encoding="utf-8"?>
<p:tagLst xmlns:p="http://schemas.openxmlformats.org/presentationml/2006/main">
  <p:tag name="RAINPROBLEM" val="ProblemSubmit"/>
  <p:tag name="RAINPROBLEMTYPE" val="ShortAnswer"/>
</p:tagLst>
</file>

<file path=ppt/tags/tag86.xml><?xml version="1.0" encoding="utf-8"?>
<p:tagLst xmlns:p="http://schemas.openxmlformats.org/presentationml/2006/main">
  <p:tag name="PRODUCTVERSIONTIP" val="PRODUCTVERSIONTIP"/>
</p:tagLst>
</file>

<file path=ppt/tags/tag87.xml><?xml version="1.0" encoding="utf-8"?>
<p:tagLst xmlns:p="http://schemas.openxmlformats.org/presentationml/2006/main">
  <p:tag name="RAINPROBLEM" val="ProblemRemarkBoard"/>
</p:tagLst>
</file>

<file path=ppt/tags/tag88.xml><?xml version="1.0" encoding="utf-8"?>
<p:tagLst xmlns:p="http://schemas.openxmlformats.org/presentationml/2006/main">
  <p:tag name="PROBLEMREMARKTITLE" val="ProblemRemarkBoardTip"/>
</p:tagLst>
</file>

<file path=ppt/tags/tag89.xml><?xml version="1.0" encoding="utf-8"?>
<p:tagLst xmlns:p="http://schemas.openxmlformats.org/presentationml/2006/main">
  <p:tag name="RAINPROBLEM" val="ProblemRemark"/>
</p:tagLst>
</file>

<file path=ppt/tags/tag90.xml><?xml version="1.0" encoding="utf-8"?>
<p:tagLst xmlns:p="http://schemas.openxmlformats.org/presentationml/2006/main">
  <p:tag name="RAINPROBLEMTYPE" val="ProblemTypeMarker"/>
</p:tagLst>
</file>

<file path=ppt/tags/tag91.xml><?xml version="1.0" encoding="utf-8"?>
<p:tagLst xmlns:p="http://schemas.openxmlformats.org/presentationml/2006/main">
  <p:tag name="RAINPROBLEMTYPE" val="ProblemTypeMarker"/>
</p:tagLst>
</file>

<file path=ppt/tags/tag92.xml><?xml version="1.0" encoding="utf-8"?>
<p:tagLst xmlns:p="http://schemas.openxmlformats.org/presentationml/2006/main">
  <p:tag name="RAINPROBLEMTYPE" val="ProblemTypeMarker"/>
</p:tagLst>
</file>

<file path=ppt/tags/tag93.xml><?xml version="1.0" encoding="utf-8"?>
<p:tagLst xmlns:p="http://schemas.openxmlformats.org/presentationml/2006/main">
  <p:tag name="RAINPROBLEMTYPE" val="ProblemTypeMarker"/>
</p:tagLst>
</file>

<file path=ppt/tags/tag94.xml><?xml version="1.0" encoding="utf-8"?>
<p:tagLst xmlns:p="http://schemas.openxmlformats.org/presentationml/2006/main">
  <p:tag name="PROBLEMREMARKTITLE" val="ProblemRemarkBoardTitle"/>
</p:tagLst>
</file>

<file path=ppt/tags/tag95.xml><?xml version="1.0" encoding="utf-8"?>
<p:tagLst xmlns:p="http://schemas.openxmlformats.org/presentationml/2006/main">
  <p:tag name="PROBLEMREMARKTITLE" val="ProblemRemarkBoardTitle"/>
</p:tagLst>
</file>

<file path=ppt/tags/tag96.xml><?xml version="1.0" encoding="utf-8"?>
<p:tagLst xmlns:p="http://schemas.openxmlformats.org/presentationml/2006/main">
  <p:tag name="PROBLEMREMARKTITLE" val="ProblemRemarkBoardTitle"/>
</p:tagLst>
</file>

<file path=ppt/tags/tag97.xml><?xml version="1.0" encoding="utf-8"?>
<p:tagLst xmlns:p="http://schemas.openxmlformats.org/presentationml/2006/main">
  <p:tag name="RAINPROBLEM" val="ProblemSetting"/>
  <p:tag name="RAINPROBLEMTYPE" val="ShortAnswer"/>
</p:tagLst>
</file>

<file path=ppt/tags/tag98.xml><?xml version="1.0" encoding="utf-8"?>
<p:tagLst xmlns:p="http://schemas.openxmlformats.org/presentationml/2006/main">
  <p:tag name="RAINPROBLEM" val="ShortAnswer"/>
  <p:tag name="PROBLEMSCORE" val="10.0"/>
  <p:tag name="PROBLEMHASREMARK" val="True"/>
  <p:tag name="PROBLEMREMARK" val="解：(1)2362H：页号2，页内地址362H。由页表知，此页在内存。访问时间：10 ns +100 ns +100 ns =210ns &#10;1565H: 页号1，页内地址565H。由页表知，此页不在内存。访问时间：10 ns +100 ns +108ns+100 ns≈108 ns&#10;25A5H: 页号2，页内地址5A5H。由页表项已放入快表。访问时间：10 ns +100 ns =110ns&#10;(2) 1565H: 页号1，页内地址565H。此页不在内存，把0号页面换出，1号页面放入101H页框，所以物理地址为101565H。"/>
  <p:tag name="PROBLEMVOICEALLOWED" val="True"/>
</p:tagLst>
</file>

<file path=ppt/tags/tag99.xml><?xml version="1.0" encoding="utf-8"?>
<p:tagLst xmlns:p="http://schemas.openxmlformats.org/presentationml/2006/main">
  <p:tag name="KSO_WPP_MARK_KEY" val="0969a45f-63af-4cfb-bc3e-29f763de1dea"/>
  <p:tag name="COMMONDATA" val="eyJoZGlkIjoiYzVjMGE0OTkyMjE4MGFjZTBkZGNmNTkzMzk5N2EwOTgifQ=="/>
</p:tagLst>
</file>

<file path=ppt/theme/theme1.xml><?xml version="1.0" encoding="utf-8"?>
<a:theme xmlns:a="http://schemas.openxmlformats.org/drawingml/2006/main" name="操作系统讲义">
  <a:themeElements>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操作系统讲义">
      <a:majorFont>
        <a:latin typeface="Arial Black"/>
        <a:ea typeface=""/>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503050405090304"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503050405090304" pitchFamily="18" charset="0"/>
          </a:defRPr>
        </a:defPPr>
      </a:lstStyle>
    </a:lnDef>
  </a:objectDefaults>
  <a:extraClrSchemeLst>
    <a:extraClrScheme>
      <a:clrScheme name="操作系统讲义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操作系统讲义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操作系统讲义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操作系统讲义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操作系统讲义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操作系统讲义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第3章进程管理_作业习题</Template>
  <TotalTime>0</TotalTime>
  <Words>10780</Words>
  <Application>WPS 演示</Application>
  <PresentationFormat>全屏显示(4:3)</PresentationFormat>
  <Paragraphs>1699</Paragraphs>
  <Slides>59</Slides>
  <Notes>7</Notes>
  <HiddenSlides>0</HiddenSlides>
  <MMClips>0</MMClips>
  <ScaleCrop>false</ScaleCrop>
  <HeadingPairs>
    <vt:vector size="6" baseType="variant">
      <vt:variant>
        <vt:lpstr>已用的字体</vt:lpstr>
      </vt:variant>
      <vt:variant>
        <vt:i4>38</vt:i4>
      </vt:variant>
      <vt:variant>
        <vt:lpstr>主题</vt:lpstr>
      </vt:variant>
      <vt:variant>
        <vt:i4>1</vt:i4>
      </vt:variant>
      <vt:variant>
        <vt:lpstr>幻灯片标题</vt:lpstr>
      </vt:variant>
      <vt:variant>
        <vt:i4>59</vt:i4>
      </vt:variant>
    </vt:vector>
  </HeadingPairs>
  <TitlesOfParts>
    <vt:vector size="98" baseType="lpstr">
      <vt:lpstr>Arial</vt:lpstr>
      <vt:lpstr>宋体</vt:lpstr>
      <vt:lpstr>Wingdings</vt:lpstr>
      <vt:lpstr>Times New Roman</vt:lpstr>
      <vt:lpstr>黑体</vt:lpstr>
      <vt:lpstr>汉仪中黑KW</vt:lpstr>
      <vt:lpstr>汉仪书宋二KW</vt:lpstr>
      <vt:lpstr>Arial Black</vt:lpstr>
      <vt:lpstr>Monotype Sorts</vt:lpstr>
      <vt:lpstr>Thonburi</vt:lpstr>
      <vt:lpstr>华文行楷</vt:lpstr>
      <vt:lpstr>隶书</vt:lpstr>
      <vt:lpstr>Tahoma</vt:lpstr>
      <vt:lpstr>times</vt:lpstr>
      <vt:lpstr>行楷-简</vt:lpstr>
      <vt:lpstr>报隶-简</vt:lpstr>
      <vt:lpstr>微软雅黑</vt:lpstr>
      <vt:lpstr>汉仪旗黑</vt:lpstr>
      <vt:lpstr>宋体</vt:lpstr>
      <vt:lpstr>Arial Unicode MS</vt:lpstr>
      <vt:lpstr>楷体_GB2312</vt:lpstr>
      <vt:lpstr>汉仪楷体简</vt:lpstr>
      <vt:lpstr>Courier New</vt:lpstr>
      <vt:lpstr>Calibri</vt:lpstr>
      <vt:lpstr>Symbol</vt:lpstr>
      <vt:lpstr>Kingsoft Sign</vt:lpstr>
      <vt:lpstr>Helvetica Neue</vt:lpstr>
      <vt:lpstr>Monotype Sorts</vt:lpstr>
      <vt:lpstr>Symbol</vt:lpstr>
      <vt:lpstr>Wingdings</vt:lpstr>
      <vt:lpstr>times</vt:lpstr>
      <vt:lpstr>华文行楷</vt:lpstr>
      <vt:lpstr>微软雅黑</vt:lpstr>
      <vt:lpstr>楷体_GB2312</vt:lpstr>
      <vt:lpstr>隶书</vt:lpstr>
      <vt:lpstr>黑体</vt:lpstr>
      <vt:lpstr>苹方-简</vt:lpstr>
      <vt:lpstr>宋体-简</vt:lpstr>
      <vt:lpstr>操作系统讲义</vt:lpstr>
      <vt:lpstr>《操作系统》</vt:lpstr>
      <vt:lpstr>5 存储管理</vt:lpstr>
      <vt:lpstr>5.7 内存扩充技术</vt:lpstr>
      <vt:lpstr>5.7 内存扩充技术</vt:lpstr>
      <vt:lpstr>5.7.1 覆盖技术</vt:lpstr>
      <vt:lpstr>5.7.1 覆盖技术</vt:lpstr>
      <vt:lpstr>5.7.2 交换技术</vt:lpstr>
      <vt:lpstr>5.7.2 交换技术</vt:lpstr>
      <vt:lpstr>5.7.2 交换技术</vt:lpstr>
      <vt:lpstr>5.8 虚拟存储</vt:lpstr>
      <vt:lpstr>5.8 虚拟存储</vt:lpstr>
      <vt:lpstr>5.8 虚拟存储</vt:lpstr>
      <vt:lpstr>5.8 虚拟存储</vt:lpstr>
      <vt:lpstr>5.8 虚拟存储</vt:lpstr>
      <vt:lpstr>5.8 虚拟存储</vt:lpstr>
      <vt:lpstr>5.8 虚拟页式存储</vt:lpstr>
      <vt:lpstr>5.8.1虚拟页式存储过程</vt:lpstr>
      <vt:lpstr>5.8.1虚拟页式存储过程</vt:lpstr>
      <vt:lpstr>5.8.1虚拟页式存储过程</vt:lpstr>
      <vt:lpstr>5.8.1虚拟页式存储过程</vt:lpstr>
      <vt:lpstr>PowerPoint 演示文稿</vt:lpstr>
      <vt:lpstr>PowerPoint 演示文稿</vt:lpstr>
      <vt:lpstr>5.8.1虚拟页式存储过程</vt:lpstr>
      <vt:lpstr>5.8.2 分多少块？</vt:lpstr>
      <vt:lpstr>5.8.2分多少块？</vt:lpstr>
      <vt:lpstr>PowerPoint 演示文稿</vt:lpstr>
      <vt:lpstr>5.8.2分多少块？</vt:lpstr>
      <vt:lpstr>5.8.2分多少块？</vt:lpstr>
      <vt:lpstr>5.8.2 缺页率</vt:lpstr>
      <vt:lpstr>5.8.2 缺页率</vt:lpstr>
      <vt:lpstr>5.8.3页面调入策略</vt:lpstr>
      <vt:lpstr>5.8.4页面置换算法</vt:lpstr>
      <vt:lpstr>5.8.4页面置换算法</vt:lpstr>
      <vt:lpstr>PowerPoint 演示文稿</vt:lpstr>
      <vt:lpstr>5.8.4页面置换算法</vt:lpstr>
      <vt:lpstr>5.8.4页面置换算法</vt:lpstr>
      <vt:lpstr>PowerPoint 演示文稿</vt:lpstr>
      <vt:lpstr>PowerPoint 演示文稿</vt:lpstr>
      <vt:lpstr>PowerPoint 演示文稿</vt:lpstr>
      <vt:lpstr>5.8.4页面置换算法</vt:lpstr>
      <vt:lpstr>5.8.4页面置换算法</vt:lpstr>
      <vt:lpstr>5.8.4页面置换算法</vt:lpstr>
      <vt:lpstr>5.8.4页面置换算法</vt:lpstr>
      <vt:lpstr>5.8.4页面置换算法</vt:lpstr>
      <vt:lpstr>5.8.4页面置换算法</vt:lpstr>
      <vt:lpstr>5.8.4页面置换算法</vt:lpstr>
      <vt:lpstr>5.8.4页面置换算法</vt:lpstr>
      <vt:lpstr>PowerPoint 演示文稿</vt:lpstr>
      <vt:lpstr>PowerPoint 演示文稿</vt:lpstr>
      <vt:lpstr>5.8.4页面置换算法</vt:lpstr>
      <vt:lpstr>PowerPoint 演示文稿</vt:lpstr>
      <vt:lpstr>5.8.4页面置换算法</vt:lpstr>
      <vt:lpstr>5.8.4页面置换算法</vt:lpstr>
      <vt:lpstr>PowerPoint 演示文稿</vt:lpstr>
      <vt:lpstr>PowerPoint 演示文稿</vt:lpstr>
      <vt:lpstr>5.9虚拟段式存储</vt:lpstr>
      <vt:lpstr>5.10 虚拟段页存储</vt:lpstr>
      <vt:lpstr>总结</vt:lpstr>
      <vt:lpstr>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第1章操作系统概论</dc:title>
  <dc:creator/>
  <cp:lastModifiedBy>快跑</cp:lastModifiedBy>
  <cp:revision>291</cp:revision>
  <dcterms:created xsi:type="dcterms:W3CDTF">2026-06-23T07:54:47Z</dcterms:created>
  <dcterms:modified xsi:type="dcterms:W3CDTF">2026-06-23T07:54:47Z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5C442A3374F549BF9B95314CFAFF5130</vt:lpwstr>
  </property>
  <property fmtid="{D5CDD505-2E9C-101B-9397-08002B2CF9AE}" pid="3" name="KSOProductBuildVer">
    <vt:lpwstr>2052-12.1.25205.25205</vt:lpwstr>
  </property>
</Properties>
</file>