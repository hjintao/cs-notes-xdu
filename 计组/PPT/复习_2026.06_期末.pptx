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media/image1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969" r:id="rId6"/>
    <p:sldId id="882" r:id="rId7"/>
    <p:sldId id="902" r:id="rId8"/>
    <p:sldId id="903" r:id="rId9"/>
    <p:sldId id="904" r:id="rId10"/>
    <p:sldId id="985" r:id="rId11"/>
    <p:sldId id="986" r:id="rId12"/>
    <p:sldId id="907" r:id="rId13"/>
    <p:sldId id="908" r:id="rId14"/>
    <p:sldId id="909" r:id="rId15"/>
    <p:sldId id="910" r:id="rId16"/>
    <p:sldId id="1011" r:id="rId17"/>
    <p:sldId id="942" r:id="rId18"/>
    <p:sldId id="1021" r:id="rId19"/>
    <p:sldId id="1022" r:id="rId20"/>
    <p:sldId id="881" r:id="rId21"/>
    <p:sldId id="1023" r:id="rId22"/>
    <p:sldId id="987" r:id="rId23"/>
    <p:sldId id="943" r:id="rId24"/>
    <p:sldId id="944" r:id="rId25"/>
    <p:sldId id="1012" r:id="rId26"/>
    <p:sldId id="1013" r:id="rId27"/>
    <p:sldId id="988" r:id="rId28"/>
    <p:sldId id="871" r:id="rId29"/>
    <p:sldId id="972" r:id="rId30"/>
    <p:sldId id="989" r:id="rId31"/>
    <p:sldId id="624" r:id="rId32"/>
    <p:sldId id="625" r:id="rId33"/>
    <p:sldId id="627" r:id="rId34"/>
    <p:sldId id="628" r:id="rId35"/>
    <p:sldId id="947" r:id="rId36"/>
    <p:sldId id="983" r:id="rId37"/>
    <p:sldId id="948" r:id="rId38"/>
    <p:sldId id="949" r:id="rId39"/>
    <p:sldId id="1015" r:id="rId40"/>
    <p:sldId id="974" r:id="rId41"/>
    <p:sldId id="889" r:id="rId42"/>
    <p:sldId id="719" r:id="rId43"/>
    <p:sldId id="720" r:id="rId44"/>
    <p:sldId id="721" r:id="rId45"/>
    <p:sldId id="722" r:id="rId46"/>
    <p:sldId id="1014" r:id="rId47"/>
    <p:sldId id="975" r:id="rId48"/>
    <p:sldId id="976" r:id="rId49"/>
    <p:sldId id="977" r:id="rId50"/>
    <p:sldId id="978" r:id="rId51"/>
    <p:sldId id="872" r:id="rId52"/>
    <p:sldId id="923" r:id="rId53"/>
    <p:sldId id="979" r:id="rId54"/>
    <p:sldId id="980" r:id="rId55"/>
    <p:sldId id="990" r:id="rId56"/>
    <p:sldId id="991" r:id="rId57"/>
    <p:sldId id="968" r:id="rId58"/>
    <p:sldId id="967" r:id="rId59"/>
    <p:sldId id="894" r:id="rId60"/>
    <p:sldId id="1024" r:id="rId61"/>
    <p:sldId id="1003" r:id="rId62"/>
    <p:sldId id="952" r:id="rId63"/>
    <p:sldId id="1016" r:id="rId64"/>
    <p:sldId id="1017" r:id="rId65"/>
    <p:sldId id="1018" r:id="rId66"/>
    <p:sldId id="1019" r:id="rId67"/>
    <p:sldId id="1020" r:id="rId68"/>
    <p:sldId id="928" r:id="rId69"/>
    <p:sldId id="930" r:id="rId70"/>
    <p:sldId id="931" r:id="rId71"/>
    <p:sldId id="932" r:id="rId72"/>
    <p:sldId id="874" r:id="rId73"/>
    <p:sldId id="953" r:id="rId74"/>
    <p:sldId id="897" r:id="rId75"/>
    <p:sldId id="954" r:id="rId76"/>
    <p:sldId id="955" r:id="rId77"/>
    <p:sldId id="956" r:id="rId7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0099"/>
    <a:srgbClr val="0000FF"/>
    <a:srgbClr val="008000"/>
    <a:srgbClr val="FF6600"/>
    <a:srgbClr val="009900"/>
    <a:srgbClr val="CC0066"/>
    <a:srgbClr val="FFFF00"/>
    <a:srgbClr val="00FF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51" autoAdjust="0"/>
    <p:restoredTop sz="96529" autoAdjust="0"/>
  </p:normalViewPr>
  <p:slideViewPr>
    <p:cSldViewPr>
      <p:cViewPr varScale="1">
        <p:scale>
          <a:sx n="110" d="100"/>
          <a:sy n="110" d="100"/>
        </p:scale>
        <p:origin x="237" y="6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5.xml"/><Relationship Id="rId79" Type="http://schemas.openxmlformats.org/officeDocument/2006/relationships/presProps" Target="presProps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6-03T02:04: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292.000 64.000 624,'0.000'0.000'1360,"0.000"0.000"-198,0.000 0.000-158,0.000 0.000 115,0.000 0.000 61,-8.000-1.000 6701,-21.000-3.000-7278,11.000 8.000-570,0.000 0.000 1,1.000 2.000 0,0.000 0.000 0,0.000 1.000-1,0.000 0.000 1,1.000 2.000 0,0.000 0.000 0,0.000 0.000 0,-10.000 10.000-34,19.000-13.000 65,2.000 0.000 0,-1.000 0.000 0,1.000 1.000 0,-1.000-1.000 0,2.000 1.000 0,-1.000 1.000 0,-1.000 4.000-65,-11.000 14.000 329,15.000-22.000-320,0.000 0.000-1,0.000-1.000 1,0.000 1.000 0,1.000 0.000 0,-1.000 1.000 0,1.000-1.000 0,0.000 0.000-1,0.000 0.000 1,0.000 1.000 0,1.000-1.000 0,0.000 0.000 0,0.000 1.000 0,0.000-1.000 0,0.000 0.000-1,0.000 1.000 1,1.000-1.000 0,0.000 0.000 0,0.000 1.000 0,0.000-1.000 0,0.000 0.000-1,1.000 0.000 1,0.000 0.000 0,0.000 0.000 0,0.000 0.000 0,0.000-1.000 0,1.000 1.000-1,-1.000 0.000 1,1.000-1.000 0,0.000 0.000 0,0.000 0.000 0,0.000 0.000 0,0.000 0.000-1,1.000 0.000 1,-1.000 0.000 0,2.000 0.000-9,14.000 8.000-73,0.000-1.000 1,0.000-1.000-1,1.000-1.000 0,0.000-1.000 0,0.000-1.000 1,1.000 0.000-1,0.000-1.000 0,0.000-2.000 0,7.000 1.000 73,48.000 2.000 180,75.000-3.000-180,-113.000-3.000 91,26.000-3.000-80,-1.000-3.000 0,1.000-2.000 0,-1.000-4.000 0,3.000-2.000-11,-62.000 12.000-9,1.000 1.000 1,-1.000-1.000-1,0.000 0.000 0,0.000 0.000 0,-1.000 0.000 1,1.000 0.000-1,0.000-1.000 0,-1.000 0.000 1,1.000 1.000-1,-1.000-1.000 0,0.000 0.000 0,0.000-1.000 1,0.000 1.000-1,0.000-1.000 0,-1.000 1.000 0,0.000-1.000 1,1.000 0.000-1,-1.000 0.000 0,0.000 0.000 1,-1.000 0.000-1,1.000 0.000 0,-1.000 0.000 0,0.000 0.000 1,0.000-1.000-1,0.000 0.000 9,3.000-15.000 47,-1.000-1.000-1,-1.000 1.000 1,-1.000-1.000 0,-1.000-14.000-47,0.000 32.000 12,0.000 0.000 36,-1.000 1.000-1,0.000-1.000 1,0.000 1.000-1,0.000-1.000 0,0.000 1.000 1,0.000-1.000-1,-1.000 1.000 1,1.000 0.000-1,-1.000-1.000 0,0.000 1.000 1,1.000 0.000-1,-1.000 0.000 0,0.000 0.000 1,0.000 0.000-1,0.000 1.000 1,-1.000-1.000-1,1.000 0.000 0,0.000 1.000 1,-1.000 0.000-1,1.000-1.000 1,0.000 1.000-1,-3.000-1.000-47,-66.000-24.000 668,61.000 22.000-646,-12.000-3.000 349,1.000 1.000-1,-1.000 0.000 1,0.000 2.000 0,0.000 1.000 0,0.000 0.000-1,-15.000 1.000-370,36.000 2.000 114,1.000 0.000 35,0.000 0.000 18,0.000 0.000 1,-30.000 0.000 106,22.000 0.000-3816,12.000 0.000 832,0.000 0.000-2516</inkml:trace>
  <inkml:trace contextRef="#ctx0" brushRef="#br0">716.000 0.000 1168,'0.000'0.000'1529,"0.000"0.000"-98,0.000 0.000-201,0.000 0.000 213,0.000 0.000 92,0.000 0.000-8,0.000 0.000-393,-7.000 2.000 2364,-24.000 5.000-3010,1.000 8.000 437,0.000-3.000 1,-1.000 0.000-1,-6.000 0.000-925,31.000-10.000 210,4.000 4.000 523,11.000 4.000-293,30.000 18.000-71,6.000 7.000 143,-25.000-14.000-202,-17.000-20.000-4834,-9.000-6.000-459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69806-B708-491E-B0FE-47CD499ACF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指令调度、寄存器分配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STORE R2,-5(R3)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控存地址</a:t>
            </a:r>
            <a:r>
              <a:rPr lang="en-US" altLang="zh-CN"/>
              <a:t>9</a:t>
            </a:r>
            <a:r>
              <a:rPr lang="zh-CN" altLang="en-US"/>
              <a:t>位，那么</a:t>
            </a:r>
            <a:r>
              <a:rPr lang="en-US" altLang="zh-CN" err="1"/>
              <a:t>μAR</a:t>
            </a:r>
            <a:r>
              <a:rPr lang="zh-CN" altLang="en-US"/>
              <a:t>也为</a:t>
            </a:r>
            <a:r>
              <a:rPr lang="en-US" altLang="zh-CN"/>
              <a:t>9</a:t>
            </a:r>
            <a:r>
              <a:rPr lang="zh-CN" altLang="en-US"/>
              <a:t>位。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907A-43D7-47D1-BB72-131B1A7651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0"/>
            <a:ext cx="9144001" cy="6858000"/>
            <a:chOff x="0" y="0"/>
            <a:chExt cx="9144001" cy="685800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3505200" cy="685800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716088" y="1690688"/>
              <a:ext cx="7427913" cy="253365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6" name="Rectangle 6"/>
            <p:cNvSpPr>
              <a:spLocks noChangeArrowheads="1"/>
            </p:cNvSpPr>
            <p:nvPr/>
          </p:nvSpPr>
          <p:spPr bwMode="auto">
            <a:xfrm>
              <a:off x="573088" y="3582988"/>
              <a:ext cx="576263" cy="64135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7" name="Rectangle 7"/>
            <p:cNvSpPr>
              <a:spLocks noChangeArrowheads="1"/>
            </p:cNvSpPr>
            <p:nvPr/>
          </p:nvSpPr>
          <p:spPr bwMode="auto">
            <a:xfrm>
              <a:off x="1716088" y="1690688"/>
              <a:ext cx="574675" cy="642938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9" name="Rectangle 9"/>
            <p:cNvSpPr>
              <a:spLocks noChangeArrowheads="1"/>
            </p:cNvSpPr>
            <p:nvPr/>
          </p:nvSpPr>
          <p:spPr bwMode="auto">
            <a:xfrm>
              <a:off x="1141413" y="3582988"/>
              <a:ext cx="584200" cy="64135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0" name="Rectangle 10"/>
            <p:cNvSpPr>
              <a:spLocks noChangeArrowheads="1"/>
            </p:cNvSpPr>
            <p:nvPr/>
          </p:nvSpPr>
          <p:spPr bwMode="auto">
            <a:xfrm>
              <a:off x="2281238" y="1690688"/>
              <a:ext cx="585788" cy="642938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1" name="Rectangle 11"/>
            <p:cNvSpPr>
              <a:spLocks noChangeArrowheads="1"/>
            </p:cNvSpPr>
            <p:nvPr/>
          </p:nvSpPr>
          <p:spPr bwMode="auto">
            <a:xfrm>
              <a:off x="1141413" y="2324101"/>
              <a:ext cx="584200" cy="633413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2" name="Rectangle 12"/>
            <p:cNvSpPr>
              <a:spLocks noChangeArrowheads="1"/>
            </p:cNvSpPr>
            <p:nvPr/>
          </p:nvSpPr>
          <p:spPr bwMode="auto">
            <a:xfrm>
              <a:off x="0" y="2324101"/>
              <a:ext cx="582613" cy="63341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3" name="Rectangle 13"/>
            <p:cNvSpPr>
              <a:spLocks noChangeArrowheads="1"/>
            </p:cNvSpPr>
            <p:nvPr/>
          </p:nvSpPr>
          <p:spPr bwMode="auto">
            <a:xfrm>
              <a:off x="1716088" y="2324101"/>
              <a:ext cx="574675" cy="633413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4" name="Rectangle 14"/>
            <p:cNvSpPr>
              <a:spLocks noChangeArrowheads="1"/>
            </p:cNvSpPr>
            <p:nvPr/>
          </p:nvSpPr>
          <p:spPr bwMode="auto">
            <a:xfrm>
              <a:off x="573088" y="2947988"/>
              <a:ext cx="576263" cy="644525"/>
            </a:xfrm>
            <a:prstGeom prst="rect">
              <a:avLst/>
            </a:prstGeom>
            <a:solidFill>
              <a:srgbClr val="CCCCE6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15" name="Rectangle 15"/>
            <p:cNvSpPr>
              <a:spLocks noChangeArrowheads="1"/>
            </p:cNvSpPr>
            <p:nvPr/>
          </p:nvSpPr>
          <p:spPr bwMode="auto">
            <a:xfrm>
              <a:off x="1141413" y="2947988"/>
              <a:ext cx="584200" cy="64452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28" name="Rectangle 28"/>
            <p:cNvSpPr>
              <a:spLocks noChangeArrowheads="1"/>
            </p:cNvSpPr>
            <p:nvPr/>
          </p:nvSpPr>
          <p:spPr bwMode="auto">
            <a:xfrm>
              <a:off x="0" y="2590800"/>
              <a:ext cx="9144000" cy="0"/>
            </a:xfrm>
            <a:prstGeom prst="rect">
              <a:avLst/>
            </a:prstGeom>
            <a:noFill/>
            <a:ln w="28575" algn="ctr">
              <a:noFill/>
              <a:miter lim="800000"/>
              <a:tailEnd type="none" w="med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73250"/>
            <a:ext cx="2895600" cy="32419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67200"/>
            <a:ext cx="8740775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4000" b="0">
                <a:latin typeface="+mn-lt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24" name="Rectangle 16"/>
          <p:cNvSpPr txBox="1">
            <a:spLocks noChangeArrowheads="1"/>
          </p:cNvSpPr>
          <p:nvPr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pPr algn="l"/>
            <a:fld id="{87D8CD90-EB6C-4EF8-843B-BC01DDFAB9E6}" type="datetime3">
              <a:rPr lang="zh-CN" altLang="en-US" sz="2000" b="1" smtClean="0">
                <a:solidFill>
                  <a:srgbClr val="5D5DC0"/>
                </a:solidFill>
                <a:effectLst/>
                <a:latin typeface="Arial" panose="020B0604020202090204" pitchFamily="34" charset="0"/>
                <a:ea typeface="黑体" pitchFamily="2" charset="-122"/>
                <a:cs typeface="Arial" panose="020B0604020202090204" pitchFamily="34" charset="0"/>
              </a:rPr>
            </a:fld>
            <a:endParaRPr lang="en-US" altLang="zh-CN" sz="2000" b="1">
              <a:solidFill>
                <a:srgbClr val="5D5DC0"/>
              </a:solidFill>
              <a:effectLst/>
              <a:latin typeface="Arial" panose="020B0604020202090204" pitchFamily="34" charset="0"/>
              <a:ea typeface="黑体" pitchFamily="2" charset="-122"/>
              <a:cs typeface="Arial" panose="020B0604020202090204" pitchFamily="34" charset="0"/>
            </a:endParaRPr>
          </a:p>
          <a:p>
            <a:pPr algn="l"/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</a:fld>
            <a:endParaRPr lang="en-US" altLang="zh-CN" sz="2000" b="1">
              <a:solidFill>
                <a:srgbClr val="5D5DC0"/>
              </a:solidFill>
              <a:effectLst/>
              <a:latin typeface="Arial" panose="020B0604020202090204" pitchFamily="34" charset="0"/>
              <a:ea typeface="黑体" pitchFamily="2" charset="-122"/>
              <a:cs typeface="Arial" panose="020B060402020209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6" name="直接连接符 5"/>
            <p:cNvCxnSpPr/>
            <p:nvPr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40" name="组合 39"/>
            <p:cNvGrpSpPr/>
            <p:nvPr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9" name="Line 5"/>
              <p:cNvSpPr>
                <a:spLocks noChangeShapeType="1"/>
              </p:cNvSpPr>
              <p:nvPr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Line 16"/>
              <p:cNvSpPr>
                <a:spLocks noChangeShapeType="1"/>
              </p:cNvSpPr>
              <p:nvPr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Line 17"/>
              <p:cNvSpPr>
                <a:spLocks noChangeShapeType="1"/>
              </p:cNvSpPr>
              <p:nvPr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Line 18"/>
              <p:cNvSpPr>
                <a:spLocks noChangeShapeType="1"/>
              </p:cNvSpPr>
              <p:nvPr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Line 19"/>
              <p:cNvSpPr>
                <a:spLocks noChangeShapeType="1"/>
              </p:cNvSpPr>
              <p:nvPr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4" name="Line 25"/>
            <p:cNvSpPr>
              <a:spLocks noChangeShapeType="1"/>
            </p:cNvSpPr>
            <p:nvPr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13" name="Line 8"/>
              <p:cNvSpPr>
                <a:spLocks noChangeShapeType="1"/>
              </p:cNvSpPr>
              <p:nvPr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Line 10"/>
              <p:cNvSpPr>
                <a:spLocks noChangeShapeType="1"/>
              </p:cNvSpPr>
              <p:nvPr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Line 13"/>
              <p:cNvSpPr>
                <a:spLocks noChangeShapeType="1"/>
              </p:cNvSpPr>
              <p:nvPr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Line 20"/>
              <p:cNvSpPr>
                <a:spLocks noChangeShapeType="1"/>
              </p:cNvSpPr>
              <p:nvPr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Line 21"/>
              <p:cNvSpPr>
                <a:spLocks noChangeShapeType="1"/>
              </p:cNvSpPr>
              <p:nvPr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Line 22"/>
              <p:cNvSpPr>
                <a:spLocks noChangeShapeType="1"/>
              </p:cNvSpPr>
              <p:nvPr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Line 23"/>
              <p:cNvSpPr>
                <a:spLocks noChangeShapeType="1"/>
              </p:cNvSpPr>
              <p:nvPr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Line 26"/>
              <p:cNvSpPr>
                <a:spLocks noChangeShapeType="1"/>
              </p:cNvSpPr>
              <p:nvPr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Line 27"/>
              <p:cNvSpPr>
                <a:spLocks noChangeShapeType="1"/>
              </p:cNvSpPr>
              <p:nvPr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3" name="Line 24"/>
              <p:cNvSpPr>
                <a:spLocks noChangeShapeType="1"/>
              </p:cNvSpPr>
              <p:nvPr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Line 28"/>
              <p:cNvSpPr>
                <a:spLocks noChangeShapeType="1"/>
              </p:cNvSpPr>
              <p:nvPr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Line 29"/>
              <p:cNvSpPr>
                <a:spLocks noChangeShapeType="1"/>
              </p:cNvSpPr>
              <p:nvPr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Line 24"/>
              <p:cNvSpPr>
                <a:spLocks noChangeShapeType="1"/>
              </p:cNvSpPr>
              <p:nvPr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73250"/>
            <a:ext cx="2133600" cy="324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62" name="Text Box 22"/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>
                <a:solidFill>
                  <a:srgbClr val="000000"/>
                </a:solidFill>
                <a:latin typeface="Arial" panose="020B0604020202090204" pitchFamily="34" charset="0"/>
                <a:ea typeface="黑体"/>
                <a:cs typeface="Arial" panose="020B0604020202090204" pitchFamily="34" charset="0"/>
              </a:rPr>
              <a:t>School of Computer Science and Technology</a:t>
            </a:r>
            <a:endParaRPr lang="zh-CN" altLang="en-US" sz="1400">
              <a:solidFill>
                <a:srgbClr val="000000"/>
              </a:solidFill>
              <a:latin typeface="Arial" panose="020B0604020202090204" pitchFamily="34" charset="0"/>
              <a:ea typeface="黑体"/>
              <a:cs typeface="Arial" panose="020B0604020202090204" pitchFamily="34" charset="0"/>
            </a:endParaRPr>
          </a:p>
        </p:txBody>
      </p:sp>
      <p:pic>
        <p:nvPicPr>
          <p:cNvPr id="63" name="图片 62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65" name="直接连接符 64"/>
          <p:cNvCxnSpPr/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接连接符 65"/>
          <p:cNvCxnSpPr/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字号2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620610"/>
            <a:ext cx="8362950" cy="5760799"/>
          </a:xfrm>
        </p:spPr>
        <p:txBody>
          <a:bodyPr/>
          <a:lstStyle>
            <a:lvl1pPr marL="355600" indent="-355600">
              <a:defRPr sz="2800"/>
            </a:lvl1pPr>
            <a:lvl2pPr marL="719455" indent="-363855">
              <a:defRPr sz="2800"/>
            </a:lvl2pPr>
            <a:lvl3pPr marL="1075055" indent="-355600">
              <a:defRPr sz="2800">
                <a:latin typeface="+mn-lt"/>
              </a:defRPr>
            </a:lvl3pPr>
            <a:lvl4pPr marL="1440180" indent="-365125">
              <a:defRPr sz="2800">
                <a:latin typeface="+mn-lt"/>
                <a:ea typeface="楷体" panose="02010609060101010101" pitchFamily="49" charset="-122"/>
              </a:defRPr>
            </a:lvl4pPr>
            <a:lvl5pPr marL="1795780" indent="-355600">
              <a:defRPr sz="2800">
                <a:latin typeface="+mn-lt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78F44F4C-231F-4D32-9A8B-35DB3854F920}" type="datetime1">
              <a:rPr lang="zh-CN" altLang="en-US" smtClean="0"/>
            </a:fld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（字号2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620610"/>
            <a:ext cx="8362950" cy="5760799"/>
          </a:xfrm>
        </p:spPr>
        <p:txBody>
          <a:bodyPr/>
          <a:lstStyle>
            <a:lvl1pPr marL="268605" indent="-268605">
              <a:defRPr sz="2400"/>
            </a:lvl1pPr>
            <a:lvl2pPr marL="541655" indent="-273050">
              <a:defRPr sz="2400"/>
            </a:lvl2pPr>
            <a:lvl3pPr marL="805180" indent="-263525">
              <a:defRPr sz="2400">
                <a:latin typeface="+mn-lt"/>
              </a:defRPr>
            </a:lvl3pPr>
            <a:lvl4pPr marL="1073150" indent="-268605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5AFAEFF-8A56-479C-9ABB-E83CC277E5B3}" type="datetime1">
              <a:rPr lang="zh-CN" altLang="en-US" smtClean="0"/>
            </a:fld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990" y="99606"/>
            <a:ext cx="8229600" cy="41798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57200" y="620610"/>
            <a:ext cx="4040188" cy="42373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200" y="1044341"/>
            <a:ext cx="4040188" cy="5337069"/>
          </a:xfrm>
        </p:spPr>
        <p:txBody>
          <a:bodyPr/>
          <a:lstStyle>
            <a:lvl1pPr marL="268605" indent="-268605">
              <a:defRPr sz="2400">
                <a:latin typeface="+mn-lt"/>
              </a:defRPr>
            </a:lvl1pPr>
            <a:lvl2pPr marL="536575" indent="-268605">
              <a:defRPr sz="2400">
                <a:latin typeface="+mn-lt"/>
              </a:defRPr>
            </a:lvl2pPr>
            <a:lvl3pPr marL="805180" indent="-268605">
              <a:defRPr sz="2400">
                <a:latin typeface="+mn-lt"/>
              </a:defRPr>
            </a:lvl3pPr>
            <a:lvl4pPr marL="1073150" indent="-268605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620610"/>
            <a:ext cx="4041775" cy="42373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45025" y="1044342"/>
            <a:ext cx="4041775" cy="5337068"/>
          </a:xfrm>
        </p:spPr>
        <p:txBody>
          <a:bodyPr/>
          <a:lstStyle>
            <a:lvl1pPr marL="268605" indent="-268605">
              <a:defRPr sz="2400">
                <a:latin typeface="+mn-lt"/>
              </a:defRPr>
            </a:lvl1pPr>
            <a:lvl2pPr marL="536575" indent="-268605">
              <a:defRPr sz="2400">
                <a:latin typeface="+mn-lt"/>
              </a:defRPr>
            </a:lvl2pPr>
            <a:lvl3pPr marL="805180" indent="-268605">
              <a:defRPr sz="2400">
                <a:latin typeface="+mn-lt"/>
              </a:defRPr>
            </a:lvl3pPr>
            <a:lvl4pPr marL="1073150" indent="-268605">
              <a:defRPr sz="2400">
                <a:latin typeface="+mn-lt"/>
                <a:ea typeface="楷体" panose="02010609060101010101" pitchFamily="49" charset="-122"/>
              </a:defRPr>
            </a:lvl4pPr>
            <a:lvl5pPr marL="1343025" indent="-269875">
              <a:defRPr sz="2400">
                <a:latin typeface="+mn-lt"/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874811BC-8EBA-4506-A659-B4A5B79523FF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ldNum" sz="quarter" idx="13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9144000" cy="566738"/>
            <a:chOff x="0" y="0"/>
            <a:chExt cx="9144000" cy="566738"/>
          </a:xfrm>
        </p:grpSpPr>
        <p:sp>
          <p:nvSpPr>
            <p:cNvPr id="17818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85750" cy="546100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/>
          </p:nvSpPr>
          <p:spPr bwMode="auto">
            <a:xfrm>
              <a:off x="377825" y="134938"/>
              <a:ext cx="8731250" cy="274638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/>
          </p:nvSpPr>
          <p:spPr bwMode="auto">
            <a:xfrm>
              <a:off x="374650" y="134938"/>
              <a:ext cx="138113" cy="141288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/>
          </p:nvSpPr>
          <p:spPr bwMode="auto">
            <a:xfrm>
              <a:off x="512763" y="0"/>
              <a:ext cx="139700" cy="138113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/>
          </p:nvSpPr>
          <p:spPr bwMode="auto">
            <a:xfrm>
              <a:off x="512763" y="134938"/>
              <a:ext cx="139700" cy="141288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/>
          </p:nvSpPr>
          <p:spPr bwMode="auto">
            <a:xfrm>
              <a:off x="239713" y="274638"/>
              <a:ext cx="136525" cy="138113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/>
          </p:nvSpPr>
          <p:spPr bwMode="auto">
            <a:xfrm>
              <a:off x="96838" y="136525"/>
              <a:ext cx="141288" cy="138113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/>
          </p:nvSpPr>
          <p:spPr bwMode="auto">
            <a:xfrm>
              <a:off x="374650" y="271463"/>
              <a:ext cx="138113" cy="138113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/>
          </p:nvSpPr>
          <p:spPr bwMode="auto">
            <a:xfrm>
              <a:off x="239713" y="409575"/>
              <a:ext cx="136525" cy="136525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/>
          </p:nvSpPr>
          <p:spPr bwMode="auto">
            <a:xfrm>
              <a:off x="0" y="520700"/>
              <a:ext cx="9144000" cy="46038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410"/>
            <a:ext cx="2895600" cy="324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400" b="1"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566739"/>
            <a:ext cx="8362950" cy="58130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3777"/>
            <a:ext cx="2133600" cy="3376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400" b="1">
                <a:latin typeface="+mj-lt"/>
              </a:defRPr>
            </a:lvl1pPr>
          </a:lstStyle>
          <a:p>
            <a:fld id="{B7EA2D08-4881-4FC0-AFBD-FC31AF58696D}" type="datetime1">
              <a:rPr lang="zh-CN" altLang="en-US" smtClean="0"/>
            </a:fld>
            <a:endParaRPr lang="zh-CN" altLang="en-US"/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410"/>
            <a:ext cx="2133600" cy="3241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90204" pitchFamily="34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90204" pitchFamily="34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90204" pitchFamily="34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90204" pitchFamily="34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90204" pitchFamily="34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90204" pitchFamily="34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90204" pitchFamily="34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90204" pitchFamily="34" charset="0"/>
          <a:ea typeface="黑体" pitchFamily="2" charset="-122"/>
        </a:defRPr>
      </a:lvl9pPr>
    </p:titleStyle>
    <p:bodyStyle>
      <a:lvl1pPr marL="355600" indent="-355600" algn="l" rtl="0" eaLnBrk="1" fontAlgn="base" hangingPunct="1">
        <a:spcBef>
          <a:spcPts val="3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455" indent="-363855" algn="l" rtl="0" eaLnBrk="1" fontAlgn="base" hangingPunct="1">
        <a:spcBef>
          <a:spcPts val="300"/>
        </a:spcBef>
        <a:spcAft>
          <a:spcPct val="0"/>
        </a:spcAft>
        <a:buClr>
          <a:srgbClr val="006600"/>
        </a:buClr>
        <a:buSzPct val="75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5055" indent="-355600" algn="l" rtl="0" eaLnBrk="1" fontAlgn="base" hangingPunct="1">
        <a:spcBef>
          <a:spcPts val="300"/>
        </a:spcBef>
        <a:spcAft>
          <a:spcPct val="0"/>
        </a:spcAft>
        <a:buClr>
          <a:srgbClr val="FF6600"/>
        </a:buClr>
        <a:buSzPct val="65000"/>
        <a:buFont typeface="Wingdings" panose="05000000000000000000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40180" indent="-365125" algn="l" rtl="0" eaLnBrk="1" fontAlgn="base" hangingPunct="1">
        <a:spcBef>
          <a:spcPts val="300"/>
        </a:spcBef>
        <a:spcAft>
          <a:spcPct val="0"/>
        </a:spcAft>
        <a:buClr>
          <a:srgbClr val="FF0066"/>
        </a:buClr>
        <a:buSzPct val="75000"/>
        <a:buFont typeface="Wingdings" panose="05000000000000000000" pitchFamily="2" charset="2"/>
        <a:buChar char="u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4pPr>
      <a:lvl5pPr marL="1795780" indent="-355600" algn="l" rtl="0" eaLnBrk="1" fontAlgn="base" hangingPunct="1">
        <a:spcBef>
          <a:spcPts val="3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5pPr>
      <a:lvl6pPr marL="2787650" indent="-27178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78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78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78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customXml" Target="../ink/ink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5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5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5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.bin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slide" Target="slide61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3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2.xml"/><Relationship Id="rId7" Type="http://schemas.openxmlformats.org/officeDocument/2006/relationships/slide" Target="slide61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6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36512" y="2171328"/>
            <a:ext cx="8740775" cy="2049760"/>
          </a:xfrm>
        </p:spPr>
        <p:txBody>
          <a:bodyPr/>
          <a:lstStyle/>
          <a:p>
            <a:pPr lvl="0">
              <a:buClr>
                <a:srgbClr val="00007D"/>
              </a:buClr>
              <a:buSzPct val="75000"/>
            </a:pPr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</a:t>
            </a:r>
            <a:r>
              <a:rPr lang="zh-CN" altLang="en-US" sz="48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组织</a:t>
            </a:r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lang="zh-CN" altLang="en-US" sz="4800" b="1">
                <a:solidFill>
                  <a:srgbClr val="FFC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体系结构</a:t>
            </a:r>
            <a:br>
              <a:rPr lang="en-US" altLang="zh-CN" sz="4800">
                <a:solidFill>
                  <a:srgbClr val="FFCC00"/>
                </a:solidFill>
                <a:latin typeface="Times New Roman" panose="02020503050405090304"/>
                <a:ea typeface="黑体" pitchFamily="2" charset="-122"/>
                <a:cs typeface="+mn-cs"/>
              </a:rPr>
            </a:br>
            <a:r>
              <a:rPr lang="zh-CN" altLang="en-US" sz="540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期末</a:t>
            </a:r>
            <a:r>
              <a:rPr lang="zh-CN" altLang="en-US" sz="540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复习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84168" y="4725144"/>
            <a:ext cx="2323319" cy="830997"/>
          </a:xfrm>
        </p:spPr>
        <p:txBody>
          <a:bodyPr wrap="none" lIns="36000" tIns="0" rIns="36000" bIns="0">
            <a:spAutoFit/>
          </a:bodyPr>
          <a:lstStyle/>
          <a:p>
            <a:pPr algn="ctr"/>
            <a:r>
              <a:rPr lang="en-US" altLang="zh-CN" sz="5400" b="0">
                <a:ea typeface="楷体_GB2312" pitchFamily="49" charset="-122"/>
              </a:rPr>
              <a:t>2026.06</a:t>
            </a:r>
            <a:endParaRPr lang="zh-CN" altLang="en-US" sz="5400"/>
          </a:p>
        </p:txBody>
      </p:sp>
      <p:pic>
        <p:nvPicPr>
          <p:cNvPr id="5" name="Picture 11" descr="C:\Users\车向泉\AppData\Local\Microsoft\Windows\Temporary Internet Files\Content.IE5\PDCZ0H06\MC900437447[1].wmf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99" y="4495800"/>
            <a:ext cx="2119313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598326" y="1196752"/>
            <a:ext cx="7829376" cy="5256584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>
                <a:solidFill>
                  <a:schemeClr val="bg2"/>
                </a:solidFill>
                <a:latin typeface="+mj-lt"/>
                <a:ea typeface="+mj-ea"/>
                <a:cs typeface="+mj-cs"/>
              </a:rPr>
              <a:t>题型</a:t>
            </a:r>
            <a:endParaRPr lang="en-US" altLang="zh-CN">
              <a:solidFill>
                <a:schemeClr val="bg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/>
              <a:t>单项选择题</a:t>
            </a:r>
            <a:endParaRPr lang="en-US" altLang="zh-CN"/>
          </a:p>
          <a:p>
            <a:r>
              <a:rPr lang="zh-CN" altLang="en-US"/>
              <a:t>分析设计题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spcBef>
                <a:spcPct val="0"/>
              </a:spcBef>
              <a:buNone/>
            </a:pPr>
            <a:r>
              <a:rPr lang="zh-CN" altLang="en-US">
                <a:solidFill>
                  <a:schemeClr val="bg2"/>
                </a:solidFill>
                <a:latin typeface="+mj-lt"/>
                <a:ea typeface="+mj-ea"/>
                <a:cs typeface="+mj-cs"/>
              </a:rPr>
              <a:t>范围</a:t>
            </a:r>
            <a:endParaRPr lang="en-US" altLang="zh-CN">
              <a:solidFill>
                <a:schemeClr val="bg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/>
              <a:t>补码的基本概念、性质</a:t>
            </a:r>
            <a:endParaRPr lang="en-US" altLang="zh-CN"/>
          </a:p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</a:t>
            </a:r>
            <a:r>
              <a:rPr lang="en-US" altLang="zh-CN">
                <a:latin typeface="+mn-ea"/>
              </a:rPr>
              <a:t>(</a:t>
            </a:r>
            <a:r>
              <a:rPr lang="zh-CN" altLang="en-US"/>
              <a:t>从</a:t>
            </a:r>
            <a:r>
              <a:rPr lang="en-US" altLang="zh-CN"/>
              <a:t>Cache</a:t>
            </a:r>
            <a:r>
              <a:rPr lang="zh-CN" altLang="en-US"/>
              <a:t>开始</a:t>
            </a:r>
            <a:r>
              <a:rPr lang="en-US" altLang="zh-CN">
                <a:latin typeface="+mn-ea"/>
              </a:rPr>
              <a:t>)</a:t>
            </a:r>
            <a:r>
              <a:rPr lang="en-US" altLang="zh-CN"/>
              <a:t> </a:t>
            </a:r>
            <a:r>
              <a:rPr lang="zh-CN" altLang="en-US"/>
              <a:t>～ 第</a:t>
            </a:r>
            <a:r>
              <a:rPr lang="en-US" altLang="zh-CN"/>
              <a:t>7</a:t>
            </a:r>
            <a:r>
              <a:rPr lang="zh-CN" altLang="en-US"/>
              <a:t>章</a:t>
            </a:r>
            <a:endParaRPr lang="en-US" altLang="zh-CN"/>
          </a:p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</a:t>
            </a:r>
            <a:r>
              <a:rPr lang="en-US" altLang="zh-CN"/>
              <a:t> </a:t>
            </a:r>
            <a:r>
              <a:rPr lang="zh-CN" altLang="en-US"/>
              <a:t>～ 第</a:t>
            </a:r>
            <a:r>
              <a:rPr lang="en-US" altLang="zh-CN"/>
              <a:t>9</a:t>
            </a:r>
            <a:r>
              <a:rPr lang="zh-CN" altLang="en-US"/>
              <a:t>章：基本概念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Picture 3" descr="C:\Users\车向泉\AppData\Local\Microsoft\Windows\Temporary Internet Files\Content.IE5\FE5TM330\MC900441484[1].pn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048" y="3861048"/>
            <a:ext cx="2920752" cy="292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525776"/>
            <a:ext cx="9001000" cy="6179824"/>
          </a:xfrm>
        </p:spPr>
        <p:txBody>
          <a:bodyPr/>
          <a:lstStyle/>
          <a:p>
            <a:pPr marL="269875" indent="-269875">
              <a:spcBef>
                <a:spcPts val="0"/>
              </a:spcBef>
            </a:pPr>
            <a:r>
              <a:rPr lang="en-US" altLang="zh-CN" sz="2400"/>
              <a:t>Cache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目的：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提高</a:t>
            </a:r>
            <a:r>
              <a:rPr lang="zh-CN" altLang="en-US" sz="2400"/>
              <a:t>主存的平均访问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速度</a:t>
            </a:r>
            <a:r>
              <a:rPr lang="zh-CN" altLang="en-US" sz="2400"/>
              <a:t>。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与主存之间以“</a:t>
            </a:r>
            <a:r>
              <a:rPr lang="zh-CN" altLang="en-US" sz="2400">
                <a:solidFill>
                  <a:srgbClr val="CC0000"/>
                </a:solidFill>
              </a:rPr>
              <a:t>块</a:t>
            </a:r>
            <a:r>
              <a:rPr lang="zh-CN" altLang="en-US" sz="2400"/>
              <a:t>”为单位进行调度。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由硬件管理。</a:t>
            </a:r>
            <a:r>
              <a:rPr lang="zh-CN" altLang="en-US" sz="2400">
                <a:solidFill>
                  <a:srgbClr val="009900"/>
                </a:solidFill>
              </a:rPr>
              <a:t>主存物理地址</a:t>
            </a:r>
            <a:r>
              <a:rPr lang="zh-CN" altLang="en-US" sz="2400">
                <a:solidFill>
                  <a:srgbClr val="009900"/>
                </a:solidFill>
                <a:latin typeface="+mn-ea"/>
              </a:rPr>
              <a:t>→</a:t>
            </a:r>
            <a:r>
              <a:rPr lang="en-US" altLang="zh-CN" sz="2400">
                <a:solidFill>
                  <a:srgbClr val="009900"/>
                </a:solidFill>
              </a:rPr>
              <a:t>Cache</a:t>
            </a:r>
            <a:r>
              <a:rPr lang="zh-CN" altLang="en-US" sz="2400">
                <a:solidFill>
                  <a:srgbClr val="009900"/>
                </a:solidFill>
              </a:rPr>
              <a:t>地址</a:t>
            </a:r>
            <a:endParaRPr lang="en-US" altLang="zh-CN" sz="2400">
              <a:solidFill>
                <a:srgbClr val="009900"/>
              </a:solidFill>
            </a:endParaRPr>
          </a:p>
          <a:p>
            <a:pPr marL="269875" indent="-269875">
              <a:spcBef>
                <a:spcPts val="0"/>
              </a:spcBef>
            </a:pPr>
            <a:r>
              <a:rPr lang="zh-CN" altLang="en-US" sz="2400"/>
              <a:t>页式虚拟存储器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目的：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扩大</a:t>
            </a:r>
            <a:r>
              <a:rPr lang="zh-CN" altLang="en-US" sz="2400"/>
              <a:t>程序可用的主存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容量</a:t>
            </a:r>
            <a:r>
              <a:rPr lang="zh-CN" altLang="en-US" sz="2400"/>
              <a:t>。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与硬盘之间以“</a:t>
            </a:r>
            <a:r>
              <a:rPr lang="zh-CN" altLang="en-US" sz="2400">
                <a:solidFill>
                  <a:srgbClr val="CC0000"/>
                </a:solidFill>
              </a:rPr>
              <a:t>页</a:t>
            </a:r>
            <a:r>
              <a:rPr lang="zh-CN" altLang="en-US" sz="2400"/>
              <a:t>”为单位进行调度。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主存＋联机工作的外存＋辅助硬件</a:t>
            </a:r>
            <a:r>
              <a:rPr lang="en-US" altLang="zh-CN" sz="2400">
                <a:latin typeface="+mn-ea"/>
              </a:rPr>
              <a:t>(</a:t>
            </a:r>
            <a:r>
              <a:rPr lang="en-US" altLang="zh-CN" sz="2400"/>
              <a:t>MMU</a:t>
            </a:r>
            <a:r>
              <a:rPr lang="en-US" altLang="zh-CN" sz="2400">
                <a:latin typeface="+mn-ea"/>
              </a:rPr>
              <a:t>)</a:t>
            </a:r>
            <a:r>
              <a:rPr lang="zh-CN" altLang="en-US" sz="2400"/>
              <a:t>＋系统软件</a:t>
            </a:r>
            <a:r>
              <a:rPr lang="en-US" altLang="zh-CN" sz="240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/>
              <a:t>OS</a:t>
            </a:r>
            <a:r>
              <a:rPr lang="en-US" altLang="zh-CN" sz="2400">
                <a:latin typeface="宋体" pitchFamily="2" charset="-122"/>
                <a:ea typeface="宋体" pitchFamily="2" charset="-122"/>
              </a:rPr>
              <a:t>)</a:t>
            </a:r>
            <a:endParaRPr lang="en-US" altLang="zh-CN" sz="2400">
              <a:latin typeface="宋体" pitchFamily="2" charset="-122"/>
              <a:ea typeface="宋体" pitchFamily="2" charset="-122"/>
            </a:endParaRPr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多级页表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快慢表（微处理器内部的</a:t>
            </a:r>
            <a:r>
              <a:rPr lang="en-US" altLang="zh-CN" sz="2400"/>
              <a:t>TLB</a:t>
            </a:r>
            <a:r>
              <a:rPr lang="zh-CN" altLang="en-US" sz="2400"/>
              <a:t>＋主存中的页表）</a:t>
            </a:r>
            <a:endParaRPr lang="en-US" altLang="zh-CN" sz="2400"/>
          </a:p>
          <a:p>
            <a:pPr marL="269875" indent="-269875">
              <a:spcBef>
                <a:spcPts val="0"/>
              </a:spcBef>
            </a:pPr>
            <a:r>
              <a:rPr lang="zh-CN" altLang="en-US" sz="2400"/>
              <a:t>磁盘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磁记录方式：自同步能力，编码效率</a:t>
            </a:r>
            <a:endParaRPr lang="en-US" altLang="zh-CN" sz="2400"/>
          </a:p>
          <a:p>
            <a:pPr marL="538480" lvl="1" indent="-268605">
              <a:spcBef>
                <a:spcPts val="0"/>
              </a:spcBef>
            </a:pPr>
            <a:r>
              <a:rPr lang="zh-CN" altLang="en-US" sz="2400"/>
              <a:t>磁盘参数的计算</a:t>
            </a:r>
            <a:br>
              <a:rPr lang="en-US" altLang="zh-CN" sz="2400"/>
            </a:br>
            <a:r>
              <a:rPr lang="zh-CN" altLang="en-US" sz="2400"/>
              <a:t>平均访问时间＝平均</a:t>
            </a:r>
            <a:r>
              <a:rPr lang="zh-CN" altLang="en-US" sz="2400">
                <a:solidFill>
                  <a:srgbClr val="0000FF"/>
                </a:solidFill>
              </a:rPr>
              <a:t>寻道时间</a:t>
            </a:r>
            <a:r>
              <a:rPr lang="zh-CN" altLang="en-US" sz="2400"/>
              <a:t>＋平均</a:t>
            </a:r>
            <a:r>
              <a:rPr lang="zh-CN" altLang="en-US" sz="2400">
                <a:solidFill>
                  <a:srgbClr val="0000FF"/>
                </a:solidFill>
              </a:rPr>
              <a:t>等待时间</a:t>
            </a:r>
            <a:r>
              <a:rPr lang="zh-CN" altLang="en-US" sz="2400"/>
              <a:t>＋</a:t>
            </a:r>
            <a:r>
              <a:rPr lang="zh-CN" altLang="en-US" sz="2400">
                <a:solidFill>
                  <a:srgbClr val="008000"/>
                </a:solidFill>
              </a:rPr>
              <a:t>数据传输</a:t>
            </a:r>
            <a:r>
              <a:rPr lang="zh-CN" altLang="en-US" sz="2400"/>
              <a:t>时间</a:t>
            </a:r>
            <a:br>
              <a:rPr lang="en-US" altLang="zh-CN" sz="2400"/>
            </a:br>
            <a:br>
              <a:rPr lang="en-US" altLang="zh-CN" sz="2400"/>
            </a:br>
            <a:r>
              <a:rPr lang="zh-CN" altLang="en-US" sz="2400"/>
              <a:t>数据传输率＝每个扇区的字节数</a:t>
            </a:r>
            <a:r>
              <a:rPr lang="en-US" altLang="zh-CN" sz="2400"/>
              <a:t>×</a:t>
            </a:r>
            <a:r>
              <a:rPr lang="zh-CN" altLang="en-US" sz="2400"/>
              <a:t>每道扇区数</a:t>
            </a:r>
            <a:r>
              <a:rPr lang="en-US" altLang="zh-CN" sz="2400"/>
              <a:t>×</a:t>
            </a:r>
            <a:r>
              <a:rPr lang="zh-CN" altLang="en-US" sz="2400"/>
              <a:t>磁盘的转速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 bwMode="auto">
          <a:xfrm>
            <a:off x="4658003" y="5588091"/>
            <a:ext cx="358784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（磁盘旋转半圈的时间）</a:t>
            </a:r>
            <a:endParaRPr lang="zh-CN" altLang="en-US" sz="2400">
              <a:solidFill>
                <a:srgbClr val="FF0066"/>
              </a:solidFill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611560" y="5588091"/>
            <a:ext cx="451598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（磁头移动到目标磁道的时间）</a:t>
            </a:r>
            <a:endParaRPr lang="zh-CN" altLang="en-US" sz="2400">
              <a:solidFill>
                <a:srgbClr val="FF0066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915816" y="5343787"/>
            <a:ext cx="1800200" cy="315055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033394" y="5343787"/>
            <a:ext cx="1841384" cy="315055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 bwMode="auto">
          <a:xfrm>
            <a:off x="3655805" y="3501008"/>
            <a:ext cx="5136342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逻辑地址</a:t>
            </a:r>
            <a:r>
              <a:rPr lang="en-US" altLang="zh-CN" sz="2400" kern="0">
                <a:solidFill>
                  <a:srgbClr val="009900"/>
                </a:solidFill>
                <a:latin typeface="宋体" pitchFamily="2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虚拟地址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宋体" pitchFamily="2" charset="-122"/>
              </a:rPr>
              <a:t>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→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主存物理地址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 bwMode="auto">
          <a:xfrm>
            <a:off x="6139060" y="4583541"/>
            <a:ext cx="2547740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与磁盘的转速有关</a:t>
            </a:r>
            <a:endParaRPr lang="zh-CN" altLang="en-US" sz="24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6660232" y="4952873"/>
            <a:ext cx="72008" cy="33165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>
            <a:off x="7599820" y="4967688"/>
            <a:ext cx="202615" cy="3701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sm" len="lg"/>
          </a:ln>
          <a:effectLst/>
        </p:spPr>
      </p:cxn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3"/>
            <a:ext cx="8362950" cy="1584175"/>
          </a:xfrm>
        </p:spPr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：</a:t>
            </a:r>
            <a:r>
              <a:rPr lang="en-US" altLang="zh-CN">
                <a:solidFill>
                  <a:srgbClr val="0000FF"/>
                </a:solidFill>
              </a:rPr>
              <a:t>Cache - </a:t>
            </a:r>
            <a:r>
              <a:rPr lang="zh-CN" altLang="en-US">
                <a:solidFill>
                  <a:srgbClr val="0000FF"/>
                </a:solidFill>
              </a:rPr>
              <a:t>主存</a:t>
            </a:r>
            <a:endParaRPr lang="en-US" altLang="zh-CN">
              <a:solidFill>
                <a:srgbClr val="0000FF"/>
              </a:solidFill>
            </a:endParaRPr>
          </a:p>
          <a:p>
            <a:pPr lvl="1"/>
            <a:r>
              <a:rPr lang="zh-CN" altLang="en-US"/>
              <a:t>地址映射：全相联、直接映射、组相联</a:t>
            </a:r>
            <a:endParaRPr lang="en-US" altLang="zh-CN"/>
          </a:p>
          <a:p>
            <a:pPr lvl="1"/>
            <a:r>
              <a:rPr lang="zh-CN" altLang="en-US"/>
              <a:t>平均访问时间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307060" y="2500629"/>
            <a:ext cx="3631700" cy="52322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T</a:t>
            </a:r>
            <a:r>
              <a:rPr lang="en-US" altLang="zh-CN" baseline="-25000">
                <a:solidFill>
                  <a:srgbClr val="0000FF"/>
                </a:solidFill>
              </a:rPr>
              <a:t>A</a:t>
            </a:r>
            <a:r>
              <a:rPr lang="zh-CN" altLang="en-US">
                <a:solidFill>
                  <a:srgbClr val="0000FF"/>
                </a:solidFill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T</a:t>
            </a:r>
            <a:r>
              <a:rPr lang="en-US" altLang="zh-CN" baseline="-25000">
                <a:solidFill>
                  <a:srgbClr val="0000FF"/>
                </a:solidFill>
              </a:rPr>
              <a:t>C</a:t>
            </a:r>
            <a:r>
              <a:rPr lang="zh-CN" altLang="en-US">
                <a:solidFill>
                  <a:srgbClr val="0000FF"/>
                </a:solidFill>
              </a:rPr>
              <a:t>＋</a:t>
            </a:r>
            <a:r>
              <a:rPr lang="en-US" altLang="zh-CN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zh-CN" altLang="en-US">
                <a:solidFill>
                  <a:srgbClr val="0000FF"/>
                </a:solidFill>
              </a:rPr>
              <a:t>－</a:t>
            </a:r>
            <a:r>
              <a:rPr lang="en-US" altLang="zh-CN" i="1">
                <a:solidFill>
                  <a:srgbClr val="0000FF"/>
                </a:solidFill>
              </a:rPr>
              <a:t>h</a:t>
            </a:r>
            <a:r>
              <a:rPr lang="en-US" altLang="zh-CN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>
                <a:solidFill>
                  <a:srgbClr val="0000FF"/>
                </a:solidFill>
              </a:rPr>
              <a:t>×T</a:t>
            </a:r>
            <a:r>
              <a:rPr lang="en-US" altLang="zh-CN" baseline="-25000">
                <a:solidFill>
                  <a:srgbClr val="0000FF"/>
                </a:solidFill>
              </a:rPr>
              <a:t>M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187624" y="3455029"/>
            <a:ext cx="3825950" cy="1800200"/>
            <a:chOff x="4439468" y="4797152"/>
            <a:chExt cx="3825950" cy="1800200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558904" y="4942036"/>
              <a:ext cx="755500" cy="15113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/>
                <a:t>CPU</a:t>
              </a:r>
              <a:endParaRPr lang="en-US" altLang="zh-CN" sz="2400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7403703" y="4942036"/>
              <a:ext cx="720577" cy="1511300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/>
                <a:t>主存</a:t>
              </a:r>
              <a:endParaRPr lang="zh-CN" altLang="en-US" sz="2400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890667" y="5013473"/>
              <a:ext cx="935037" cy="1007815"/>
            </a:xfrm>
            <a:prstGeom prst="rect">
              <a:avLst/>
            </a:prstGeom>
            <a:solidFill>
              <a:srgbClr val="C1FFC1"/>
            </a:solidFill>
            <a:ln w="2857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/>
                <a:t>Cache</a:t>
              </a:r>
              <a:endParaRPr lang="en-US" altLang="zh-CN" sz="2400"/>
            </a:p>
          </p:txBody>
        </p:sp>
        <p:sp>
          <p:nvSpPr>
            <p:cNvPr id="10" name="AutoShape 9"/>
            <p:cNvSpPr>
              <a:spLocks noChangeArrowheads="1"/>
            </p:cNvSpPr>
            <p:nvPr/>
          </p:nvSpPr>
          <p:spPr bwMode="auto">
            <a:xfrm>
              <a:off x="5314404" y="5373910"/>
              <a:ext cx="576263" cy="287338"/>
            </a:xfrm>
            <a:prstGeom prst="leftRightArrow">
              <a:avLst>
                <a:gd name="adj1" fmla="val 50000"/>
                <a:gd name="adj2" fmla="val 40110"/>
              </a:avLst>
            </a:prstGeom>
            <a:solidFill>
              <a:srgbClr val="66FF33"/>
            </a:solidFill>
            <a:ln w="28575" algn="ctr">
              <a:solidFill>
                <a:srgbClr val="006600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lang="zh-CN" altLang="en-US"/>
            </a:p>
          </p:txBody>
        </p:sp>
        <p:sp>
          <p:nvSpPr>
            <p:cNvPr id="11" name="AutoShape 10"/>
            <p:cNvSpPr>
              <a:spLocks noChangeArrowheads="1"/>
            </p:cNvSpPr>
            <p:nvPr/>
          </p:nvSpPr>
          <p:spPr bwMode="auto">
            <a:xfrm>
              <a:off x="6827639" y="5373910"/>
              <a:ext cx="576263" cy="287338"/>
            </a:xfrm>
            <a:prstGeom prst="leftRightArrow">
              <a:avLst>
                <a:gd name="adj1" fmla="val 50000"/>
                <a:gd name="adj2" fmla="val 40110"/>
              </a:avLst>
            </a:prstGeom>
            <a:solidFill>
              <a:srgbClr val="66FF33"/>
            </a:solidFill>
            <a:ln w="28575" algn="ctr">
              <a:solidFill>
                <a:srgbClr val="006600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4439468" y="4797152"/>
              <a:ext cx="3825950" cy="1800200"/>
            </a:xfrm>
            <a:prstGeom prst="rect">
              <a:avLst/>
            </a:prstGeom>
            <a:noFill/>
            <a:ln w="19050" cap="flat" cmpd="sng" algn="ctr">
              <a:solidFill>
                <a:srgbClr val="FF0066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 bwMode="auto">
          <a:xfrm>
            <a:off x="3479950" y="4175109"/>
            <a:ext cx="776287" cy="0"/>
          </a:xfrm>
          <a:prstGeom prst="line">
            <a:avLst/>
          </a:prstGeom>
          <a:noFill/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triangle" w="med" len="sm"/>
            <a:tailEnd type="none" w="med" len="lg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1867844" y="4175109"/>
            <a:ext cx="826293" cy="0"/>
          </a:xfrm>
          <a:prstGeom prst="line">
            <a:avLst/>
          </a:prstGeom>
          <a:noFill/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triangle" w="med" len="sm"/>
            <a:tailEnd type="none" w="med" len="lg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5508104" y="2332185"/>
                <a:ext cx="2769733" cy="860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加速比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320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332185"/>
                <a:ext cx="2769733" cy="860107"/>
              </a:xfrm>
              <a:prstGeom prst="rect">
                <a:avLst/>
              </a:prstGeom>
              <a:blipFill rotWithShape="1">
                <a:blip r:embed="rId1"/>
                <a:stretch>
                  <a:fillRect l="-4" t="-54" r="-70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6012160" y="44449"/>
            <a:ext cx="2747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90204"/>
                <a:ea typeface="黑体" pitchFamily="2" charset="-122"/>
                <a:cs typeface="+mn-cs"/>
              </a:rPr>
              <a:t>1.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Arial" panose="020B0604020202090204"/>
                <a:ea typeface="黑体" pitchFamily="2" charset="-122"/>
                <a:cs typeface="+mn-cs"/>
              </a:rPr>
              <a:t>平均访问时间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Arial" panose="020B0604020202090204"/>
              <a:ea typeface="黑体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 bwMode="auto">
          <a:xfrm>
            <a:off x="3853865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1"/>
            <a:ext cx="8507288" cy="172827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p173</a:t>
            </a:r>
            <a:r>
              <a:rPr lang="zh-CN" altLang="en-US" sz="2400"/>
              <a:t>，习题 </a:t>
            </a:r>
            <a:r>
              <a:rPr lang="en-US" altLang="zh-CN" sz="2400"/>
              <a:t>4.25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高速缓存</a:t>
            </a:r>
            <a:r>
              <a:rPr lang="en-US" altLang="zh-CN" sz="2400"/>
              <a:t>Cache</a:t>
            </a:r>
            <a:r>
              <a:rPr lang="zh-CN" altLang="en-US" sz="2400"/>
              <a:t>采用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zh-CN" altLang="en-US" sz="2400">
                <a:solidFill>
                  <a:srgbClr val="FF0000"/>
                </a:solidFill>
              </a:rPr>
              <a:t>组相联</a:t>
            </a:r>
            <a:r>
              <a:rPr lang="zh-CN" altLang="en-US" sz="2400"/>
              <a:t>地址映射方式，</a:t>
            </a:r>
            <a:br>
              <a:rPr lang="en-US" altLang="zh-CN" sz="2400"/>
            </a:br>
            <a:r>
              <a:rPr lang="zh-CN" altLang="en-US" sz="2400">
                <a:solidFill>
                  <a:srgbClr val="0000FF"/>
                </a:solidFill>
              </a:rPr>
              <a:t>每路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每块</a:t>
            </a:r>
            <a:r>
              <a:rPr lang="en-US" altLang="zh-CN" sz="2400">
                <a:solidFill>
                  <a:srgbClr val="0000FF"/>
                </a:solidFill>
              </a:rPr>
              <a:t>1KB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008000"/>
                </a:solidFill>
              </a:rPr>
              <a:t>主存</a:t>
            </a:r>
            <a:r>
              <a:rPr lang="zh-CN" altLang="en-US" sz="2400"/>
              <a:t>最大寻址空间为</a:t>
            </a:r>
            <a:r>
              <a:rPr lang="en-US" altLang="zh-CN" sz="2400">
                <a:solidFill>
                  <a:srgbClr val="008000"/>
                </a:solidFill>
              </a:rPr>
              <a:t>1MB</a:t>
            </a:r>
            <a:r>
              <a:rPr lang="zh-CN" altLang="en-US" sz="2400"/>
              <a:t>，按</a:t>
            </a:r>
            <a:r>
              <a:rPr lang="zh-CN" altLang="en-US" sz="2400">
                <a:solidFill>
                  <a:srgbClr val="008000"/>
                </a:solidFill>
              </a:rPr>
              <a:t>字节</a:t>
            </a:r>
            <a:r>
              <a:rPr lang="zh-CN" altLang="en-US" sz="2400"/>
              <a:t>编址。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(1) </a:t>
            </a:r>
            <a:r>
              <a:rPr lang="zh-CN" altLang="en-US" sz="2400"/>
              <a:t>说明主存地址如何划分。（</a:t>
            </a:r>
            <a:r>
              <a:rPr lang="en-US" altLang="zh-CN" sz="2400"/>
              <a:t>Tag</a:t>
            </a:r>
            <a:r>
              <a:rPr lang="zh-CN" altLang="en-US" sz="2400"/>
              <a:t>、</a:t>
            </a:r>
            <a:r>
              <a:rPr lang="en-US" altLang="zh-CN" sz="2400"/>
              <a:t>Index</a:t>
            </a:r>
            <a:r>
              <a:rPr lang="zh-CN" altLang="en-US" sz="2400"/>
              <a:t>、块内地址）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547664" y="2401167"/>
          <a:ext cx="5184576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8"/>
                <a:gridCol w="1008112"/>
                <a:gridCol w="2304256"/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ctr" defTabSz="38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>
                          <a:latin typeface="+mn-lt"/>
                          <a:ea typeface="+mn-ea"/>
                        </a:rPr>
                        <a:t>组相联 主存地址划分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anchor="ctr"/>
                </a:tc>
                <a:tc hMerge="1">
                  <a:tcPr anchor="ctr">
                    <a:lnL w="12700" cmpd="sng">
                      <a:noFill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Tag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Index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标记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索引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块内地址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1547664" y="3861048"/>
            <a:ext cx="0" cy="79208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732240" y="3861048"/>
            <a:ext cx="0" cy="79208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427984" y="3861048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419872" y="3861048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547664" y="4077072"/>
            <a:ext cx="1872208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419872" y="4077072"/>
            <a:ext cx="100811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4427984" y="4077072"/>
            <a:ext cx="2304256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547664" y="4509120"/>
            <a:ext cx="5184576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342958" y="3861048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+mn-lt"/>
                <a:ea typeface="+mn-ea"/>
              </a:rPr>
              <a:t>9</a:t>
            </a:r>
            <a:endParaRPr lang="zh-CN" altLang="en-US" sz="240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783118" y="3861048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305423" y="3861048"/>
            <a:ext cx="49244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37271" y="4293096"/>
            <a:ext cx="49244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20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47969" y="5214433"/>
            <a:ext cx="2242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Cache</a:t>
            </a:r>
            <a:r>
              <a:rPr lang="zh-CN" altLang="en-US" sz="2400">
                <a:solidFill>
                  <a:srgbClr val="0000FF"/>
                </a:solidFill>
              </a:rPr>
              <a:t>总容量：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52398" y="5214433"/>
            <a:ext cx="4023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en-US" altLang="zh-CN" sz="2400">
                <a:solidFill>
                  <a:srgbClr val="0000FF"/>
                </a:solidFill>
              </a:rPr>
              <a:t>×2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en-US" altLang="zh-CN" sz="2400">
                <a:solidFill>
                  <a:srgbClr val="0000FF"/>
                </a:solidFill>
              </a:rPr>
              <a:t>/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en-US" altLang="zh-CN" sz="2400">
                <a:solidFill>
                  <a:srgbClr val="0000FF"/>
                </a:solidFill>
              </a:rPr>
              <a:t>×1KB/</a:t>
            </a:r>
            <a:r>
              <a:rPr lang="zh-CN" altLang="en-US" sz="2400">
                <a:solidFill>
                  <a:srgbClr val="0000FF"/>
                </a:solidFill>
              </a:rPr>
              <a:t>块＝</a:t>
            </a:r>
            <a:r>
              <a:rPr lang="en-US" altLang="zh-CN" sz="2400">
                <a:solidFill>
                  <a:srgbClr val="0000FF"/>
                </a:solidFill>
              </a:rPr>
              <a:t>8KB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 bwMode="auto">
          <a:xfrm>
            <a:off x="8388424" y="620613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507288" cy="208830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p173</a:t>
            </a:r>
            <a:r>
              <a:rPr lang="zh-CN" altLang="en-US" sz="2400"/>
              <a:t>，习题 </a:t>
            </a:r>
            <a:r>
              <a:rPr lang="en-US" altLang="zh-CN" sz="2400"/>
              <a:t>4.25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高速缓存</a:t>
            </a:r>
            <a:r>
              <a:rPr lang="en-US" altLang="zh-CN" sz="2400"/>
              <a:t>Cache</a:t>
            </a:r>
            <a:r>
              <a:rPr lang="zh-CN" altLang="en-US" sz="2400"/>
              <a:t>采用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zh-CN" altLang="en-US" sz="2400">
                <a:solidFill>
                  <a:srgbClr val="FF0000"/>
                </a:solidFill>
              </a:rPr>
              <a:t>组相联</a:t>
            </a:r>
            <a:r>
              <a:rPr lang="zh-CN" altLang="en-US" sz="2400"/>
              <a:t>地址映射方式，</a:t>
            </a:r>
            <a:br>
              <a:rPr lang="en-US" altLang="zh-CN" sz="2400"/>
            </a:br>
            <a:r>
              <a:rPr lang="zh-CN" altLang="en-US" sz="2400">
                <a:solidFill>
                  <a:srgbClr val="0000FF"/>
                </a:solidFill>
              </a:rPr>
              <a:t>每路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每块</a:t>
            </a:r>
            <a:r>
              <a:rPr lang="en-US" altLang="zh-CN" sz="2400">
                <a:solidFill>
                  <a:srgbClr val="0000FF"/>
                </a:solidFill>
              </a:rPr>
              <a:t>1KB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008000"/>
                </a:solidFill>
              </a:rPr>
              <a:t>主存</a:t>
            </a:r>
            <a:r>
              <a:rPr lang="zh-CN" altLang="en-US" sz="2400"/>
              <a:t>最大寻址空间为</a:t>
            </a:r>
            <a:r>
              <a:rPr lang="en-US" altLang="zh-CN" sz="2400">
                <a:solidFill>
                  <a:srgbClr val="008000"/>
                </a:solidFill>
              </a:rPr>
              <a:t>1MB</a:t>
            </a:r>
            <a:r>
              <a:rPr lang="zh-CN" altLang="en-US" sz="2400"/>
              <a:t>，按</a:t>
            </a:r>
            <a:r>
              <a:rPr lang="zh-CN" altLang="en-US" sz="2400">
                <a:solidFill>
                  <a:srgbClr val="008000"/>
                </a:solidFill>
              </a:rPr>
              <a:t>字节</a:t>
            </a:r>
            <a:r>
              <a:rPr lang="zh-CN" altLang="en-US" sz="2400"/>
              <a:t>编址。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(2) </a:t>
            </a:r>
            <a:r>
              <a:rPr lang="zh-CN" altLang="en-US" sz="2400"/>
              <a:t>已知地址映射表如下图所示，若主存地址为 </a:t>
            </a:r>
            <a:r>
              <a:rPr lang="en-US" altLang="zh-CN" sz="2400"/>
              <a:t>ABCDEH </a:t>
            </a:r>
            <a:r>
              <a:rPr lang="zh-CN" altLang="en-US" sz="2400"/>
              <a:t>和</a:t>
            </a:r>
            <a:r>
              <a:rPr lang="en-US" altLang="zh-CN" sz="2400"/>
              <a:t>12345H</a:t>
            </a:r>
            <a:r>
              <a:rPr lang="zh-CN" altLang="en-US" sz="2400"/>
              <a:t>，是否命中</a:t>
            </a:r>
            <a:r>
              <a:rPr lang="en-US" altLang="zh-CN" sz="2400"/>
              <a:t>Cache</a:t>
            </a:r>
            <a:r>
              <a:rPr lang="zh-CN" altLang="en-US" sz="2400"/>
              <a:t>，确定变换后的高速缓存地址。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635896" y="4679210"/>
          <a:ext cx="518457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8"/>
                <a:gridCol w="1008112"/>
                <a:gridCol w="2304256"/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ctr" defTabSz="38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>
                          <a:latin typeface="+mn-lt"/>
                          <a:ea typeface="+mn-ea"/>
                        </a:rPr>
                        <a:t>组相联 主存地址划分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anchor="ctr"/>
                </a:tc>
                <a:tc hMerge="1">
                  <a:tcPr anchor="ctr">
                    <a:lnL w="12700" cmpd="sng">
                      <a:noFill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标记 </a:t>
                      </a:r>
                      <a:r>
                        <a:rPr lang="en-US" altLang="zh-CN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Tag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索引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块内地址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3635896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20472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516216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508104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635896" y="5893450"/>
            <a:ext cx="1872208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508104" y="5893450"/>
            <a:ext cx="100811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516216" y="5893450"/>
            <a:ext cx="2304256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431190" y="5677426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+mn-lt"/>
                <a:ea typeface="+mn-ea"/>
              </a:rPr>
              <a:t>9</a:t>
            </a:r>
            <a:endParaRPr lang="zh-CN" altLang="en-US" sz="240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871350" y="5677426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393655" y="5677426"/>
            <a:ext cx="49244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243085" y="5189175"/>
            <a:ext cx="1538150" cy="864096"/>
          </a:xfrm>
          <a:prstGeom prst="rect">
            <a:avLst/>
          </a:prstGeom>
          <a:solidFill>
            <a:srgbClr val="FFFF99"/>
          </a:solidFill>
          <a:effectLst>
            <a:softEdge rad="317500"/>
          </a:effectLst>
        </p:spPr>
        <p:txBody>
          <a:bodyPr wrap="none" anchor="ctr" anchorCtr="0">
            <a:noAutofit/>
          </a:bodyPr>
          <a:lstStyle/>
          <a:p>
            <a:r>
              <a:rPr lang="en-US" altLang="zh-CN" sz="2400">
                <a:solidFill>
                  <a:srgbClr val="CC0066"/>
                </a:solidFill>
                <a:latin typeface="Times New Roman" panose="02020503050405090304"/>
                <a:ea typeface="宋体"/>
              </a:rPr>
              <a:t>Index</a:t>
            </a:r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3317279" y="2914954"/>
          <a:ext cx="5535501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504337"/>
                <a:gridCol w="791872"/>
                <a:gridCol w="120385"/>
                <a:gridCol w="485054"/>
                <a:gridCol w="762713"/>
                <a:gridCol w="116169"/>
                <a:gridCol w="506562"/>
                <a:gridCol w="817429"/>
                <a:gridCol w="120046"/>
                <a:gridCol w="506562"/>
                <a:gridCol w="804372"/>
              </a:tblGrid>
              <a:tr h="0">
                <a:tc gridSpan="2">
                  <a:txBody>
                    <a:bodyPr/>
                    <a:lstStyle/>
                    <a:p>
                      <a:pPr marL="0" indent="0" algn="l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路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0" algn="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2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路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0" algn="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3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路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0" algn="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4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路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058H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112H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067H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188H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167H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矩形 25"/>
          <p:cNvSpPr/>
          <p:nvPr/>
        </p:nvSpPr>
        <p:spPr>
          <a:xfrm rot="5400000">
            <a:off x="3014608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 rot="5400000">
            <a:off x="4420811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 rot="5400000">
            <a:off x="5808787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 rot="5400000">
            <a:off x="7238140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8128" y="4519390"/>
            <a:ext cx="3485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highlight>
                  <a:srgbClr val="FFCCCC"/>
                </a:highlight>
              </a:rPr>
              <a:t>1010 1011 1</a:t>
            </a:r>
            <a:r>
              <a:rPr lang="en-US" altLang="zh-CN" sz="2400">
                <a:highlight>
                  <a:srgbClr val="CCFFCC"/>
                </a:highlight>
              </a:rPr>
              <a:t>1</a:t>
            </a:r>
            <a:r>
              <a:rPr lang="en-US" altLang="zh-CN" sz="2400">
                <a:highlight>
                  <a:srgbClr val="FFFF00"/>
                </a:highlight>
              </a:rPr>
              <a:t>00 1101 1110</a:t>
            </a:r>
            <a:endParaRPr lang="zh-CN" altLang="en-US" sz="2400">
              <a:highlight>
                <a:srgbClr val="FFFF00"/>
              </a:highlight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8128" y="4518644"/>
            <a:ext cx="3485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/>
              <a:t>1010 1011 1100 1101 1110</a:t>
            </a:r>
            <a:endParaRPr lang="zh-CN" altLang="en-US" sz="2400"/>
          </a:p>
        </p:txBody>
      </p:sp>
      <p:cxnSp>
        <p:nvCxnSpPr>
          <p:cNvPr id="33" name="直接连接符 32"/>
          <p:cNvCxnSpPr/>
          <p:nvPr/>
        </p:nvCxnSpPr>
        <p:spPr bwMode="auto">
          <a:xfrm flipH="1">
            <a:off x="1059656" y="4941168"/>
            <a:ext cx="63202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/>
          <p:cNvCxnSpPr/>
          <p:nvPr/>
        </p:nvCxnSpPr>
        <p:spPr bwMode="auto">
          <a:xfrm flipH="1">
            <a:off x="364583" y="4941168"/>
            <a:ext cx="64807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矩形 37"/>
          <p:cNvSpPr/>
          <p:nvPr/>
        </p:nvSpPr>
        <p:spPr>
          <a:xfrm>
            <a:off x="108128" y="4940422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1   5       7 H</a:t>
            </a:r>
            <a:endParaRPr lang="zh-CN" altLang="en-US" sz="2400">
              <a:solidFill>
                <a:srgbClr val="0000FF"/>
              </a:solidFill>
            </a:endParaRPr>
          </a:p>
        </p:txBody>
      </p:sp>
      <p:cxnSp>
        <p:nvCxnSpPr>
          <p:cNvPr id="41" name="直接连接符 40"/>
          <p:cNvCxnSpPr/>
          <p:nvPr/>
        </p:nvCxnSpPr>
        <p:spPr bwMode="auto">
          <a:xfrm flipV="1">
            <a:off x="1763688" y="4221088"/>
            <a:ext cx="0" cy="360040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直接连接符 42"/>
          <p:cNvCxnSpPr/>
          <p:nvPr/>
        </p:nvCxnSpPr>
        <p:spPr bwMode="auto">
          <a:xfrm>
            <a:off x="1763688" y="4221088"/>
            <a:ext cx="1512168" cy="0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4" name="矩形 43"/>
          <p:cNvSpPr/>
          <p:nvPr/>
        </p:nvSpPr>
        <p:spPr bwMode="auto">
          <a:xfrm>
            <a:off x="3317279" y="4005064"/>
            <a:ext cx="5535495" cy="372925"/>
          </a:xfrm>
          <a:prstGeom prst="rect">
            <a:avLst/>
          </a:prstGeom>
          <a:noFill/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08128" y="3672503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主存地址：</a:t>
            </a:r>
            <a:r>
              <a:rPr lang="en-US" altLang="zh-CN" sz="2400"/>
              <a:t>ABCDEH</a:t>
            </a:r>
            <a:endParaRPr lang="zh-CN" altLang="en-US" sz="2400"/>
          </a:p>
        </p:txBody>
      </p:sp>
      <p:sp>
        <p:nvSpPr>
          <p:cNvPr id="50" name="矩形 49"/>
          <p:cNvSpPr/>
          <p:nvPr/>
        </p:nvSpPr>
        <p:spPr bwMode="auto">
          <a:xfrm>
            <a:off x="6572250" y="4004788"/>
            <a:ext cx="881064" cy="372925"/>
          </a:xfrm>
          <a:prstGeom prst="rect">
            <a:avLst/>
          </a:prstGeom>
          <a:noFill/>
          <a:ln w="7620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12919" y="5318691"/>
            <a:ext cx="304442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命中 第</a:t>
            </a: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/>
              <a:t>路、第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/>
              <a:t>块、</a:t>
            </a:r>
            <a:br>
              <a:rPr lang="en-US" altLang="zh-CN" sz="2400"/>
            </a:br>
            <a:r>
              <a:rPr lang="en-US" altLang="zh-CN" sz="2400"/>
              <a:t>         </a:t>
            </a:r>
            <a:r>
              <a:rPr lang="zh-CN" altLang="en-US" sz="2400"/>
              <a:t>第</a:t>
            </a:r>
            <a:r>
              <a:rPr lang="en-US" altLang="zh-CN" sz="2400">
                <a:solidFill>
                  <a:srgbClr val="FF0000"/>
                </a:solidFill>
              </a:rPr>
              <a:t>0DEH</a:t>
            </a:r>
            <a:r>
              <a:rPr lang="zh-CN" altLang="en-US" sz="2400"/>
              <a:t>字节。</a:t>
            </a:r>
            <a:endParaRPr lang="zh-CN" altLang="en-US" sz="2400"/>
          </a:p>
        </p:txBody>
      </p:sp>
      <p:sp>
        <p:nvSpPr>
          <p:cNvPr id="52" name="矩形 51"/>
          <p:cNvSpPr/>
          <p:nvPr/>
        </p:nvSpPr>
        <p:spPr>
          <a:xfrm>
            <a:off x="112919" y="6081162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路内地址：</a:t>
            </a:r>
            <a:endParaRPr lang="zh-CN" altLang="en-US" sz="2400"/>
          </a:p>
        </p:txBody>
      </p:sp>
      <p:sp>
        <p:nvSpPr>
          <p:cNvPr id="53" name="矩形 52"/>
          <p:cNvSpPr/>
          <p:nvPr/>
        </p:nvSpPr>
        <p:spPr>
          <a:xfrm>
            <a:off x="1622381" y="6081162"/>
            <a:ext cx="1005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8000"/>
                </a:solidFill>
              </a:rPr>
              <a:t>4DEH</a:t>
            </a:r>
            <a:endParaRPr lang="zh-CN" altLang="en-US" sz="2400">
              <a:solidFill>
                <a:srgbClr val="008000"/>
              </a:solidFill>
            </a:endParaRPr>
          </a:p>
        </p:txBody>
      </p:sp>
      <p:sp>
        <p:nvSpPr>
          <p:cNvPr id="54" name="矩形 53"/>
          <p:cNvSpPr/>
          <p:nvPr/>
        </p:nvSpPr>
        <p:spPr bwMode="auto">
          <a:xfrm>
            <a:off x="1693006" y="4525504"/>
            <a:ext cx="1786000" cy="423473"/>
          </a:xfrm>
          <a:prstGeom prst="rect">
            <a:avLst/>
          </a:pr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cxnSp>
        <p:nvCxnSpPr>
          <p:cNvPr id="55" name="直接连接符 54"/>
          <p:cNvCxnSpPr/>
          <p:nvPr/>
        </p:nvCxnSpPr>
        <p:spPr bwMode="auto">
          <a:xfrm flipV="1">
            <a:off x="3080398" y="4962088"/>
            <a:ext cx="0" cy="1340814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直接连接符 55"/>
          <p:cNvCxnSpPr/>
          <p:nvPr/>
        </p:nvCxnSpPr>
        <p:spPr bwMode="auto">
          <a:xfrm flipH="1">
            <a:off x="2602264" y="6306023"/>
            <a:ext cx="478134" cy="0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5" name="文本框 44"/>
          <p:cNvSpPr txBox="1"/>
          <p:nvPr/>
        </p:nvSpPr>
        <p:spPr bwMode="auto">
          <a:xfrm>
            <a:off x="251520" y="2750499"/>
            <a:ext cx="2547740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地址映射表容量：</a:t>
            </a:r>
            <a:endParaRPr lang="zh-CN" altLang="en-US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 bwMode="auto">
          <a:xfrm>
            <a:off x="251520" y="3153966"/>
            <a:ext cx="1948217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400">
                <a:solidFill>
                  <a:srgbClr val="C00000"/>
                </a:solidFill>
                <a:latin typeface="宋体" pitchFamily="2" charset="-122"/>
              </a:rPr>
              <a:t>(</a:t>
            </a:r>
            <a:r>
              <a:rPr lang="en-US" altLang="zh-CN" sz="2400">
                <a:solidFill>
                  <a:srgbClr val="C00000"/>
                </a:solidFill>
              </a:rPr>
              <a:t>9+1</a:t>
            </a:r>
            <a:r>
              <a:rPr lang="en-US" altLang="zh-CN" sz="2400">
                <a:solidFill>
                  <a:srgbClr val="C00000"/>
                </a:solidFill>
                <a:latin typeface="宋体" pitchFamily="2" charset="-122"/>
              </a:rPr>
              <a:t>)</a:t>
            </a:r>
            <a:r>
              <a:rPr lang="zh-CN" altLang="en-US" sz="2400">
                <a:solidFill>
                  <a:srgbClr val="C00000"/>
                </a:solidFill>
              </a:rPr>
              <a:t>位</a:t>
            </a:r>
            <a:r>
              <a:rPr lang="en-US" altLang="zh-CN" sz="2400">
                <a:solidFill>
                  <a:srgbClr val="C00000"/>
                </a:solidFill>
              </a:rPr>
              <a:t>×8</a:t>
            </a:r>
            <a:r>
              <a:rPr lang="zh-CN" altLang="en-US" sz="2400">
                <a:solidFill>
                  <a:srgbClr val="C00000"/>
                </a:solidFill>
              </a:rPr>
              <a:t>行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48" name="文本框 47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 bwMode="auto">
          <a:xfrm>
            <a:off x="8388424" y="620613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8" grpId="0"/>
      <p:bldP spid="44" grpId="0" animBg="1"/>
      <p:bldP spid="50" grpId="0" animBg="1"/>
      <p:bldP spid="51" grpId="0"/>
      <p:bldP spid="52" grpId="0"/>
      <p:bldP spid="53" grpId="0"/>
      <p:bldP spid="54" grpId="0" animBg="1"/>
      <p:bldP spid="4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507288" cy="208830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p173</a:t>
            </a:r>
            <a:r>
              <a:rPr lang="zh-CN" altLang="en-US" sz="2400"/>
              <a:t>，习题 </a:t>
            </a:r>
            <a:r>
              <a:rPr lang="en-US" altLang="zh-CN" sz="2400"/>
              <a:t>4.25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高速缓存</a:t>
            </a:r>
            <a:r>
              <a:rPr lang="en-US" altLang="zh-CN" sz="2400"/>
              <a:t>Cache</a:t>
            </a:r>
            <a:r>
              <a:rPr lang="zh-CN" altLang="en-US" sz="2400"/>
              <a:t>采用</a:t>
            </a:r>
            <a:r>
              <a:rPr lang="en-US" altLang="zh-CN" sz="2400">
                <a:solidFill>
                  <a:srgbClr val="0000FF"/>
                </a:solidFill>
              </a:rPr>
              <a:t>4</a:t>
            </a:r>
            <a:r>
              <a:rPr lang="zh-CN" altLang="en-US" sz="2400">
                <a:solidFill>
                  <a:srgbClr val="0000FF"/>
                </a:solidFill>
              </a:rPr>
              <a:t>路</a:t>
            </a:r>
            <a:r>
              <a:rPr lang="zh-CN" altLang="en-US" sz="2400">
                <a:solidFill>
                  <a:srgbClr val="FF0000"/>
                </a:solidFill>
              </a:rPr>
              <a:t>组相联</a:t>
            </a:r>
            <a:r>
              <a:rPr lang="zh-CN" altLang="en-US" sz="2400"/>
              <a:t>地址映射方式，</a:t>
            </a:r>
            <a:br>
              <a:rPr lang="en-US" altLang="zh-CN" sz="2400"/>
            </a:br>
            <a:r>
              <a:rPr lang="zh-CN" altLang="en-US" sz="2400">
                <a:solidFill>
                  <a:srgbClr val="0000FF"/>
                </a:solidFill>
              </a:rPr>
              <a:t>每路</a:t>
            </a:r>
            <a:r>
              <a:rPr lang="en-US" altLang="zh-CN" sz="2400">
                <a:solidFill>
                  <a:srgbClr val="0000FF"/>
                </a:solidFill>
              </a:rPr>
              <a:t>2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每块</a:t>
            </a:r>
            <a:r>
              <a:rPr lang="en-US" altLang="zh-CN" sz="2400">
                <a:solidFill>
                  <a:srgbClr val="0000FF"/>
                </a:solidFill>
              </a:rPr>
              <a:t>1KB</a:t>
            </a:r>
            <a:r>
              <a:rPr lang="zh-CN" altLang="en-US" sz="2400"/>
              <a:t>。</a:t>
            </a:r>
            <a:r>
              <a:rPr lang="zh-CN" altLang="en-US" sz="2400">
                <a:solidFill>
                  <a:srgbClr val="008000"/>
                </a:solidFill>
              </a:rPr>
              <a:t>主存</a:t>
            </a:r>
            <a:r>
              <a:rPr lang="zh-CN" altLang="en-US" sz="2400"/>
              <a:t>最大寻址空间为</a:t>
            </a:r>
            <a:r>
              <a:rPr lang="en-US" altLang="zh-CN" sz="2400">
                <a:solidFill>
                  <a:srgbClr val="008000"/>
                </a:solidFill>
              </a:rPr>
              <a:t>1MB</a:t>
            </a:r>
            <a:r>
              <a:rPr lang="zh-CN" altLang="en-US" sz="2400"/>
              <a:t>，按</a:t>
            </a:r>
            <a:r>
              <a:rPr lang="zh-CN" altLang="en-US" sz="2400">
                <a:solidFill>
                  <a:srgbClr val="008000"/>
                </a:solidFill>
              </a:rPr>
              <a:t>字节</a:t>
            </a:r>
            <a:r>
              <a:rPr lang="zh-CN" altLang="en-US" sz="2400"/>
              <a:t>编址。</a:t>
            </a:r>
            <a:endParaRPr lang="zh-CN" altLang="en-US" sz="2400"/>
          </a:p>
          <a:p>
            <a:pPr marL="0" indent="0">
              <a:buNone/>
            </a:pPr>
            <a:r>
              <a:rPr lang="en-US" altLang="zh-CN" sz="2400"/>
              <a:t>(2) </a:t>
            </a:r>
            <a:r>
              <a:rPr lang="zh-CN" altLang="en-US" sz="2400"/>
              <a:t>已知地址映射表如下图所示，若主存地址为 </a:t>
            </a:r>
            <a:r>
              <a:rPr lang="en-US" altLang="zh-CN" sz="2400"/>
              <a:t>ABCDEH </a:t>
            </a:r>
            <a:r>
              <a:rPr lang="zh-CN" altLang="en-US" sz="2400"/>
              <a:t>和</a:t>
            </a:r>
            <a:r>
              <a:rPr lang="en-US" altLang="zh-CN" sz="2400"/>
              <a:t>12345H</a:t>
            </a:r>
            <a:r>
              <a:rPr lang="zh-CN" altLang="en-US" sz="2400"/>
              <a:t>，是否命中</a:t>
            </a:r>
            <a:r>
              <a:rPr lang="en-US" altLang="zh-CN" sz="2400"/>
              <a:t>Cache</a:t>
            </a:r>
            <a:r>
              <a:rPr lang="zh-CN" altLang="en-US" sz="2400"/>
              <a:t>，确定变换后的高速缓存地址。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635896" y="4679210"/>
          <a:ext cx="518457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8"/>
                <a:gridCol w="1008112"/>
                <a:gridCol w="2304256"/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ctr" defTabSz="38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>
                          <a:latin typeface="+mn-lt"/>
                          <a:ea typeface="+mn-ea"/>
                        </a:rPr>
                        <a:t>组相联 主存地址划分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anchor="ctr"/>
                </a:tc>
                <a:tc hMerge="1">
                  <a:tcPr anchor="ctr">
                    <a:lnL w="12700" cmpd="sng">
                      <a:noFill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标记 </a:t>
                      </a:r>
                      <a:r>
                        <a:rPr lang="en-US" altLang="zh-CN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Tag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索引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块内地址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</a:tr>
            </a:tbl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3635896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20472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516216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5508104" y="5677426"/>
            <a:ext cx="0" cy="432048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635896" y="5893450"/>
            <a:ext cx="1872208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508104" y="5893450"/>
            <a:ext cx="100811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6516216" y="5893450"/>
            <a:ext cx="2304256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431190" y="5677426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+mn-lt"/>
                <a:ea typeface="+mn-ea"/>
              </a:rPr>
              <a:t>9</a:t>
            </a:r>
            <a:endParaRPr lang="zh-CN" altLang="en-US" sz="240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871350" y="5677426"/>
            <a:ext cx="33855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393655" y="5677426"/>
            <a:ext cx="492444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endParaRPr lang="zh-CN" altLang="en-US" sz="240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243085" y="5189175"/>
            <a:ext cx="1538150" cy="864096"/>
          </a:xfrm>
          <a:prstGeom prst="rect">
            <a:avLst/>
          </a:prstGeom>
          <a:solidFill>
            <a:srgbClr val="FFFF99"/>
          </a:solidFill>
          <a:effectLst>
            <a:softEdge rad="317500"/>
          </a:effectLst>
        </p:spPr>
        <p:txBody>
          <a:bodyPr wrap="none" anchor="ctr" anchorCtr="0">
            <a:noAutofit/>
          </a:bodyPr>
          <a:lstStyle/>
          <a:p>
            <a:r>
              <a:rPr lang="en-US" altLang="zh-CN" sz="2400">
                <a:solidFill>
                  <a:srgbClr val="CC0066"/>
                </a:solidFill>
                <a:latin typeface="Times New Roman" panose="02020503050405090304"/>
                <a:ea typeface="宋体"/>
              </a:rPr>
              <a:t>Index</a:t>
            </a:r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3317279" y="2914954"/>
          <a:ext cx="5535501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504337"/>
                <a:gridCol w="791872"/>
                <a:gridCol w="120385"/>
                <a:gridCol w="485054"/>
                <a:gridCol w="762713"/>
                <a:gridCol w="116169"/>
                <a:gridCol w="506562"/>
                <a:gridCol w="817429"/>
                <a:gridCol w="120046"/>
                <a:gridCol w="506562"/>
                <a:gridCol w="804372"/>
              </a:tblGrid>
              <a:tr h="0">
                <a:tc gridSpan="2">
                  <a:txBody>
                    <a:bodyPr/>
                    <a:lstStyle/>
                    <a:p>
                      <a:pPr marL="0" indent="0" algn="l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路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0" algn="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2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路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0" algn="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3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路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indent="0" algn="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      第</a:t>
                      </a:r>
                      <a:r>
                        <a:rPr 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4</a:t>
                      </a:r>
                      <a:r>
                        <a:rPr lang="zh-CN" altLang="en-US" sz="2400" b="1" kern="100"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路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058H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112H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067H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188H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157H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 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167H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矩形 25"/>
          <p:cNvSpPr/>
          <p:nvPr/>
        </p:nvSpPr>
        <p:spPr>
          <a:xfrm rot="5400000">
            <a:off x="3014608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 rot="5400000">
            <a:off x="4420811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 rot="5400000">
            <a:off x="5808787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 rot="5400000">
            <a:off x="7238140" y="290619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1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</a:rPr>
              <a:t>有效位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8128" y="4519390"/>
            <a:ext cx="35362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highlight>
                  <a:srgbClr val="FFCCCC"/>
                </a:highlight>
              </a:rPr>
              <a:t>0001 0010 0</a:t>
            </a:r>
            <a:r>
              <a:rPr lang="en-US" altLang="zh-CN" sz="2400">
                <a:highlight>
                  <a:srgbClr val="CCFFCC"/>
                </a:highlight>
              </a:rPr>
              <a:t>0</a:t>
            </a:r>
            <a:r>
              <a:rPr lang="en-US" altLang="zh-CN" sz="2400">
                <a:highlight>
                  <a:srgbClr val="FFFF00"/>
                </a:highlight>
              </a:rPr>
              <a:t>11 0100 0101</a:t>
            </a:r>
            <a:endParaRPr lang="zh-CN" altLang="en-US" sz="2400">
              <a:highlight>
                <a:srgbClr val="FFFF00"/>
              </a:highlight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5981" y="4520560"/>
            <a:ext cx="3553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/>
              <a:t>0001 0010 0011 0100 0101</a:t>
            </a:r>
            <a:endParaRPr lang="zh-CN" altLang="en-US" sz="2400"/>
          </a:p>
        </p:txBody>
      </p:sp>
      <p:cxnSp>
        <p:nvCxnSpPr>
          <p:cNvPr id="33" name="直接连接符 32"/>
          <p:cNvCxnSpPr/>
          <p:nvPr/>
        </p:nvCxnSpPr>
        <p:spPr bwMode="auto">
          <a:xfrm flipH="1">
            <a:off x="1059656" y="4941168"/>
            <a:ext cx="63202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/>
          <p:cNvCxnSpPr/>
          <p:nvPr/>
        </p:nvCxnSpPr>
        <p:spPr bwMode="auto">
          <a:xfrm flipH="1">
            <a:off x="364583" y="4941168"/>
            <a:ext cx="64807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矩形 37"/>
          <p:cNvSpPr/>
          <p:nvPr/>
        </p:nvSpPr>
        <p:spPr>
          <a:xfrm>
            <a:off x="108128" y="4940422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</a:rPr>
              <a:t>0   2       4 H</a:t>
            </a:r>
            <a:endParaRPr lang="zh-CN" altLang="en-US" sz="2400">
              <a:solidFill>
                <a:srgbClr val="0000FF"/>
              </a:solidFill>
            </a:endParaRPr>
          </a:p>
        </p:txBody>
      </p:sp>
      <p:cxnSp>
        <p:nvCxnSpPr>
          <p:cNvPr id="41" name="直接连接符 40"/>
          <p:cNvCxnSpPr/>
          <p:nvPr/>
        </p:nvCxnSpPr>
        <p:spPr bwMode="auto">
          <a:xfrm flipV="1">
            <a:off x="1798613" y="3822860"/>
            <a:ext cx="0" cy="758268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直接连接符 42"/>
          <p:cNvCxnSpPr/>
          <p:nvPr/>
        </p:nvCxnSpPr>
        <p:spPr bwMode="auto">
          <a:xfrm>
            <a:off x="1798613" y="3823369"/>
            <a:ext cx="1477243" cy="0"/>
          </a:xfrm>
          <a:prstGeom prst="line">
            <a:avLst/>
          </a:prstGeom>
          <a:solidFill>
            <a:schemeClr val="accent1"/>
          </a:solidFill>
          <a:ln w="28575" cap="rnd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4" name="矩形 43"/>
          <p:cNvSpPr/>
          <p:nvPr/>
        </p:nvSpPr>
        <p:spPr bwMode="auto">
          <a:xfrm>
            <a:off x="3317279" y="3636398"/>
            <a:ext cx="5535495" cy="372925"/>
          </a:xfrm>
          <a:prstGeom prst="rect">
            <a:avLst/>
          </a:prstGeom>
          <a:noFill/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08128" y="3140968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/>
              <a:t>主存地址：</a:t>
            </a:r>
            <a:r>
              <a:rPr lang="en-US" altLang="zh-CN" sz="2400"/>
              <a:t>12345H</a:t>
            </a:r>
            <a:endParaRPr lang="zh-CN" altLang="en-US" sz="2400"/>
          </a:p>
        </p:txBody>
      </p:sp>
      <p:sp>
        <p:nvSpPr>
          <p:cNvPr id="51" name="矩形 50"/>
          <p:cNvSpPr/>
          <p:nvPr/>
        </p:nvSpPr>
        <p:spPr>
          <a:xfrm>
            <a:off x="727193" y="3791662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D60093"/>
                </a:solidFill>
              </a:rPr>
              <a:t>不命中</a:t>
            </a:r>
            <a:endParaRPr lang="zh-CN" altLang="en-US" sz="2400">
              <a:solidFill>
                <a:srgbClr val="D60093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 bwMode="auto">
          <a:xfrm>
            <a:off x="8388424" y="620613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例1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8" grpId="0"/>
      <p:bldP spid="44" grpId="0" animBg="1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36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507288" cy="57601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p174</a:t>
            </a:r>
            <a:r>
              <a:rPr lang="zh-CN" altLang="en-US" sz="2400" dirty="0"/>
              <a:t>，习题 </a:t>
            </a:r>
            <a:r>
              <a:rPr lang="en-US" altLang="zh-CN" sz="2400" dirty="0"/>
              <a:t>4.26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高速缓存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与主存之间采用</a:t>
            </a:r>
            <a:r>
              <a:rPr lang="zh-CN" altLang="en-US" sz="2400" dirty="0">
                <a:solidFill>
                  <a:srgbClr val="FF0000"/>
                </a:solidFill>
                <a:sym typeface="Microsoft Yahei" panose="020B0503020204020204" pitchFamily="34" charset="-122"/>
              </a:rPr>
              <a:t>全相联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地址映射方式，</a:t>
            </a:r>
            <a:b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</a:b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高速缓存的容量为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4KB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，分为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块，主存容量为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1MB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若主存读写时间为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300ns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读写时间为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30ns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b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</a:b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而存储系统平均读写时间为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32.7ns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则该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的命中率为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________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055100" y="2683376"/>
            <a:ext cx="3631700" cy="52322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T</a:t>
            </a:r>
            <a:r>
              <a:rPr lang="en-US" altLang="zh-CN" baseline="-25000" dirty="0">
                <a:solidFill>
                  <a:srgbClr val="0000FF"/>
                </a:solidFill>
              </a:rPr>
              <a:t>C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i="1" dirty="0">
                <a:solidFill>
                  <a:srgbClr val="0000FF"/>
                </a:solidFill>
              </a:rPr>
              <a:t>h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dirty="0">
                <a:solidFill>
                  <a:srgbClr val="0000FF"/>
                </a:solidFill>
              </a:rPr>
              <a:t>×T</a:t>
            </a:r>
            <a:r>
              <a:rPr lang="en-US" altLang="zh-CN" baseline="-25000" dirty="0">
                <a:solidFill>
                  <a:srgbClr val="0000FF"/>
                </a:solidFill>
              </a:rPr>
              <a:t>M</a:t>
            </a:r>
            <a:endParaRPr lang="zh-CN" altLang="en-US" dirty="0"/>
          </a:p>
        </p:txBody>
      </p:sp>
      <p:grpSp>
        <p:nvGrpSpPr>
          <p:cNvPr id="39" name="组合 38"/>
          <p:cNvGrpSpPr/>
          <p:nvPr/>
        </p:nvGrpSpPr>
        <p:grpSpPr>
          <a:xfrm>
            <a:off x="4983092" y="3429000"/>
            <a:ext cx="3825950" cy="1800200"/>
            <a:chOff x="4439468" y="4797152"/>
            <a:chExt cx="3825950" cy="1800200"/>
          </a:xfrm>
        </p:grpSpPr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>
              <a:off x="4558904" y="4942036"/>
              <a:ext cx="755500" cy="15113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/>
                <a:t>CPU</a:t>
              </a:r>
              <a:endParaRPr lang="en-US" altLang="zh-CN" sz="2400" dirty="0"/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7403703" y="4942036"/>
              <a:ext cx="720577" cy="1511300"/>
            </a:xfrm>
            <a:prstGeom prst="rect">
              <a:avLst/>
            </a:prstGeom>
            <a:solidFill>
              <a:srgbClr val="FFFF99"/>
            </a:solidFill>
            <a:ln w="2857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dirty="0"/>
                <a:t>主存</a:t>
              </a:r>
              <a:endParaRPr lang="zh-CN" altLang="en-US" sz="2400" dirty="0"/>
            </a:p>
          </p:txBody>
        </p:sp>
        <p:sp>
          <p:nvSpPr>
            <p:cNvPr id="45" name="Rectangle 8"/>
            <p:cNvSpPr>
              <a:spLocks noChangeArrowheads="1"/>
            </p:cNvSpPr>
            <p:nvPr/>
          </p:nvSpPr>
          <p:spPr bwMode="auto">
            <a:xfrm>
              <a:off x="5890667" y="5013473"/>
              <a:ext cx="935037" cy="1007815"/>
            </a:xfrm>
            <a:prstGeom prst="rect">
              <a:avLst/>
            </a:prstGeom>
            <a:solidFill>
              <a:srgbClr val="C1FFC1"/>
            </a:solidFill>
            <a:ln w="28575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/>
                <a:t>Cache</a:t>
              </a:r>
              <a:endParaRPr lang="en-US" altLang="zh-CN" sz="2400" dirty="0"/>
            </a:p>
          </p:txBody>
        </p:sp>
        <p:sp>
          <p:nvSpPr>
            <p:cNvPr id="46" name="AutoShape 9"/>
            <p:cNvSpPr>
              <a:spLocks noChangeArrowheads="1"/>
            </p:cNvSpPr>
            <p:nvPr/>
          </p:nvSpPr>
          <p:spPr bwMode="auto">
            <a:xfrm>
              <a:off x="5314404" y="5373910"/>
              <a:ext cx="576263" cy="287338"/>
            </a:xfrm>
            <a:prstGeom prst="leftRightArrow">
              <a:avLst>
                <a:gd name="adj1" fmla="val 50000"/>
                <a:gd name="adj2" fmla="val 40110"/>
              </a:avLst>
            </a:prstGeom>
            <a:solidFill>
              <a:srgbClr val="66FF33"/>
            </a:solidFill>
            <a:ln w="28575" algn="ctr">
              <a:solidFill>
                <a:srgbClr val="006600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lang="zh-CN" altLang="en-US"/>
            </a:p>
          </p:txBody>
        </p:sp>
        <p:sp>
          <p:nvSpPr>
            <p:cNvPr id="47" name="AutoShape 10"/>
            <p:cNvSpPr>
              <a:spLocks noChangeArrowheads="1"/>
            </p:cNvSpPr>
            <p:nvPr/>
          </p:nvSpPr>
          <p:spPr bwMode="auto">
            <a:xfrm>
              <a:off x="6827639" y="5373910"/>
              <a:ext cx="576263" cy="287338"/>
            </a:xfrm>
            <a:prstGeom prst="leftRightArrow">
              <a:avLst>
                <a:gd name="adj1" fmla="val 50000"/>
                <a:gd name="adj2" fmla="val 40110"/>
              </a:avLst>
            </a:prstGeom>
            <a:solidFill>
              <a:srgbClr val="66FF33"/>
            </a:solidFill>
            <a:ln w="28575" algn="ctr">
              <a:solidFill>
                <a:srgbClr val="006600"/>
              </a:solidFill>
              <a:miter lim="800000"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4439468" y="4797152"/>
              <a:ext cx="3825950" cy="1800200"/>
            </a:xfrm>
            <a:prstGeom prst="rect">
              <a:avLst/>
            </a:prstGeom>
            <a:noFill/>
            <a:ln w="19050" cap="flat" cmpd="sng" algn="ctr">
              <a:solidFill>
                <a:srgbClr val="FF0066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</p:grpSp>
      <p:cxnSp>
        <p:nvCxnSpPr>
          <p:cNvPr id="50" name="直接连接符 49"/>
          <p:cNvCxnSpPr/>
          <p:nvPr/>
        </p:nvCxnSpPr>
        <p:spPr bwMode="auto">
          <a:xfrm>
            <a:off x="7275418" y="4149080"/>
            <a:ext cx="776287" cy="0"/>
          </a:xfrm>
          <a:prstGeom prst="line">
            <a:avLst/>
          </a:prstGeom>
          <a:noFill/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triangle" w="med" len="sm"/>
            <a:tailEnd type="none" w="med" len="lg"/>
          </a:ln>
          <a:effectLst/>
        </p:spPr>
      </p:cxnSp>
      <p:cxnSp>
        <p:nvCxnSpPr>
          <p:cNvPr id="52" name="直接连接符 51"/>
          <p:cNvCxnSpPr/>
          <p:nvPr/>
        </p:nvCxnSpPr>
        <p:spPr bwMode="auto">
          <a:xfrm>
            <a:off x="5663312" y="4149080"/>
            <a:ext cx="826293" cy="0"/>
          </a:xfrm>
          <a:prstGeom prst="line">
            <a:avLst/>
          </a:prstGeom>
          <a:noFill/>
          <a:ln w="762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triangle" w="med" len="sm"/>
            <a:tailEnd type="none" w="med" len="lg"/>
          </a:ln>
          <a:effectLst/>
        </p:spPr>
      </p:cxnSp>
      <p:sp>
        <p:nvSpPr>
          <p:cNvPr id="53" name="矩形 52"/>
          <p:cNvSpPr/>
          <p:nvPr/>
        </p:nvSpPr>
        <p:spPr>
          <a:xfrm>
            <a:off x="414629" y="5327804"/>
            <a:ext cx="5088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dirty="0">
                <a:solidFill>
                  <a:srgbClr val="0000FF"/>
                </a:solidFill>
              </a:rPr>
              <a:t>32.7ns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30ns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i="1" dirty="0">
                <a:solidFill>
                  <a:srgbClr val="0000FF"/>
                </a:solidFill>
              </a:rPr>
              <a:t>h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dirty="0">
                <a:solidFill>
                  <a:srgbClr val="0000FF"/>
                </a:solidFill>
              </a:rPr>
              <a:t>×300ns</a:t>
            </a:r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414629" y="5812026"/>
            <a:ext cx="55322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i="1" dirty="0">
                <a:solidFill>
                  <a:srgbClr val="0000FF"/>
                </a:solidFill>
              </a:rPr>
              <a:t>h 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30ns</a:t>
            </a:r>
            <a:r>
              <a:rPr lang="zh-CN" altLang="en-US" dirty="0">
                <a:solidFill>
                  <a:srgbClr val="0000FF"/>
                </a:solidFill>
              </a:rPr>
              <a:t>＋</a:t>
            </a:r>
            <a:r>
              <a:rPr lang="en-US" altLang="zh-CN" dirty="0">
                <a:solidFill>
                  <a:srgbClr val="0000FF"/>
                </a:solidFill>
              </a:rPr>
              <a:t>300ns</a:t>
            </a:r>
            <a:r>
              <a:rPr lang="zh-CN" altLang="en-US" dirty="0">
                <a:solidFill>
                  <a:srgbClr val="0000FF"/>
                </a:solidFill>
              </a:rPr>
              <a:t>－</a:t>
            </a:r>
            <a:r>
              <a:rPr lang="en-US" altLang="zh-CN" dirty="0">
                <a:solidFill>
                  <a:srgbClr val="0000FF"/>
                </a:solidFill>
              </a:rPr>
              <a:t>32.7ns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dirty="0">
                <a:solidFill>
                  <a:srgbClr val="0000FF"/>
                </a:solidFill>
              </a:rPr>
              <a:t>/ 300ns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3455606" y="2425492"/>
            <a:ext cx="13131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99.1%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742627" y="5816480"/>
            <a:ext cx="15327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99.1%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 bwMode="auto">
          <a:xfrm>
            <a:off x="8388424" y="620613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53" grpId="0"/>
      <p:bldP spid="54" grpId="0"/>
      <p:bldP spid="55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507288" cy="57601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p174</a:t>
            </a:r>
            <a:r>
              <a:rPr lang="zh-CN" altLang="en-US" sz="2400" dirty="0"/>
              <a:t>，习题 </a:t>
            </a:r>
            <a:r>
              <a:rPr lang="en-US" altLang="zh-CN" sz="2400" dirty="0"/>
              <a:t>4.26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高速缓存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与主存之间采用</a:t>
            </a:r>
            <a:r>
              <a:rPr lang="zh-CN" altLang="en-US" sz="2400" dirty="0">
                <a:solidFill>
                  <a:srgbClr val="FF0000"/>
                </a:solidFill>
                <a:sym typeface="Microsoft Yahei" panose="020B0503020204020204" pitchFamily="34" charset="-122"/>
              </a:rPr>
              <a:t>全相联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地址映射方式，</a:t>
            </a:r>
            <a:b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</a:b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高速缓存的容量为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4KB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，分为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块，主存容量为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1MB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sym typeface="Microsoft Yahei" panose="020B0503020204020204" pitchFamily="34" charset="-122"/>
              </a:rPr>
              <a:t>地址映射表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共</a:t>
            </a:r>
            <a:r>
              <a:rPr lang="en-US" altLang="zh-CN" sz="2400" dirty="0">
                <a:solidFill>
                  <a:srgbClr val="639EF4"/>
                </a:solidFill>
                <a:sym typeface="Microsoft Yahei" panose="020B0503020204020204" pitchFamily="34" charset="-122"/>
              </a:rPr>
              <a:t>______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个存储单元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即共多少行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，</a:t>
            </a:r>
            <a:b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</a:b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每个存储单元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至少包括</a:t>
            </a:r>
            <a:r>
              <a:rPr lang="en-US" altLang="zh-CN" sz="2400" dirty="0">
                <a:solidFill>
                  <a:srgbClr val="639EF4"/>
                </a:solidFill>
                <a:sym typeface="Microsoft Yahei" panose="020B0503020204020204" pitchFamily="34" charset="-122"/>
              </a:rPr>
              <a:t>______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包含</a:t>
            </a:r>
            <a:r>
              <a:rPr lang="zh-CN" altLang="en-US" sz="2400" dirty="0">
                <a:solidFill>
                  <a:srgbClr val="FF6600"/>
                </a:solidFill>
                <a:sym typeface="Microsoft Yahei" panose="020B0503020204020204" pitchFamily="34" charset="-122"/>
              </a:rPr>
              <a:t>有效位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8000"/>
                </a:solidFill>
                <a:sym typeface="Microsoft Yahei" panose="020B0503020204020204" pitchFamily="34" charset="-122"/>
              </a:rPr>
              <a:t>注：</a:t>
            </a:r>
            <a:r>
              <a:rPr lang="zh-CN" altLang="en-US" sz="2400" dirty="0">
                <a:solidFill>
                  <a:srgbClr val="FF0000"/>
                </a:solidFill>
                <a:sym typeface="Microsoft Yahei" panose="020B0503020204020204" pitchFamily="34" charset="-122"/>
              </a:rPr>
              <a:t>不考虑</a:t>
            </a:r>
            <a:r>
              <a:rPr lang="zh-CN" altLang="en-US" sz="2400" dirty="0">
                <a:solidFill>
                  <a:srgbClr val="FF00FF"/>
                </a:solidFill>
                <a:sym typeface="Microsoft Yahei" panose="020B0503020204020204" pitchFamily="34" charset="-122"/>
              </a:rPr>
              <a:t>行号</a:t>
            </a:r>
            <a:r>
              <a:rPr lang="zh-CN" altLang="en-US" sz="2400" dirty="0">
                <a:solidFill>
                  <a:srgbClr val="008000"/>
                </a:solidFill>
                <a:sym typeface="Microsoft Yahei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FF00FF"/>
                </a:solidFill>
                <a:sym typeface="Microsoft Yahei" panose="020B0503020204020204" pitchFamily="34" charset="-122"/>
              </a:rPr>
              <a:t>修改位</a:t>
            </a:r>
            <a:r>
              <a:rPr lang="zh-CN" altLang="en-US" sz="2400" dirty="0">
                <a:solidFill>
                  <a:srgbClr val="008000"/>
                </a:solidFill>
                <a:sym typeface="Microsoft Yahei" panose="020B0503020204020204" pitchFamily="34" charset="-122"/>
              </a:rPr>
              <a:t>、用于替换策略的</a:t>
            </a:r>
            <a:r>
              <a:rPr lang="zh-CN" altLang="en-US" sz="2400" dirty="0">
                <a:solidFill>
                  <a:srgbClr val="FF00FF"/>
                </a:solidFill>
                <a:sym typeface="Microsoft Yahei" panose="020B0503020204020204" pitchFamily="34" charset="-122"/>
              </a:rPr>
              <a:t>替换控制位</a:t>
            </a:r>
            <a:r>
              <a:rPr lang="zh-CN" altLang="en-US" sz="2400" dirty="0">
                <a:solidFill>
                  <a:srgbClr val="008000"/>
                </a:solidFill>
                <a:sym typeface="Microsoft Yahei" panose="020B0503020204020204" pitchFamily="34" charset="-122"/>
              </a:rPr>
              <a:t>等。</a:t>
            </a:r>
            <a:endParaRPr lang="en-US" altLang="zh-CN" sz="2400" dirty="0">
              <a:solidFill>
                <a:srgbClr val="008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FF"/>
                </a:solidFill>
                <a:sym typeface="Microsoft Yahei" panose="020B0503020204020204" pitchFamily="34" charset="-122"/>
              </a:rPr>
              <a:t>地址映射表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如下图所示，确定变换后的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① 主存地址为</a:t>
            </a:r>
            <a:r>
              <a:rPr lang="en-US" altLang="zh-CN" sz="2400" dirty="0">
                <a:solidFill>
                  <a:srgbClr val="C00000"/>
                </a:solidFill>
                <a:sym typeface="Microsoft Yahei" panose="020B0503020204020204" pitchFamily="34" charset="-122"/>
              </a:rPr>
              <a:t>88888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时，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地址为</a:t>
            </a:r>
            <a:r>
              <a:rPr lang="en-US" altLang="zh-CN" sz="2400" dirty="0">
                <a:solidFill>
                  <a:srgbClr val="639EF4"/>
                </a:solidFill>
                <a:sym typeface="Microsoft Yahei" panose="020B0503020204020204" pitchFamily="34" charset="-122"/>
              </a:rPr>
              <a:t>______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② 主存地址为</a:t>
            </a:r>
            <a:r>
              <a:rPr lang="en-US" altLang="zh-CN" sz="2400" dirty="0">
                <a:solidFill>
                  <a:srgbClr val="C00000"/>
                </a:solidFill>
                <a:sym typeface="Microsoft Yahei" panose="020B0503020204020204" pitchFamily="34" charset="-122"/>
              </a:rPr>
              <a:t>56789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时，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地址为</a:t>
            </a:r>
            <a:r>
              <a:rPr lang="en-US" altLang="zh-CN" sz="2400" dirty="0">
                <a:solidFill>
                  <a:srgbClr val="639EF4"/>
                </a:solidFill>
                <a:sym typeface="Microsoft Yahei" panose="020B0503020204020204" pitchFamily="34" charset="-122"/>
              </a:rPr>
              <a:t>______</a:t>
            </a:r>
            <a:r>
              <a:rPr lang="en-US" altLang="zh-CN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H</a:t>
            </a:r>
            <a:r>
              <a:rPr lang="zh-CN" altLang="en-US" sz="2400" dirty="0">
                <a:solidFill>
                  <a:srgbClr val="000000"/>
                </a:solidFill>
                <a:sym typeface="Microsoft Yahei" panose="020B0503020204020204" pitchFamily="34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Microsoft Yahei" panose="020B0503020204020204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380312" y="3542993"/>
          <a:ext cx="1512168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40"/>
                <a:gridCol w="115212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388H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222H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159H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367H</a:t>
                      </a:r>
                      <a:endParaRPr lang="zh-CN" altLang="en-US" sz="24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660232" y="5424078"/>
            <a:ext cx="23762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此表省略了有效位</a:t>
            </a:r>
            <a:endParaRPr lang="en-US" altLang="zh-CN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0"/>
              </a:spcBef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假设有效位均为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  <a:endParaRPr lang="zh-CN" altLang="en-US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979712" y="5085262"/>
          <a:ext cx="417646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2"/>
                <a:gridCol w="2088232"/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38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latin typeface="+mn-lt"/>
                          <a:ea typeface="+mn-ea"/>
                        </a:rPr>
                        <a:t>全相联 主存地址划分</a:t>
                      </a:r>
                      <a:endParaRPr lang="zh-CN" altLang="en-US" sz="2400" b="1" dirty="0">
                        <a:latin typeface="+mn-lt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 anchor="ctr">
                    <a:lnL w="12700" cmpd="sng">
                      <a:noFill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标记 </a:t>
                      </a:r>
                      <a:r>
                        <a:rPr lang="en-US" altLang="zh-CN" sz="2400" b="1" dirty="0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Tag</a:t>
                      </a:r>
                      <a:endParaRPr lang="zh-CN" altLang="en-US" sz="2400" b="1" dirty="0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块内地址</a:t>
                      </a:r>
                      <a:endParaRPr lang="zh-CN" altLang="en-US" sz="2400" b="1" dirty="0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</a:tr>
            </a:tbl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1979712" y="6083478"/>
            <a:ext cx="0" cy="550192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156176" y="6083478"/>
            <a:ext cx="0" cy="550192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7944" y="6083478"/>
            <a:ext cx="0" cy="306637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979712" y="6219972"/>
            <a:ext cx="208823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067944" y="6219972"/>
            <a:ext cx="2088232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771801" y="6020783"/>
            <a:ext cx="492443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</a:rPr>
              <a:t>10</a:t>
            </a:r>
            <a:endParaRPr lang="zh-CN" altLang="en-US" sz="24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60033" y="6020783"/>
            <a:ext cx="492443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10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979712" y="6511131"/>
            <a:ext cx="4170658" cy="0"/>
          </a:xfrm>
          <a:prstGeom prst="straightConnector1">
            <a:avLst/>
          </a:prstGeom>
          <a:ln w="19050">
            <a:solidFill>
              <a:srgbClr val="FF6600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818819" y="6354696"/>
            <a:ext cx="492443" cy="369332"/>
          </a:xfrm>
          <a:prstGeom prst="rect">
            <a:avLst/>
          </a:prstGeom>
          <a:solidFill>
            <a:schemeClr val="bg1"/>
          </a:solidFill>
        </p:spPr>
        <p:txBody>
          <a:bodyPr wrap="none" tIns="0" bIns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20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57967" y="1611382"/>
            <a:ext cx="4154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sym typeface="Microsoft Yahei" panose="020B0503020204020204" pitchFamily="34" charset="-122"/>
              </a:rPr>
              <a:t>4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407786" y="1978886"/>
            <a:ext cx="6208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sym typeface="Microsoft Yahei" panose="020B0503020204020204" pitchFamily="34" charset="-122"/>
              </a:rPr>
              <a:t>11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82112" y="3344793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highlight>
                  <a:srgbClr val="FFCCCC"/>
                </a:highlight>
                <a:latin typeface="Times New Roman" panose="02020503050405090304"/>
                <a:ea typeface="宋体"/>
                <a:sym typeface="Microsoft Yahei" panose="020B0503020204020204" pitchFamily="34" charset="-122"/>
              </a:rPr>
              <a:t>1000 1000 10</a:t>
            </a:r>
            <a:r>
              <a:rPr lang="en-US" altLang="zh-CN" sz="2400" kern="0" dirty="0">
                <a:highlight>
                  <a:srgbClr val="FFFF99"/>
                </a:highlight>
                <a:latin typeface="Times New Roman" panose="02020503050405090304"/>
                <a:ea typeface="宋体"/>
                <a:sym typeface="Microsoft Yahei" panose="020B0503020204020204" pitchFamily="34" charset="-122"/>
              </a:rPr>
              <a:t>00 1000 1000</a:t>
            </a:r>
            <a:endParaRPr lang="zh-CN" altLang="en-US" dirty="0">
              <a:highlight>
                <a:srgbClr val="FFFF99"/>
              </a:highlight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>
            <a:off x="5004048" y="3736082"/>
            <a:ext cx="64807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直接连接符 22"/>
          <p:cNvCxnSpPr/>
          <p:nvPr/>
        </p:nvCxnSpPr>
        <p:spPr bwMode="auto">
          <a:xfrm>
            <a:off x="4333875" y="3736082"/>
            <a:ext cx="62546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直接连接符 23"/>
          <p:cNvCxnSpPr/>
          <p:nvPr/>
        </p:nvCxnSpPr>
        <p:spPr bwMode="auto">
          <a:xfrm>
            <a:off x="3923928" y="3736082"/>
            <a:ext cx="35330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矩形 24"/>
          <p:cNvSpPr/>
          <p:nvPr/>
        </p:nvSpPr>
        <p:spPr bwMode="auto">
          <a:xfrm>
            <a:off x="7804150" y="4057650"/>
            <a:ext cx="1025525" cy="342900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248902" y="3984194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n-lt"/>
                <a:ea typeface="微软雅黑" panose="020B0503020204020204" pitchFamily="34" charset="-122"/>
              </a:rPr>
              <a:t>01</a:t>
            </a:r>
            <a:endParaRPr lang="zh-CN" altLang="en-US" dirty="0">
              <a:latin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567740" y="3344792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highlight>
                  <a:srgbClr val="FFFF99"/>
                </a:highlight>
                <a:latin typeface="Times New Roman" panose="02020503050405090304"/>
                <a:ea typeface="宋体"/>
                <a:sym typeface="Microsoft Yahei" panose="020B0503020204020204" pitchFamily="34" charset="-122"/>
              </a:rPr>
              <a:t>00 1000 1000</a:t>
            </a:r>
            <a:endParaRPr lang="zh-CN" altLang="en-US" dirty="0">
              <a:highlight>
                <a:srgbClr val="FFFF99"/>
              </a:highlight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90279" y="3631807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sym typeface="Microsoft Yahei" panose="020B0503020204020204" pitchFamily="34" charset="-122"/>
              </a:rPr>
              <a:t>488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882112" y="4267311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highlight>
                  <a:srgbClr val="FFCCCC"/>
                </a:highlight>
                <a:latin typeface="Times New Roman" panose="02020503050405090304"/>
                <a:ea typeface="宋体"/>
                <a:sym typeface="Microsoft Yahei" panose="020B0503020204020204" pitchFamily="34" charset="-122"/>
              </a:rPr>
              <a:t>0101 0110 01</a:t>
            </a:r>
            <a:r>
              <a:rPr lang="en-US" altLang="zh-CN" sz="2400" kern="0" dirty="0">
                <a:highlight>
                  <a:srgbClr val="FFFF99"/>
                </a:highlight>
                <a:latin typeface="Times New Roman" panose="02020503050405090304"/>
                <a:ea typeface="宋体"/>
                <a:sym typeface="Microsoft Yahei" panose="020B0503020204020204" pitchFamily="34" charset="-122"/>
              </a:rPr>
              <a:t>11 1000 1001</a:t>
            </a:r>
            <a:endParaRPr lang="zh-CN" altLang="en-US" dirty="0">
              <a:highlight>
                <a:srgbClr val="FFFF99"/>
              </a:highlight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5004048" y="4670554"/>
            <a:ext cx="64807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/>
          <p:cNvCxnSpPr/>
          <p:nvPr/>
        </p:nvCxnSpPr>
        <p:spPr bwMode="auto">
          <a:xfrm>
            <a:off x="4333875" y="4670554"/>
            <a:ext cx="62546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/>
          <p:cNvCxnSpPr/>
          <p:nvPr/>
        </p:nvCxnSpPr>
        <p:spPr bwMode="auto">
          <a:xfrm>
            <a:off x="3923928" y="4670554"/>
            <a:ext cx="35330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矩形 32"/>
          <p:cNvSpPr/>
          <p:nvPr/>
        </p:nvSpPr>
        <p:spPr>
          <a:xfrm>
            <a:off x="7248902" y="443972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+mn-lt"/>
                <a:ea typeface="微软雅黑" panose="020B0503020204020204" pitchFamily="34" charset="-122"/>
              </a:rPr>
              <a:t>10</a:t>
            </a:r>
            <a:endParaRPr lang="zh-CN" altLang="en-US" dirty="0">
              <a:latin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567739" y="4265493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 dirty="0">
                <a:highlight>
                  <a:srgbClr val="FFFF99"/>
                </a:highlight>
                <a:latin typeface="Times New Roman" panose="02020503050405090304"/>
                <a:ea typeface="宋体"/>
                <a:sym typeface="Microsoft Yahei" panose="020B0503020204020204" pitchFamily="34" charset="-122"/>
              </a:rPr>
              <a:t>11 1000 1001</a:t>
            </a:r>
            <a:endParaRPr lang="zh-CN" altLang="en-US" dirty="0">
              <a:highlight>
                <a:srgbClr val="FFFF99"/>
              </a:highlight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51807" y="4440591"/>
            <a:ext cx="9541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sym typeface="Microsoft Yahei" panose="020B0503020204020204" pitchFamily="34" charset="-122"/>
              </a:rPr>
              <a:t>B89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 bwMode="auto">
          <a:xfrm>
            <a:off x="3036761" y="607658"/>
            <a:ext cx="5910840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(3)① 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</a:t>
            </a:r>
            <a:r>
              <a:rPr lang="en-US" altLang="zh-CN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块，块内地址</a:t>
            </a:r>
            <a:r>
              <a:rPr lang="en-US" altLang="zh-CN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088H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 bwMode="auto">
          <a:xfrm>
            <a:off x="3038731" y="608326"/>
            <a:ext cx="5910840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/>
            <a:r>
              <a:rPr lang="en-US" altLang="zh-CN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(3)② 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</a:t>
            </a:r>
            <a:r>
              <a:rPr lang="en-US" altLang="zh-CN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块，块内地址</a:t>
            </a:r>
            <a:r>
              <a:rPr lang="en-US" altLang="zh-CN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389H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>
              <a:solidFill>
                <a:srgbClr val="CC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 bwMode="auto">
          <a:xfrm>
            <a:off x="8388424" y="1197913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33333E-6 L -0.10868 -3.33333E-6 C -0.15747 -3.33333E-6 -0.21719 -0.01041 -0.21719 -0.01898 L -0.21719 -0.03773 " pathEditMode="relative" rAng="0" ptsTypes="AAAA">
                                      <p:cBhvr>
                                        <p:cTn id="7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68" y="-1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1.66667E-6 0.05648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48148E-6 L -0.10886 1.48148E-6 C -0.15764 1.48148E-6 -0.21719 0.0081 -0.21719 0.01528 L -0.21719 0.03102 " pathEditMode="relative" rAng="0" ptsTypes="AAAA">
                                      <p:cBhvr>
                                        <p:cTn id="12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68" y="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1.66667E-6 0.05648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/>
      <p:bldP spid="20" grpId="0"/>
      <p:bldP spid="21" grpId="0"/>
      <p:bldP spid="25" grpId="0" animBg="1"/>
      <p:bldP spid="26" grpId="0"/>
      <p:bldP spid="26" grpId="1"/>
      <p:bldP spid="27" grpId="0"/>
      <p:bldP spid="27" grpId="1"/>
      <p:bldP spid="28" grpId="0"/>
      <p:bldP spid="29" grpId="0"/>
      <p:bldP spid="33" grpId="0"/>
      <p:bldP spid="33" grpId="1"/>
      <p:bldP spid="35" grpId="0"/>
      <p:bldP spid="35" grpId="1"/>
      <p:bldP spid="36" grpId="0"/>
      <p:bldP spid="37" grpId="0"/>
      <p:bldP spid="37" grpId="1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160258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p176</a:t>
            </a:r>
            <a:r>
              <a:rPr lang="zh-CN" altLang="en-US" sz="2400"/>
              <a:t>～</a:t>
            </a:r>
            <a:r>
              <a:rPr lang="en-US" altLang="zh-CN" sz="2400"/>
              <a:t>177</a:t>
            </a:r>
            <a:r>
              <a:rPr lang="zh-CN" altLang="en-US" sz="2400"/>
              <a:t>，习题 </a:t>
            </a:r>
            <a:r>
              <a:rPr lang="en-US" altLang="zh-CN" sz="2400"/>
              <a:t>4.38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某计算机</a:t>
            </a:r>
            <a:r>
              <a:rPr lang="zh-CN" altLang="en-US" sz="2400">
                <a:solidFill>
                  <a:srgbClr val="FF0000"/>
                </a:solidFill>
              </a:rPr>
              <a:t>主存</a:t>
            </a:r>
            <a:r>
              <a:rPr lang="zh-CN" altLang="en-US" sz="2400">
                <a:solidFill>
                  <a:srgbClr val="0000FF"/>
                </a:solidFill>
              </a:rPr>
              <a:t>按字节编址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CC0066"/>
                </a:solidFill>
              </a:rPr>
              <a:t>虚拟</a:t>
            </a:r>
            <a:r>
              <a:rPr lang="en-US" altLang="zh-CN" sz="2400">
                <a:solidFill>
                  <a:srgbClr val="CC0066"/>
                </a:solidFill>
                <a:latin typeface="宋体" pitchFamily="2" charset="-122"/>
              </a:rPr>
              <a:t>(</a:t>
            </a:r>
            <a:r>
              <a:rPr lang="zh-CN" altLang="en-US" sz="2400">
                <a:solidFill>
                  <a:srgbClr val="CC0066"/>
                </a:solidFill>
              </a:rPr>
              <a:t>逻辑</a:t>
            </a:r>
            <a:r>
              <a:rPr lang="en-US" altLang="zh-CN" sz="2400">
                <a:solidFill>
                  <a:srgbClr val="CC0066"/>
                </a:solidFill>
                <a:latin typeface="宋体" pitchFamily="2" charset="-122"/>
              </a:rPr>
              <a:t>)</a:t>
            </a:r>
            <a:r>
              <a:rPr lang="zh-CN" altLang="en-US" sz="2400">
                <a:solidFill>
                  <a:srgbClr val="CC0066"/>
                </a:solidFill>
              </a:rPr>
              <a:t>地址空间</a:t>
            </a:r>
            <a:r>
              <a:rPr lang="zh-CN" altLang="en-US" sz="2400"/>
              <a:t>大小为</a:t>
            </a:r>
            <a:r>
              <a:rPr lang="en-US" altLang="zh-CN" sz="2400">
                <a:solidFill>
                  <a:srgbClr val="CC0066"/>
                </a:solidFill>
              </a:rPr>
              <a:t>256MB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8000"/>
                </a:solidFill>
              </a:rPr>
              <a:t>主存物理地址空间</a:t>
            </a:r>
            <a:r>
              <a:rPr lang="zh-CN" altLang="en-US" sz="2400"/>
              <a:t>大小为</a:t>
            </a:r>
            <a:r>
              <a:rPr lang="en-US" altLang="zh-CN" sz="2400">
                <a:solidFill>
                  <a:srgbClr val="008000"/>
                </a:solidFill>
              </a:rPr>
              <a:t>16MB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页面大小</a:t>
            </a:r>
            <a:r>
              <a:rPr lang="en-US" altLang="zh-CN" sz="2400">
                <a:solidFill>
                  <a:srgbClr val="0000FF"/>
                </a:solidFill>
              </a:rPr>
              <a:t>4KB</a:t>
            </a:r>
            <a:r>
              <a:rPr lang="zh-CN" altLang="en-US" sz="2400"/>
              <a:t>；</a:t>
            </a:r>
            <a:br>
              <a:rPr lang="en-US" altLang="zh-CN" sz="2400"/>
            </a:br>
            <a:r>
              <a:rPr lang="en-US" altLang="zh-CN" sz="2400">
                <a:solidFill>
                  <a:srgbClr val="0000FF"/>
                </a:solidFill>
              </a:rPr>
              <a:t>Cache</a:t>
            </a:r>
            <a:r>
              <a:rPr lang="zh-CN" altLang="en-US" sz="2400"/>
              <a:t>采用</a:t>
            </a:r>
            <a:r>
              <a:rPr lang="zh-CN" altLang="en-US" sz="2400">
                <a:solidFill>
                  <a:srgbClr val="0000FF"/>
                </a:solidFill>
              </a:rPr>
              <a:t>直接映射</a:t>
            </a:r>
            <a:r>
              <a:rPr lang="zh-CN" altLang="en-US" sz="2400"/>
              <a:t>方式，</a:t>
            </a:r>
            <a:r>
              <a:rPr lang="zh-CN" altLang="en-US" sz="2400">
                <a:solidFill>
                  <a:srgbClr val="0000FF"/>
                </a:solidFill>
              </a:rPr>
              <a:t>共</a:t>
            </a:r>
            <a:r>
              <a:rPr lang="en-US" altLang="zh-CN" sz="2400">
                <a:solidFill>
                  <a:srgbClr val="0000FF"/>
                </a:solidFill>
              </a:rPr>
              <a:t>8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，每</a:t>
            </a:r>
            <a:r>
              <a:rPr lang="zh-CN" altLang="en-US" sz="2400">
                <a:solidFill>
                  <a:srgbClr val="FF0000"/>
                </a:solidFill>
              </a:rPr>
              <a:t>块</a:t>
            </a:r>
            <a:r>
              <a:rPr lang="zh-CN" altLang="en-US" sz="2400"/>
              <a:t>为</a:t>
            </a:r>
            <a:r>
              <a:rPr lang="en-US" altLang="zh-CN" sz="2400">
                <a:solidFill>
                  <a:srgbClr val="FF0000"/>
                </a:solidFill>
              </a:rPr>
              <a:t>32B</a:t>
            </a:r>
            <a:r>
              <a:rPr lang="zh-CN" altLang="en-US" sz="2400"/>
              <a:t>。</a:t>
            </a:r>
            <a:endParaRPr lang="en-US" altLang="zh-CN" sz="240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3378361" y="2150211"/>
          <a:ext cx="2232247" cy="4023360"/>
        </p:xfrm>
        <a:graphic>
          <a:graphicData uri="http://schemas.openxmlformats.org/drawingml/2006/table">
            <a:tbl>
              <a:tblPr firstRow="1" firstCol="1" bandRow="1"/>
              <a:tblGrid>
                <a:gridCol w="429278"/>
                <a:gridCol w="515134"/>
                <a:gridCol w="772701"/>
                <a:gridCol w="515134"/>
              </a:tblGrid>
              <a:tr h="217041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虚</a:t>
                      </a:r>
                      <a:br>
                        <a:rPr lang="en-US" alt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</a:b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页</a:t>
                      </a:r>
                      <a:br>
                        <a:rPr lang="en-US" alt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</a:b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号</a:t>
                      </a:r>
                      <a:endParaRPr lang="zh-CN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有</a:t>
                      </a:r>
                      <a:br>
                        <a:rPr lang="en-US" altLang="zh-CN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效</a:t>
                      </a:r>
                      <a:br>
                        <a:rPr lang="en-US" altLang="zh-CN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位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实</a:t>
                      </a:r>
                      <a:b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页</a:t>
                      </a:r>
                      <a:b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号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041"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 </a:t>
                      </a:r>
                      <a:endParaRPr lang="zh-CN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23B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</a:tr>
              <a:tr h="217041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226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</a:tr>
              <a:tr h="217041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2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—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</a:tr>
              <a:tr h="217041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3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287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</a:tr>
              <a:tr h="217041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4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0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—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</a:tr>
              <a:tr h="217041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5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20D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</a:tr>
              <a:tr h="217041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6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235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</a:tr>
              <a:tr h="217041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7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2A4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5868144" y="2510251"/>
          <a:ext cx="2736304" cy="3657600"/>
        </p:xfrm>
        <a:graphic>
          <a:graphicData uri="http://schemas.openxmlformats.org/drawingml/2006/table">
            <a:tbl>
              <a:tblPr firstRow="1" firstCol="1" bandRow="1"/>
              <a:tblGrid>
                <a:gridCol w="504056"/>
                <a:gridCol w="792088"/>
                <a:gridCol w="936104"/>
                <a:gridCol w="504056"/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行</a:t>
                      </a:r>
                      <a:br>
                        <a:rPr lang="en-US" alt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</a:br>
                      <a:r>
                        <a:rPr lang="zh-CN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号</a:t>
                      </a:r>
                      <a:endParaRPr lang="zh-CN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有效</a:t>
                      </a:r>
                      <a:br>
                        <a:rPr lang="en-US" altLang="zh-CN" sz="2400" b="1" kern="100">
                          <a:solidFill>
                            <a:srgbClr val="C0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</a:br>
                      <a:r>
                        <a:rPr lang="zh-CN" altLang="en-US" sz="2400" b="1" kern="100">
                          <a:solidFill>
                            <a:srgbClr val="C0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位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标记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 </a:t>
                      </a:r>
                      <a:endParaRPr lang="zh-CN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2A46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1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23B9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2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20D6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3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—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4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20D8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5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20D6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6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—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 defTabSz="38608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008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+mn-cs"/>
                        </a:rPr>
                        <a:t>7 </a:t>
                      </a:r>
                      <a:endParaRPr lang="zh-CN" altLang="en-US" sz="2400" b="1" kern="100">
                        <a:solidFill>
                          <a:srgbClr val="008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rgbClr val="C0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2400" b="1" kern="100">
                        <a:solidFill>
                          <a:srgbClr val="C0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00"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23BA</a:t>
                      </a:r>
                      <a:endParaRPr lang="zh-CN" altLang="en-US" sz="2400" b="1" kern="100"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38608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00"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…</a:t>
                      </a:r>
                      <a:endParaRPr lang="en-US" altLang="zh-CN" sz="2400" b="1" kern="100"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2915816" y="6207695"/>
            <a:ext cx="2890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4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图</a:t>
            </a:r>
            <a:r>
              <a:rPr lang="en-US" altLang="zh-CN" sz="24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</a:t>
            </a:r>
            <a:r>
              <a:rPr lang="zh-CN" altLang="zh-CN" sz="24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页表的部分内容</a:t>
            </a:r>
            <a:endParaRPr lang="zh-CN" altLang="en-US" sz="2000" b="1">
              <a:solidFill>
                <a:srgbClr val="6600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926349" y="6207694"/>
            <a:ext cx="31101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4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图</a:t>
            </a:r>
            <a:r>
              <a:rPr lang="en-US" altLang="zh-CN" sz="24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 Cache</a:t>
            </a:r>
            <a:r>
              <a:rPr lang="zh-CN" altLang="zh-CN" sz="24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地址映射表</a:t>
            </a:r>
            <a:endParaRPr lang="zh-CN" altLang="en-US" sz="2400" b="1">
              <a:solidFill>
                <a:srgbClr val="6600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9511" y="2209660"/>
            <a:ext cx="316835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zh-CN" altLang="en-US" sz="2400"/>
              <a:t>系统运行到某一时刻时，页表的部分内容和</a:t>
            </a:r>
            <a:r>
              <a:rPr lang="en-US" altLang="zh-CN" sz="2400"/>
              <a:t>Cache</a:t>
            </a:r>
            <a:r>
              <a:rPr lang="zh-CN" altLang="en-US" sz="2400"/>
              <a:t>地址映射表的内容分别如图</a:t>
            </a:r>
            <a:r>
              <a:rPr lang="en-US" altLang="zh-CN" sz="2400"/>
              <a:t>a</a:t>
            </a:r>
            <a:r>
              <a:rPr lang="zh-CN" altLang="en-US" sz="2400"/>
              <a:t>、图</a:t>
            </a:r>
            <a:r>
              <a:rPr lang="en-US" altLang="zh-CN" sz="2400"/>
              <a:t>b</a:t>
            </a:r>
            <a:r>
              <a:rPr lang="zh-CN" altLang="en-US" sz="2400"/>
              <a:t>所示，</a:t>
            </a:r>
            <a:br>
              <a:rPr lang="en-US" altLang="zh-CN" sz="2400"/>
            </a:br>
            <a:r>
              <a:rPr lang="zh-CN" altLang="en-US" sz="2400"/>
              <a:t>图中</a:t>
            </a:r>
            <a:r>
              <a:rPr lang="zh-CN" altLang="en-US" sz="2400">
                <a:solidFill>
                  <a:srgbClr val="FF0000"/>
                </a:solidFill>
              </a:rPr>
              <a:t>实页号</a:t>
            </a:r>
            <a:r>
              <a:rPr lang="zh-CN" altLang="en-US" sz="2400"/>
              <a:t>及</a:t>
            </a:r>
            <a:r>
              <a:rPr lang="zh-CN" altLang="en-US" sz="2400">
                <a:solidFill>
                  <a:srgbClr val="FF0000"/>
                </a:solidFill>
              </a:rPr>
              <a:t>标记</a:t>
            </a:r>
            <a:r>
              <a:rPr lang="zh-CN" altLang="en-US" sz="2400"/>
              <a:t>字段的内容为</a:t>
            </a:r>
            <a:r>
              <a:rPr lang="zh-CN" altLang="en-US" sz="2400">
                <a:solidFill>
                  <a:srgbClr val="FF0000"/>
                </a:solidFill>
              </a:rPr>
              <a:t>十六进制</a:t>
            </a:r>
            <a:r>
              <a:rPr lang="zh-CN" altLang="en-US" sz="2400"/>
              <a:t>形式。</a:t>
            </a:r>
            <a:br>
              <a:rPr lang="en-US" altLang="zh-CN" sz="2400"/>
            </a:br>
            <a:r>
              <a:rPr lang="zh-CN" altLang="en-US" sz="2400"/>
              <a:t>请回答下面的问题。</a:t>
            </a:r>
            <a:endParaRPr lang="zh-CN" altLang="en-US" sz="2400"/>
          </a:p>
        </p:txBody>
      </p:sp>
      <p:sp>
        <p:nvSpPr>
          <p:cNvPr id="12" name="矩形 11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8388424" y="548680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548680"/>
            <a:ext cx="6170734" cy="194421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p176</a:t>
            </a:r>
            <a:r>
              <a:rPr lang="zh-CN" altLang="en-US" sz="2400"/>
              <a:t>～</a:t>
            </a:r>
            <a:r>
              <a:rPr lang="en-US" altLang="zh-CN" sz="2400"/>
              <a:t>177</a:t>
            </a:r>
            <a:r>
              <a:rPr lang="zh-CN" altLang="en-US" sz="2400"/>
              <a:t>，习题 </a:t>
            </a:r>
            <a:r>
              <a:rPr lang="en-US" altLang="zh-CN" sz="2400"/>
              <a:t>4.38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</a:rPr>
              <a:t>主存</a:t>
            </a:r>
            <a:r>
              <a:rPr lang="zh-CN" altLang="en-US" sz="2400">
                <a:solidFill>
                  <a:srgbClr val="0000FF"/>
                </a:solidFill>
              </a:rPr>
              <a:t>按字节编址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CC0066"/>
                </a:solidFill>
              </a:rPr>
              <a:t>虚拟</a:t>
            </a:r>
            <a:r>
              <a:rPr lang="en-US" altLang="zh-CN" sz="2400">
                <a:solidFill>
                  <a:srgbClr val="CC0066"/>
                </a:solidFill>
                <a:latin typeface="宋体" pitchFamily="2" charset="-122"/>
              </a:rPr>
              <a:t>(</a:t>
            </a:r>
            <a:r>
              <a:rPr lang="zh-CN" altLang="en-US" sz="2400">
                <a:solidFill>
                  <a:srgbClr val="CC0066"/>
                </a:solidFill>
              </a:rPr>
              <a:t>逻辑</a:t>
            </a:r>
            <a:r>
              <a:rPr lang="en-US" altLang="zh-CN" sz="2400">
                <a:solidFill>
                  <a:srgbClr val="CC0066"/>
                </a:solidFill>
                <a:latin typeface="宋体" pitchFamily="2" charset="-122"/>
              </a:rPr>
              <a:t>)</a:t>
            </a:r>
            <a:r>
              <a:rPr lang="zh-CN" altLang="en-US" sz="2400">
                <a:solidFill>
                  <a:srgbClr val="CC0066"/>
                </a:solidFill>
              </a:rPr>
              <a:t>地址空间</a:t>
            </a:r>
            <a:r>
              <a:rPr lang="zh-CN" altLang="en-US" sz="2400"/>
              <a:t>大小为</a:t>
            </a:r>
            <a:r>
              <a:rPr lang="en-US" altLang="zh-CN" sz="2400">
                <a:solidFill>
                  <a:srgbClr val="CC0066"/>
                </a:solidFill>
              </a:rPr>
              <a:t>256MB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8000"/>
                </a:solidFill>
              </a:rPr>
              <a:t>主存物理地址空间</a:t>
            </a:r>
            <a:r>
              <a:rPr lang="zh-CN" altLang="en-US" sz="2400"/>
              <a:t>大小为</a:t>
            </a:r>
            <a:r>
              <a:rPr lang="en-US" altLang="zh-CN" sz="2400">
                <a:solidFill>
                  <a:srgbClr val="008000"/>
                </a:solidFill>
              </a:rPr>
              <a:t>16MB</a:t>
            </a:r>
            <a:r>
              <a:rPr lang="zh-CN" altLang="en-US" sz="2400"/>
              <a:t>，</a:t>
            </a:r>
            <a:r>
              <a:rPr lang="zh-CN" altLang="en-US" sz="2400">
                <a:solidFill>
                  <a:srgbClr val="0000FF"/>
                </a:solidFill>
              </a:rPr>
              <a:t>页面大小</a:t>
            </a:r>
            <a:r>
              <a:rPr lang="en-US" altLang="zh-CN" sz="2400">
                <a:solidFill>
                  <a:srgbClr val="0000FF"/>
                </a:solidFill>
              </a:rPr>
              <a:t>4KB</a:t>
            </a:r>
            <a:r>
              <a:rPr lang="zh-CN" altLang="en-US" sz="2400"/>
              <a:t>；</a:t>
            </a:r>
            <a:r>
              <a:rPr lang="en-US" altLang="zh-CN" sz="2400">
                <a:solidFill>
                  <a:srgbClr val="0000FF"/>
                </a:solidFill>
              </a:rPr>
              <a:t>Cache</a:t>
            </a:r>
            <a:r>
              <a:rPr lang="zh-CN" altLang="en-US" sz="2400"/>
              <a:t>采用</a:t>
            </a:r>
            <a:r>
              <a:rPr lang="zh-CN" altLang="en-US" sz="2400">
                <a:solidFill>
                  <a:srgbClr val="0000FF"/>
                </a:solidFill>
              </a:rPr>
              <a:t>直接映射</a:t>
            </a:r>
            <a:r>
              <a:rPr lang="zh-CN" altLang="en-US" sz="2400"/>
              <a:t>方式，</a:t>
            </a:r>
            <a:r>
              <a:rPr lang="zh-CN" altLang="en-US" sz="2400">
                <a:solidFill>
                  <a:srgbClr val="0000FF"/>
                </a:solidFill>
              </a:rPr>
              <a:t>共</a:t>
            </a:r>
            <a:r>
              <a:rPr lang="en-US" altLang="zh-CN" sz="2400">
                <a:solidFill>
                  <a:srgbClr val="0000FF"/>
                </a:solidFill>
              </a:rPr>
              <a:t>8</a:t>
            </a:r>
            <a:r>
              <a:rPr lang="zh-CN" altLang="en-US" sz="2400">
                <a:solidFill>
                  <a:srgbClr val="0000FF"/>
                </a:solidFill>
              </a:rPr>
              <a:t>块</a:t>
            </a:r>
            <a:r>
              <a:rPr lang="zh-CN" altLang="en-US" sz="2400"/>
              <a:t>，每</a:t>
            </a:r>
            <a:r>
              <a:rPr lang="zh-CN" altLang="en-US" sz="2400">
                <a:solidFill>
                  <a:srgbClr val="FF0000"/>
                </a:solidFill>
              </a:rPr>
              <a:t>块</a:t>
            </a:r>
            <a:r>
              <a:rPr lang="zh-CN" altLang="en-US" sz="2400"/>
              <a:t>为</a:t>
            </a:r>
            <a:r>
              <a:rPr lang="en-US" altLang="zh-CN" sz="2400">
                <a:solidFill>
                  <a:srgbClr val="FF0000"/>
                </a:solidFill>
              </a:rPr>
              <a:t>32B</a:t>
            </a:r>
            <a:r>
              <a:rPr lang="zh-CN" altLang="en-US" sz="2400"/>
              <a:t>。</a:t>
            </a:r>
            <a:endParaRPr lang="en-US" altLang="zh-CN" sz="2400"/>
          </a:p>
        </p:txBody>
      </p:sp>
      <p:sp>
        <p:nvSpPr>
          <p:cNvPr id="22" name="矩形 21"/>
          <p:cNvSpPr/>
          <p:nvPr/>
        </p:nvSpPr>
        <p:spPr>
          <a:xfrm rot="16200000">
            <a:off x="5423633" y="2264069"/>
            <a:ext cx="2505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图</a:t>
            </a:r>
            <a:r>
              <a:rPr lang="en-US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 </a:t>
            </a:r>
            <a:r>
              <a:rPr lang="zh-CN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页表的部分内容</a:t>
            </a:r>
            <a:endParaRPr lang="zh-CN" altLang="en-US" sz="1800" b="1">
              <a:solidFill>
                <a:srgbClr val="6600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 rot="16200000">
            <a:off x="5332263" y="5125026"/>
            <a:ext cx="2688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图</a:t>
            </a:r>
            <a:r>
              <a:rPr lang="en-US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  Cache</a:t>
            </a:r>
            <a:r>
              <a:rPr lang="zh-CN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地址映射表</a:t>
            </a:r>
            <a:endParaRPr lang="zh-CN" altLang="en-US" sz="2000" b="1">
              <a:solidFill>
                <a:srgbClr val="6600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288" y="476671"/>
            <a:ext cx="1800200" cy="3421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596" y="3757931"/>
            <a:ext cx="2087893" cy="2983437"/>
          </a:xfrm>
          <a:prstGeom prst="rect">
            <a:avLst/>
          </a:prstGeom>
        </p:spPr>
      </p:pic>
      <p:sp>
        <p:nvSpPr>
          <p:cNvPr id="12" name="内容占位符 2"/>
          <p:cNvSpPr txBox="1"/>
          <p:nvPr/>
        </p:nvSpPr>
        <p:spPr bwMode="auto">
          <a:xfrm>
            <a:off x="179512" y="2492895"/>
            <a:ext cx="6170734" cy="9647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1</a:t>
            </a:r>
            <a:r>
              <a:rPr lang="en-US" altLang="zh-CN" sz="2400" kern="0">
                <a:latin typeface="+mn-ea"/>
              </a:rPr>
              <a:t>)</a:t>
            </a:r>
            <a:endParaRPr lang="en-US" altLang="zh-CN" sz="2400" kern="0">
              <a:latin typeface="+mn-ea"/>
            </a:endParaRPr>
          </a:p>
          <a:p>
            <a:pPr marL="0" indent="0">
              <a:buNone/>
            </a:pP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2</a:t>
            </a:r>
            <a:r>
              <a:rPr lang="en-US" altLang="zh-CN" sz="2400" kern="0">
                <a:latin typeface="+mn-ea"/>
              </a:rPr>
              <a:t>)</a:t>
            </a:r>
            <a:endParaRPr lang="en-US" altLang="zh-CN" sz="2400" kern="0"/>
          </a:p>
        </p:txBody>
      </p:sp>
      <p:sp>
        <p:nvSpPr>
          <p:cNvPr id="13" name="矩形 12"/>
          <p:cNvSpPr/>
          <p:nvPr/>
        </p:nvSpPr>
        <p:spPr>
          <a:xfrm>
            <a:off x="1208083" y="2562620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</a:rPr>
              <a:t>虚拟地址：</a:t>
            </a:r>
            <a:endParaRPr lang="zh-CN" altLang="en-US" sz="2000">
              <a:solidFill>
                <a:srgbClr val="0000FF"/>
              </a:solidFill>
            </a:endParaRPr>
          </a:p>
        </p:txBody>
      </p:sp>
      <p:graphicFrame>
        <p:nvGraphicFramePr>
          <p:cNvPr id="14" name="表格 9"/>
          <p:cNvGraphicFramePr>
            <a:graphicFrameLocks noGrp="1"/>
          </p:cNvGraphicFramePr>
          <p:nvPr/>
        </p:nvGraphicFramePr>
        <p:xfrm>
          <a:off x="1095619" y="2964283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4253"/>
                <a:gridCol w="176295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虚页号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页内地址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1095619" y="3432531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3419872" y="342671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5182823" y="3432531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1095619" y="3567824"/>
            <a:ext cx="232425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1907704" y="340946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 bwMode="auto">
          <a:xfrm flipV="1">
            <a:off x="3419871" y="3549244"/>
            <a:ext cx="1762952" cy="2091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5" name="矩形 24"/>
          <p:cNvSpPr/>
          <p:nvPr/>
        </p:nvSpPr>
        <p:spPr>
          <a:xfrm>
            <a:off x="3995936" y="340946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graphicFrame>
        <p:nvGraphicFramePr>
          <p:cNvPr id="26" name="表格 9"/>
          <p:cNvGraphicFramePr>
            <a:graphicFrameLocks noGrp="1"/>
          </p:cNvGraphicFramePr>
          <p:nvPr/>
        </p:nvGraphicFramePr>
        <p:xfrm>
          <a:off x="1619672" y="4540797"/>
          <a:ext cx="356315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200"/>
                <a:gridCol w="176295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9900"/>
                          </a:solidFill>
                        </a:rPr>
                        <a:t>实页号</a:t>
                      </a:r>
                      <a:endParaRPr lang="zh-CN" altLang="en-US" sz="20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>
                          <a:solidFill>
                            <a:srgbClr val="009900"/>
                          </a:solidFill>
                        </a:rPr>
                        <a:t>页内地址</a:t>
                      </a:r>
                      <a:endParaRPr lang="zh-CN" altLang="en-US" sz="20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1208083" y="4137852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9900"/>
                </a:solidFill>
              </a:rPr>
              <a:t>主存物理地址：</a:t>
            </a:r>
            <a:endParaRPr lang="zh-CN" altLang="en-US" sz="2000">
              <a:solidFill>
                <a:srgbClr val="009900"/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 bwMode="auto">
          <a:xfrm>
            <a:off x="1619672" y="5016498"/>
            <a:ext cx="0" cy="57274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>
            <a:off x="3419872" y="5010683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/>
          <p:cNvCxnSpPr/>
          <p:nvPr/>
        </p:nvCxnSpPr>
        <p:spPr bwMode="auto">
          <a:xfrm>
            <a:off x="5182823" y="5016498"/>
            <a:ext cx="0" cy="57274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/>
          <p:cNvCxnSpPr/>
          <p:nvPr/>
        </p:nvCxnSpPr>
        <p:spPr bwMode="auto">
          <a:xfrm>
            <a:off x="1619672" y="5151791"/>
            <a:ext cx="1800200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2" name="矩形 31"/>
          <p:cNvSpPr/>
          <p:nvPr/>
        </p:nvSpPr>
        <p:spPr>
          <a:xfrm>
            <a:off x="2195736" y="4993431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12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 flipV="1">
            <a:off x="3419871" y="5133211"/>
            <a:ext cx="1762952" cy="2091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4" name="矩形 33"/>
          <p:cNvSpPr/>
          <p:nvPr/>
        </p:nvSpPr>
        <p:spPr>
          <a:xfrm>
            <a:off x="3995936" y="4993431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1095618" y="3898046"/>
            <a:ext cx="408720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cxnSp>
        <p:nvCxnSpPr>
          <p:cNvPr id="37" name="直接连接符 36"/>
          <p:cNvCxnSpPr/>
          <p:nvPr/>
        </p:nvCxnSpPr>
        <p:spPr bwMode="auto">
          <a:xfrm>
            <a:off x="1619672" y="5451894"/>
            <a:ext cx="3563151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9" name="矩形 38"/>
          <p:cNvSpPr/>
          <p:nvPr/>
        </p:nvSpPr>
        <p:spPr>
          <a:xfrm>
            <a:off x="2747098" y="3757757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28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131840" y="5301208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24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graphicFrame>
        <p:nvGraphicFramePr>
          <p:cNvPr id="49" name="表格 9"/>
          <p:cNvGraphicFramePr>
            <a:graphicFrameLocks noGrp="1"/>
          </p:cNvGraphicFramePr>
          <p:nvPr/>
        </p:nvGraphicFramePr>
        <p:xfrm>
          <a:off x="1619672" y="5675807"/>
          <a:ext cx="356315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2"/>
                <a:gridCol w="648072"/>
                <a:gridCol w="82684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9900"/>
                          </a:solidFill>
                        </a:rPr>
                        <a:t>Tag</a:t>
                      </a:r>
                      <a:endParaRPr lang="zh-CN" altLang="en-US" sz="20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9900"/>
                          </a:solidFill>
                        </a:rPr>
                        <a:t>Index</a:t>
                      </a:r>
                      <a:endParaRPr lang="zh-CN" altLang="en-US" sz="18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</a:tr>
            </a:tbl>
          </a:graphicData>
        </a:graphic>
      </p:graphicFrame>
      <p:cxnSp>
        <p:nvCxnSpPr>
          <p:cNvPr id="50" name="直接连接符 49"/>
          <p:cNvCxnSpPr/>
          <p:nvPr/>
        </p:nvCxnSpPr>
        <p:spPr bwMode="auto">
          <a:xfrm>
            <a:off x="1619672" y="615864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接连接符 50"/>
          <p:cNvCxnSpPr/>
          <p:nvPr/>
        </p:nvCxnSpPr>
        <p:spPr bwMode="auto">
          <a:xfrm>
            <a:off x="4355976" y="615283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/>
          <p:cNvCxnSpPr/>
          <p:nvPr/>
        </p:nvCxnSpPr>
        <p:spPr bwMode="auto">
          <a:xfrm>
            <a:off x="5182823" y="615864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直接连接符 52"/>
          <p:cNvCxnSpPr/>
          <p:nvPr/>
        </p:nvCxnSpPr>
        <p:spPr bwMode="auto">
          <a:xfrm>
            <a:off x="1619672" y="6286671"/>
            <a:ext cx="208823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4" name="矩形 53"/>
          <p:cNvSpPr/>
          <p:nvPr/>
        </p:nvSpPr>
        <p:spPr>
          <a:xfrm>
            <a:off x="2357170" y="6135496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cxnSp>
        <p:nvCxnSpPr>
          <p:cNvPr id="55" name="直接连接符 54"/>
          <p:cNvCxnSpPr/>
          <p:nvPr/>
        </p:nvCxnSpPr>
        <p:spPr bwMode="auto">
          <a:xfrm>
            <a:off x="4355975" y="6281035"/>
            <a:ext cx="826848" cy="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6" name="矩形 55"/>
          <p:cNvSpPr/>
          <p:nvPr/>
        </p:nvSpPr>
        <p:spPr>
          <a:xfrm>
            <a:off x="4549382" y="6135496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5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cxnSp>
        <p:nvCxnSpPr>
          <p:cNvPr id="57" name="直接连接符 56"/>
          <p:cNvCxnSpPr/>
          <p:nvPr/>
        </p:nvCxnSpPr>
        <p:spPr bwMode="auto">
          <a:xfrm>
            <a:off x="3707904" y="615283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直接连接符 57"/>
          <p:cNvCxnSpPr/>
          <p:nvPr/>
        </p:nvCxnSpPr>
        <p:spPr bwMode="auto">
          <a:xfrm>
            <a:off x="3707904" y="6286871"/>
            <a:ext cx="65582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9" name="矩形 58"/>
          <p:cNvSpPr/>
          <p:nvPr/>
        </p:nvSpPr>
        <p:spPr>
          <a:xfrm>
            <a:off x="3811134" y="6135496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3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931" y="5589240"/>
            <a:ext cx="981756" cy="633229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47" name="文本框 46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 bwMode="auto">
          <a:xfrm>
            <a:off x="8388425" y="548680"/>
            <a:ext cx="652990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5" grpId="0" animBg="1"/>
      <p:bldP spid="27" grpId="0"/>
      <p:bldP spid="32" grpId="0" animBg="1"/>
      <p:bldP spid="34" grpId="0" animBg="1"/>
      <p:bldP spid="39" grpId="0" animBg="1"/>
      <p:bldP spid="40" grpId="0" animBg="1"/>
      <p:bldP spid="54" grpId="0" animBg="1"/>
      <p:bldP spid="56" grpId="0" animBg="1"/>
      <p:bldP spid="5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548680"/>
            <a:ext cx="2087890" cy="93641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p176</a:t>
            </a:r>
            <a:r>
              <a:rPr lang="zh-CN" altLang="en-US" sz="2400"/>
              <a:t>～</a:t>
            </a:r>
            <a:r>
              <a:rPr lang="en-US" altLang="zh-CN" sz="2400"/>
              <a:t>177</a:t>
            </a:r>
            <a:r>
              <a:rPr lang="zh-CN" altLang="en-US" sz="2400"/>
              <a:t>，</a:t>
            </a:r>
            <a:endParaRPr lang="en-US" altLang="zh-CN" sz="2400"/>
          </a:p>
          <a:p>
            <a:pPr marL="0" indent="0">
              <a:buNone/>
            </a:pPr>
            <a:r>
              <a:rPr lang="zh-CN" altLang="en-US" sz="2400"/>
              <a:t>习题 </a:t>
            </a:r>
            <a:r>
              <a:rPr lang="en-US" altLang="zh-CN" sz="2400"/>
              <a:t>4.38</a:t>
            </a:r>
            <a:endParaRPr lang="en-US" altLang="zh-CN" sz="2400"/>
          </a:p>
        </p:txBody>
      </p:sp>
      <p:sp>
        <p:nvSpPr>
          <p:cNvPr id="22" name="矩形 21"/>
          <p:cNvSpPr/>
          <p:nvPr/>
        </p:nvSpPr>
        <p:spPr>
          <a:xfrm rot="16200000">
            <a:off x="5423633" y="2264069"/>
            <a:ext cx="2505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图</a:t>
            </a:r>
            <a:r>
              <a:rPr lang="en-US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 </a:t>
            </a:r>
            <a:r>
              <a:rPr lang="zh-CN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页表的部分内容</a:t>
            </a:r>
            <a:endParaRPr lang="zh-CN" altLang="en-US" sz="1800" b="1">
              <a:solidFill>
                <a:srgbClr val="6600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 rot="16200000">
            <a:off x="5332263" y="5125026"/>
            <a:ext cx="26885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图</a:t>
            </a:r>
            <a:r>
              <a:rPr lang="en-US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  Cache</a:t>
            </a:r>
            <a:r>
              <a:rPr lang="zh-CN" altLang="zh-CN" sz="2000" b="1" kern="1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地址映射表</a:t>
            </a:r>
            <a:endParaRPr lang="zh-CN" altLang="en-US" sz="2000" b="1">
              <a:solidFill>
                <a:srgbClr val="6600CC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288" y="476671"/>
            <a:ext cx="1800200" cy="3421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596" y="3757931"/>
            <a:ext cx="2087893" cy="2983437"/>
          </a:xfrm>
          <a:prstGeom prst="rect">
            <a:avLst/>
          </a:prstGeom>
        </p:spPr>
      </p:pic>
      <p:sp>
        <p:nvSpPr>
          <p:cNvPr id="12" name="内容占位符 2"/>
          <p:cNvSpPr txBox="1"/>
          <p:nvPr/>
        </p:nvSpPr>
        <p:spPr bwMode="auto">
          <a:xfrm>
            <a:off x="174673" y="3418674"/>
            <a:ext cx="6170734" cy="9020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3</a:t>
            </a:r>
            <a:r>
              <a:rPr lang="en-US" altLang="zh-CN" sz="2400" kern="0">
                <a:latin typeface="+mn-ea"/>
              </a:rPr>
              <a:t>)</a:t>
            </a:r>
            <a:endParaRPr lang="en-US" altLang="zh-CN" sz="2400" kern="0">
              <a:latin typeface="+mn-ea"/>
            </a:endParaRPr>
          </a:p>
          <a:p>
            <a:pPr marL="0" indent="0">
              <a:buNone/>
            </a:pPr>
            <a:r>
              <a:rPr lang="zh-CN" altLang="en-US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某指令访问主存，</a:t>
            </a:r>
            <a:r>
              <a:rPr lang="zh-CN" altLang="en-US" sz="2400">
                <a:solidFill>
                  <a:srgbClr val="CC0066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虚拟地址为 </a:t>
            </a:r>
            <a:r>
              <a:rPr lang="en-US" altLang="zh-CN" sz="2400">
                <a:solidFill>
                  <a:srgbClr val="6600CC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00056A8H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2400" kern="0"/>
          </a:p>
        </p:txBody>
      </p:sp>
      <p:sp>
        <p:nvSpPr>
          <p:cNvPr id="13" name="矩形 12"/>
          <p:cNvSpPr/>
          <p:nvPr/>
        </p:nvSpPr>
        <p:spPr>
          <a:xfrm>
            <a:off x="2239588" y="548680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</a:rPr>
              <a:t>虚拟地址：</a:t>
            </a:r>
            <a:endParaRPr lang="zh-CN" altLang="en-US" sz="2000">
              <a:solidFill>
                <a:srgbClr val="0000FF"/>
              </a:solidFill>
            </a:endParaRPr>
          </a:p>
        </p:txBody>
      </p:sp>
      <p:graphicFrame>
        <p:nvGraphicFramePr>
          <p:cNvPr id="14" name="表格 9"/>
          <p:cNvGraphicFramePr>
            <a:graphicFrameLocks noGrp="1"/>
          </p:cNvGraphicFramePr>
          <p:nvPr/>
        </p:nvGraphicFramePr>
        <p:xfrm>
          <a:off x="2127124" y="950343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4253"/>
                <a:gridCol w="176295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虚页号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页内地址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2127124" y="1418591"/>
            <a:ext cx="0" cy="27640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4451377" y="1412776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6214328" y="1418591"/>
            <a:ext cx="0" cy="27640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2127124" y="1553884"/>
            <a:ext cx="232425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2939209" y="139552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 bwMode="auto">
          <a:xfrm flipV="1">
            <a:off x="4451376" y="1535304"/>
            <a:ext cx="1762952" cy="2091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5" name="矩形 24"/>
          <p:cNvSpPr/>
          <p:nvPr/>
        </p:nvSpPr>
        <p:spPr>
          <a:xfrm>
            <a:off x="5004048" y="1395524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graphicFrame>
        <p:nvGraphicFramePr>
          <p:cNvPr id="26" name="表格 9"/>
          <p:cNvGraphicFramePr>
            <a:graphicFrameLocks noGrp="1"/>
          </p:cNvGraphicFramePr>
          <p:nvPr/>
        </p:nvGraphicFramePr>
        <p:xfrm>
          <a:off x="2651177" y="2178045"/>
          <a:ext cx="356315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200"/>
                <a:gridCol w="176295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9900"/>
                          </a:solidFill>
                        </a:rPr>
                        <a:t>实页号</a:t>
                      </a:r>
                      <a:endParaRPr lang="zh-CN" altLang="en-US" sz="20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>
                          <a:solidFill>
                            <a:srgbClr val="009900"/>
                          </a:solidFill>
                        </a:rPr>
                        <a:t>页内地址</a:t>
                      </a:r>
                      <a:endParaRPr lang="zh-CN" altLang="en-US" sz="20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2239588" y="1775100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9900"/>
                </a:solidFill>
              </a:rPr>
              <a:t>主存物理地址：</a:t>
            </a:r>
            <a:endParaRPr lang="zh-CN" altLang="en-US" sz="2000">
              <a:solidFill>
                <a:srgbClr val="009900"/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 bwMode="auto">
          <a:xfrm>
            <a:off x="2651177" y="2653746"/>
            <a:ext cx="0" cy="27640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>
            <a:off x="4451377" y="2647931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接连接符 29"/>
          <p:cNvCxnSpPr/>
          <p:nvPr/>
        </p:nvCxnSpPr>
        <p:spPr bwMode="auto">
          <a:xfrm>
            <a:off x="6214328" y="2653746"/>
            <a:ext cx="0" cy="27640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/>
          <p:cNvCxnSpPr/>
          <p:nvPr/>
        </p:nvCxnSpPr>
        <p:spPr bwMode="auto">
          <a:xfrm>
            <a:off x="2651177" y="2789039"/>
            <a:ext cx="1800200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2" name="矩形 31"/>
          <p:cNvSpPr/>
          <p:nvPr/>
        </p:nvSpPr>
        <p:spPr>
          <a:xfrm>
            <a:off x="3227241" y="2630679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12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 flipV="1">
            <a:off x="4451376" y="2770459"/>
            <a:ext cx="1762952" cy="2091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4" name="矩形 33"/>
          <p:cNvSpPr/>
          <p:nvPr/>
        </p:nvSpPr>
        <p:spPr>
          <a:xfrm>
            <a:off x="5027441" y="2630679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graphicFrame>
        <p:nvGraphicFramePr>
          <p:cNvPr id="49" name="表格 9"/>
          <p:cNvGraphicFramePr>
            <a:graphicFrameLocks noGrp="1"/>
          </p:cNvGraphicFramePr>
          <p:nvPr/>
        </p:nvGraphicFramePr>
        <p:xfrm>
          <a:off x="2651177" y="3025023"/>
          <a:ext cx="3563151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8232"/>
                <a:gridCol w="648072"/>
                <a:gridCol w="82684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9900"/>
                          </a:solidFill>
                        </a:rPr>
                        <a:t>Tag</a:t>
                      </a:r>
                      <a:endParaRPr lang="zh-CN" altLang="en-US" sz="20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>
                          <a:solidFill>
                            <a:srgbClr val="009900"/>
                          </a:solidFill>
                        </a:rPr>
                        <a:t>Index</a:t>
                      </a:r>
                      <a:endParaRPr lang="zh-CN" altLang="en-US" sz="18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1">
                        <a:solidFill>
                          <a:srgbClr val="0099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E1"/>
                    </a:solidFill>
                  </a:tcPr>
                </a:tc>
              </a:tr>
            </a:tbl>
          </a:graphicData>
        </a:graphic>
      </p:graphicFrame>
      <p:cxnSp>
        <p:nvCxnSpPr>
          <p:cNvPr id="50" name="直接连接符 49"/>
          <p:cNvCxnSpPr/>
          <p:nvPr/>
        </p:nvCxnSpPr>
        <p:spPr bwMode="auto">
          <a:xfrm>
            <a:off x="2651177" y="3507862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接连接符 50"/>
          <p:cNvCxnSpPr/>
          <p:nvPr/>
        </p:nvCxnSpPr>
        <p:spPr bwMode="auto">
          <a:xfrm>
            <a:off x="5387481" y="3502047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/>
          <p:cNvCxnSpPr/>
          <p:nvPr/>
        </p:nvCxnSpPr>
        <p:spPr bwMode="auto">
          <a:xfrm>
            <a:off x="6214328" y="3507862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直接连接符 52"/>
          <p:cNvCxnSpPr/>
          <p:nvPr/>
        </p:nvCxnSpPr>
        <p:spPr bwMode="auto">
          <a:xfrm>
            <a:off x="2651177" y="3635887"/>
            <a:ext cx="2088232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4" name="矩形 53"/>
          <p:cNvSpPr/>
          <p:nvPr/>
        </p:nvSpPr>
        <p:spPr>
          <a:xfrm>
            <a:off x="3388675" y="3484712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cxnSp>
        <p:nvCxnSpPr>
          <p:cNvPr id="55" name="直接连接符 54"/>
          <p:cNvCxnSpPr/>
          <p:nvPr/>
        </p:nvCxnSpPr>
        <p:spPr bwMode="auto">
          <a:xfrm>
            <a:off x="5387480" y="3630251"/>
            <a:ext cx="826848" cy="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6" name="矩形 55"/>
          <p:cNvSpPr/>
          <p:nvPr/>
        </p:nvSpPr>
        <p:spPr>
          <a:xfrm>
            <a:off x="5580887" y="3484712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5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cxnSp>
        <p:nvCxnSpPr>
          <p:cNvPr id="57" name="直接连接符 56"/>
          <p:cNvCxnSpPr/>
          <p:nvPr/>
        </p:nvCxnSpPr>
        <p:spPr bwMode="auto">
          <a:xfrm>
            <a:off x="4739409" y="3502047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直接连接符 57"/>
          <p:cNvCxnSpPr/>
          <p:nvPr/>
        </p:nvCxnSpPr>
        <p:spPr bwMode="auto">
          <a:xfrm>
            <a:off x="4739409" y="3636087"/>
            <a:ext cx="655828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59" name="矩形 58"/>
          <p:cNvSpPr/>
          <p:nvPr/>
        </p:nvSpPr>
        <p:spPr>
          <a:xfrm>
            <a:off x="4842639" y="3484712"/>
            <a:ext cx="45902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3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436" y="2938456"/>
            <a:ext cx="981756" cy="63322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600620" y="4277694"/>
            <a:ext cx="16113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>
                <a:solidFill>
                  <a:srgbClr val="6600CC"/>
                </a:solidFill>
                <a:cs typeface="Times New Roman" panose="02020503050405090304" pitchFamily="18" charset="0"/>
              </a:rPr>
              <a:t>0005 6A8</a:t>
            </a:r>
            <a:endParaRPr lang="zh-CN" altLang="en-US"/>
          </a:p>
        </p:txBody>
      </p:sp>
      <p:sp>
        <p:nvSpPr>
          <p:cNvPr id="61" name="矩形 60"/>
          <p:cNvSpPr/>
          <p:nvPr/>
        </p:nvSpPr>
        <p:spPr bwMode="auto">
          <a:xfrm>
            <a:off x="7183125" y="2872995"/>
            <a:ext cx="1781363" cy="296925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700007" y="4688720"/>
            <a:ext cx="15119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>
                <a:solidFill>
                  <a:srgbClr val="6600CC"/>
                </a:solidFill>
                <a:cs typeface="Times New Roman" panose="02020503050405090304" pitchFamily="18" charset="0"/>
              </a:rPr>
              <a:t>20D 6A8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5763" y="4245286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>
                <a:solidFill>
                  <a:schemeClr val="bg2">
                    <a:lumMod val="60000"/>
                    <a:lumOff val="40000"/>
                  </a:schemeClr>
                </a:solidFill>
                <a:cs typeface="Times New Roman" panose="02020503050405090304" pitchFamily="18" charset="0"/>
              </a:rPr>
              <a:t>虚拟地址：</a:t>
            </a:r>
            <a:endParaRPr lang="zh-CN" altLang="en-US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34412" y="4665107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>
                <a:solidFill>
                  <a:srgbClr val="008000"/>
                </a:solidFill>
                <a:cs typeface="Times New Roman" panose="02020503050405090304" pitchFamily="18" charset="0"/>
              </a:rPr>
              <a:t>主存物理地址：</a:t>
            </a:r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2780817" y="4775048"/>
            <a:ext cx="675166" cy="3508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6" name="箭头: 下 35"/>
          <p:cNvSpPr/>
          <p:nvPr/>
        </p:nvSpPr>
        <p:spPr bwMode="auto">
          <a:xfrm>
            <a:off x="3771075" y="5153332"/>
            <a:ext cx="288033" cy="343497"/>
          </a:xfrm>
          <a:prstGeom prst="downArrow">
            <a:avLst>
              <a:gd name="adj1" fmla="val 50000"/>
              <a:gd name="adj2" fmla="val 71368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059728" y="5424634"/>
            <a:ext cx="17107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>
                <a:solidFill>
                  <a:srgbClr val="FF0000"/>
                </a:solidFill>
                <a:cs typeface="Times New Roman" panose="02020503050405090304" pitchFamily="18" charset="0"/>
              </a:rPr>
              <a:t>101</a:t>
            </a:r>
            <a:r>
              <a:rPr lang="en-US" altLang="zh-CN">
                <a:solidFill>
                  <a:schemeClr val="bg2">
                    <a:lumMod val="60000"/>
                    <a:lumOff val="40000"/>
                  </a:schemeClr>
                </a:solidFill>
                <a:cs typeface="Times New Roman" panose="02020503050405090304" pitchFamily="18" charset="0"/>
              </a:rPr>
              <a:t>0 1000</a:t>
            </a:r>
            <a:endParaRPr lang="zh-CN" altLang="en-US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423380" y="4998983"/>
            <a:ext cx="6693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66"/>
                </a:solidFill>
              </a:rPr>
              <a:t>Tag</a:t>
            </a:r>
            <a:endParaRPr lang="zh-CN" altLang="en-US" sz="2400">
              <a:solidFill>
                <a:srgbClr val="FF0066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483485" y="5738221"/>
            <a:ext cx="9380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66"/>
                </a:solidFill>
              </a:rPr>
              <a:t>Index</a:t>
            </a:r>
            <a:endParaRPr lang="zh-CN" altLang="en-US" sz="2400">
              <a:solidFill>
                <a:srgbClr val="FF0066"/>
              </a:solidFill>
            </a:endParaRPr>
          </a:p>
        </p:txBody>
      </p:sp>
      <p:sp>
        <p:nvSpPr>
          <p:cNvPr id="67" name="矩形 66"/>
          <p:cNvSpPr/>
          <p:nvPr/>
        </p:nvSpPr>
        <p:spPr bwMode="auto">
          <a:xfrm>
            <a:off x="6928339" y="5755806"/>
            <a:ext cx="2036150" cy="284510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2648265" y="4360518"/>
            <a:ext cx="807718" cy="35086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1" name="任意多边形: 形状 40"/>
          <p:cNvSpPr/>
          <p:nvPr/>
        </p:nvSpPr>
        <p:spPr bwMode="auto">
          <a:xfrm>
            <a:off x="3446585" y="3024631"/>
            <a:ext cx="3736730" cy="1336353"/>
          </a:xfrm>
          <a:custGeom>
            <a:avLst/>
            <a:gdLst>
              <a:gd name="connsiteX0" fmla="*/ 0 w 3736730"/>
              <a:gd name="connsiteY0" fmla="*/ 1377760 h 1377760"/>
              <a:gd name="connsiteX1" fmla="*/ 1512277 w 3736730"/>
              <a:gd name="connsiteY1" fmla="*/ 208383 h 1377760"/>
              <a:gd name="connsiteX2" fmla="*/ 3736730 w 3736730"/>
              <a:gd name="connsiteY2" fmla="*/ 6160 h 137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6730" h="1377760">
                <a:moveTo>
                  <a:pt x="0" y="1377760"/>
                </a:moveTo>
                <a:cubicBezTo>
                  <a:pt x="444744" y="907371"/>
                  <a:pt x="889489" y="436983"/>
                  <a:pt x="1512277" y="208383"/>
                </a:cubicBezTo>
                <a:cubicBezTo>
                  <a:pt x="2135065" y="-20217"/>
                  <a:pt x="2935897" y="-7029"/>
                  <a:pt x="3736730" y="6160"/>
                </a:cubicBezTo>
              </a:path>
            </a:pathLst>
          </a:custGeom>
          <a:noFill/>
          <a:ln w="5715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3" name="任意多边形: 形状 42"/>
          <p:cNvSpPr/>
          <p:nvPr/>
        </p:nvSpPr>
        <p:spPr bwMode="auto">
          <a:xfrm>
            <a:off x="3599180" y="5852160"/>
            <a:ext cx="3332843" cy="89656"/>
          </a:xfrm>
          <a:custGeom>
            <a:avLst/>
            <a:gdLst>
              <a:gd name="connsiteX0" fmla="*/ 0 w 3248297"/>
              <a:gd name="connsiteY0" fmla="*/ 0 h 154094"/>
              <a:gd name="connsiteX1" fmla="*/ 609600 w 3248297"/>
              <a:gd name="connsiteY1" fmla="*/ 139337 h 154094"/>
              <a:gd name="connsiteX2" fmla="*/ 2325188 w 3248297"/>
              <a:gd name="connsiteY2" fmla="*/ 148046 h 154094"/>
              <a:gd name="connsiteX3" fmla="*/ 3248297 w 3248297"/>
              <a:gd name="connsiteY3" fmla="*/ 121920 h 15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8297" h="154094">
                <a:moveTo>
                  <a:pt x="0" y="0"/>
                </a:moveTo>
                <a:cubicBezTo>
                  <a:pt x="111034" y="57331"/>
                  <a:pt x="222069" y="114663"/>
                  <a:pt x="609600" y="139337"/>
                </a:cubicBezTo>
                <a:cubicBezTo>
                  <a:pt x="997131" y="164011"/>
                  <a:pt x="1885405" y="150949"/>
                  <a:pt x="2325188" y="148046"/>
                </a:cubicBezTo>
                <a:cubicBezTo>
                  <a:pt x="2764971" y="145143"/>
                  <a:pt x="3006634" y="133531"/>
                  <a:pt x="3248297" y="121920"/>
                </a:cubicBezTo>
              </a:path>
            </a:pathLst>
          </a:custGeom>
          <a:noFill/>
          <a:ln w="5715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endParaRPr lang="zh-CN" altLang="en-US"/>
          </a:p>
        </p:txBody>
      </p:sp>
      <p:sp>
        <p:nvSpPr>
          <p:cNvPr id="44" name="任意多边形: 形状 43"/>
          <p:cNvSpPr/>
          <p:nvPr/>
        </p:nvSpPr>
        <p:spPr bwMode="auto">
          <a:xfrm>
            <a:off x="3457303" y="3161211"/>
            <a:ext cx="4528457" cy="1635005"/>
          </a:xfrm>
          <a:custGeom>
            <a:avLst/>
            <a:gdLst>
              <a:gd name="connsiteX0" fmla="*/ 4528457 w 4528457"/>
              <a:gd name="connsiteY0" fmla="*/ 0 h 1724298"/>
              <a:gd name="connsiteX1" fmla="*/ 1515291 w 4528457"/>
              <a:gd name="connsiteY1" fmla="*/ 1349829 h 1724298"/>
              <a:gd name="connsiteX2" fmla="*/ 0 w 4528457"/>
              <a:gd name="connsiteY2" fmla="*/ 1724298 h 172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8457" h="1724298">
                <a:moveTo>
                  <a:pt x="4528457" y="0"/>
                </a:moveTo>
                <a:cubicBezTo>
                  <a:pt x="3399245" y="531223"/>
                  <a:pt x="2270034" y="1062446"/>
                  <a:pt x="1515291" y="1349829"/>
                </a:cubicBezTo>
                <a:cubicBezTo>
                  <a:pt x="760548" y="1637212"/>
                  <a:pt x="380274" y="1680755"/>
                  <a:pt x="0" y="1724298"/>
                </a:cubicBezTo>
              </a:path>
            </a:pathLst>
          </a:custGeom>
          <a:noFill/>
          <a:ln w="57150" cap="flat" cmpd="sng" algn="ctr">
            <a:solidFill>
              <a:srgbClr val="FF0066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endParaRPr lang="zh-CN" altLang="en-US"/>
          </a:p>
        </p:txBody>
      </p:sp>
      <p:sp>
        <p:nvSpPr>
          <p:cNvPr id="70" name="矩形 69"/>
          <p:cNvSpPr/>
          <p:nvPr/>
        </p:nvSpPr>
        <p:spPr bwMode="auto">
          <a:xfrm>
            <a:off x="7893050" y="5778500"/>
            <a:ext cx="635000" cy="285750"/>
          </a:xfrm>
          <a:prstGeom prst="rect">
            <a:avLst/>
          </a:prstGeom>
          <a:solidFill>
            <a:srgbClr val="00FF00">
              <a:alpha val="4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5" name="矩形 64"/>
          <p:cNvSpPr/>
          <p:nvPr/>
        </p:nvSpPr>
        <p:spPr bwMode="auto">
          <a:xfrm>
            <a:off x="3149257" y="5510810"/>
            <a:ext cx="552137" cy="350868"/>
          </a:xfrm>
          <a:prstGeom prst="rect">
            <a:avLst/>
          </a:prstGeom>
          <a:solidFill>
            <a:srgbClr val="FFCC00">
              <a:alpha val="4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2784269" y="4781137"/>
            <a:ext cx="899707" cy="350868"/>
          </a:xfrm>
          <a:prstGeom prst="rect">
            <a:avLst/>
          </a:prstGeom>
          <a:solidFill>
            <a:srgbClr val="00FF00">
              <a:alpha val="4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86802" y="6074132"/>
            <a:ext cx="29450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>
                <a:solidFill>
                  <a:srgbClr val="008000"/>
                </a:solidFill>
                <a:cs typeface="Times New Roman" panose="02020503050405090304" pitchFamily="18" charset="0"/>
              </a:rPr>
              <a:t>Cache</a:t>
            </a:r>
            <a:r>
              <a:rPr lang="zh-CN" altLang="en-US">
                <a:solidFill>
                  <a:srgbClr val="008000"/>
                </a:solidFill>
                <a:cs typeface="Times New Roman" panose="02020503050405090304" pitchFamily="18" charset="0"/>
              </a:rPr>
              <a:t>内部地址：</a:t>
            </a:r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084015" y="6097745"/>
            <a:ext cx="20665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6600CC"/>
                </a:solidFill>
                <a:cs typeface="Times New Roman" panose="02020503050405090304" pitchFamily="18" charset="0"/>
              </a:rPr>
              <a:t>A8</a:t>
            </a:r>
            <a:r>
              <a:rPr lang="zh-CN" altLang="en-US">
                <a:solidFill>
                  <a:srgbClr val="6600CC"/>
                </a:solidFill>
                <a:cs typeface="Times New Roman" panose="02020503050405090304" pitchFamily="18" charset="0"/>
              </a:rPr>
              <a:t>（命中）</a:t>
            </a:r>
            <a:endParaRPr lang="zh-CN" altLang="en-US"/>
          </a:p>
        </p:txBody>
      </p:sp>
      <p:sp>
        <p:nvSpPr>
          <p:cNvPr id="72" name="任意多边形: 形状 71"/>
          <p:cNvSpPr/>
          <p:nvPr/>
        </p:nvSpPr>
        <p:spPr bwMode="auto">
          <a:xfrm>
            <a:off x="3666309" y="5120640"/>
            <a:ext cx="4241074" cy="731520"/>
          </a:xfrm>
          <a:custGeom>
            <a:avLst/>
            <a:gdLst>
              <a:gd name="connsiteX0" fmla="*/ 0 w 4241074"/>
              <a:gd name="connsiteY0" fmla="*/ 0 h 731520"/>
              <a:gd name="connsiteX1" fmla="*/ 992777 w 4241074"/>
              <a:gd name="connsiteY1" fmla="*/ 313509 h 731520"/>
              <a:gd name="connsiteX2" fmla="*/ 2995748 w 4241074"/>
              <a:gd name="connsiteY2" fmla="*/ 461554 h 731520"/>
              <a:gd name="connsiteX3" fmla="*/ 4241074 w 4241074"/>
              <a:gd name="connsiteY3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074" h="731520">
                <a:moveTo>
                  <a:pt x="0" y="0"/>
                </a:moveTo>
                <a:cubicBezTo>
                  <a:pt x="246743" y="118291"/>
                  <a:pt x="493486" y="236583"/>
                  <a:pt x="992777" y="313509"/>
                </a:cubicBezTo>
                <a:cubicBezTo>
                  <a:pt x="1492068" y="390435"/>
                  <a:pt x="2454365" y="391886"/>
                  <a:pt x="2995748" y="461554"/>
                </a:cubicBezTo>
                <a:cubicBezTo>
                  <a:pt x="3537131" y="531222"/>
                  <a:pt x="3889102" y="631371"/>
                  <a:pt x="4241074" y="731520"/>
                </a:cubicBezTo>
              </a:path>
            </a:pathLst>
          </a:custGeom>
          <a:noFill/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559443" y="5072089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8000"/>
                </a:solidFill>
              </a:rPr>
              <a:t>有效且相等</a:t>
            </a:r>
            <a:endParaRPr lang="zh-CN" altLang="en-US">
              <a:solidFill>
                <a:srgbClr val="008000"/>
              </a:solidFill>
            </a:endParaRPr>
          </a:p>
        </p:txBody>
      </p:sp>
      <p:sp>
        <p:nvSpPr>
          <p:cNvPr id="74" name="椭圆 73"/>
          <p:cNvSpPr/>
          <p:nvPr/>
        </p:nvSpPr>
        <p:spPr bwMode="auto">
          <a:xfrm>
            <a:off x="7412524" y="5771849"/>
            <a:ext cx="282585" cy="28258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77" name="文本框 76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 bwMode="auto">
          <a:xfrm>
            <a:off x="8388424" y="548680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1" grpId="0" animBg="1"/>
      <p:bldP spid="62" grpId="0"/>
      <p:bldP spid="20" grpId="0"/>
      <p:bldP spid="63" grpId="0"/>
      <p:bldP spid="21" grpId="0" animBg="1"/>
      <p:bldP spid="36" grpId="0" animBg="1"/>
      <p:bldP spid="64" grpId="0"/>
      <p:bldP spid="38" grpId="0"/>
      <p:bldP spid="66" grpId="0"/>
      <p:bldP spid="67" grpId="0" animBg="1"/>
      <p:bldP spid="68" grpId="0" animBg="1"/>
      <p:bldP spid="41" grpId="0" animBg="1"/>
      <p:bldP spid="43" grpId="0" animBg="1"/>
      <p:bldP spid="44" grpId="0" animBg="1"/>
      <p:bldP spid="70" grpId="0" animBg="1"/>
      <p:bldP spid="65" grpId="0" animBg="1"/>
      <p:bldP spid="69" grpId="0" animBg="1"/>
      <p:bldP spid="71" grpId="0"/>
      <p:bldP spid="45" grpId="0"/>
      <p:bldP spid="72" grpId="0" animBg="1"/>
      <p:bldP spid="73" grpId="0"/>
      <p:bldP spid="7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12961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/>
              <a:t>p176</a:t>
            </a:r>
            <a:r>
              <a:rPr lang="zh-CN" altLang="en-US" sz="2400"/>
              <a:t>～</a:t>
            </a:r>
            <a:r>
              <a:rPr lang="en-US" altLang="zh-CN" sz="2400"/>
              <a:t>177</a:t>
            </a:r>
            <a:r>
              <a:rPr lang="zh-CN" altLang="en-US" sz="2400"/>
              <a:t>，习题 </a:t>
            </a:r>
            <a:r>
              <a:rPr lang="en-US" altLang="zh-CN" sz="2400"/>
              <a:t>4.38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>
                <a:latin typeface="+mn-ea"/>
              </a:rPr>
              <a:t>(</a:t>
            </a:r>
            <a:r>
              <a:rPr lang="en-US" altLang="zh-CN" sz="2400"/>
              <a:t>4</a:t>
            </a:r>
            <a:r>
              <a:rPr lang="en-US" altLang="zh-CN" sz="2400">
                <a:latin typeface="+mn-ea"/>
              </a:rPr>
              <a:t>)</a:t>
            </a:r>
            <a:r>
              <a:rPr lang="en-US" altLang="zh-CN" sz="2400"/>
              <a:t> 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为该计算机配置一个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</a:t>
            </a:r>
            <a:r>
              <a:rPr lang="zh-CN" altLang="en-US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路组相联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TLB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共可存放</a:t>
            </a:r>
            <a:r>
              <a:rPr lang="en-US" altLang="zh-CN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8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个页表项，其当前内容（十六进制）如图</a:t>
            </a:r>
            <a:r>
              <a:rPr lang="en-US" altLang="zh-CN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所示。</a:t>
            </a:r>
            <a:endParaRPr lang="en-US" altLang="zh-CN" sz="2400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6381410"/>
            <a:ext cx="2133600" cy="324190"/>
          </a:xfrm>
        </p:spPr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7" y="1844824"/>
            <a:ext cx="9077037" cy="14401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59690" y="3996309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CC0066"/>
                </a:solidFill>
                <a:cs typeface="Times New Roman" panose="02020503050405090304" pitchFamily="18" charset="0"/>
              </a:rPr>
              <a:t>虚拟地址：</a:t>
            </a:r>
            <a:r>
              <a:rPr lang="en-US" altLang="zh-CN" sz="2400">
                <a:solidFill>
                  <a:srgbClr val="0000FF"/>
                </a:solidFill>
                <a:cs typeface="Times New Roman" panose="02020503050405090304" pitchFamily="18" charset="0"/>
              </a:rPr>
              <a:t>00356A8H</a:t>
            </a: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4751275" y="3340984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</a:rPr>
              <a:t>虚拟地址：</a:t>
            </a:r>
            <a:endParaRPr lang="zh-CN" altLang="en-US" sz="2000">
              <a:solidFill>
                <a:srgbClr val="0000FF"/>
              </a:solidFill>
            </a:endParaRPr>
          </a:p>
        </p:txBody>
      </p:sp>
      <p:graphicFrame>
        <p:nvGraphicFramePr>
          <p:cNvPr id="14" name="表格 9"/>
          <p:cNvGraphicFramePr>
            <a:graphicFrameLocks noGrp="1"/>
          </p:cNvGraphicFramePr>
          <p:nvPr/>
        </p:nvGraphicFramePr>
        <p:xfrm>
          <a:off x="4638811" y="3742647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5"/>
                <a:gridCol w="720080"/>
                <a:gridCol w="17829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Tag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index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页内地址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4638811" y="4183839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6963064" y="4233869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8726015" y="4183839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4638811" y="4346188"/>
            <a:ext cx="1587547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5142866" y="417739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15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 bwMode="auto">
          <a:xfrm flipV="1">
            <a:off x="6963063" y="4346188"/>
            <a:ext cx="1762952" cy="233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5" name="矩形 24"/>
          <p:cNvSpPr/>
          <p:nvPr/>
        </p:nvSpPr>
        <p:spPr>
          <a:xfrm>
            <a:off x="7519130" y="417739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 bwMode="auto">
          <a:xfrm>
            <a:off x="4638810" y="4676410"/>
            <a:ext cx="408720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7" name="矩形 26"/>
          <p:cNvSpPr/>
          <p:nvPr/>
        </p:nvSpPr>
        <p:spPr>
          <a:xfrm>
            <a:off x="6290290" y="4536121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28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 bwMode="auto">
          <a:xfrm>
            <a:off x="6226358" y="4233869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/>
          <p:cNvCxnSpPr/>
          <p:nvPr/>
        </p:nvCxnSpPr>
        <p:spPr bwMode="auto">
          <a:xfrm>
            <a:off x="6226358" y="4346188"/>
            <a:ext cx="73670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6401547" y="4177395"/>
            <a:ext cx="386324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7983" y="4941168"/>
            <a:ext cx="492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  <a:cs typeface="Times New Roman" panose="02020503050405090304" pitchFamily="18" charset="0"/>
              </a:rPr>
              <a:t>0000 0000 0011 0101 0110 1010 1000</a:t>
            </a:r>
            <a:endParaRPr lang="zh-CN" altLang="en-US" sz="2400"/>
          </a:p>
        </p:txBody>
      </p:sp>
      <p:sp>
        <p:nvSpPr>
          <p:cNvPr id="12" name="矩形: 圆角 11"/>
          <p:cNvSpPr/>
          <p:nvPr/>
        </p:nvSpPr>
        <p:spPr bwMode="auto">
          <a:xfrm>
            <a:off x="3191433" y="5005277"/>
            <a:ext cx="2059836" cy="336092"/>
          </a:xfrm>
          <a:prstGeom prst="roundRect">
            <a:avLst>
              <a:gd name="adj" fmla="val 37396"/>
            </a:avLst>
          </a:prstGeom>
          <a:noFill/>
          <a:ln w="28575" cap="flat" cmpd="sng" algn="ctr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3" name="矩形: 圆角 32"/>
          <p:cNvSpPr/>
          <p:nvPr/>
        </p:nvSpPr>
        <p:spPr bwMode="auto">
          <a:xfrm>
            <a:off x="417983" y="5005277"/>
            <a:ext cx="2582116" cy="336092"/>
          </a:xfrm>
          <a:prstGeom prst="roundRect">
            <a:avLst>
              <a:gd name="adj" fmla="val 3739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331640" y="5271388"/>
            <a:ext cx="669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cs typeface="Times New Roman" panose="02020503050405090304" pitchFamily="18" charset="0"/>
              </a:rPr>
              <a:t>Tag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634950" y="5271388"/>
            <a:ext cx="9028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8000"/>
                </a:solidFill>
                <a:cs typeface="Times New Roman" panose="02020503050405090304" pitchFamily="18" charset="0"/>
              </a:rPr>
              <a:t>index</a:t>
            </a:r>
            <a:endParaRPr lang="zh-CN" altLang="en-US" sz="2400">
              <a:solidFill>
                <a:srgbClr val="008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546948" y="5271388"/>
            <a:ext cx="14221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9933FF"/>
                </a:solidFill>
              </a:rPr>
              <a:t>页内地址</a:t>
            </a:r>
            <a:endParaRPr lang="zh-CN" altLang="en-US" sz="2400">
              <a:solidFill>
                <a:srgbClr val="9933FF"/>
              </a:solidFill>
            </a:endParaRPr>
          </a:p>
        </p:txBody>
      </p:sp>
      <p:sp>
        <p:nvSpPr>
          <p:cNvPr id="32" name="矩形: 圆角 31"/>
          <p:cNvSpPr/>
          <p:nvPr/>
        </p:nvSpPr>
        <p:spPr bwMode="auto">
          <a:xfrm>
            <a:off x="3013163" y="5005277"/>
            <a:ext cx="152141" cy="336092"/>
          </a:xfrm>
          <a:prstGeom prst="roundRect">
            <a:avLst>
              <a:gd name="adj" fmla="val 37396"/>
            </a:avLst>
          </a:prstGeom>
          <a:noFill/>
          <a:ln w="38100" cap="flat" cmpd="sng" algn="ctr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590550" y="2564904"/>
            <a:ext cx="8422821" cy="369885"/>
          </a:xfrm>
          <a:prstGeom prst="rect">
            <a:avLst/>
          </a:prstGeom>
          <a:noFill/>
          <a:ln w="7620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231741" y="5606170"/>
            <a:ext cx="869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CC00CC"/>
                </a:solidFill>
                <a:cs typeface="Times New Roman" panose="02020503050405090304" pitchFamily="18" charset="0"/>
              </a:rPr>
              <a:t>001A</a:t>
            </a:r>
            <a:endParaRPr lang="zh-CN" altLang="en-US" sz="2400">
              <a:solidFill>
                <a:srgbClr val="CC00CC"/>
              </a:solidFill>
            </a:endParaRPr>
          </a:p>
        </p:txBody>
      </p:sp>
      <p:sp>
        <p:nvSpPr>
          <p:cNvPr id="39" name="矩形: 圆角 38"/>
          <p:cNvSpPr/>
          <p:nvPr/>
        </p:nvSpPr>
        <p:spPr bwMode="auto">
          <a:xfrm>
            <a:off x="2333625" y="5012791"/>
            <a:ext cx="662307" cy="336092"/>
          </a:xfrm>
          <a:prstGeom prst="roundRect">
            <a:avLst>
              <a:gd name="adj" fmla="val 26060"/>
            </a:avLst>
          </a:prstGeom>
          <a:noFill/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0" name="矩形: 圆角 39"/>
          <p:cNvSpPr/>
          <p:nvPr/>
        </p:nvSpPr>
        <p:spPr bwMode="auto">
          <a:xfrm>
            <a:off x="1655663" y="5012791"/>
            <a:ext cx="662307" cy="336092"/>
          </a:xfrm>
          <a:prstGeom prst="roundRect">
            <a:avLst>
              <a:gd name="adj" fmla="val 26060"/>
            </a:avLst>
          </a:prstGeom>
          <a:noFill/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1" name="矩形: 圆角 40"/>
          <p:cNvSpPr/>
          <p:nvPr/>
        </p:nvSpPr>
        <p:spPr bwMode="auto">
          <a:xfrm>
            <a:off x="967227" y="5012791"/>
            <a:ext cx="680598" cy="336092"/>
          </a:xfrm>
          <a:prstGeom prst="roundRect">
            <a:avLst>
              <a:gd name="adj" fmla="val 26060"/>
            </a:avLst>
          </a:prstGeom>
          <a:noFill/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2" name="矩形: 圆角 41"/>
          <p:cNvSpPr/>
          <p:nvPr/>
        </p:nvSpPr>
        <p:spPr bwMode="auto">
          <a:xfrm>
            <a:off x="425397" y="5012791"/>
            <a:ext cx="536173" cy="336092"/>
          </a:xfrm>
          <a:prstGeom prst="roundRect">
            <a:avLst>
              <a:gd name="adj" fmla="val 26060"/>
            </a:avLst>
          </a:prstGeom>
          <a:noFill/>
          <a:ln w="28575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3" name="矩形: 圆角 42"/>
          <p:cNvSpPr/>
          <p:nvPr/>
        </p:nvSpPr>
        <p:spPr bwMode="auto">
          <a:xfrm>
            <a:off x="1241289" y="5668956"/>
            <a:ext cx="842183" cy="336092"/>
          </a:xfrm>
          <a:prstGeom prst="roundRect">
            <a:avLst>
              <a:gd name="adj" fmla="val 44198"/>
            </a:avLst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4" name="矩形: 圆角 43"/>
          <p:cNvSpPr/>
          <p:nvPr/>
        </p:nvSpPr>
        <p:spPr bwMode="auto">
          <a:xfrm>
            <a:off x="5519149" y="2585317"/>
            <a:ext cx="734922" cy="336092"/>
          </a:xfrm>
          <a:prstGeom prst="roundRect">
            <a:avLst>
              <a:gd name="adj" fmla="val 44198"/>
            </a:avLst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5" name="椭圆 44"/>
          <p:cNvSpPr/>
          <p:nvPr/>
        </p:nvSpPr>
        <p:spPr bwMode="auto">
          <a:xfrm>
            <a:off x="5077010" y="2598069"/>
            <a:ext cx="307777" cy="307777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26358" y="2528870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CC0066"/>
                </a:solidFill>
                <a:cs typeface="Times New Roman" panose="02020503050405090304" pitchFamily="18" charset="0"/>
              </a:rPr>
              <a:t>87E</a:t>
            </a:r>
            <a:endParaRPr lang="zh-CN" altLang="en-US" sz="2400"/>
          </a:p>
        </p:txBody>
      </p:sp>
      <p:sp>
        <p:nvSpPr>
          <p:cNvPr id="47" name="任意多边形: 形状 46"/>
          <p:cNvSpPr/>
          <p:nvPr/>
        </p:nvSpPr>
        <p:spPr bwMode="auto">
          <a:xfrm>
            <a:off x="177371" y="2969623"/>
            <a:ext cx="2861920" cy="2046514"/>
          </a:xfrm>
          <a:custGeom>
            <a:avLst/>
            <a:gdLst>
              <a:gd name="connsiteX0" fmla="*/ 2861920 w 2861920"/>
              <a:gd name="connsiteY0" fmla="*/ 2046514 h 2046514"/>
              <a:gd name="connsiteX1" fmla="*/ 2426492 w 2861920"/>
              <a:gd name="connsiteY1" fmla="*/ 1811383 h 2046514"/>
              <a:gd name="connsiteX2" fmla="*/ 667360 w 2861920"/>
              <a:gd name="connsiteY2" fmla="*/ 1698171 h 2046514"/>
              <a:gd name="connsiteX3" fmla="*/ 5509 w 2861920"/>
              <a:gd name="connsiteY3" fmla="*/ 870857 h 2046514"/>
              <a:gd name="connsiteX4" fmla="*/ 406103 w 2861920"/>
              <a:gd name="connsiteY4" fmla="*/ 0 h 2046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1920" h="2046514">
                <a:moveTo>
                  <a:pt x="2861920" y="2046514"/>
                </a:moveTo>
                <a:cubicBezTo>
                  <a:pt x="2827086" y="1957977"/>
                  <a:pt x="2792252" y="1869440"/>
                  <a:pt x="2426492" y="1811383"/>
                </a:cubicBezTo>
                <a:cubicBezTo>
                  <a:pt x="2060732" y="1753326"/>
                  <a:pt x="1070857" y="1854925"/>
                  <a:pt x="667360" y="1698171"/>
                </a:cubicBezTo>
                <a:cubicBezTo>
                  <a:pt x="263863" y="1541417"/>
                  <a:pt x="49052" y="1153885"/>
                  <a:pt x="5509" y="870857"/>
                </a:cubicBezTo>
                <a:cubicBezTo>
                  <a:pt x="-38034" y="587829"/>
                  <a:pt x="184034" y="293914"/>
                  <a:pt x="406103" y="0"/>
                </a:cubicBezTo>
              </a:path>
            </a:pathLst>
          </a:cu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8" name="任意多边形: 形状 47"/>
          <p:cNvSpPr/>
          <p:nvPr/>
        </p:nvSpPr>
        <p:spPr bwMode="auto">
          <a:xfrm>
            <a:off x="2087592" y="2954574"/>
            <a:ext cx="3831248" cy="2892627"/>
          </a:xfrm>
          <a:custGeom>
            <a:avLst/>
            <a:gdLst>
              <a:gd name="connsiteX0" fmla="*/ 0 w 3606238"/>
              <a:gd name="connsiteY0" fmla="*/ 2329132 h 2336250"/>
              <a:gd name="connsiteX1" fmla="*/ 3010619 w 3606238"/>
              <a:gd name="connsiteY1" fmla="*/ 1975449 h 2336250"/>
              <a:gd name="connsiteX2" fmla="*/ 3605842 w 3606238"/>
              <a:gd name="connsiteY2" fmla="*/ 0 h 233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6238" h="2336250">
                <a:moveTo>
                  <a:pt x="0" y="2329132"/>
                </a:moveTo>
                <a:cubicBezTo>
                  <a:pt x="1204822" y="2346385"/>
                  <a:pt x="2409645" y="2363638"/>
                  <a:pt x="3010619" y="1975449"/>
                </a:cubicBezTo>
                <a:cubicBezTo>
                  <a:pt x="3611593" y="1587260"/>
                  <a:pt x="3608717" y="793630"/>
                  <a:pt x="3605842" y="0"/>
                </a:cubicBezTo>
              </a:path>
            </a:pathLst>
          </a:custGeom>
          <a:noFill/>
          <a:ln w="5715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triangle" w="med" len="lg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 rot="19703512">
            <a:off x="4436084" y="5402630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FF5050"/>
                </a:solidFill>
                <a:cs typeface="Times New Roman" panose="02020503050405090304" pitchFamily="18" charset="0"/>
              </a:rPr>
              <a:t>有效且相等</a:t>
            </a:r>
            <a:endParaRPr lang="zh-CN" altLang="en-US" sz="2400">
              <a:solidFill>
                <a:srgbClr val="FF5050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897806" y="3997372"/>
            <a:ext cx="715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cs typeface="Times New Roman" panose="02020503050405090304" pitchFamily="18" charset="0"/>
              </a:rPr>
              <a:t>6A8</a:t>
            </a:r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439698" y="3657714"/>
            <a:ext cx="423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cs typeface="Times New Roman" panose="02020503050405090304" pitchFamily="18" charset="0"/>
              </a:rPr>
              <a:t>H</a:t>
            </a:r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35224" y="3641267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C0066"/>
                </a:solidFill>
                <a:cs typeface="Times New Roman" panose="02020503050405090304" pitchFamily="18" charset="0"/>
              </a:rPr>
              <a:t>主存物理地址：</a:t>
            </a:r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3736186" y="569678"/>
            <a:ext cx="5251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 kern="0">
                <a:solidFill>
                  <a:srgbClr val="008000"/>
                </a:solidFill>
                <a:latin typeface="Times New Roman" panose="02020503050405090304"/>
                <a:ea typeface="宋体"/>
              </a:rPr>
              <a:t>虚拟</a:t>
            </a:r>
            <a:r>
              <a:rPr lang="en-US" altLang="zh-CN" sz="2400" kern="0">
                <a:solidFill>
                  <a:srgbClr val="008000"/>
                </a:solidFill>
                <a:latin typeface="宋体" pitchFamily="2" charset="-122"/>
                <a:ea typeface="宋体"/>
              </a:rPr>
              <a:t>(</a:t>
            </a:r>
            <a:r>
              <a:rPr lang="zh-CN" altLang="en-US" sz="2400" kern="0">
                <a:solidFill>
                  <a:srgbClr val="008000"/>
                </a:solidFill>
                <a:latin typeface="Times New Roman" panose="02020503050405090304"/>
                <a:ea typeface="宋体"/>
              </a:rPr>
              <a:t>逻辑</a:t>
            </a:r>
            <a:r>
              <a:rPr lang="en-US" altLang="zh-CN" sz="2400" kern="0">
                <a:solidFill>
                  <a:srgbClr val="008000"/>
                </a:solidFill>
                <a:latin typeface="宋体" pitchFamily="2" charset="-122"/>
                <a:ea typeface="宋体"/>
              </a:rPr>
              <a:t>)</a:t>
            </a:r>
            <a:r>
              <a:rPr lang="zh-CN" altLang="en-US" sz="2400" kern="0">
                <a:solidFill>
                  <a:srgbClr val="008000"/>
                </a:solidFill>
                <a:latin typeface="Times New Roman" panose="02020503050405090304"/>
                <a:ea typeface="宋体"/>
              </a:rPr>
              <a:t>地址空间</a:t>
            </a:r>
            <a:r>
              <a:rPr lang="zh-CN" altLang="en-US" sz="2400" kern="0">
                <a:solidFill>
                  <a:srgbClr val="000000"/>
                </a:solidFill>
                <a:latin typeface="Times New Roman" panose="02020503050405090304"/>
                <a:ea typeface="宋体"/>
              </a:rPr>
              <a:t>大小为</a:t>
            </a:r>
            <a:r>
              <a:rPr lang="en-US" altLang="zh-CN" sz="2400" kern="0">
                <a:solidFill>
                  <a:srgbClr val="CC0066"/>
                </a:solidFill>
                <a:latin typeface="Times New Roman" panose="02020503050405090304"/>
                <a:ea typeface="宋体"/>
              </a:rPr>
              <a:t>256MB</a:t>
            </a:r>
            <a:r>
              <a:rPr lang="zh-CN" altLang="en-US" sz="2400" kern="0">
                <a:solidFill>
                  <a:srgbClr val="000000"/>
                </a:solidFill>
                <a:latin typeface="Times New Roman" panose="02020503050405090304"/>
                <a:ea typeface="宋体"/>
              </a:rPr>
              <a:t>，</a:t>
            </a:r>
            <a:endParaRPr lang="zh-CN" altLang="en-US" sz="2400"/>
          </a:p>
        </p:txBody>
      </p:sp>
      <p:sp>
        <p:nvSpPr>
          <p:cNvPr id="63" name="矩形 62"/>
          <p:cNvSpPr/>
          <p:nvPr/>
        </p:nvSpPr>
        <p:spPr>
          <a:xfrm>
            <a:off x="6372200" y="1316502"/>
            <a:ext cx="23310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spcBef>
                <a:spcPts val="0"/>
              </a:spcBef>
            </a:pP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</a:rPr>
              <a:t>页面大小</a:t>
            </a:r>
            <a:r>
              <a:rPr lang="en-US" altLang="zh-CN" sz="2400">
                <a:solidFill>
                  <a:srgbClr val="9933FF"/>
                </a:solidFill>
              </a:rPr>
              <a:t>4KB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)</a:t>
            </a:r>
            <a:endParaRPr lang="zh-CN" altLang="en-US" sz="240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 bwMode="auto">
          <a:xfrm>
            <a:off x="6369156" y="5288098"/>
            <a:ext cx="2238361" cy="738664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/>
              <a:t>考虑 TLB 是</a:t>
            </a:r>
            <a:endParaRPr lang="en-US" altLang="zh-CN" sz="2400"/>
          </a:p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C00000"/>
                </a:solidFill>
              </a:rPr>
              <a:t>全相联</a:t>
            </a:r>
            <a:r>
              <a:rPr lang="zh-CN" altLang="en-US" sz="2400"/>
              <a:t>的情况？</a:t>
            </a:r>
            <a:endParaRPr lang="zh-CN" altLang="en-US" sz="2400"/>
          </a:p>
        </p:txBody>
      </p:sp>
      <p:sp>
        <p:nvSpPr>
          <p:cNvPr id="54" name="矩形 53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56" name="文本框 55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 bwMode="auto">
          <a:xfrm>
            <a:off x="8455513" y="6021288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4.81481E-6 L -0.00018 0.00024 C 0.00034 0.00556 0.00052 0.01227 0.00087 0.01806 C 0.00104 0.02038 0.00191 0.02246 0.00208 0.02477 C 0.00243 0.02778 0.00278 0.03149 0.00347 0.03496 C 0.00278 0.05741 0.0026 0.07963 0.00208 0.10186 C 0.00208 0.10371 0.00156 0.10602 0.00087 0.10811 C -0.00035 0.11181 -0.00504 0.11852 -0.00677 0.12061 C -0.00816 0.12223 -0.00972 0.12315 -0.01111 0.12477 C -0.01233 0.12616 -0.0132 0.12755 -0.01459 0.12871 C -0.01563 0.12987 -0.01702 0.12987 -0.01806 0.13102 C -0.02014 0.13334 -0.02188 0.13797 -0.02466 0.13936 L -0.03108 0.14352 C -0.03247 0.14422 -0.03351 0.14538 -0.03455 0.14584 C -0.03646 0.14653 -0.0382 0.147 -0.03993 0.14792 C -0.04167 0.14838 -0.04306 0.14954 -0.04462 0.15 C -0.05347 0.15116 -0.06233 0.15116 -0.07136 0.15209 C -0.08507 0.15857 -0.07066 0.15209 -0.1033 0.15602 C -0.10591 0.15625 -0.10851 0.15811 -0.11111 0.15834 C -0.11997 0.1595 -0.12865 0.1595 -0.13768 0.16042 L -0.16007 0.16227 C -0.20521 0.16482 -0.26025 0.16551 -0.30313 0.16667 C -0.31667 0.16737 -0.33038 0.16922 -0.34427 0.16922 C -0.36077 0.16922 -0.37743 0.16783 -0.3941 0.16667 C -0.39705 0.16621 -0.4 0.16459 -0.40295 0.16436 C -0.4099 0.16413 -0.41702 0.16436 -0.42379 0.16436 " pathEditMode="relative" rAng="0" ptsTypes="AAAAAAAAAAAAAAAAAAAAAAAAAA">
                                      <p:cBhvr>
                                        <p:cTn id="17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7" y="8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4.81481E-6 L -2.77778E-6 -0.0507 " pathEditMode="relative" rAng="0" ptsTypes="AA">
                                      <p:cBhvr>
                                        <p:cTn id="1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5" grpId="0" animBg="1"/>
      <p:bldP spid="27" grpId="0" animBg="1"/>
      <p:bldP spid="30" grpId="0" animBg="1"/>
      <p:bldP spid="31" grpId="0"/>
      <p:bldP spid="12" grpId="0" animBg="1"/>
      <p:bldP spid="33" grpId="0" animBg="1"/>
      <p:bldP spid="34" grpId="0"/>
      <p:bldP spid="35" grpId="0"/>
      <p:bldP spid="36" grpId="0"/>
      <p:bldP spid="32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6" grpId="1"/>
      <p:bldP spid="47" grpId="0" animBg="1"/>
      <p:bldP spid="48" grpId="0" animBg="1"/>
      <p:bldP spid="49" grpId="0"/>
      <p:bldP spid="51" grpId="0"/>
      <p:bldP spid="51" grpId="1"/>
      <p:bldP spid="53" grpId="0"/>
      <p:bldP spid="55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548680"/>
            <a:ext cx="8784976" cy="1296144"/>
          </a:xfrm>
        </p:spPr>
        <p:txBody>
          <a:bodyPr/>
          <a:lstStyle/>
          <a:p>
            <a:pPr marL="0" indent="0">
              <a:buNone/>
            </a:pPr>
            <a:endParaRPr lang="en-US" altLang="zh-CN" sz="2400"/>
          </a:p>
          <a:p>
            <a:pPr marL="0" indent="0">
              <a:buNone/>
            </a:pPr>
            <a:r>
              <a:rPr lang="en-US" altLang="zh-CN" sz="1600">
                <a:latin typeface="+mn-ea"/>
              </a:rPr>
              <a:t>  </a:t>
            </a:r>
            <a:r>
              <a:rPr lang="en-US" altLang="zh-CN" sz="2000">
                <a:latin typeface="+mn-ea"/>
              </a:rPr>
              <a:t>      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为该计算机配置一个</a:t>
            </a:r>
            <a:r>
              <a:rPr lang="zh-CN" altLang="en-US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全相联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TLB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共可存放</a:t>
            </a:r>
            <a:r>
              <a:rPr lang="en-US" altLang="zh-CN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8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个页表项，</a:t>
            </a:r>
            <a:br>
              <a:rPr lang="en-US" altLang="zh-CN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</a:br>
            <a:r>
              <a:rPr lang="en-US" altLang="zh-CN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</a:t>
            </a:r>
            <a:r>
              <a:rPr lang="zh-CN" altLang="en-US" sz="240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其当前内容（十六进制）如图所示。</a:t>
            </a:r>
            <a:endParaRPr lang="en-US" altLang="zh-CN" sz="2400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6381410"/>
            <a:ext cx="2133600" cy="324190"/>
          </a:xfrm>
        </p:spPr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9690" y="1844824"/>
            <a:ext cx="31165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CC0066"/>
                </a:solidFill>
                <a:cs typeface="Times New Roman" panose="02020503050405090304" pitchFamily="18" charset="0"/>
              </a:rPr>
              <a:t>虚拟地址：</a:t>
            </a:r>
            <a:r>
              <a:rPr lang="en-US" altLang="zh-CN" sz="2400">
                <a:solidFill>
                  <a:srgbClr val="0000FF"/>
                </a:solidFill>
                <a:cs typeface="Times New Roman" panose="02020503050405090304" pitchFamily="18" charset="0"/>
              </a:rPr>
              <a:t>00356A8H</a:t>
            </a: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883628" y="2718174"/>
            <a:ext cx="14750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>
                <a:solidFill>
                  <a:srgbClr val="0000FF"/>
                </a:solidFill>
              </a:rPr>
              <a:t>虚拟地址：</a:t>
            </a:r>
            <a:endParaRPr lang="zh-CN" altLang="en-US" sz="2000">
              <a:solidFill>
                <a:srgbClr val="0000FF"/>
              </a:solidFill>
            </a:endParaRPr>
          </a:p>
        </p:txBody>
      </p:sp>
      <p:graphicFrame>
        <p:nvGraphicFramePr>
          <p:cNvPr id="14" name="表格 9"/>
          <p:cNvGraphicFramePr>
            <a:graphicFrameLocks noGrp="1"/>
          </p:cNvGraphicFramePr>
          <p:nvPr/>
        </p:nvGraphicFramePr>
        <p:xfrm>
          <a:off x="771164" y="3119837"/>
          <a:ext cx="4087204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4255"/>
                <a:gridCol w="178294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Tag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页内地址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771164" y="3561029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3095417" y="3611059"/>
            <a:ext cx="0" cy="282217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4858368" y="3561029"/>
            <a:ext cx="0" cy="548271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771164" y="3723378"/>
            <a:ext cx="2311450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1618008" y="355458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16</a:t>
            </a:r>
            <a:r>
              <a:rPr lang="zh-CN" altLang="en-US" sz="2000">
                <a:solidFill>
                  <a:srgbClr val="FF0000"/>
                </a:solidFill>
              </a:rPr>
              <a:t>位</a:t>
            </a:r>
            <a:endParaRPr lang="zh-CN" altLang="en-US" sz="2000">
              <a:solidFill>
                <a:srgbClr val="FF0000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 bwMode="auto">
          <a:xfrm flipV="1">
            <a:off x="3095416" y="3723378"/>
            <a:ext cx="1762952" cy="2332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5" name="矩形 24"/>
          <p:cNvSpPr/>
          <p:nvPr/>
        </p:nvSpPr>
        <p:spPr>
          <a:xfrm>
            <a:off x="3651483" y="3554585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12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 bwMode="auto">
          <a:xfrm>
            <a:off x="771163" y="4053600"/>
            <a:ext cx="4087205" cy="0"/>
          </a:xfrm>
          <a:prstGeom prst="line">
            <a:avLst/>
          </a:prstGeom>
          <a:solidFill>
            <a:srgbClr val="FFFF99"/>
          </a:solidFill>
          <a:ln w="28575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7" name="矩形 26"/>
          <p:cNvSpPr/>
          <p:nvPr/>
        </p:nvSpPr>
        <p:spPr>
          <a:xfrm>
            <a:off x="2422643" y="3913311"/>
            <a:ext cx="659971" cy="307777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r>
              <a:rPr lang="en-US" altLang="zh-CN" sz="2000">
                <a:solidFill>
                  <a:srgbClr val="CC0099"/>
                </a:solidFill>
              </a:rPr>
              <a:t>28</a:t>
            </a:r>
            <a:r>
              <a:rPr lang="zh-CN" altLang="en-US" sz="2000">
                <a:solidFill>
                  <a:srgbClr val="CC0099"/>
                </a:solidFill>
              </a:rPr>
              <a:t>位</a:t>
            </a:r>
            <a:endParaRPr lang="zh-CN" altLang="en-US" sz="2000">
              <a:solidFill>
                <a:srgbClr val="CC0099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7983" y="5373419"/>
            <a:ext cx="4921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00FF"/>
                </a:solidFill>
                <a:cs typeface="Times New Roman" panose="02020503050405090304" pitchFamily="18" charset="0"/>
              </a:rPr>
              <a:t>0000 0000 0011 0101 0110 1010 1000</a:t>
            </a:r>
            <a:endParaRPr lang="zh-CN" altLang="en-US" sz="2400"/>
          </a:p>
        </p:txBody>
      </p:sp>
      <p:sp>
        <p:nvSpPr>
          <p:cNvPr id="59" name="矩形 58"/>
          <p:cNvSpPr/>
          <p:nvPr/>
        </p:nvSpPr>
        <p:spPr>
          <a:xfrm>
            <a:off x="3736186" y="569678"/>
            <a:ext cx="52513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 kern="0">
                <a:solidFill>
                  <a:srgbClr val="008000"/>
                </a:solidFill>
                <a:latin typeface="Times New Roman" panose="02020503050405090304"/>
                <a:ea typeface="宋体"/>
              </a:rPr>
              <a:t>虚拟</a:t>
            </a:r>
            <a:r>
              <a:rPr lang="en-US" altLang="zh-CN" sz="2400" kern="0">
                <a:solidFill>
                  <a:srgbClr val="008000"/>
                </a:solidFill>
                <a:latin typeface="宋体" pitchFamily="2" charset="-122"/>
                <a:ea typeface="宋体"/>
              </a:rPr>
              <a:t>(</a:t>
            </a:r>
            <a:r>
              <a:rPr lang="zh-CN" altLang="en-US" sz="2400" kern="0">
                <a:solidFill>
                  <a:srgbClr val="008000"/>
                </a:solidFill>
                <a:latin typeface="Times New Roman" panose="02020503050405090304"/>
                <a:ea typeface="宋体"/>
              </a:rPr>
              <a:t>逻辑</a:t>
            </a:r>
            <a:r>
              <a:rPr lang="en-US" altLang="zh-CN" sz="2400" kern="0">
                <a:solidFill>
                  <a:srgbClr val="008000"/>
                </a:solidFill>
                <a:latin typeface="宋体" pitchFamily="2" charset="-122"/>
                <a:ea typeface="宋体"/>
              </a:rPr>
              <a:t>)</a:t>
            </a:r>
            <a:r>
              <a:rPr lang="zh-CN" altLang="en-US" sz="2400" kern="0">
                <a:solidFill>
                  <a:srgbClr val="008000"/>
                </a:solidFill>
                <a:latin typeface="Times New Roman" panose="02020503050405090304"/>
                <a:ea typeface="宋体"/>
              </a:rPr>
              <a:t>地址空间</a:t>
            </a:r>
            <a:r>
              <a:rPr lang="zh-CN" altLang="en-US" sz="2400" kern="0">
                <a:solidFill>
                  <a:srgbClr val="000000"/>
                </a:solidFill>
                <a:latin typeface="Times New Roman" panose="02020503050405090304"/>
                <a:ea typeface="宋体"/>
              </a:rPr>
              <a:t>大小为</a:t>
            </a:r>
            <a:r>
              <a:rPr lang="en-US" altLang="zh-CN" sz="2400" kern="0">
                <a:solidFill>
                  <a:srgbClr val="CC0066"/>
                </a:solidFill>
                <a:latin typeface="Times New Roman" panose="02020503050405090304"/>
                <a:ea typeface="宋体"/>
              </a:rPr>
              <a:t>256MB</a:t>
            </a:r>
            <a:r>
              <a:rPr lang="zh-CN" altLang="en-US" sz="2400" kern="0">
                <a:solidFill>
                  <a:srgbClr val="000000"/>
                </a:solidFill>
                <a:latin typeface="Times New Roman" panose="02020503050405090304"/>
                <a:ea typeface="宋体"/>
              </a:rPr>
              <a:t>，</a:t>
            </a:r>
            <a:endParaRPr lang="zh-CN" altLang="en-US" sz="2400"/>
          </a:p>
        </p:txBody>
      </p:sp>
      <p:sp>
        <p:nvSpPr>
          <p:cNvPr id="63" name="矩形 62"/>
          <p:cNvSpPr/>
          <p:nvPr/>
        </p:nvSpPr>
        <p:spPr>
          <a:xfrm>
            <a:off x="6372200" y="1316502"/>
            <a:ext cx="23310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>
              <a:spcBef>
                <a:spcPts val="0"/>
              </a:spcBef>
            </a:pP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</a:rPr>
              <a:t>页面大小</a:t>
            </a:r>
            <a:r>
              <a:rPr lang="en-US" altLang="zh-CN" sz="2400">
                <a:solidFill>
                  <a:srgbClr val="9933FF"/>
                </a:solidFill>
              </a:rPr>
              <a:t>4KB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)</a:t>
            </a:r>
            <a:endParaRPr lang="zh-CN" altLang="en-US" sz="2400">
              <a:solidFill>
                <a:srgbClr val="000000"/>
              </a:solidFill>
              <a:latin typeface="宋体" pitchFamily="2" charset="-122"/>
            </a:endParaRPr>
          </a:p>
        </p:txBody>
      </p:sp>
      <p:graphicFrame>
        <p:nvGraphicFramePr>
          <p:cNvPr id="6" name="表格 6"/>
          <p:cNvGraphicFramePr>
            <a:graphicFrameLocks noGrp="1"/>
          </p:cNvGraphicFramePr>
          <p:nvPr/>
        </p:nvGraphicFramePr>
        <p:xfrm>
          <a:off x="5965274" y="2168873"/>
          <a:ext cx="2666236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0191"/>
                <a:gridCol w="1008112"/>
                <a:gridCol w="877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latin typeface="+mn-lt"/>
                        </a:rPr>
                        <a:t>有效位</a:t>
                      </a:r>
                      <a:endParaRPr lang="zh-CN" altLang="en-US" sz="2000" b="1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latin typeface="+mn-lt"/>
                        </a:rPr>
                        <a:t>标记</a:t>
                      </a:r>
                      <a:endParaRPr lang="zh-CN" altLang="en-US" sz="2000" b="1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latin typeface="+mn-lt"/>
                        </a:rPr>
                        <a:t>实页号</a:t>
                      </a:r>
                      <a:endParaRPr lang="zh-CN" altLang="en-US" sz="2000" b="1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1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0003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287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1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0034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86D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1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0035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87E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1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0006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235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</a:rPr>
                        <a:t>0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</a:rPr>
                        <a:t>－</a:t>
                      </a:r>
                      <a:endParaRPr lang="zh-CN" altLang="en-US" sz="2400" b="1">
                        <a:latin typeface="+mn-lt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" name="矩形: 圆角 53"/>
          <p:cNvSpPr/>
          <p:nvPr/>
        </p:nvSpPr>
        <p:spPr bwMode="auto">
          <a:xfrm>
            <a:off x="3191433" y="5437528"/>
            <a:ext cx="2059836" cy="336092"/>
          </a:xfrm>
          <a:prstGeom prst="roundRect">
            <a:avLst>
              <a:gd name="adj" fmla="val 37396"/>
            </a:avLst>
          </a:prstGeom>
          <a:noFill/>
          <a:ln w="28575" cap="flat" cmpd="sng" algn="ctr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6" name="矩形: 圆角 55"/>
          <p:cNvSpPr/>
          <p:nvPr/>
        </p:nvSpPr>
        <p:spPr bwMode="auto">
          <a:xfrm>
            <a:off x="417983" y="5437528"/>
            <a:ext cx="2758896" cy="336092"/>
          </a:xfrm>
          <a:prstGeom prst="roundRect">
            <a:avLst>
              <a:gd name="adj" fmla="val 3739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515912" y="5703639"/>
            <a:ext cx="669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cs typeface="Times New Roman" panose="02020503050405090304" pitchFamily="18" charset="0"/>
              </a:rPr>
              <a:t>Tag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546948" y="5703639"/>
            <a:ext cx="14221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9933FF"/>
                </a:solidFill>
              </a:rPr>
              <a:t>页内地址</a:t>
            </a:r>
            <a:endParaRPr lang="zh-CN" altLang="en-US" sz="2400">
              <a:solidFill>
                <a:srgbClr val="9933FF"/>
              </a:solidFill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1425561" y="4941168"/>
            <a:ext cx="914191" cy="461665"/>
            <a:chOff x="1425561" y="4322455"/>
            <a:chExt cx="914191" cy="461665"/>
          </a:xfrm>
        </p:grpSpPr>
        <p:sp>
          <p:nvSpPr>
            <p:cNvPr id="60" name="矩形 59"/>
            <p:cNvSpPr/>
            <p:nvPr/>
          </p:nvSpPr>
          <p:spPr>
            <a:xfrm>
              <a:off x="1467525" y="4322455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>
                  <a:solidFill>
                    <a:srgbClr val="CC00CC"/>
                  </a:solidFill>
                  <a:cs typeface="Times New Roman" panose="02020503050405090304" pitchFamily="18" charset="0"/>
                </a:rPr>
                <a:t>0035</a:t>
              </a:r>
              <a:endParaRPr lang="zh-CN" altLang="en-US" sz="2400">
                <a:solidFill>
                  <a:srgbClr val="CC00CC"/>
                </a:solidFill>
              </a:endParaRPr>
            </a:p>
          </p:txBody>
        </p:sp>
        <p:sp>
          <p:nvSpPr>
            <p:cNvPr id="61" name="矩形: 圆角 60"/>
            <p:cNvSpPr/>
            <p:nvPr/>
          </p:nvSpPr>
          <p:spPr bwMode="auto">
            <a:xfrm>
              <a:off x="1425561" y="4385241"/>
              <a:ext cx="914191" cy="336092"/>
            </a:xfrm>
            <a:prstGeom prst="roundRect">
              <a:avLst>
                <a:gd name="adj" fmla="val 44198"/>
              </a:avLst>
            </a:prstGeom>
            <a:noFill/>
            <a:ln w="76200" cap="flat" cmpd="sng" algn="ctr">
              <a:solidFill>
                <a:srgbClr val="FF00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</p:grpSp>
      <p:sp>
        <p:nvSpPr>
          <p:cNvPr id="9" name="矩形 8"/>
          <p:cNvSpPr/>
          <p:nvPr/>
        </p:nvSpPr>
        <p:spPr bwMode="auto">
          <a:xfrm>
            <a:off x="6799278" y="2581719"/>
            <a:ext cx="919162" cy="2863708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3736186" y="4533179"/>
            <a:ext cx="1422185" cy="461665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并行比较</a:t>
            </a:r>
            <a:endParaRPr lang="zh-CN" altLang="en-US" sz="2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20"/>
          <p:cNvCxnSpPr/>
          <p:nvPr/>
        </p:nvCxnSpPr>
        <p:spPr bwMode="auto">
          <a:xfrm flipH="1">
            <a:off x="5158371" y="4760973"/>
            <a:ext cx="1628394" cy="0"/>
          </a:xfrm>
          <a:prstGeom prst="straightConnector1">
            <a:avLst/>
          </a:prstGeom>
          <a:solidFill>
            <a:schemeClr val="accent1"/>
          </a:solidFill>
          <a:ln w="10160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4" name="直接箭头连接符 63"/>
          <p:cNvCxnSpPr/>
          <p:nvPr/>
        </p:nvCxnSpPr>
        <p:spPr bwMode="auto">
          <a:xfrm>
            <a:off x="2339752" y="4760973"/>
            <a:ext cx="1385572" cy="0"/>
          </a:xfrm>
          <a:prstGeom prst="straightConnector1">
            <a:avLst/>
          </a:prstGeom>
          <a:solidFill>
            <a:schemeClr val="accent1"/>
          </a:solidFill>
          <a:ln w="101600" cap="flat" cmpd="sng" algn="ctr">
            <a:solidFill>
              <a:srgbClr val="FF0000">
                <a:alpha val="50196"/>
              </a:srgb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8" name="爆炸形: 14 pt  67"/>
          <p:cNvSpPr/>
          <p:nvPr/>
        </p:nvSpPr>
        <p:spPr bwMode="auto">
          <a:xfrm rot="828040">
            <a:off x="6674428" y="4253162"/>
            <a:ext cx="1309072" cy="642098"/>
          </a:xfrm>
          <a:prstGeom prst="irregularSeal2">
            <a:avLst/>
          </a:prstGeom>
          <a:noFill/>
          <a:ln w="38100" cap="flat" cmpd="sng" algn="ctr">
            <a:solidFill>
              <a:srgbClr val="FF0000">
                <a:alpha val="69804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7846587" y="4351715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CC0066"/>
                </a:solidFill>
                <a:cs typeface="Times New Roman" panose="02020503050405090304" pitchFamily="18" charset="0"/>
              </a:rPr>
              <a:t>87E</a:t>
            </a:r>
            <a:endParaRPr lang="zh-CN" altLang="en-US" sz="2400"/>
          </a:p>
        </p:txBody>
      </p:sp>
      <p:sp>
        <p:nvSpPr>
          <p:cNvPr id="70" name="矩形 69"/>
          <p:cNvSpPr/>
          <p:nvPr/>
        </p:nvSpPr>
        <p:spPr>
          <a:xfrm>
            <a:off x="2903638" y="1849018"/>
            <a:ext cx="715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  <a:cs typeface="Times New Roman" panose="02020503050405090304" pitchFamily="18" charset="0"/>
              </a:rPr>
              <a:t>6A8</a:t>
            </a:r>
            <a:endParaRPr lang="zh-CN" altLang="en-US"/>
          </a:p>
        </p:txBody>
      </p:sp>
      <p:sp>
        <p:nvSpPr>
          <p:cNvPr id="71" name="矩形 70"/>
          <p:cNvSpPr/>
          <p:nvPr/>
        </p:nvSpPr>
        <p:spPr>
          <a:xfrm>
            <a:off x="3445530" y="2227000"/>
            <a:ext cx="423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cs typeface="Times New Roman" panose="02020503050405090304" pitchFamily="18" charset="0"/>
              </a:rPr>
              <a:t>H</a:t>
            </a:r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41056" y="2210553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C0066"/>
                </a:solidFill>
                <a:cs typeface="Times New Roman" panose="02020503050405090304" pitchFamily="18" charset="0"/>
              </a:rPr>
              <a:t>主存物理地址：</a:t>
            </a:r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5305082" y="44449"/>
            <a:ext cx="38282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2. Cache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地址映射举例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 bwMode="auto">
          <a:xfrm>
            <a:off x="3360866" y="43793"/>
            <a:ext cx="187583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 bwMode="auto">
          <a:xfrm>
            <a:off x="8455513" y="6021288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2.77778E-6 -0.05973 " pathEditMode="relative" rAng="0" ptsTypes="AA">
                                      <p:cBhvr>
                                        <p:cTn id="10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4.44444E-6 L -0.00035 -0.0007 C 0.00035 -0.01088 0.0007 -0.02338 0.00104 -0.03426 C 0.00139 -0.03843 0.0026 -0.04237 0.00278 -0.04676 C 0.0033 -0.05255 0.00382 -0.05926 0.00521 -0.06598 C 0.00382 -0.10764 0.00347 -0.14931 0.00278 -0.19121 C 0.00278 -0.19445 0.00208 -0.19885 0.00104 -0.20278 C -0.00052 -0.20996 -0.00712 -0.22246 -0.00955 -0.22639 C -0.01146 -0.22917 -0.01371 -0.23079 -0.01562 -0.23403 C -0.01736 -0.23658 -0.01858 -0.23912 -0.02049 -0.24144 C -0.02205 -0.24352 -0.02396 -0.24352 -0.02535 -0.24584 C -0.0283 -0.25 -0.03073 -0.2588 -0.03472 -0.26135 L -0.04375 -0.26899 C -0.04566 -0.27037 -0.04705 -0.27246 -0.04861 -0.27338 C -0.05121 -0.27477 -0.05365 -0.2757 -0.05642 -0.27732 C -0.05885 -0.27825 -0.06076 -0.28033 -0.06302 -0.28125 C -0.07535 -0.28334 -0.08785 -0.28334 -0.10052 -0.28496 C -0.12014 -0.29723 -0.09948 -0.28496 -0.14566 -0.2926 C -0.1493 -0.29283 -0.15295 -0.29653 -0.1566 -0.29676 C -0.1691 -0.29908 -0.1816 -0.29908 -0.19427 -0.3007 L -0.22552 -0.30417 C -0.28924 -0.30903 -0.36719 -0.31019 -0.4276 -0.3125 C -0.44653 -0.31366 -0.4658 -0.3169 -0.48559 -0.3169 C -0.50868 -0.3169 -0.53212 -0.31459 -0.5559 -0.3125 C -0.56007 -0.31158 -0.56406 -0.30857 -0.56823 -0.30811 C -0.57795 -0.30764 -0.58802 -0.30811 -0.5974 -0.30811 " pathEditMode="relative" rAng="0" ptsTypes="AAAAAAAAAAAAAAAAAAAAAAAAAA">
                                      <p:cBhvr>
                                        <p:cTn id="13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83" y="-1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7.40741E-7 L 2.77778E-6 0.05509 " pathEditMode="relative" rAng="0" ptsTypes="AA">
                                      <p:cBhvr>
                                        <p:cTn id="14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 animBg="1"/>
      <p:bldP spid="25" grpId="0" animBg="1"/>
      <p:bldP spid="27" grpId="0" animBg="1"/>
      <p:bldP spid="31" grpId="0"/>
      <p:bldP spid="54" grpId="0" animBg="1"/>
      <p:bldP spid="56" grpId="0" animBg="1"/>
      <p:bldP spid="57" grpId="0"/>
      <p:bldP spid="58" grpId="0"/>
      <p:bldP spid="9" grpId="0" animBg="1"/>
      <p:bldP spid="62" grpId="0" animBg="1"/>
      <p:bldP spid="68" grpId="0" animBg="1"/>
      <p:bldP spid="69" grpId="0"/>
      <p:bldP spid="69" grpId="1"/>
      <p:bldP spid="70" grpId="0"/>
      <p:bldP spid="70" grpId="1"/>
      <p:bldP spid="71" grpId="0"/>
      <p:bldP spid="7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24744"/>
            <a:ext cx="8568952" cy="5256584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zh-CN" altLang="en-US"/>
              <a:t>全相联、组相联：</a:t>
            </a:r>
            <a:r>
              <a:rPr lang="en-US" altLang="zh-CN"/>
              <a:t>Cache</a:t>
            </a:r>
            <a:r>
              <a:rPr lang="zh-CN" altLang="en-US"/>
              <a:t>替换算法</a:t>
            </a:r>
            <a:endParaRPr lang="en-US" altLang="zh-CN"/>
          </a:p>
          <a:p>
            <a:pPr marL="263525" indent="-271780">
              <a:spcBef>
                <a:spcPts val="1200"/>
              </a:spcBef>
            </a:pPr>
            <a:r>
              <a:rPr lang="zh-CN" altLang="en-US">
                <a:solidFill>
                  <a:srgbClr val="0000FF"/>
                </a:solidFill>
              </a:rPr>
              <a:t>随机</a:t>
            </a:r>
            <a:r>
              <a:rPr lang="zh-CN" altLang="en-US"/>
              <a:t>替换算法</a:t>
            </a:r>
            <a:br>
              <a:rPr lang="en-US" altLang="zh-CN"/>
            </a:br>
            <a:r>
              <a:rPr lang="zh-CN" altLang="en-US"/>
              <a:t>（</a:t>
            </a:r>
            <a:r>
              <a:rPr lang="en-US" altLang="zh-CN">
                <a:solidFill>
                  <a:srgbClr val="FF0066"/>
                </a:solidFill>
              </a:rPr>
              <a:t>RAND</a:t>
            </a:r>
            <a:r>
              <a:rPr lang="en-US" altLang="zh-CN"/>
              <a:t>, </a:t>
            </a:r>
            <a:r>
              <a:rPr lang="en-US" altLang="zh-CN" i="1">
                <a:solidFill>
                  <a:srgbClr val="FF0066"/>
                </a:solidFill>
              </a:rPr>
              <a:t>Rand</a:t>
            </a:r>
            <a:r>
              <a:rPr lang="en-US" altLang="zh-CN" i="1"/>
              <a:t>om Algorithm</a:t>
            </a:r>
            <a:r>
              <a:rPr lang="zh-CN" altLang="en-US"/>
              <a:t>）</a:t>
            </a:r>
            <a:endParaRPr lang="zh-CN" altLang="en-US"/>
          </a:p>
          <a:p>
            <a:pPr marL="263525" indent="-271780">
              <a:spcBef>
                <a:spcPts val="1200"/>
              </a:spcBef>
            </a:pPr>
            <a:r>
              <a:rPr lang="zh-CN" altLang="en-US">
                <a:solidFill>
                  <a:srgbClr val="0000FF"/>
                </a:solidFill>
              </a:rPr>
              <a:t>先进先出</a:t>
            </a:r>
            <a:r>
              <a:rPr lang="zh-CN" altLang="en-US"/>
              <a:t>替换算法</a:t>
            </a:r>
            <a:r>
              <a:rPr lang="zh-CN" altLang="en-US">
                <a:solidFill>
                  <a:srgbClr val="008000"/>
                </a:solidFill>
              </a:rPr>
              <a:t>（需要历史信息）</a:t>
            </a:r>
            <a:br>
              <a:rPr lang="en-US" altLang="zh-CN">
                <a:solidFill>
                  <a:srgbClr val="008000"/>
                </a:solidFill>
              </a:rPr>
            </a:br>
            <a:r>
              <a:rPr lang="zh-CN" altLang="en-US"/>
              <a:t> </a:t>
            </a:r>
            <a:r>
              <a:rPr lang="en-US" altLang="zh-CN">
                <a:latin typeface="宋体" pitchFamily="2" charset="-122"/>
              </a:rPr>
              <a:t>(</a:t>
            </a:r>
            <a:r>
              <a:rPr lang="en-US" altLang="zh-CN">
                <a:solidFill>
                  <a:srgbClr val="FF0066"/>
                </a:solidFill>
              </a:rPr>
              <a:t>FIFO</a:t>
            </a:r>
            <a:r>
              <a:rPr lang="en-US" altLang="zh-CN"/>
              <a:t>, </a:t>
            </a:r>
            <a:r>
              <a:rPr lang="en-US" altLang="zh-CN" i="1">
                <a:solidFill>
                  <a:srgbClr val="FF0066"/>
                </a:solidFill>
              </a:rPr>
              <a:t>F</a:t>
            </a:r>
            <a:r>
              <a:rPr lang="en-US" altLang="zh-CN" i="1"/>
              <a:t>irst-</a:t>
            </a:r>
            <a:r>
              <a:rPr lang="en-US" altLang="zh-CN" i="1">
                <a:solidFill>
                  <a:srgbClr val="FF0066"/>
                </a:solidFill>
              </a:rPr>
              <a:t>i</a:t>
            </a:r>
            <a:r>
              <a:rPr lang="en-US" altLang="zh-CN" i="1"/>
              <a:t>n </a:t>
            </a:r>
            <a:r>
              <a:rPr lang="en-US" altLang="zh-CN" i="1">
                <a:solidFill>
                  <a:srgbClr val="FF0066"/>
                </a:solidFill>
              </a:rPr>
              <a:t>F</a:t>
            </a:r>
            <a:r>
              <a:rPr lang="en-US" altLang="zh-CN" i="1"/>
              <a:t>irst-</a:t>
            </a:r>
            <a:r>
              <a:rPr lang="en-US" altLang="zh-CN" i="1">
                <a:solidFill>
                  <a:srgbClr val="FF0066"/>
                </a:solidFill>
              </a:rPr>
              <a:t>o</a:t>
            </a:r>
            <a:r>
              <a:rPr lang="en-US" altLang="zh-CN" i="1"/>
              <a:t>ut Algorithm</a:t>
            </a:r>
            <a:r>
              <a:rPr lang="en-US" altLang="zh-CN">
                <a:latin typeface="宋体" pitchFamily="2" charset="-122"/>
              </a:rPr>
              <a:t>)</a:t>
            </a:r>
            <a:endParaRPr lang="en-US" altLang="zh-CN">
              <a:latin typeface="宋体" pitchFamily="2" charset="-122"/>
            </a:endParaRPr>
          </a:p>
          <a:p>
            <a:pPr marL="263525" indent="-271780">
              <a:spcBef>
                <a:spcPts val="1200"/>
              </a:spcBef>
            </a:pPr>
            <a:r>
              <a:rPr lang="zh-CN" altLang="en-US">
                <a:solidFill>
                  <a:srgbClr val="0000FF"/>
                </a:solidFill>
              </a:rPr>
              <a:t>近期最少使用</a:t>
            </a:r>
            <a:r>
              <a:rPr lang="en-US" altLang="zh-CN">
                <a:latin typeface="+mn-ea"/>
              </a:rPr>
              <a:t>(</a:t>
            </a:r>
            <a:r>
              <a:rPr lang="zh-CN" altLang="en-US">
                <a:solidFill>
                  <a:srgbClr val="FF0000"/>
                </a:solidFill>
              </a:rPr>
              <a:t>最久未用</a:t>
            </a:r>
            <a:r>
              <a:rPr lang="en-US" altLang="zh-CN">
                <a:latin typeface="+mn-ea"/>
              </a:rPr>
              <a:t>)</a:t>
            </a:r>
            <a:r>
              <a:rPr lang="zh-CN" altLang="en-US"/>
              <a:t>替换算法</a:t>
            </a:r>
            <a:r>
              <a:rPr lang="zh-CN" altLang="en-US">
                <a:solidFill>
                  <a:srgbClr val="008000"/>
                </a:solidFill>
              </a:rPr>
              <a:t>（需要历史信息）</a:t>
            </a:r>
            <a:br>
              <a:rPr lang="en-US" altLang="zh-CN">
                <a:solidFill>
                  <a:srgbClr val="008000"/>
                </a:solidFill>
              </a:rPr>
            </a:br>
            <a:r>
              <a:rPr lang="zh-CN" altLang="en-US"/>
              <a:t>（</a:t>
            </a:r>
            <a:r>
              <a:rPr lang="en-US" altLang="zh-CN">
                <a:solidFill>
                  <a:srgbClr val="FF0066"/>
                </a:solidFill>
              </a:rPr>
              <a:t>LRU</a:t>
            </a:r>
            <a:r>
              <a:rPr lang="en-US" altLang="zh-CN"/>
              <a:t>, </a:t>
            </a:r>
            <a:r>
              <a:rPr lang="en-US" altLang="zh-CN" i="1">
                <a:solidFill>
                  <a:srgbClr val="FF0066"/>
                </a:solidFill>
              </a:rPr>
              <a:t>L</a:t>
            </a:r>
            <a:r>
              <a:rPr lang="en-US" altLang="zh-CN" i="1"/>
              <a:t>east </a:t>
            </a:r>
            <a:r>
              <a:rPr lang="en-US" altLang="zh-CN" i="1">
                <a:solidFill>
                  <a:srgbClr val="FF0066"/>
                </a:solidFill>
              </a:rPr>
              <a:t>R</a:t>
            </a:r>
            <a:r>
              <a:rPr lang="en-US" altLang="zh-CN" i="1"/>
              <a:t>ecently </a:t>
            </a:r>
            <a:r>
              <a:rPr lang="en-US" altLang="zh-CN" i="1">
                <a:solidFill>
                  <a:srgbClr val="FF0066"/>
                </a:solidFill>
              </a:rPr>
              <a:t>U</a:t>
            </a:r>
            <a:r>
              <a:rPr lang="en-US" altLang="zh-CN" i="1"/>
              <a:t>sed Algorithm</a:t>
            </a:r>
            <a:r>
              <a:rPr lang="zh-CN" altLang="en-US"/>
              <a:t>）</a:t>
            </a:r>
            <a:endParaRPr lang="en-US" altLang="zh-CN"/>
          </a:p>
          <a:p>
            <a:pPr marL="263525" indent="-271780">
              <a:spcBef>
                <a:spcPts val="1200"/>
              </a:spcBef>
            </a:pPr>
            <a:r>
              <a:rPr lang="zh-CN" altLang="en-US">
                <a:solidFill>
                  <a:srgbClr val="0000FF"/>
                </a:solidFill>
              </a:rPr>
              <a:t>最佳</a:t>
            </a:r>
            <a:r>
              <a:rPr lang="zh-CN" altLang="en-US"/>
              <a:t>替换算法</a:t>
            </a:r>
            <a:r>
              <a:rPr lang="zh-CN" altLang="en-US">
                <a:solidFill>
                  <a:srgbClr val="008000"/>
                </a:solidFill>
              </a:rPr>
              <a:t>（需要未来信息）</a:t>
            </a:r>
            <a:br>
              <a:rPr lang="en-US" altLang="zh-CN"/>
            </a:br>
            <a:r>
              <a:rPr lang="zh-CN" altLang="en-US"/>
              <a:t>（</a:t>
            </a:r>
            <a:r>
              <a:rPr lang="en-US" altLang="zh-CN">
                <a:solidFill>
                  <a:srgbClr val="FF0066"/>
                </a:solidFill>
              </a:rPr>
              <a:t>OPT</a:t>
            </a:r>
            <a:r>
              <a:rPr lang="en-US" altLang="zh-CN" sz="2800"/>
              <a:t>, </a:t>
            </a:r>
            <a:r>
              <a:rPr lang="en-US" altLang="zh-CN" sz="2800" i="1">
                <a:solidFill>
                  <a:srgbClr val="FF0066"/>
                </a:solidFill>
              </a:rPr>
              <a:t>Opt</a:t>
            </a:r>
            <a:r>
              <a:rPr lang="en-US" altLang="zh-CN" sz="2800" i="1"/>
              <a:t>imal replacement algorithm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92215" y="44449"/>
            <a:ext cx="20265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>
                <a:solidFill>
                  <a:srgbClr val="CC0066"/>
                </a:solidFill>
                <a:latin typeface="Arial" panose="020B0604020202090204"/>
                <a:ea typeface="黑体" pitchFamily="2" charset="-122"/>
              </a:rPr>
              <a:t>3. </a:t>
            </a:r>
            <a:r>
              <a:rPr lang="zh-CN" altLang="en-US">
                <a:solidFill>
                  <a:srgbClr val="CC0066"/>
                </a:solidFill>
                <a:latin typeface="Arial" panose="020B0604020202090204"/>
                <a:ea typeface="黑体" pitchFamily="2" charset="-122"/>
              </a:rPr>
              <a:t>替换算法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Arial" panose="020B0604020202090204"/>
              <a:ea typeface="黑体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3817709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569515" y="44449"/>
            <a:ext cx="31069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/>
                <a:ea typeface="黑体"/>
                <a:cs typeface="+mj-cs"/>
              </a:rPr>
              <a:t>4.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/>
                <a:ea typeface="黑体"/>
                <a:cs typeface="+mj-cs"/>
              </a:rPr>
              <a:t>多级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/>
                <a:ea typeface="黑体"/>
                <a:cs typeface="+mj-cs"/>
              </a:rPr>
              <a:t>Cache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/>
                <a:ea typeface="黑体"/>
                <a:cs typeface="+mj-cs"/>
              </a:rPr>
              <a:t>结构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Arial" panose="020B0604020202090204"/>
              <a:ea typeface="黑体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23850" y="1341239"/>
            <a:ext cx="8640763" cy="4464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7020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823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78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以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两级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Cache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为例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panose="020B0604020202090204" pitchFamily="34" charset="0"/>
              <a:ea typeface="黑体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两级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Cache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的总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未命中率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总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缺失率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：</a:t>
            </a:r>
            <a:b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总缺失率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m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缺失率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L1 Cache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×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缺失率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L2 Cache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4.7】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10000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次访存，</a:t>
            </a:r>
            <a:b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L1 Cache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缺失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400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次，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L2 Cache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缺失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4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次。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719455" marR="0" lvl="1" indent="-3702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缺失率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)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L1 Cache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＝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400/10000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＝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4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％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marL="719455" marR="0" lvl="1" indent="-3702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(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缺失率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</a:rPr>
              <a:t>)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L2 Cache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＝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4/400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＝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％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marL="719455" marR="0" lvl="1" indent="-370205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利用两级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Cache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后总的缺失率＝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0.04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％。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569515" y="44449"/>
            <a:ext cx="31069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/>
                <a:ea typeface="黑体"/>
                <a:cs typeface="+mj-cs"/>
              </a:rPr>
              <a:t>4.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/>
                <a:ea typeface="黑体"/>
                <a:cs typeface="+mj-cs"/>
              </a:rPr>
              <a:t>多级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/>
                <a:ea typeface="黑体"/>
                <a:cs typeface="+mj-cs"/>
              </a:rPr>
              <a:t>Cache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/>
                <a:ea typeface="黑体"/>
                <a:cs typeface="+mj-cs"/>
              </a:rPr>
              <a:t>结构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Arial" panose="020B0604020202090204"/>
              <a:ea typeface="黑体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3347864" y="43793"/>
            <a:ext cx="1978427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7183" y="548680"/>
            <a:ext cx="8640763" cy="16601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7020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823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78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以</a:t>
            </a:r>
            <a:r>
              <a:rPr kumimoji="0" lang="zh-CN" altLang="en-US" sz="2800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两级</a:t>
            </a:r>
            <a:r>
              <a:rPr kumimoji="0" lang="en-US" altLang="zh-CN" sz="2800" i="0" u="none" strike="noStrike" kern="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Cache</a:t>
            </a:r>
            <a:r>
              <a:rPr kumimoji="0" lang="zh-CN" altLang="en-US" sz="280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为例</a:t>
            </a:r>
            <a:endParaRPr kumimoji="0" lang="en-US" altLang="zh-CN" sz="2800" i="0" u="none" strike="noStrike" kern="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panose="020B0604020202090204" pitchFamily="34" charset="0"/>
              <a:ea typeface="黑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【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例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4.8】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为主存创建的</a:t>
            </a:r>
            <a:b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两级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Cache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性能参数如右：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假设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Cache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命中时的访问时间为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1ns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。问：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</p:txBody>
      </p:sp>
      <p:graphicFrame>
        <p:nvGraphicFramePr>
          <p:cNvPr id="8" name="表格 2"/>
          <p:cNvGraphicFramePr>
            <a:graphicFrameLocks noGrp="1"/>
          </p:cNvGraphicFramePr>
          <p:nvPr/>
        </p:nvGraphicFramePr>
        <p:xfrm>
          <a:off x="3851920" y="616769"/>
          <a:ext cx="3816424" cy="1102360"/>
        </p:xfrm>
        <a:graphic>
          <a:graphicData uri="http://schemas.openxmlformats.org/drawingml/2006/table">
            <a:tbl>
              <a:tblPr firstRow="1" bandRow="1"/>
              <a:tblGrid>
                <a:gridCol w="648072"/>
                <a:gridCol w="1728192"/>
                <a:gridCol w="1440160"/>
              </a:tblGrid>
              <a:tr h="2055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400" b="1" dirty="0"/>
                        <a:t>级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400" b="1" dirty="0"/>
                        <a:t>局部命中率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400" b="1" dirty="0"/>
                        <a:t>缺失惩罚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12700" cmpd="sng">
                      <a:solidFill>
                        <a:srgbClr val="000000"/>
                      </a:solidFill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4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2400" b="1" dirty="0"/>
                        <a:t>L1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2400" b="1" dirty="0"/>
                        <a:t>0.98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2400" b="1" dirty="0"/>
                        <a:t>5ns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12700" cmpd="sng">
                      <a:solidFill>
                        <a:srgbClr val="000000"/>
                      </a:solidFill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2400" b="1" dirty="0"/>
                        <a:t>L2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2400" b="1" dirty="0"/>
                        <a:t>0.85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2400" b="1" dirty="0"/>
                        <a:t>20ns</a:t>
                      </a:r>
                      <a:endParaRPr lang="zh-CN" altLang="en-US" sz="2400" b="1" dirty="0"/>
                    </a:p>
                  </a:txBody>
                  <a:tcPr marL="36000" marR="36000" marT="0" marB="0" anchor="ctr">
                    <a:lnL w="12700" cmpd="sng">
                      <a:solidFill>
                        <a:srgbClr val="000000"/>
                      </a:solidFill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5496" y="2060848"/>
            <a:ext cx="8784779" cy="936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06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823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78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（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）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Cache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系统的平均访问时间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T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L1-L2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＝？总缺失率 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m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＝？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（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）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Cache-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主存系统的平均访问时间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T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C-M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＝？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259632" y="4870028"/>
            <a:ext cx="755500" cy="1439292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CPU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5622553" y="4870028"/>
            <a:ext cx="720577" cy="1439292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主存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109517" y="5085184"/>
            <a:ext cx="935037" cy="1007815"/>
          </a:xfrm>
          <a:prstGeom prst="rect">
            <a:avLst/>
          </a:prstGeom>
          <a:solidFill>
            <a:srgbClr val="C1FFC1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L2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Cache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AutoShape 10"/>
          <p:cNvSpPr>
            <a:spLocks noChangeArrowheads="1"/>
          </p:cNvSpPr>
          <p:nvPr/>
        </p:nvSpPr>
        <p:spPr bwMode="auto">
          <a:xfrm>
            <a:off x="5046489" y="5445621"/>
            <a:ext cx="576263" cy="287338"/>
          </a:xfrm>
          <a:prstGeom prst="leftRightArrow">
            <a:avLst>
              <a:gd name="adj1" fmla="val 50000"/>
              <a:gd name="adj2" fmla="val 40110"/>
            </a:avLst>
          </a:prstGeom>
          <a:solidFill>
            <a:srgbClr val="66FF33"/>
          </a:solidFill>
          <a:ln w="28575" algn="ctr">
            <a:solidFill>
              <a:srgbClr val="0066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2358802" y="4736232"/>
            <a:ext cx="2893366" cy="1731190"/>
          </a:xfrm>
          <a:prstGeom prst="rect">
            <a:avLst/>
          </a:prstGeom>
          <a:noFill/>
          <a:ln w="19050" cap="flat" cmpd="sng" algn="ctr">
            <a:solidFill>
              <a:srgbClr val="FF0066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590701" y="5085184"/>
            <a:ext cx="935037" cy="1007815"/>
          </a:xfrm>
          <a:prstGeom prst="rect">
            <a:avLst/>
          </a:prstGeom>
          <a:solidFill>
            <a:srgbClr val="C1FFC1"/>
          </a:solidFill>
          <a:ln w="28575" algn="ctr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L1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Cache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2015132" y="5445621"/>
            <a:ext cx="576263" cy="287338"/>
          </a:xfrm>
          <a:prstGeom prst="leftRightArrow">
            <a:avLst>
              <a:gd name="adj1" fmla="val 50000"/>
              <a:gd name="adj2" fmla="val 40110"/>
            </a:avLst>
          </a:prstGeom>
          <a:solidFill>
            <a:srgbClr val="66FF33"/>
          </a:solidFill>
          <a:ln w="28575" algn="ctr">
            <a:solidFill>
              <a:srgbClr val="0066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AutoShape 10"/>
          <p:cNvSpPr>
            <a:spLocks noChangeArrowheads="1"/>
          </p:cNvSpPr>
          <p:nvPr/>
        </p:nvSpPr>
        <p:spPr bwMode="auto">
          <a:xfrm>
            <a:off x="3527673" y="5445621"/>
            <a:ext cx="576263" cy="287338"/>
          </a:xfrm>
          <a:prstGeom prst="leftRightArrow">
            <a:avLst>
              <a:gd name="adj1" fmla="val 50000"/>
              <a:gd name="adj2" fmla="val 40110"/>
            </a:avLst>
          </a:prstGeom>
          <a:solidFill>
            <a:srgbClr val="66FF33"/>
          </a:solidFill>
          <a:ln w="28575" algn="ctr">
            <a:solidFill>
              <a:srgbClr val="006600"/>
            </a:solidFill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13575" y="4684954"/>
            <a:ext cx="6303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1ns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264907" y="4684953"/>
            <a:ext cx="6303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5ns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598435" y="4465931"/>
            <a:ext cx="784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20ns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385882" y="6027675"/>
            <a:ext cx="1377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1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= 98%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909676" y="6027675"/>
            <a:ext cx="1377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2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= 85%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2214786" y="4509120"/>
            <a:ext cx="4320479" cy="2088232"/>
          </a:xfrm>
          <a:prstGeom prst="rect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827584" y="2843838"/>
            <a:ext cx="8136707" cy="1656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06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823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78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（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）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	T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L1-L2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1ns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＋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－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0.98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×5ns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 ＝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1.1ns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	</a:t>
            </a:r>
            <a:r>
              <a:rPr kumimoji="0" lang="en-US" altLang="zh-CN" sz="240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m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－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0.98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×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－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0.85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0.003‬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 ＝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0.3%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（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）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	T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C-M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1.1ns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＋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0.003×20ns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 ＝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1.16ns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     或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	T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C-M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 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1ns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＋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－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0.98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)×[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5ns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＋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－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0.85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×20ns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]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75856" y="4499937"/>
            <a:ext cx="1080369" cy="476999"/>
          </a:xfrm>
          <a:prstGeom prst="rect">
            <a:avLst/>
          </a:prstGeom>
          <a:solidFill>
            <a:srgbClr val="FFFF66"/>
          </a:solidFill>
          <a:effectLst>
            <a:softEdge rad="127000"/>
          </a:effectLst>
        </p:spPr>
        <p:txBody>
          <a:bodyPr wrap="none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1.1ns</a:t>
            </a:r>
            <a:endParaRPr kumimoji="0" lang="zh-CN" altLang="en-US" sz="18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7504" y="2835684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【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解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】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83968" y="4282381"/>
            <a:ext cx="1080369" cy="476999"/>
          </a:xfrm>
          <a:prstGeom prst="rect">
            <a:avLst/>
          </a:prstGeom>
          <a:solidFill>
            <a:srgbClr val="FFFF66"/>
          </a:solidFill>
          <a:effectLst>
            <a:softEdge rad="127000"/>
          </a:effectLst>
        </p:spPr>
        <p:txBody>
          <a:bodyPr wrap="none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1.16ns</a:t>
            </a:r>
            <a:endParaRPr kumimoji="0" lang="zh-CN" altLang="en-US" sz="18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28" name="任意多边形: 形状 27"/>
          <p:cNvSpPr/>
          <p:nvPr/>
        </p:nvSpPr>
        <p:spPr bwMode="auto">
          <a:xfrm>
            <a:off x="6754483" y="3796430"/>
            <a:ext cx="2145423" cy="361502"/>
          </a:xfrm>
          <a:custGeom>
            <a:avLst/>
            <a:gdLst>
              <a:gd name="connsiteX0" fmla="*/ 2001329 w 2076412"/>
              <a:gd name="connsiteY0" fmla="*/ 361502 h 361502"/>
              <a:gd name="connsiteX1" fmla="*/ 2044461 w 2076412"/>
              <a:gd name="connsiteY1" fmla="*/ 154468 h 361502"/>
              <a:gd name="connsiteX2" fmla="*/ 1587261 w 2076412"/>
              <a:gd name="connsiteY2" fmla="*/ 16445 h 361502"/>
              <a:gd name="connsiteX3" fmla="*/ 0 w 2076412"/>
              <a:gd name="connsiteY3" fmla="*/ 7819 h 361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6412" h="361502">
                <a:moveTo>
                  <a:pt x="2001329" y="361502"/>
                </a:moveTo>
                <a:cubicBezTo>
                  <a:pt x="2057400" y="286739"/>
                  <a:pt x="2113472" y="211977"/>
                  <a:pt x="2044461" y="154468"/>
                </a:cubicBezTo>
                <a:cubicBezTo>
                  <a:pt x="1975450" y="96959"/>
                  <a:pt x="1928004" y="40886"/>
                  <a:pt x="1587261" y="16445"/>
                </a:cubicBezTo>
                <a:cubicBezTo>
                  <a:pt x="1246518" y="-7996"/>
                  <a:pt x="623259" y="-89"/>
                  <a:pt x="0" y="7819"/>
                </a:cubicBezTo>
              </a:path>
            </a:pathLst>
          </a:cu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2398725" y="4976936"/>
            <a:ext cx="1327199" cy="1264295"/>
          </a:xfrm>
          <a:prstGeom prst="rect">
            <a:avLst/>
          </a:prstGeom>
          <a:solidFill>
            <a:srgbClr val="0000FF">
              <a:alpha val="2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3857469" y="4785318"/>
            <a:ext cx="2612430" cy="1610786"/>
          </a:xfrm>
          <a:prstGeom prst="rect">
            <a:avLst/>
          </a:prstGeom>
          <a:solidFill>
            <a:srgbClr val="0000FF">
              <a:alpha val="2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 animBg="1"/>
      <p:bldP spid="25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24743"/>
            <a:ext cx="7776864" cy="525601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/>
              <a:t>虚拟存储器：</a:t>
            </a:r>
            <a:r>
              <a:rPr lang="zh-CN" altLang="en-US">
                <a:solidFill>
                  <a:srgbClr val="0000FF"/>
                </a:solidFill>
              </a:rPr>
              <a:t>主存 </a:t>
            </a:r>
            <a:r>
              <a:rPr lang="en-US" altLang="zh-CN">
                <a:solidFill>
                  <a:srgbClr val="0000FF"/>
                </a:solidFill>
              </a:rPr>
              <a:t>– </a:t>
            </a:r>
            <a:r>
              <a:rPr lang="zh-CN" altLang="en-US">
                <a:solidFill>
                  <a:srgbClr val="0000FF"/>
                </a:solidFill>
              </a:rPr>
              <a:t>联机工作的辅存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(</a:t>
            </a:r>
            <a:r>
              <a:rPr lang="zh-CN" altLang="en-US">
                <a:solidFill>
                  <a:srgbClr val="0000FF"/>
                </a:solidFill>
              </a:rPr>
              <a:t>硬盘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)</a:t>
            </a:r>
            <a:endParaRPr lang="en-US" altLang="zh-CN">
              <a:solidFill>
                <a:srgbClr val="0000FF"/>
              </a:solidFill>
              <a:latin typeface="+mn-ea"/>
            </a:endParaRPr>
          </a:p>
          <a:p>
            <a:pPr lvl="1">
              <a:spcBef>
                <a:spcPts val="600"/>
              </a:spcBef>
            </a:pPr>
            <a:r>
              <a:rPr lang="zh-CN" altLang="en-US"/>
              <a:t>地址映射：</a:t>
            </a:r>
            <a:r>
              <a:rPr lang="en-US" altLang="zh-CN"/>
              <a:t>OS</a:t>
            </a:r>
            <a:r>
              <a:rPr lang="zh-CN" altLang="en-US"/>
              <a:t>（全相联）</a:t>
            </a:r>
            <a:endParaRPr lang="en-US" altLang="zh-CN"/>
          </a:p>
          <a:p>
            <a:pPr lvl="1">
              <a:spcBef>
                <a:spcPts val="600"/>
              </a:spcBef>
            </a:pPr>
            <a:r>
              <a:rPr lang="zh-CN" altLang="en-US"/>
              <a:t>地址变换：</a:t>
            </a:r>
            <a:r>
              <a:rPr lang="en-US" altLang="zh-CN"/>
              <a:t>MMU</a:t>
            </a:r>
            <a:endParaRPr lang="en-US" altLang="zh-CN"/>
          </a:p>
          <a:p>
            <a:pPr lvl="1">
              <a:spcBef>
                <a:spcPts val="600"/>
              </a:spcBef>
            </a:pPr>
            <a:r>
              <a:rPr lang="zh-CN" altLang="en-US"/>
              <a:t>页式虚拟存储器</a:t>
            </a:r>
            <a:endParaRPr lang="en-US" altLang="zh-CN"/>
          </a:p>
          <a:p>
            <a:pPr lvl="2">
              <a:spcBef>
                <a:spcPts val="600"/>
              </a:spcBef>
            </a:pPr>
            <a:r>
              <a:rPr lang="zh-CN" altLang="en-US"/>
              <a:t>单级页表</a:t>
            </a:r>
            <a:endParaRPr lang="en-US" altLang="zh-CN"/>
          </a:p>
          <a:p>
            <a:pPr lvl="2">
              <a:spcBef>
                <a:spcPts val="600"/>
              </a:spcBef>
            </a:pPr>
            <a:r>
              <a:rPr lang="zh-CN" altLang="en-US"/>
              <a:t>多级页表</a:t>
            </a:r>
            <a:endParaRPr lang="en-US" altLang="zh-CN"/>
          </a:p>
          <a:p>
            <a:pPr lvl="2">
              <a:spcBef>
                <a:spcPts val="600"/>
              </a:spcBef>
            </a:pPr>
            <a:r>
              <a:rPr lang="zh-CN" altLang="en-US"/>
              <a:t>解决地址变换的速度问题：快慢表法</a:t>
            </a:r>
            <a:endParaRPr lang="en-US" altLang="zh-CN"/>
          </a:p>
          <a:p>
            <a:pPr lvl="3">
              <a:spcBef>
                <a:spcPts val="600"/>
              </a:spcBef>
            </a:pPr>
            <a:r>
              <a:rPr lang="zh-CN" altLang="en-US"/>
              <a:t>主存中的页表：慢表</a:t>
            </a:r>
            <a:endParaRPr lang="en-US" altLang="zh-CN"/>
          </a:p>
          <a:p>
            <a:pPr lvl="3">
              <a:spcBef>
                <a:spcPts val="600"/>
              </a:spcBef>
            </a:pPr>
            <a:r>
              <a:rPr lang="en-US" altLang="zh-CN"/>
              <a:t>CPU</a:t>
            </a:r>
            <a:r>
              <a:rPr lang="zh-CN" altLang="en-US"/>
              <a:t>内部的页表高速缓存 </a:t>
            </a:r>
            <a:r>
              <a:rPr lang="en-US" altLang="zh-CN"/>
              <a:t>TLB</a:t>
            </a:r>
            <a:r>
              <a:rPr lang="zh-CN" altLang="en-US"/>
              <a:t>：快表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1" name="文本框 50"/>
          <p:cNvSpPr txBox="1"/>
          <p:nvPr/>
        </p:nvSpPr>
        <p:spPr bwMode="auto">
          <a:xfrm>
            <a:off x="3573860" y="44450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二、虚拟存储器</a:t>
            </a:r>
            <a:endParaRPr lang="zh-CN" altLang="en-US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1" name="文本框 50"/>
          <p:cNvSpPr txBox="1"/>
          <p:nvPr/>
        </p:nvSpPr>
        <p:spPr bwMode="auto">
          <a:xfrm>
            <a:off x="3573860" y="44450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二、虚拟存储器</a:t>
            </a:r>
            <a:endParaRPr lang="zh-CN" altLang="en-US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562294"/>
            <a:ext cx="8928992" cy="59630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73034" y="4797152"/>
            <a:ext cx="3188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90204"/>
                <a:ea typeface="黑体" pitchFamily="2" charset="-122"/>
                <a:cs typeface="+mn-cs"/>
              </a:rPr>
              <a:t>Sv48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90204"/>
                <a:ea typeface="黑体" pitchFamily="2" charset="-122"/>
                <a:cs typeface="+mn-cs"/>
              </a:rPr>
              <a:t>地址变换过程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" panose="020B0604020202090204"/>
              <a:ea typeface="黑体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40152" y="5089539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多次访问主存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3573860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5148065" y="44777"/>
            <a:ext cx="3816548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黑体"/>
                <a:cs typeface="+mj-cs"/>
              </a:rPr>
              <a:t>教材 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黑体"/>
                <a:cs typeface="+mj-cs"/>
              </a:rPr>
              <a:t>p165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j-cs"/>
              </a:rPr>
              <a:t>，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黑体"/>
                <a:cs typeface="+mj-cs"/>
              </a:rPr>
              <a:t>例 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黑体"/>
                <a:cs typeface="+mj-cs"/>
              </a:rPr>
              <a:t>4.11</a:t>
            </a:r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107504" y="568325"/>
            <a:ext cx="8928992" cy="22846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06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823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78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例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4.11】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某单面磁盘的转速为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3600r/min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，平均寻道时间为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20ms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，每磁道有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32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扇区，每扇区字节数为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512B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从磁盘读一个占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256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扇区的文件，考虑两种情况：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）文件连续存储；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）文件随机存储。那么读取该文件需要多长时间？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2"/>
              <p:cNvSpPr txBox="1"/>
              <p:nvPr/>
            </p:nvSpPr>
            <p:spPr bwMode="auto">
              <a:xfrm>
                <a:off x="107504" y="2780928"/>
                <a:ext cx="8928992" cy="393305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19455" indent="-3606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75000"/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78230" indent="-3587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6600"/>
                  </a:buClr>
                  <a:buSzPct val="65000"/>
                  <a:buFont typeface="Wingdings" panose="05000000000000000000" pitchFamily="2" charset="2"/>
                  <a:buChar char="p"/>
                  <a:defRPr sz="2800" b="1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</a:defRPr>
                </a:lvl3pPr>
                <a:lvl4pPr marL="1437005" indent="-3587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Wingdings" panose="05000000000000000000" pitchFamily="2" charset="2"/>
                  <a:buChar char="u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795780" indent="-3587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anose="05000000000000000000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</a:defRPr>
                </a:lvl5pPr>
                <a:lvl6pPr marL="2787650" indent="-27178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anose="05000000000000000000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6pPr>
                <a:lvl7pPr marL="3244850" indent="-27178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anose="05000000000000000000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7pPr>
                <a:lvl8pPr marL="3702050" indent="-27178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anose="05000000000000000000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8pPr>
                <a:lvl9pPr marL="4159250" indent="-27178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anose="05000000000000000000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  磁盘转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圈的时间＝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60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s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3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600</m:t>
                        </m:r>
                      </m:den>
                    </m:f>
                  </m:oMath>
                </a14:m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50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ms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（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）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256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扇区的文件，分布在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256/32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8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个磁道中，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    读连续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8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道时间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	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次寻道＋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1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次等待＋转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8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圈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的时间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			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20ms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＋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50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3</m:t>
                        </m:r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ms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＋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50</m:t>
                        </m:r>
                        <m: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Cambria Math" panose="02040503050406030204" pitchFamily="18" charset="0"/>
                            <a:cs typeface="+mn-cs"/>
                          </a:rPr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ms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503050405090304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			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161.67ms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（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2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）读随机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256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扇区的时间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/>
                    <a:ea typeface="宋体"/>
                    <a:cs typeface="+mn-cs"/>
                  </a:rPr>
                  <a:t>(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/>
                    <a:ea typeface="宋体"/>
                    <a:cs typeface="+mn-cs"/>
                  </a:rPr>
                  <a:t>连起来共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8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8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圈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/>
                    <a:ea typeface="宋体"/>
                    <a:cs typeface="+mn-cs"/>
                  </a:rPr>
                  <a:t>)</a:t>
                </a:r>
                <a:endPara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   </a:t>
                </a:r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2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20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ms</m:t>
                        </m:r>
                        <m:r>
                          <a:rPr kumimoji="0" lang="zh-CN" altLang="en-US" sz="2800" b="1" i="1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＋</m:t>
                        </m:r>
                        <m:f>
                          <m:fPr>
                            <m:ctrlPr>
                              <a:rPr kumimoji="0" lang="en-US" altLang="zh-CN" sz="2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0" lang="en-US" altLang="zh-CN" sz="2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Times New Roman" panose="02020503050405090304"/>
                                <a:ea typeface="宋体"/>
                                <a:cs typeface="+mn-cs"/>
                              </a:rPr>
                              <m:t>50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kumimoji="0" lang="en-US" altLang="zh-CN" sz="2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Times New Roman" panose="02020503050405090304"/>
                                <a:ea typeface="宋体"/>
                                <a:cs typeface="+mn-cs"/>
                              </a:rPr>
                              <m:t>3</m:t>
                            </m:r>
                            <m:r>
                              <a:rPr kumimoji="0" lang="en-US" altLang="zh-CN" sz="2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kumimoji="0" lang="en-US" altLang="zh-CN" sz="2800" b="1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Times New Roman" panose="02020503050405090304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ms</m:t>
                        </m:r>
                      </m:e>
                    </m:d>
                    <m:r>
                      <a:rPr kumimoji="0" lang="en-US" altLang="zh-CN" sz="2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m:rPr>
                        <m:nor/>
                      </m:rPr>
                      <a:rPr kumimoji="0" lang="en-US" altLang="zh-CN" sz="2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503050405090304"/>
                        <a:ea typeface="Cambria Math" panose="02040503050406030204" pitchFamily="18" charset="0"/>
                        <a:cs typeface="+mn-cs"/>
                      </a:rPr>
                      <m:t>256</m:t>
                    </m:r>
                    <m:r>
                      <a:rPr kumimoji="0" lang="zh-CN" altLang="en-US" sz="2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＋</m:t>
                    </m:r>
                    <m:f>
                      <m:fPr>
                        <m:ctrlPr>
                          <a:rPr kumimoji="0" lang="en-US" altLang="zh-CN" sz="2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50</m:t>
                        </m:r>
                        <m:r>
                          <a:rPr kumimoji="0" lang="en-US" altLang="zh-CN" sz="2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×</m:t>
                        </m:r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8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Cambria Math" panose="02040503050406030204" pitchFamily="18" charset="0"/>
                            <a:cs typeface="+mn-cs"/>
                          </a:rPr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altLang="zh-CN" sz="2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Times New Roman" panose="02020503050405090304"/>
                            <a:ea typeface="宋体"/>
                            <a:cs typeface="+mn-cs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kumimoji="0" lang="en-US" altLang="zh-CN" sz="28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503050405090304"/>
                        <a:ea typeface="宋体"/>
                        <a:cs typeface="+mn-cs"/>
                      </a:rPr>
                      <m:t>ms</m:t>
                    </m:r>
                  </m:oMath>
                </a14:m>
                <a:r>
                  <a:rPr kumimoji="0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＝</a:t>
                </a: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503050405090304"/>
                    <a:ea typeface="宋体"/>
                    <a:cs typeface="+mn-cs"/>
                  </a:rPr>
                  <a:t>7386.67ms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503050405090304"/>
                  <a:ea typeface="宋体"/>
                  <a:cs typeface="+mn-cs"/>
                </a:endParaRPr>
              </a:p>
            </p:txBody>
          </p:sp>
        </mc:Choice>
        <mc:Fallback>
          <p:sp>
            <p:nvSpPr>
              <p:cNvPr id="8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504" y="2780928"/>
                <a:ext cx="8928992" cy="3933056"/>
              </a:xfrm>
              <a:prstGeom prst="rect">
                <a:avLst/>
              </a:prstGeom>
              <a:blipFill rotWithShape="1">
                <a:blip r:embed="rId1"/>
                <a:stretch>
                  <a:fillRect l="-2" t="-7" r="5" b="3"/>
                </a:stretch>
              </a:blipFill>
              <a:ln w="9525">
                <a:noFill/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/>
          <p:cNvCxnSpPr/>
          <p:nvPr/>
        </p:nvCxnSpPr>
        <p:spPr bwMode="auto">
          <a:xfrm>
            <a:off x="107504" y="2788928"/>
            <a:ext cx="8928992" cy="0"/>
          </a:xfrm>
          <a:prstGeom prst="line">
            <a:avLst/>
          </a:prstGeom>
          <a:solidFill>
            <a:srgbClr val="9999FF"/>
          </a:solidFill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矩形 9"/>
          <p:cNvSpPr/>
          <p:nvPr/>
        </p:nvSpPr>
        <p:spPr>
          <a:xfrm>
            <a:off x="7841811" y="2780928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C00000"/>
                </a:solidFill>
                <a:ea typeface="宋体" pitchFamily="2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ea typeface="宋体" pitchFamily="2" charset="-122"/>
              </a:rPr>
              <a:t>解</a:t>
            </a:r>
            <a:r>
              <a:rPr lang="en-US" altLang="zh-CN" dirty="0">
                <a:solidFill>
                  <a:srgbClr val="C00000"/>
                </a:solidFill>
                <a:ea typeface="宋体" pitchFamily="2" charset="-122"/>
              </a:rPr>
              <a:t>】</a:t>
            </a:r>
            <a:endParaRPr lang="zh-CN" altLang="en-US" dirty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8383505" y="1675740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存储系统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50825" y="549275"/>
            <a:ext cx="8713788" cy="61198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06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823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79578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某硬磁盘有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个记录面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，记录面上有效记录区域的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内径为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20cm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外径为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30cm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。磁道上记录的位密度为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250b/mm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，道密度为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道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/mm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，每一磁道上分为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个扇区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，每个扇区记录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1KB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，磁盘旋转速度为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10000rpm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；则：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该硬盘的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格式化容量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_____MB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该硬盘的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数据传输速率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______MB/s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解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】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磁道数＝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300/2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－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200/2</a:t>
            </a:r>
            <a:r>
              <a:rPr lang="en-US" altLang="zh-CN" sz="2400" ker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mm×10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道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/mm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500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道；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每磁道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格式化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容量＝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扇区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×1KB/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扇区＝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16KB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；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格式化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容量＝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5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面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×500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道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×</a:t>
            </a:r>
            <a:r>
              <a:rPr lang="en-US" altLang="zh-CN" sz="2400" ker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16/1024</a:t>
            </a:r>
            <a:r>
              <a:rPr lang="en-US" altLang="zh-CN" sz="2400" ker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MB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39MB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；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数据传输速率＝</a:t>
            </a:r>
            <a:r>
              <a:rPr lang="en-US" altLang="zh-CN" sz="2400" ker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10000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道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/60s</a:t>
            </a:r>
            <a:r>
              <a:rPr lang="en-US" altLang="zh-CN" sz="2400" ker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×</a:t>
            </a:r>
            <a:r>
              <a:rPr lang="en-US" altLang="zh-CN" sz="2400" ker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16/1024</a:t>
            </a:r>
            <a:r>
              <a:rPr lang="en-US" altLang="zh-CN" sz="2400" ker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MB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2.60MB/s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</p:txBody>
      </p:sp>
      <p:sp>
        <p:nvSpPr>
          <p:cNvPr id="7" name="Text Box 21"/>
          <p:cNvSpPr txBox="1">
            <a:spLocks noChangeArrowheads="1"/>
          </p:cNvSpPr>
          <p:nvPr/>
        </p:nvSpPr>
        <p:spPr bwMode="auto">
          <a:xfrm>
            <a:off x="3496933" y="2017374"/>
            <a:ext cx="576262" cy="519112"/>
          </a:xfrm>
          <a:prstGeom prst="rect">
            <a:avLst/>
          </a:prstGeom>
          <a:noFill/>
          <a:ln w="28575" algn="ctr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66"/>
                </a:solidFill>
                <a:ea typeface="宋体" pitchFamily="2" charset="-122"/>
              </a:rPr>
              <a:t>D</a:t>
            </a:r>
            <a:endParaRPr lang="en-US" altLang="zh-CN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3868087" y="2404588"/>
            <a:ext cx="576262" cy="519113"/>
          </a:xfrm>
          <a:prstGeom prst="rect">
            <a:avLst/>
          </a:prstGeom>
          <a:noFill/>
          <a:ln w="28575" algn="ctr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66"/>
                </a:solidFill>
                <a:ea typeface="宋体" pitchFamily="2" charset="-122"/>
              </a:rPr>
              <a:t>C</a:t>
            </a:r>
            <a:endParaRPr lang="en-US" altLang="zh-CN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444208" y="2139985"/>
            <a:ext cx="1008112" cy="72008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444208" y="2384063"/>
            <a:ext cx="1008112" cy="72008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6444208" y="2628141"/>
            <a:ext cx="1008112" cy="72008"/>
          </a:xfrm>
          <a:prstGeom prst="rect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矩形 11"/>
          <p:cNvSpPr/>
          <p:nvPr/>
        </p:nvSpPr>
        <p:spPr bwMode="auto">
          <a:xfrm rot="5400000">
            <a:off x="6516215" y="2392014"/>
            <a:ext cx="864098" cy="72008"/>
          </a:xfrm>
          <a:prstGeom prst="rect">
            <a:avLst/>
          </a:prstGeom>
          <a:solidFill>
            <a:srgbClr val="9999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6911726" y="1974060"/>
            <a:ext cx="72008" cy="45719"/>
          </a:xfrm>
          <a:prstGeom prst="ellipse">
            <a:avLst/>
          </a:prstGeom>
          <a:solidFill>
            <a:srgbClr val="9999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椭圆 13"/>
          <p:cNvSpPr>
            <a:spLocks noChangeAspect="1"/>
          </p:cNvSpPr>
          <p:nvPr/>
        </p:nvSpPr>
        <p:spPr bwMode="auto">
          <a:xfrm>
            <a:off x="7823474" y="1960351"/>
            <a:ext cx="935334" cy="935334"/>
          </a:xfrm>
          <a:prstGeom prst="ellipse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椭圆 14"/>
          <p:cNvSpPr>
            <a:spLocks noChangeAspect="1"/>
          </p:cNvSpPr>
          <p:nvPr/>
        </p:nvSpPr>
        <p:spPr bwMode="auto">
          <a:xfrm>
            <a:off x="8126981" y="2255907"/>
            <a:ext cx="328320" cy="328320"/>
          </a:xfrm>
          <a:prstGeom prst="ellipse">
            <a:avLst/>
          </a:prstGeom>
          <a:solidFill>
            <a:srgbClr val="CCFFFF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6" name="直接连接符 15"/>
          <p:cNvCxnSpPr/>
          <p:nvPr/>
        </p:nvCxnSpPr>
        <p:spPr bwMode="auto">
          <a:xfrm flipV="1">
            <a:off x="6786236" y="2716051"/>
            <a:ext cx="0" cy="360038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 flipV="1">
            <a:off x="7114556" y="2716050"/>
            <a:ext cx="0" cy="360039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 flipV="1">
            <a:off x="6482729" y="2716049"/>
            <a:ext cx="0" cy="828253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/>
          <p:cNvCxnSpPr/>
          <p:nvPr/>
        </p:nvCxnSpPr>
        <p:spPr bwMode="auto">
          <a:xfrm flipV="1">
            <a:off x="7418063" y="2716049"/>
            <a:ext cx="0" cy="828253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/>
          <p:cNvCxnSpPr/>
          <p:nvPr/>
        </p:nvCxnSpPr>
        <p:spPr bwMode="auto">
          <a:xfrm>
            <a:off x="6786236" y="3004081"/>
            <a:ext cx="328320" cy="0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triangle" w="sm" len="lg"/>
            <a:tailEnd type="triangle" w="sm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6506299" y="2994789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1800">
                <a:solidFill>
                  <a:srgbClr val="FF0000"/>
                </a:solidFill>
                <a:ea typeface="宋体" pitchFamily="2" charset="-122"/>
              </a:rPr>
              <a:t>200mm</a:t>
            </a:r>
            <a:endParaRPr lang="zh-CN" altLang="en-US" sz="1800">
              <a:solidFill>
                <a:srgbClr val="000000"/>
              </a:solidFill>
              <a:ea typeface="宋体" pitchFamily="2" charset="-122"/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>
            <a:off x="6482729" y="3445754"/>
            <a:ext cx="935334" cy="0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FF6600"/>
            </a:solidFill>
            <a:prstDash val="solid"/>
            <a:round/>
            <a:headEnd type="triangle" w="sm" len="lg"/>
            <a:tailEnd type="triangle" w="sm" len="lg"/>
          </a:ln>
          <a:effectLst/>
        </p:spPr>
      </p:cxnSp>
      <p:sp>
        <p:nvSpPr>
          <p:cNvPr id="23" name="矩形 22"/>
          <p:cNvSpPr/>
          <p:nvPr/>
        </p:nvSpPr>
        <p:spPr>
          <a:xfrm>
            <a:off x="6517411" y="3379374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1800">
                <a:solidFill>
                  <a:srgbClr val="FF0000"/>
                </a:solidFill>
                <a:ea typeface="宋体" pitchFamily="2" charset="-122"/>
              </a:rPr>
              <a:t>300mm</a:t>
            </a:r>
            <a:endParaRPr lang="zh-CN" altLang="en-US" sz="180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868144" y="2039118"/>
            <a:ext cx="720080" cy="573121"/>
            <a:chOff x="5868144" y="2039118"/>
            <a:chExt cx="720080" cy="573121"/>
          </a:xfrm>
        </p:grpSpPr>
        <p:cxnSp>
          <p:nvCxnSpPr>
            <p:cNvPr id="25" name="直接连接符 24"/>
            <p:cNvCxnSpPr/>
            <p:nvPr/>
          </p:nvCxnSpPr>
          <p:spPr bwMode="auto">
            <a:xfrm>
              <a:off x="6073054" y="2039118"/>
              <a:ext cx="0" cy="573121"/>
            </a:xfrm>
            <a:prstGeom prst="line">
              <a:avLst/>
            </a:prstGeom>
            <a:solidFill>
              <a:srgbClr val="9999FF"/>
            </a:solidFill>
            <a:ln w="381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6" name="组合 25"/>
            <p:cNvGrpSpPr/>
            <p:nvPr/>
          </p:nvGrpSpPr>
          <p:grpSpPr>
            <a:xfrm>
              <a:off x="6073054" y="2235435"/>
              <a:ext cx="515170" cy="45719"/>
              <a:chOff x="6073054" y="2224145"/>
              <a:chExt cx="515170" cy="55762"/>
            </a:xfrm>
          </p:grpSpPr>
          <p:cxnSp>
            <p:nvCxnSpPr>
              <p:cNvPr id="40" name="直接连接符 39"/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1" name="等腰三角形 40"/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flipV="1">
              <a:off x="6073054" y="2319776"/>
              <a:ext cx="515170" cy="45719"/>
              <a:chOff x="6073054" y="2224145"/>
              <a:chExt cx="515170" cy="55762"/>
            </a:xfrm>
          </p:grpSpPr>
          <p:cxnSp>
            <p:nvCxnSpPr>
              <p:cNvPr id="38" name="直接连接符 37"/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" name="等腰三角形 38"/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flipV="1">
              <a:off x="6073054" y="2077739"/>
              <a:ext cx="515170" cy="45719"/>
              <a:chOff x="6073054" y="2224145"/>
              <a:chExt cx="515170" cy="55762"/>
            </a:xfrm>
          </p:grpSpPr>
          <p:cxnSp>
            <p:nvCxnSpPr>
              <p:cNvPr id="36" name="直接连接符 35"/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" name="等腰三角形 36"/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6073054" y="2478277"/>
              <a:ext cx="515170" cy="45719"/>
              <a:chOff x="6073054" y="2224145"/>
              <a:chExt cx="515170" cy="55762"/>
            </a:xfrm>
          </p:grpSpPr>
          <p:cxnSp>
            <p:nvCxnSpPr>
              <p:cNvPr id="34" name="直接连接符 33"/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5" name="等腰三角形 34"/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flipV="1">
              <a:off x="6073054" y="2562618"/>
              <a:ext cx="515170" cy="45719"/>
              <a:chOff x="6073054" y="2224145"/>
              <a:chExt cx="515170" cy="55762"/>
            </a:xfrm>
          </p:grpSpPr>
          <p:cxnSp>
            <p:nvCxnSpPr>
              <p:cNvPr id="32" name="直接连接符 31"/>
              <p:cNvCxnSpPr/>
              <p:nvPr/>
            </p:nvCxnSpPr>
            <p:spPr bwMode="auto">
              <a:xfrm>
                <a:off x="6073054" y="2279907"/>
                <a:ext cx="515170" cy="0"/>
              </a:xfrm>
              <a:prstGeom prst="line">
                <a:avLst/>
              </a:prstGeom>
              <a:solidFill>
                <a:srgbClr val="9999FF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3" name="等腰三角形 32"/>
              <p:cNvSpPr/>
              <p:nvPr/>
            </p:nvSpPr>
            <p:spPr bwMode="auto">
              <a:xfrm>
                <a:off x="6516216" y="2224145"/>
                <a:ext cx="72008" cy="54046"/>
              </a:xfrm>
              <a:prstGeom prst="triangle">
                <a:avLst/>
              </a:prstGeom>
              <a:solidFill>
                <a:srgbClr val="000000"/>
              </a:soli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cxnSp>
          <p:nvCxnSpPr>
            <p:cNvPr id="31" name="直接连接符 30"/>
            <p:cNvCxnSpPr/>
            <p:nvPr/>
          </p:nvCxnSpPr>
          <p:spPr bwMode="auto">
            <a:xfrm flipH="1">
              <a:off x="5868144" y="2204864"/>
              <a:ext cx="204910" cy="0"/>
            </a:xfrm>
            <a:prstGeom prst="line">
              <a:avLst/>
            </a:prstGeom>
            <a:solidFill>
              <a:srgbClr val="9999FF"/>
            </a:solidFill>
            <a:ln w="762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5868144" y="1964057"/>
            <a:ext cx="328320" cy="0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0000FF"/>
            </a:solidFill>
            <a:prstDash val="solid"/>
            <a:round/>
            <a:headEnd type="triangle" w="sm" len="lg"/>
            <a:tailEnd type="triangle" w="sm" len="lg"/>
          </a:ln>
          <a:effectLst/>
        </p:spPr>
      </p:cxn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43" name="墨迹 42"/>
              <p14:cNvContentPartPr/>
              <p14:nvPr/>
            </p14:nvContentPartPr>
            <p14:xfrm>
              <a:off x="6781972" y="1905815"/>
              <a:ext cx="332640" cy="15840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2"/>
            </p:blipFill>
            <p:spPr>
              <a:xfrm>
                <a:off x="6781972" y="1905815"/>
                <a:ext cx="332640" cy="158400"/>
              </a:xfrm>
              <a:prstGeom prst="rect"/>
            </p:spPr>
          </p:pic>
        </mc:Fallback>
      </mc:AlternateContent>
      <p:sp>
        <p:nvSpPr>
          <p:cNvPr id="47" name="文本框 46"/>
          <p:cNvSpPr txBox="1"/>
          <p:nvPr/>
        </p:nvSpPr>
        <p:spPr bwMode="auto">
          <a:xfrm>
            <a:off x="4392613" y="44777"/>
            <a:ext cx="4572000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黑体"/>
                <a:cs typeface="+mj-cs"/>
              </a:rPr>
              <a:t>教材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黑体"/>
                <a:cs typeface="+mj-cs"/>
              </a:rPr>
              <a:t>p177-178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j-cs"/>
              </a:rPr>
              <a:t>,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黑体"/>
                <a:cs typeface="+mj-cs"/>
              </a:rPr>
              <a:t>习题 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黑体"/>
                <a:cs typeface="+mj-cs"/>
              </a:rPr>
              <a:t>4.43</a:t>
            </a:r>
            <a:endParaRPr lang="zh-CN" altLang="en-US"/>
          </a:p>
        </p:txBody>
      </p:sp>
      <p:sp>
        <p:nvSpPr>
          <p:cNvPr id="51" name="文本框 50"/>
          <p:cNvSpPr txBox="1"/>
          <p:nvPr/>
        </p:nvSpPr>
        <p:spPr bwMode="auto">
          <a:xfrm>
            <a:off x="1787839" y="3087047"/>
            <a:ext cx="4736758" cy="707886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存储文件时应尽可能放在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同一柱面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上，</a:t>
            </a:r>
            <a:b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或者放在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相邻柱面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上 </a:t>
            </a:r>
            <a:r>
              <a:rPr kumimoji="0" lang="zh-CN" altLang="en-US" sz="2000" b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→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缩短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寻道时间</a:t>
            </a:r>
            <a:r>
              <a: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 bwMode="auto">
          <a:xfrm>
            <a:off x="3419872" y="44450"/>
            <a:ext cx="162736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三、磁盘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 bwMode="auto">
          <a:xfrm>
            <a:off x="8383505" y="3429000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3.7037E-7 L 0.02534 -3.7037E-7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34 -3.7037E-7 L -4.72222E-6 -3.7037E-7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67506"/>
            <a:ext cx="8362950" cy="1512246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rgbClr val="008000"/>
                </a:solidFill>
                <a:latin typeface="+mj-lt"/>
                <a:ea typeface="黑体" pitchFamily="2" charset="-122"/>
                <a:cs typeface="+mj-cs"/>
              </a:rPr>
              <a:t>数据存储顺序</a:t>
            </a:r>
            <a:endParaRPr lang="en-US" altLang="zh-CN">
              <a:solidFill>
                <a:srgbClr val="008000"/>
              </a:solidFill>
              <a:latin typeface="+mj-lt"/>
              <a:ea typeface="黑体" pitchFamily="2" charset="-122"/>
              <a:cs typeface="+mj-cs"/>
            </a:endParaRPr>
          </a:p>
          <a:p>
            <a:r>
              <a:rPr lang="zh-CN" altLang="en-US"/>
              <a:t>大端存储</a:t>
            </a:r>
            <a:endParaRPr lang="en-US" altLang="zh-CN"/>
          </a:p>
          <a:p>
            <a:r>
              <a:rPr lang="zh-CN" altLang="en-US"/>
              <a:t>小端存储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203848" y="476672"/>
            <a:ext cx="5400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en-US" altLang="zh-CN" kern="0">
                <a:ea typeface="楷体" panose="02010609060101010101" pitchFamily="49" charset="-122"/>
              </a:rPr>
              <a:t>【</a:t>
            </a:r>
            <a:r>
              <a:rPr lang="zh-CN" altLang="en-US" kern="0">
                <a:ea typeface="楷体" panose="02010609060101010101" pitchFamily="49" charset="-122"/>
              </a:rPr>
              <a:t>例</a:t>
            </a:r>
            <a:r>
              <a:rPr lang="en-US" altLang="zh-CN" kern="0">
                <a:ea typeface="楷体" panose="02010609060101010101" pitchFamily="49" charset="-122"/>
              </a:rPr>
              <a:t>】</a:t>
            </a:r>
            <a:endParaRPr lang="en-US" altLang="zh-CN" kern="0">
              <a:ea typeface="楷体" panose="02010609060101010101" pitchFamily="49" charset="-122"/>
            </a:endParaRPr>
          </a:p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en-US" altLang="zh-CN" kern="0">
                <a:ea typeface="楷体" panose="02010609060101010101" pitchFamily="49" charset="-122"/>
              </a:rPr>
              <a:t>32</a:t>
            </a:r>
            <a:r>
              <a:rPr lang="zh-CN" altLang="en-US" kern="0">
                <a:ea typeface="楷体" panose="02010609060101010101" pitchFamily="49" charset="-122"/>
              </a:rPr>
              <a:t>位的十六进制数据</a:t>
            </a:r>
            <a:r>
              <a:rPr lang="en-US" altLang="zh-CN" kern="0">
                <a:ea typeface="楷体" panose="02010609060101010101" pitchFamily="49" charset="-122"/>
              </a:rPr>
              <a:t>12345678H</a:t>
            </a:r>
            <a:r>
              <a:rPr lang="zh-CN" altLang="en-US" kern="0">
                <a:ea typeface="楷体" panose="02010609060101010101" pitchFamily="49" charset="-122"/>
              </a:rPr>
              <a:t>，在以字节编址的主存空间</a:t>
            </a:r>
            <a:r>
              <a:rPr lang="en-US" altLang="zh-CN" kern="0">
                <a:ea typeface="楷体" panose="02010609060101010101" pitchFamily="49" charset="-122"/>
              </a:rPr>
              <a:t>4000H</a:t>
            </a:r>
            <a:r>
              <a:rPr lang="zh-CN" altLang="en-US" kern="0">
                <a:ea typeface="楷体" panose="02010609060101010101" pitchFamily="49" charset="-122"/>
              </a:rPr>
              <a:t>开始位置存储：</a:t>
            </a:r>
            <a:endParaRPr lang="en-US" altLang="zh-CN" kern="0">
              <a:ea typeface="楷体" panose="02010609060101010101" pitchFamily="49" charset="-122"/>
            </a:endParaRPr>
          </a:p>
        </p:txBody>
      </p:sp>
      <p:graphicFrame>
        <p:nvGraphicFramePr>
          <p:cNvPr id="6" name="Group 83"/>
          <p:cNvGraphicFramePr>
            <a:graphicFrameLocks noGrp="1"/>
          </p:cNvGraphicFramePr>
          <p:nvPr/>
        </p:nvGraphicFramePr>
        <p:xfrm>
          <a:off x="1763688" y="2276872"/>
          <a:ext cx="6815138" cy="2286000"/>
        </p:xfrm>
        <a:graphic>
          <a:graphicData uri="http://schemas.openxmlformats.org/drawingml/2006/table">
            <a:tbl>
              <a:tblPr/>
              <a:tblGrid>
                <a:gridCol w="2751138"/>
                <a:gridCol w="2032000"/>
                <a:gridCol w="2032000"/>
              </a:tblGrid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地址（十六进制）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大端存储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小端存储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4000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78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4001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34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56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4002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56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34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4003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78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7" name="内容占位符 7"/>
          <p:cNvSpPr txBox="1"/>
          <p:nvPr/>
        </p:nvSpPr>
        <p:spPr bwMode="auto">
          <a:xfrm>
            <a:off x="457200" y="5175798"/>
            <a:ext cx="8578850" cy="16375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r>
              <a:rPr lang="en-US" altLang="zh-CN" kern="0"/>
              <a:t>16</a:t>
            </a:r>
            <a:r>
              <a:rPr lang="zh-CN" altLang="en-US" kern="0"/>
              <a:t>位字长的数据：起始地址为</a:t>
            </a:r>
            <a:r>
              <a:rPr lang="en-US" altLang="zh-CN" kern="0"/>
              <a:t>2</a:t>
            </a:r>
            <a:r>
              <a:rPr lang="zh-CN" altLang="en-US" kern="0"/>
              <a:t>的整数倍。</a:t>
            </a:r>
            <a:endParaRPr lang="en-US" altLang="zh-CN" kern="0"/>
          </a:p>
          <a:p>
            <a:r>
              <a:rPr lang="en-US" altLang="zh-CN" kern="0"/>
              <a:t>32</a:t>
            </a:r>
            <a:r>
              <a:rPr lang="zh-CN" altLang="en-US" kern="0"/>
              <a:t>位字长的数据：起始地址为</a:t>
            </a:r>
            <a:r>
              <a:rPr lang="en-US" altLang="zh-CN" kern="0"/>
              <a:t>4</a:t>
            </a:r>
            <a:r>
              <a:rPr lang="zh-CN" altLang="en-US" kern="0"/>
              <a:t>的整数倍。</a:t>
            </a:r>
            <a:endParaRPr lang="zh-CN" altLang="en-US" kern="0"/>
          </a:p>
          <a:p>
            <a:r>
              <a:rPr lang="en-US" altLang="zh-CN" kern="0"/>
              <a:t>64</a:t>
            </a:r>
            <a:r>
              <a:rPr lang="zh-CN" altLang="en-US" kern="0"/>
              <a:t>位字长的数据：起始地址为</a:t>
            </a:r>
            <a:r>
              <a:rPr lang="en-US" altLang="zh-CN" kern="0"/>
              <a:t>8</a:t>
            </a:r>
            <a:r>
              <a:rPr lang="zh-CN" altLang="en-US" kern="0"/>
              <a:t>的整数倍。</a:t>
            </a:r>
            <a:endParaRPr lang="zh-CN" altLang="en-US" kern="0"/>
          </a:p>
          <a:p>
            <a:endParaRPr lang="zh-CN" altLang="en-US" kern="0"/>
          </a:p>
        </p:txBody>
      </p:sp>
      <p:sp>
        <p:nvSpPr>
          <p:cNvPr id="8" name="标题 1"/>
          <p:cNvSpPr txBox="1"/>
          <p:nvPr/>
        </p:nvSpPr>
        <p:spPr bwMode="auto">
          <a:xfrm>
            <a:off x="457201" y="4708500"/>
            <a:ext cx="8578850" cy="520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黑体" pitchFamily="2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panose="020B0604020202090204" pitchFamily="34" charset="0"/>
                <a:ea typeface="隶书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panose="020B0604020202090204" pitchFamily="34" charset="0"/>
                <a:ea typeface="隶书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panose="020B0604020202090204" pitchFamily="34" charset="0"/>
                <a:ea typeface="隶书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panose="020B0604020202090204" pitchFamily="34" charset="0"/>
                <a:ea typeface="隶书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panose="020B0604020202090204" pitchFamily="34" charset="0"/>
                <a:ea typeface="隶书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panose="020B0604020202090204" pitchFamily="34" charset="0"/>
                <a:ea typeface="隶书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panose="020B0604020202090204" pitchFamily="34" charset="0"/>
                <a:ea typeface="隶书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panose="020B0604020202090204" pitchFamily="34" charset="0"/>
                <a:ea typeface="隶书" pitchFamily="49" charset="-122"/>
              </a:defRPr>
            </a:lvl9pPr>
          </a:lstStyle>
          <a:p>
            <a:r>
              <a:rPr lang="zh-CN" altLang="en-US" kern="0">
                <a:solidFill>
                  <a:srgbClr val="008000"/>
                </a:solidFill>
              </a:rPr>
              <a:t>按字节编址</a:t>
            </a:r>
            <a:r>
              <a:rPr lang="zh-CN" altLang="en-US" kern="0">
                <a:solidFill>
                  <a:srgbClr val="008000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kern="0">
                <a:solidFill>
                  <a:srgbClr val="008000"/>
                </a:solidFill>
              </a:rPr>
              <a:t>边界对齐：</a:t>
            </a:r>
            <a:endParaRPr lang="zh-CN" altLang="en-US" kern="0">
              <a:solidFill>
                <a:srgbClr val="008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4290044" y="44777"/>
            <a:ext cx="4663456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一、数据储存顺序</a:t>
            </a:r>
            <a:r>
              <a:rPr lang="en-US" altLang="zh-CN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边界对齐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 bwMode="auto">
          <a:xfrm>
            <a:off x="3391559" y="75554"/>
            <a:ext cx="4023857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一、数据储存顺序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边界对齐</a:t>
            </a:r>
            <a:endParaRPr lang="zh-CN" altLang="en-US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5760799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zh-CN" altLang="en-US" sz="2400"/>
              <a:t>某</a:t>
            </a:r>
            <a:r>
              <a:rPr lang="en-US" altLang="zh-CN" sz="2400"/>
              <a:t>32</a:t>
            </a:r>
            <a:r>
              <a:rPr lang="zh-CN" altLang="en-US" sz="2400"/>
              <a:t>位计算机按</a:t>
            </a:r>
            <a:r>
              <a:rPr lang="zh-CN" altLang="en-US" sz="2400">
                <a:solidFill>
                  <a:srgbClr val="FF0000"/>
                </a:solidFill>
              </a:rPr>
              <a:t>字节</a:t>
            </a:r>
            <a:r>
              <a:rPr lang="zh-CN" altLang="en-US" sz="2400"/>
              <a:t>编址，采用</a:t>
            </a:r>
            <a:r>
              <a:rPr lang="zh-CN" altLang="en-US" sz="2400">
                <a:solidFill>
                  <a:srgbClr val="FF0000"/>
                </a:solidFill>
              </a:rPr>
              <a:t>小端方式</a:t>
            </a:r>
            <a:r>
              <a:rPr lang="zh-CN" altLang="en-US" sz="2400"/>
              <a:t>存放数据，编译器按</a:t>
            </a:r>
            <a:r>
              <a:rPr lang="zh-CN" altLang="en-US" sz="2400">
                <a:solidFill>
                  <a:srgbClr val="FF0000"/>
                </a:solidFill>
              </a:rPr>
              <a:t>边界对齐</a:t>
            </a:r>
            <a:r>
              <a:rPr lang="zh-CN" altLang="en-US" sz="2400"/>
              <a:t>方式为下列 </a:t>
            </a:r>
            <a:r>
              <a:rPr lang="en-US" altLang="zh-CN" sz="2400"/>
              <a:t>C </a:t>
            </a:r>
            <a:r>
              <a:rPr lang="zh-CN" altLang="en-US" sz="2400"/>
              <a:t>语言结构型数组变量 </a:t>
            </a:r>
            <a:r>
              <a:rPr lang="en-US" altLang="zh-CN" sz="2400"/>
              <a:t>employee </a:t>
            </a:r>
            <a:r>
              <a:rPr lang="zh-CN" altLang="en-US" sz="2400"/>
              <a:t>分配储存空间。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>
                <a:solidFill>
                  <a:srgbClr val="66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>
                <a:latin typeface="Consolas" panose="020B0609020204030204" pitchFamily="49" charset="0"/>
              </a:rPr>
              <a:t> record {</a:t>
            </a:r>
            <a:endParaRPr lang="en-US" altLang="zh-CN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>
                <a:latin typeface="Consolas" panose="020B0609020204030204" pitchFamily="49" charset="0"/>
              </a:rPr>
              <a:t>   </a:t>
            </a:r>
            <a:r>
              <a:rPr lang="en-US" altLang="zh-CN" sz="2400">
                <a:solidFill>
                  <a:srgbClr val="66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>
                <a:latin typeface="Consolas" panose="020B0609020204030204" pitchFamily="49" charset="0"/>
              </a:rPr>
              <a:t> id;</a:t>
            </a:r>
            <a:endParaRPr lang="en-US" altLang="zh-CN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>
                <a:latin typeface="Consolas" panose="020B0609020204030204" pitchFamily="49" charset="0"/>
              </a:rPr>
              <a:t>   </a:t>
            </a:r>
            <a:r>
              <a:rPr lang="en-US" altLang="zh-CN" sz="2400">
                <a:solidFill>
                  <a:srgbClr val="66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>
                <a:latin typeface="Consolas" panose="020B0609020204030204" pitchFamily="49" charset="0"/>
              </a:rPr>
              <a:t> name[</a:t>
            </a:r>
            <a:r>
              <a:rPr lang="en-US" altLang="zh-CN" sz="2400">
                <a:solidFill>
                  <a:srgbClr val="FF6600"/>
                </a:solidFill>
                <a:latin typeface="Consolas" panose="020B0609020204030204" pitchFamily="49" charset="0"/>
              </a:rPr>
              <a:t>10</a:t>
            </a:r>
            <a:r>
              <a:rPr lang="en-US" altLang="zh-CN" sz="2400">
                <a:latin typeface="Consolas" panose="020B0609020204030204" pitchFamily="49" charset="0"/>
              </a:rPr>
              <a:t>];</a:t>
            </a:r>
            <a:endParaRPr lang="en-US" altLang="zh-CN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>
                <a:latin typeface="Consolas" panose="020B0609020204030204" pitchFamily="49" charset="0"/>
              </a:rPr>
              <a:t>   </a:t>
            </a:r>
            <a:r>
              <a:rPr lang="en-US" altLang="zh-CN" sz="2400">
                <a:solidFill>
                  <a:srgbClr val="66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>
                <a:latin typeface="Consolas" panose="020B0609020204030204" pitchFamily="49" charset="0"/>
              </a:rPr>
              <a:t> salary;</a:t>
            </a:r>
            <a:endParaRPr lang="en-US" altLang="zh-CN" sz="24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>
                <a:latin typeface="Consolas" panose="020B0609020204030204" pitchFamily="49" charset="0"/>
              </a:rPr>
              <a:t>} employee[</a:t>
            </a:r>
            <a:r>
              <a:rPr lang="en-US" altLang="zh-CN" sz="2400">
                <a:solidFill>
                  <a:srgbClr val="FF6600"/>
                </a:solidFill>
                <a:latin typeface="Consolas" panose="020B0609020204030204" pitchFamily="49" charset="0"/>
              </a:rPr>
              <a:t>200</a:t>
            </a:r>
            <a:r>
              <a:rPr lang="en-US" altLang="zh-CN" sz="2400">
                <a:latin typeface="Consolas" panose="020B0609020204030204" pitchFamily="49" charset="0"/>
              </a:rPr>
              <a:t>];</a:t>
            </a:r>
            <a:endParaRPr lang="en-US" altLang="zh-CN" sz="2400"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400"/>
              <a:t>数组 </a:t>
            </a:r>
            <a:r>
              <a:rPr lang="en-US" altLang="zh-CN" sz="2400"/>
              <a:t>employee </a:t>
            </a:r>
            <a:r>
              <a:rPr lang="zh-CN" altLang="en-US" sz="2400"/>
              <a:t>的起始地址为 </a:t>
            </a:r>
            <a:r>
              <a:rPr lang="en-US" altLang="zh-CN" sz="2400">
                <a:solidFill>
                  <a:srgbClr val="0000FF"/>
                </a:solidFill>
              </a:rPr>
              <a:t>0000A0B0</a:t>
            </a:r>
            <a:r>
              <a:rPr lang="en-US" altLang="zh-CN" sz="2400"/>
              <a:t>H</a:t>
            </a:r>
            <a:r>
              <a:rPr lang="zh-CN" altLang="en-US" sz="2400"/>
              <a:t>，</a:t>
            </a:r>
            <a:r>
              <a:rPr lang="en-US" altLang="zh-CN" sz="2400"/>
              <a:t>employee[1].id </a:t>
            </a:r>
            <a:r>
              <a:rPr lang="zh-CN" altLang="en-US" sz="2400"/>
              <a:t>的机器数为 </a:t>
            </a:r>
            <a:r>
              <a:rPr lang="en-US" altLang="zh-CN" sz="2400">
                <a:solidFill>
                  <a:srgbClr val="0000FF"/>
                </a:solidFill>
              </a:rPr>
              <a:t>12345678</a:t>
            </a:r>
            <a:r>
              <a:rPr lang="en-US" altLang="zh-CN" sz="2400"/>
              <a:t>H</a:t>
            </a:r>
            <a:r>
              <a:rPr lang="zh-CN" altLang="en-US" sz="2400"/>
              <a:t>，则 </a:t>
            </a:r>
            <a:r>
              <a:rPr lang="en-US" altLang="zh-CN" sz="2400"/>
              <a:t>56H </a:t>
            </a:r>
            <a:r>
              <a:rPr lang="zh-CN" altLang="en-US" sz="2400"/>
              <a:t>的地址是（      ）。</a:t>
            </a:r>
            <a:endParaRPr lang="zh-CN" altLang="en-US" sz="240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400"/>
              <a:t>A.  0000 A0C3H		B.  0000 A0C4H</a:t>
            </a:r>
            <a:endParaRPr lang="en-US" altLang="zh-CN" sz="2400"/>
          </a:p>
          <a:p>
            <a:pPr marL="0" indent="0">
              <a:buNone/>
            </a:pPr>
            <a:r>
              <a:rPr lang="en-US" altLang="zh-CN" sz="2400"/>
              <a:t>C.  0000 A0C5H		D.  0000 A0C6H</a:t>
            </a:r>
            <a:endParaRPr lang="zh-CN" altLang="en-US" sz="2400"/>
          </a:p>
        </p:txBody>
      </p:sp>
      <p:sp>
        <p:nvSpPr>
          <p:cNvPr id="22" name="文本框 21"/>
          <p:cNvSpPr txBox="1"/>
          <p:nvPr/>
        </p:nvSpPr>
        <p:spPr bwMode="auto">
          <a:xfrm>
            <a:off x="3894080" y="3236859"/>
            <a:ext cx="3586238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成员变量占用</a:t>
            </a:r>
            <a:r>
              <a:rPr lang="en-US" altLang="zh-CN" sz="2400">
                <a:solidFill>
                  <a:srgbClr val="008000"/>
                </a:solidFill>
              </a:rPr>
              <a:t>18</a:t>
            </a:r>
            <a:r>
              <a:rPr lang="zh-CN" altLang="en-US" sz="2400">
                <a:solidFill>
                  <a:srgbClr val="008000"/>
                </a:solidFill>
              </a:rPr>
              <a:t>个字节，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23" name="文本框 22"/>
          <p:cNvSpPr txBox="1"/>
          <p:nvPr/>
        </p:nvSpPr>
        <p:spPr bwMode="auto">
          <a:xfrm>
            <a:off x="3851920" y="5778140"/>
            <a:ext cx="2630848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8000"/>
                </a:solidFill>
              </a:rPr>
              <a:t>0000A0B0H</a:t>
            </a:r>
            <a:r>
              <a:rPr lang="zh-CN" altLang="en-US" sz="2400">
                <a:solidFill>
                  <a:srgbClr val="008000"/>
                </a:solidFill>
              </a:rPr>
              <a:t>＋</a:t>
            </a:r>
            <a:r>
              <a:rPr lang="en-US" altLang="zh-CN" sz="2400">
                <a:solidFill>
                  <a:srgbClr val="008000"/>
                </a:solidFill>
              </a:rPr>
              <a:t>14H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6300192" y="5778140"/>
            <a:ext cx="1795684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＝</a:t>
            </a:r>
            <a:r>
              <a:rPr lang="en-US" altLang="zh-CN" sz="2400">
                <a:solidFill>
                  <a:srgbClr val="FF3399"/>
                </a:solidFill>
              </a:rPr>
              <a:t>A0C4</a:t>
            </a:r>
            <a:r>
              <a:rPr lang="en-US" altLang="zh-CN" sz="2400">
                <a:solidFill>
                  <a:srgbClr val="008000"/>
                </a:solidFill>
              </a:rPr>
              <a:t>H</a:t>
            </a:r>
            <a:r>
              <a:rPr lang="zh-CN" altLang="en-US" sz="2400">
                <a:solidFill>
                  <a:srgbClr val="008000"/>
                </a:solidFill>
              </a:rPr>
              <a:t>，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25" name="文本框 24"/>
          <p:cNvSpPr txBox="1"/>
          <p:nvPr/>
        </p:nvSpPr>
        <p:spPr bwMode="auto">
          <a:xfrm>
            <a:off x="2123728" y="6218148"/>
            <a:ext cx="2504853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78</a:t>
            </a:r>
            <a:r>
              <a:rPr lang="en-US" altLang="zh-CN" sz="2400">
                <a:solidFill>
                  <a:srgbClr val="008000"/>
                </a:solidFill>
              </a:rPr>
              <a:t>H</a:t>
            </a:r>
            <a:r>
              <a:rPr lang="zh-CN" altLang="en-US" sz="2400">
                <a:solidFill>
                  <a:srgbClr val="008000"/>
                </a:solidFill>
              </a:rPr>
              <a:t>地址</a:t>
            </a:r>
            <a:r>
              <a:rPr lang="en-US" altLang="zh-CN" sz="2400">
                <a:solidFill>
                  <a:srgbClr val="008000"/>
                </a:solidFill>
              </a:rPr>
              <a:t>: </a:t>
            </a:r>
            <a:r>
              <a:rPr lang="en-US" altLang="zh-CN" sz="2400">
                <a:solidFill>
                  <a:srgbClr val="FF3399"/>
                </a:solidFill>
              </a:rPr>
              <a:t>A0C4</a:t>
            </a:r>
            <a:r>
              <a:rPr lang="en-US" altLang="zh-CN" sz="2400">
                <a:solidFill>
                  <a:srgbClr val="008000"/>
                </a:solidFill>
              </a:rPr>
              <a:t>H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26" name="文本框 25"/>
          <p:cNvSpPr txBox="1"/>
          <p:nvPr/>
        </p:nvSpPr>
        <p:spPr bwMode="auto">
          <a:xfrm>
            <a:off x="4875459" y="6218148"/>
            <a:ext cx="2504853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56</a:t>
            </a:r>
            <a:r>
              <a:rPr lang="en-US" altLang="zh-CN" sz="2400">
                <a:solidFill>
                  <a:srgbClr val="008000"/>
                </a:solidFill>
              </a:rPr>
              <a:t>H</a:t>
            </a:r>
            <a:r>
              <a:rPr lang="zh-CN" altLang="en-US" sz="2400">
                <a:solidFill>
                  <a:srgbClr val="008000"/>
                </a:solidFill>
              </a:rPr>
              <a:t>地址</a:t>
            </a:r>
            <a:r>
              <a:rPr lang="en-US" altLang="zh-CN" sz="2400">
                <a:solidFill>
                  <a:srgbClr val="008000"/>
                </a:solidFill>
              </a:rPr>
              <a:t>: </a:t>
            </a:r>
            <a:r>
              <a:rPr lang="en-US" altLang="zh-CN" sz="2400">
                <a:solidFill>
                  <a:srgbClr val="FF3399"/>
                </a:solidFill>
              </a:rPr>
              <a:t>A0C5</a:t>
            </a:r>
            <a:r>
              <a:rPr lang="en-US" altLang="zh-CN" sz="2400">
                <a:solidFill>
                  <a:srgbClr val="008000"/>
                </a:solidFill>
              </a:rPr>
              <a:t>H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27" name="文本框 26"/>
          <p:cNvSpPr txBox="1"/>
          <p:nvPr/>
        </p:nvSpPr>
        <p:spPr bwMode="auto">
          <a:xfrm>
            <a:off x="457200" y="6218148"/>
            <a:ext cx="1731564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008000"/>
                </a:solidFill>
              </a:rPr>
              <a:t>小端存储，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28" name="文本框 27"/>
          <p:cNvSpPr txBox="1"/>
          <p:nvPr/>
        </p:nvSpPr>
        <p:spPr bwMode="auto">
          <a:xfrm>
            <a:off x="3894080" y="3615407"/>
            <a:ext cx="3276859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8000"/>
                </a:solidFill>
              </a:rPr>
              <a:t>结构体占用</a:t>
            </a:r>
            <a:r>
              <a:rPr lang="en-US" altLang="zh-CN" sz="2400">
                <a:solidFill>
                  <a:srgbClr val="008000"/>
                </a:solidFill>
              </a:rPr>
              <a:t>20</a:t>
            </a:r>
            <a:r>
              <a:rPr lang="zh-CN" altLang="en-US" sz="2400">
                <a:solidFill>
                  <a:srgbClr val="008000"/>
                </a:solidFill>
              </a:rPr>
              <a:t>个字节，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29" name="文本框 28"/>
          <p:cNvSpPr txBox="1"/>
          <p:nvPr/>
        </p:nvSpPr>
        <p:spPr bwMode="auto">
          <a:xfrm>
            <a:off x="457200" y="5784466"/>
            <a:ext cx="3629520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8000"/>
                </a:solidFill>
              </a:rPr>
              <a:t>employee[1]</a:t>
            </a:r>
            <a:r>
              <a:rPr lang="zh-CN" altLang="en-US" sz="2400">
                <a:solidFill>
                  <a:srgbClr val="008000"/>
                </a:solidFill>
              </a:rPr>
              <a:t>的起始地址：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pic>
        <p:nvPicPr>
          <p:cNvPr id="30" name="图形 29" descr="复选标记 纯色填充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815" y="5308192"/>
            <a:ext cx="654822" cy="654822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 bwMode="auto">
          <a:xfrm>
            <a:off x="6876256" y="3604044"/>
            <a:ext cx="1657826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008000"/>
                </a:solidFill>
              </a:rPr>
              <a:t>20</a:t>
            </a:r>
            <a:r>
              <a:rPr lang="zh-CN" altLang="en-US" sz="2400">
                <a:solidFill>
                  <a:srgbClr val="008000"/>
                </a:solidFill>
              </a:rPr>
              <a:t>＝</a:t>
            </a:r>
            <a:r>
              <a:rPr lang="en-US" altLang="zh-CN" sz="2400">
                <a:solidFill>
                  <a:srgbClr val="008000"/>
                </a:solidFill>
              </a:rPr>
              <a:t>14H</a:t>
            </a:r>
            <a:r>
              <a:rPr lang="zh-CN" altLang="en-US" sz="2400">
                <a:solidFill>
                  <a:srgbClr val="008000"/>
                </a:solidFill>
              </a:rPr>
              <a:t>。</a:t>
            </a:r>
            <a:endParaRPr lang="zh-CN" altLang="en-US" sz="2400">
              <a:solidFill>
                <a:srgbClr val="008000"/>
              </a:solidFill>
              <a:latin typeface="+mn-lt"/>
            </a:endParaRPr>
          </a:p>
        </p:txBody>
      </p:sp>
      <p:sp>
        <p:nvSpPr>
          <p:cNvPr id="32" name="文本框 31"/>
          <p:cNvSpPr txBox="1"/>
          <p:nvPr/>
        </p:nvSpPr>
        <p:spPr bwMode="auto">
          <a:xfrm>
            <a:off x="3923929" y="1418000"/>
            <a:ext cx="4032447" cy="1938992"/>
          </a:xfrm>
          <a:prstGeom prst="rect">
            <a:avLst/>
          </a:prstGeom>
          <a:solidFill>
            <a:srgbClr val="FFFF00"/>
          </a:solidFill>
          <a:ln w="28575" algn="ctr">
            <a:noFill/>
            <a:miter lim="800000"/>
            <a:tailEnd type="none" w="med" len="lg"/>
          </a:ln>
          <a:effectLst>
            <a:softEdge rad="317500"/>
          </a:effectLst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语言中结构体的对齐规则：</a:t>
            </a:r>
            <a:endParaRPr lang="zh-CN" altLang="en-US" sz="2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spcBef>
                <a:spcPts val="0"/>
              </a:spcBef>
              <a:buClr>
                <a:srgbClr val="FF6600"/>
              </a:buClr>
              <a:buFont typeface="Wingdings" panose="05000000000000000000" pitchFamily="2" charset="2"/>
              <a:buChar char="þ"/>
            </a:pPr>
            <a:r>
              <a:rPr lang="zh-CN" altLang="en-US" sz="2400">
                <a:solidFill>
                  <a:srgbClr val="C00000"/>
                </a:solidFill>
              </a:rPr>
              <a:t>每个成员的偏移量必须是其类型大小的整数倍。</a:t>
            </a:r>
            <a:endParaRPr lang="zh-CN" altLang="en-US" sz="2400">
              <a:solidFill>
                <a:srgbClr val="C00000"/>
              </a:solidFill>
            </a:endParaRPr>
          </a:p>
          <a:p>
            <a:pPr marL="342900" indent="-342900" algn="l">
              <a:spcBef>
                <a:spcPts val="0"/>
              </a:spcBef>
              <a:buClr>
                <a:srgbClr val="FF6600"/>
              </a:buClr>
              <a:buFont typeface="Wingdings" panose="05000000000000000000" pitchFamily="2" charset="2"/>
              <a:buChar char="þ"/>
            </a:pPr>
            <a:r>
              <a:rPr lang="zh-CN" altLang="en-US" sz="2400">
                <a:solidFill>
                  <a:srgbClr val="C00000"/>
                </a:solidFill>
              </a:rPr>
              <a:t>结构体总大小必须是最大成员大小的整数倍。</a:t>
            </a:r>
            <a:endParaRPr lang="zh-CN" altLang="en-US" sz="240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5" name="文本框 34"/>
          <p:cNvSpPr txBox="1"/>
          <p:nvPr/>
        </p:nvSpPr>
        <p:spPr bwMode="auto">
          <a:xfrm>
            <a:off x="7524328" y="103065"/>
            <a:ext cx="1531436" cy="699986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108000" rIns="36000" bIns="0">
            <a:spAutoFit/>
          </a:bodyPr>
          <a:lstStyle/>
          <a:p>
            <a:pPr algn="r">
              <a:lnSpc>
                <a:spcPct val="80000"/>
              </a:lnSpc>
              <a:spcBef>
                <a:spcPts val="0"/>
              </a:spcBef>
            </a:pP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408-2025</a:t>
            </a:r>
            <a:endParaRPr lang="en-US" altLang="zh-CN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80000"/>
              </a:lnSpc>
              <a:spcBef>
                <a:spcPts val="0"/>
              </a:spcBef>
            </a:pP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15.</a:t>
            </a:r>
            <a:endParaRPr lang="zh-CN" altLang="en-US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 bwMode="auto">
          <a:xfrm>
            <a:off x="8383505" y="1675740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 bwMode="auto">
          <a:xfrm>
            <a:off x="3391559" y="75554"/>
            <a:ext cx="4023857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一、数据储存顺序</a:t>
            </a:r>
            <a:r>
              <a:rPr lang="en-US" altLang="zh-CN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边界对齐</a:t>
            </a:r>
            <a:endParaRPr lang="zh-CN" altLang="en-US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 bwMode="auto">
          <a:xfrm>
            <a:off x="7524328" y="103065"/>
            <a:ext cx="1531436" cy="699986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108000" rIns="36000" bIns="0">
            <a:spAutoFit/>
          </a:bodyPr>
          <a:lstStyle/>
          <a:p>
            <a:pPr algn="r">
              <a:lnSpc>
                <a:spcPct val="80000"/>
              </a:lnSpc>
              <a:spcBef>
                <a:spcPts val="0"/>
              </a:spcBef>
            </a:pP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408-2020</a:t>
            </a:r>
            <a:endParaRPr lang="en-US" altLang="zh-CN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80000"/>
              </a:lnSpc>
              <a:spcBef>
                <a:spcPts val="0"/>
              </a:spcBef>
            </a:pP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14.</a:t>
            </a:r>
            <a:endParaRPr lang="zh-CN" altLang="en-US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142346" y="764704"/>
            <a:ext cx="7021942" cy="3240361"/>
          </a:xfrm>
        </p:spPr>
        <p:txBody>
          <a:bodyPr/>
          <a:lstStyle/>
          <a:p>
            <a:pPr marL="0" indent="0">
              <a:buNone/>
            </a:pPr>
            <a:r>
              <a:rPr lang="zh-CN" altLang="en-US"/>
              <a:t>在</a:t>
            </a:r>
            <a:r>
              <a:rPr lang="zh-CN" altLang="en-US" dirty="0"/>
              <a:t>按字节编址，采用小端方式</a:t>
            </a:r>
            <a:br>
              <a:rPr lang="en-US" altLang="zh-CN" dirty="0"/>
            </a:br>
            <a:r>
              <a:rPr lang="zh-CN" altLang="en-US" dirty="0"/>
              <a:t>的 </a:t>
            </a:r>
            <a:r>
              <a:rPr lang="en-US" altLang="zh-CN" dirty="0"/>
              <a:t>32 </a:t>
            </a:r>
            <a:r>
              <a:rPr lang="zh-CN" altLang="en-US" dirty="0"/>
              <a:t>位计算机中，</a:t>
            </a:r>
            <a:br>
              <a:rPr lang="en-US" altLang="zh-CN" dirty="0"/>
            </a:br>
            <a:r>
              <a:rPr lang="zh-CN" altLang="en-US" dirty="0"/>
              <a:t>按边界对齐方式为以下 </a:t>
            </a:r>
            <a:r>
              <a:rPr lang="en-US" altLang="zh-CN" dirty="0"/>
              <a:t>C </a:t>
            </a:r>
            <a:r>
              <a:rPr lang="zh-CN" altLang="en-US" dirty="0"/>
              <a:t>语言</a:t>
            </a:r>
            <a:br>
              <a:rPr lang="en-US" altLang="zh-CN" dirty="0"/>
            </a:br>
            <a:r>
              <a:rPr lang="zh-CN" altLang="en-US" dirty="0"/>
              <a:t>结构型变量 </a:t>
            </a:r>
            <a:r>
              <a:rPr lang="en-US" altLang="zh-CN" dirty="0"/>
              <a:t>a </a:t>
            </a:r>
            <a:r>
              <a:rPr lang="zh-CN" altLang="en-US" dirty="0"/>
              <a:t>分配存储空间。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若 </a:t>
            </a:r>
            <a:r>
              <a:rPr lang="en-US" altLang="zh-CN" dirty="0"/>
              <a:t>a </a:t>
            </a:r>
            <a:r>
              <a:rPr lang="zh-CN" altLang="en-US" dirty="0"/>
              <a:t>的首地址为 </a:t>
            </a:r>
            <a:r>
              <a:rPr lang="en-US" altLang="zh-CN" dirty="0"/>
              <a:t>2020 FE00H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</a:t>
            </a:r>
            <a:r>
              <a:rPr lang="zh-CN" altLang="en-US" dirty="0"/>
              <a:t>的成员变量 </a:t>
            </a:r>
            <a:r>
              <a:rPr lang="en-US" altLang="zh-CN" dirty="0"/>
              <a:t>x2 </a:t>
            </a:r>
            <a:r>
              <a:rPr lang="zh-CN" altLang="en-US" dirty="0"/>
              <a:t>的机器数为</a:t>
            </a:r>
            <a:r>
              <a:rPr lang="en-US" altLang="zh-CN" dirty="0"/>
              <a:t>1234 0000H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则其中</a:t>
            </a:r>
            <a:r>
              <a:rPr lang="en-US" altLang="zh-CN" dirty="0"/>
              <a:t>34H</a:t>
            </a:r>
            <a:r>
              <a:rPr lang="zh-CN" altLang="en-US" dirty="0"/>
              <a:t>所在存储单元的地址是：</a:t>
            </a:r>
            <a:endParaRPr lang="zh-CN" altLang="en-US" dirty="0"/>
          </a:p>
        </p:txBody>
      </p:sp>
      <p:sp>
        <p:nvSpPr>
          <p:cNvPr id="33" name="内容占位符 2"/>
          <p:cNvSpPr txBox="1"/>
          <p:nvPr/>
        </p:nvSpPr>
        <p:spPr bwMode="auto">
          <a:xfrm>
            <a:off x="457200" y="4077073"/>
            <a:ext cx="2746648" cy="19442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514350" indent="-514350">
              <a:buClr>
                <a:srgbClr val="D60093"/>
              </a:buClr>
              <a:buSzPct val="100000"/>
              <a:buFont typeface="+mj-lt"/>
              <a:buAutoNum type="alphaUcPeriod"/>
            </a:pPr>
            <a:r>
              <a:rPr lang="en-US" altLang="zh-CN" kern="0" dirty="0"/>
              <a:t>2020 FE03H</a:t>
            </a:r>
            <a:endParaRPr lang="en-US" altLang="zh-CN" kern="0" dirty="0"/>
          </a:p>
          <a:p>
            <a:pPr marL="514350" indent="-514350">
              <a:buClr>
                <a:srgbClr val="D60093"/>
              </a:buClr>
              <a:buSzPct val="100000"/>
              <a:buFont typeface="+mj-lt"/>
              <a:buAutoNum type="alphaUcPeriod"/>
            </a:pPr>
            <a:r>
              <a:rPr lang="en-US" altLang="zh-CN" kern="0" dirty="0"/>
              <a:t>2020 FE04H</a:t>
            </a:r>
            <a:endParaRPr lang="en-US" altLang="zh-CN" kern="0" dirty="0"/>
          </a:p>
          <a:p>
            <a:pPr marL="514350" indent="-514350">
              <a:buClr>
                <a:srgbClr val="D60093"/>
              </a:buClr>
              <a:buSzPct val="100000"/>
              <a:buFont typeface="+mj-lt"/>
              <a:buAutoNum type="alphaUcPeriod"/>
            </a:pPr>
            <a:r>
              <a:rPr lang="en-US" altLang="zh-CN" kern="0" dirty="0"/>
              <a:t>2020 FE05H</a:t>
            </a:r>
            <a:endParaRPr lang="en-US" altLang="zh-CN" kern="0" dirty="0"/>
          </a:p>
          <a:p>
            <a:pPr marL="514350" indent="-514350">
              <a:buClr>
                <a:srgbClr val="D60093"/>
              </a:buClr>
              <a:buSzPct val="100000"/>
              <a:buFont typeface="+mj-lt"/>
              <a:buAutoNum type="alphaUcPeriod"/>
            </a:pPr>
            <a:r>
              <a:rPr lang="en-US" altLang="zh-CN" kern="0" dirty="0"/>
              <a:t>2020 FE06H</a:t>
            </a:r>
            <a:endParaRPr lang="zh-CN" altLang="en-US" kern="0" dirty="0"/>
          </a:p>
        </p:txBody>
      </p:sp>
      <p:sp>
        <p:nvSpPr>
          <p:cNvPr id="34" name="矩形 33"/>
          <p:cNvSpPr/>
          <p:nvPr/>
        </p:nvSpPr>
        <p:spPr>
          <a:xfrm>
            <a:off x="5148386" y="862842"/>
            <a:ext cx="3816102" cy="2062103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3200" b="0">
                <a:latin typeface="Consolas" panose="020B0609020204030204" pitchFamily="49" charset="0"/>
              </a:rPr>
              <a:t>s</a:t>
            </a:r>
            <a:r>
              <a:rPr lang="zh-CN" altLang="en-US" sz="3200" b="0">
                <a:latin typeface="Consolas" panose="020B0609020204030204" pitchFamily="49" charset="0"/>
              </a:rPr>
              <a:t>truct </a:t>
            </a:r>
            <a:r>
              <a:rPr lang="zh-CN" altLang="en-US" sz="3200" b="0" dirty="0">
                <a:latin typeface="Consolas" panose="020B0609020204030204" pitchFamily="49" charset="0"/>
              </a:rPr>
              <a:t>record</a:t>
            </a:r>
            <a:r>
              <a:rPr lang="en-US" altLang="zh-CN" sz="3200" b="0" dirty="0">
                <a:latin typeface="Consolas" panose="020B0609020204030204" pitchFamily="49" charset="0"/>
              </a:rPr>
              <a:t> </a:t>
            </a:r>
            <a:r>
              <a:rPr lang="zh-CN" altLang="en-US" sz="3200" b="0" dirty="0">
                <a:latin typeface="Consolas" panose="020B0609020204030204" pitchFamily="49" charset="0"/>
              </a:rPr>
              <a:t>{</a:t>
            </a:r>
            <a:endParaRPr lang="zh-CN" altLang="en-US" sz="3200" b="0" dirty="0">
              <a:latin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3200" b="0" dirty="0">
                <a:latin typeface="Consolas" panose="020B0609020204030204" pitchFamily="49" charset="0"/>
              </a:rPr>
              <a:t>	</a:t>
            </a:r>
            <a:r>
              <a:rPr lang="zh-CN" altLang="en-US" sz="3200" b="0" dirty="0">
                <a:latin typeface="Consolas" panose="020B0609020204030204" pitchFamily="49" charset="0"/>
              </a:rPr>
              <a:t>short x1;</a:t>
            </a:r>
            <a:endParaRPr lang="zh-CN" altLang="en-US" sz="3200" b="0" dirty="0">
              <a:latin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3200" b="0" dirty="0">
                <a:latin typeface="Consolas" panose="020B0609020204030204" pitchFamily="49" charset="0"/>
              </a:rPr>
              <a:t>	</a:t>
            </a:r>
            <a:r>
              <a:rPr lang="zh-CN" altLang="en-US" sz="3200" b="0" dirty="0">
                <a:latin typeface="Consolas" panose="020B0609020204030204" pitchFamily="49" charset="0"/>
              </a:rPr>
              <a:t>int x2;</a:t>
            </a:r>
            <a:endParaRPr lang="zh-CN" altLang="en-US" sz="3200" b="0" dirty="0">
              <a:latin typeface="Consolas" panose="020B0609020204030204" pitchFamily="49" charset="0"/>
            </a:endParaRPr>
          </a:p>
          <a:p>
            <a:pPr algn="l">
              <a:spcBef>
                <a:spcPts val="0"/>
              </a:spcBef>
            </a:pPr>
            <a:r>
              <a:rPr lang="zh-CN" altLang="en-US" sz="3200" b="0" dirty="0">
                <a:latin typeface="Consolas" panose="020B0609020204030204" pitchFamily="49" charset="0"/>
              </a:rPr>
              <a:t>} a;</a:t>
            </a:r>
            <a:endParaRPr lang="zh-CN" altLang="en-US" sz="3200" b="0" dirty="0">
              <a:latin typeface="Consolas" panose="020B0609020204030204" pitchFamily="49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724128" y="3596211"/>
            <a:ext cx="1810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2020 FE00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724128" y="3919822"/>
            <a:ext cx="1810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2020 FE01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724128" y="4243433"/>
            <a:ext cx="1810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2020 FE02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724128" y="4567044"/>
            <a:ext cx="1810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2020 FE03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724128" y="4890655"/>
            <a:ext cx="1810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2020 FE04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724128" y="5214266"/>
            <a:ext cx="1810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2020 FE05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724128" y="5537877"/>
            <a:ext cx="1810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2020 FE06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724128" y="5861489"/>
            <a:ext cx="1810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2020 FE07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44" name="矩形 43"/>
          <p:cNvSpPr/>
          <p:nvPr/>
        </p:nvSpPr>
        <p:spPr bwMode="auto">
          <a:xfrm>
            <a:off x="7534239" y="3717033"/>
            <a:ext cx="1069887" cy="31920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00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5" name="矩形 44"/>
          <p:cNvSpPr/>
          <p:nvPr/>
        </p:nvSpPr>
        <p:spPr bwMode="auto">
          <a:xfrm>
            <a:off x="7534239" y="4035438"/>
            <a:ext cx="1069887" cy="319202"/>
          </a:xfrm>
          <a:prstGeom prst="rect">
            <a:avLst/>
          </a:prstGeom>
          <a:solidFill>
            <a:srgbClr val="FFFF0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00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6" name="矩形 45"/>
          <p:cNvSpPr/>
          <p:nvPr/>
        </p:nvSpPr>
        <p:spPr bwMode="auto">
          <a:xfrm>
            <a:off x="7534239" y="4353655"/>
            <a:ext cx="1069887" cy="319202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00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7534239" y="4674441"/>
            <a:ext cx="1069887" cy="319202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00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7534239" y="4995229"/>
            <a:ext cx="1069887" cy="319202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effectLst/>
                <a:latin typeface="Times New Roman" panose="02020503050405090304" pitchFamily="18" charset="0"/>
                <a:ea typeface="宋体" pitchFamily="2" charset="-122"/>
              </a:rPr>
              <a:t>00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7534239" y="5313634"/>
            <a:ext cx="1069887" cy="319202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effectLst/>
                <a:latin typeface="Times New Roman" panose="02020503050405090304" pitchFamily="18" charset="0"/>
                <a:ea typeface="宋体" pitchFamily="2" charset="-122"/>
              </a:rPr>
              <a:t>00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7534239" y="5631851"/>
            <a:ext cx="1069887" cy="319202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effectLst/>
                <a:latin typeface="Times New Roman" panose="02020503050405090304" pitchFamily="18" charset="0"/>
                <a:ea typeface="宋体" pitchFamily="2" charset="-122"/>
              </a:rPr>
              <a:t>34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1" name="矩形 50"/>
          <p:cNvSpPr/>
          <p:nvPr/>
        </p:nvSpPr>
        <p:spPr bwMode="auto">
          <a:xfrm>
            <a:off x="7534239" y="5952637"/>
            <a:ext cx="1069887" cy="319202"/>
          </a:xfrm>
          <a:prstGeom prst="rect">
            <a:avLst/>
          </a:prstGeom>
          <a:solidFill>
            <a:srgbClr val="FFCC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effectLst/>
                <a:latin typeface="Times New Roman" panose="02020503050405090304" pitchFamily="18" charset="0"/>
                <a:ea typeface="宋体" pitchFamily="2" charset="-122"/>
              </a:rPr>
              <a:t>12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2" name="右中括号 51"/>
          <p:cNvSpPr/>
          <p:nvPr/>
        </p:nvSpPr>
        <p:spPr bwMode="auto">
          <a:xfrm>
            <a:off x="8686800" y="5041073"/>
            <a:ext cx="133350" cy="1230766"/>
          </a:xfrm>
          <a:prstGeom prst="rightBracket">
            <a:avLst>
              <a:gd name="adj" fmla="val 44964"/>
            </a:avLst>
          </a:pr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3" name="右中括号 52"/>
          <p:cNvSpPr/>
          <p:nvPr/>
        </p:nvSpPr>
        <p:spPr bwMode="auto">
          <a:xfrm>
            <a:off x="8686800" y="3710386"/>
            <a:ext cx="133350" cy="643269"/>
          </a:xfrm>
          <a:prstGeom prst="rightBracket">
            <a:avLst>
              <a:gd name="adj" fmla="val 44964"/>
            </a:avLst>
          </a:pr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8665524" y="5422650"/>
            <a:ext cx="35907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Times New Roman" panose="02020503050405090304"/>
                <a:ea typeface="宋体"/>
              </a:rPr>
              <a:t>x2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8665524" y="3821079"/>
            <a:ext cx="359073" cy="43088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Times New Roman" panose="02020503050405090304"/>
                <a:ea typeface="宋体"/>
              </a:rPr>
              <a:t>x1</a:t>
            </a:r>
            <a:endParaRPr lang="zh-CN" altLang="en-US" dirty="0"/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572966" y="5917081"/>
            <a:ext cx="2397274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文本框 29"/>
          <p:cNvSpPr txBox="1"/>
          <p:nvPr/>
        </p:nvSpPr>
        <p:spPr bwMode="auto">
          <a:xfrm>
            <a:off x="8277630" y="2453231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719268"/>
            <a:ext cx="8208590" cy="5544697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指令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的典型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分类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黑体" pitchFamily="2" charset="-122"/>
                <a:cs typeface="+mn-cs"/>
              </a:rPr>
              <a:t>：</a:t>
            </a:r>
            <a:endParaRPr lang="en-US" altLang="zh-CN"/>
          </a:p>
          <a:p>
            <a:pPr>
              <a:spcBef>
                <a:spcPts val="1200"/>
              </a:spcBef>
            </a:pPr>
            <a:r>
              <a:rPr lang="zh-CN" altLang="en-US"/>
              <a:t>数据传送类</a:t>
            </a:r>
            <a:endParaRPr lang="zh-CN" altLang="en-US"/>
          </a:p>
          <a:p>
            <a:pPr>
              <a:spcBef>
                <a:spcPts val="1200"/>
              </a:spcBef>
            </a:pPr>
            <a:r>
              <a:rPr lang="zh-CN" altLang="en-US"/>
              <a:t>算术运算类</a:t>
            </a:r>
            <a:endParaRPr lang="zh-CN" altLang="en-US"/>
          </a:p>
          <a:p>
            <a:pPr>
              <a:spcBef>
                <a:spcPts val="1200"/>
              </a:spcBef>
            </a:pPr>
            <a:r>
              <a:rPr lang="zh-CN" altLang="en-US"/>
              <a:t>逻辑运算类</a:t>
            </a:r>
            <a:endParaRPr lang="zh-CN" altLang="en-US"/>
          </a:p>
          <a:p>
            <a:pPr>
              <a:spcBef>
                <a:spcPts val="1200"/>
              </a:spcBef>
            </a:pPr>
            <a:r>
              <a:rPr lang="zh-CN" altLang="en-US"/>
              <a:t>数据转换类</a:t>
            </a:r>
            <a:endParaRPr lang="zh-CN" altLang="en-US"/>
          </a:p>
          <a:p>
            <a:pPr>
              <a:spcBef>
                <a:spcPts val="1200"/>
              </a:spcBef>
            </a:pPr>
            <a:r>
              <a:rPr lang="zh-CN" altLang="en-US"/>
              <a:t>输入</a:t>
            </a:r>
            <a:r>
              <a:rPr lang="en-US" altLang="zh-CN"/>
              <a:t>/</a:t>
            </a:r>
            <a:r>
              <a:rPr lang="zh-CN" altLang="en-US"/>
              <a:t>输出类</a:t>
            </a:r>
            <a:endParaRPr lang="zh-CN" altLang="en-US"/>
          </a:p>
          <a:p>
            <a:pPr>
              <a:spcBef>
                <a:spcPts val="1200"/>
              </a:spcBef>
            </a:pPr>
            <a:r>
              <a:rPr lang="zh-CN" altLang="en-US"/>
              <a:t>系统控制类</a:t>
            </a:r>
            <a:endParaRPr lang="zh-CN" altLang="en-US"/>
          </a:p>
          <a:p>
            <a:pPr>
              <a:spcBef>
                <a:spcPts val="1200"/>
              </a:spcBef>
            </a:pPr>
            <a:r>
              <a:rPr lang="zh-CN" altLang="en-US"/>
              <a:t>程序控制类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491880" y="3806169"/>
            <a:ext cx="4608512" cy="830997"/>
          </a:xfrm>
          <a:prstGeom prst="rect">
            <a:avLst/>
          </a:prstGeom>
          <a:solidFill>
            <a:srgbClr val="FFFFCC"/>
          </a:solidFill>
          <a:ln w="28575">
            <a:solidFill>
              <a:srgbClr val="FF7DB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通常是</a:t>
            </a:r>
            <a:r>
              <a:rPr lang="zh-CN" altLang="en-US" sz="2400" dirty="0">
                <a:solidFill>
                  <a:srgbClr val="FF0000"/>
                </a:solidFill>
              </a:rPr>
              <a:t>特权指令</a:t>
            </a:r>
            <a:r>
              <a:rPr lang="zh-CN" altLang="en-US" sz="2400" dirty="0"/>
              <a:t>，虚存管理、</a:t>
            </a:r>
            <a:br>
              <a:rPr lang="en-US" altLang="zh-CN" sz="2400" dirty="0"/>
            </a:br>
            <a:r>
              <a:rPr lang="zh-CN" altLang="en-US" sz="2400" dirty="0"/>
              <a:t>任务切换、改变处理器工作模式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491880" y="4781470"/>
            <a:ext cx="5527638" cy="1815882"/>
          </a:xfrm>
          <a:prstGeom prst="rect">
            <a:avLst/>
          </a:prstGeom>
          <a:solidFill>
            <a:srgbClr val="FFFFCC"/>
          </a:solidFill>
          <a:ln w="28575">
            <a:solidFill>
              <a:srgbClr val="FF7DB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转移指令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sz="2800" b="0">
                <a:latin typeface="Consolas" panose="020B0609020204030204" pitchFamily="49" charset="0"/>
                <a:ea typeface="楷体" panose="02010609060101010101" pitchFamily="49" charset="-122"/>
              </a:rPr>
              <a:t>JZ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JMP</a:t>
            </a:r>
            <a:endParaRPr lang="zh-CN" altLang="en-US" b="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循环控制指令</a:t>
            </a:r>
            <a:r>
              <a:rPr lang="en-US" altLang="zh-CN" b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LOOP</a:t>
            </a:r>
            <a:endParaRPr lang="zh-CN" altLang="en-US" b="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</a:rPr>
              <a:t>过程调用和</a:t>
            </a: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返回指令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CALL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RET</a:t>
            </a:r>
            <a:endParaRPr lang="zh-CN" altLang="en-US" sz="2800" b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 dirty="0">
                <a:latin typeface="楷体" panose="02010609060101010101" pitchFamily="49" charset="-122"/>
                <a:ea typeface="楷体" panose="02010609060101010101" pitchFamily="49" charset="-122"/>
              </a:rPr>
              <a:t>程序自</a:t>
            </a:r>
            <a:r>
              <a:rPr lang="zh-CN" altLang="en-US" sz="2800" b="0">
                <a:latin typeface="楷体" panose="02010609060101010101" pitchFamily="49" charset="-122"/>
                <a:ea typeface="楷体" panose="02010609060101010101" pitchFamily="49" charset="-122"/>
              </a:rPr>
              <a:t>中断指令</a:t>
            </a:r>
            <a:r>
              <a:rPr lang="en-US" altLang="zh-CN" sz="2800" b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INT</a:t>
            </a:r>
            <a:endParaRPr lang="zh-CN" altLang="en-US" b="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>
            <a:off x="2932794" y="5056128"/>
            <a:ext cx="559086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7DB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任意多边形: 形状 7"/>
          <p:cNvSpPr/>
          <p:nvPr/>
        </p:nvSpPr>
        <p:spPr bwMode="auto">
          <a:xfrm>
            <a:off x="3017441" y="3140968"/>
            <a:ext cx="474439" cy="740200"/>
          </a:xfrm>
          <a:custGeom>
            <a:avLst/>
            <a:gdLst>
              <a:gd name="connsiteX0" fmla="*/ 0 w 752030"/>
              <a:gd name="connsiteY0" fmla="*/ 1572426 h 1572426"/>
              <a:gd name="connsiteX1" fmla="*/ 273466 w 752030"/>
              <a:gd name="connsiteY1" fmla="*/ 1247686 h 1572426"/>
              <a:gd name="connsiteX2" fmla="*/ 324740 w 752030"/>
              <a:gd name="connsiteY2" fmla="*/ 247828 h 1572426"/>
              <a:gd name="connsiteX3" fmla="*/ 752030 w 752030"/>
              <a:gd name="connsiteY3" fmla="*/ 0 h 1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030" h="1572426">
                <a:moveTo>
                  <a:pt x="0" y="1572426"/>
                </a:moveTo>
                <a:cubicBezTo>
                  <a:pt x="109671" y="1520439"/>
                  <a:pt x="219343" y="1468452"/>
                  <a:pt x="273466" y="1247686"/>
                </a:cubicBezTo>
                <a:cubicBezTo>
                  <a:pt x="327589" y="1026920"/>
                  <a:pt x="244979" y="455776"/>
                  <a:pt x="324740" y="247828"/>
                </a:cubicBezTo>
                <a:cubicBezTo>
                  <a:pt x="404501" y="39880"/>
                  <a:pt x="578265" y="19940"/>
                  <a:pt x="752030" y="0"/>
                </a:cubicBezTo>
              </a:path>
            </a:pathLst>
          </a:custGeom>
          <a:noFill/>
          <a:ln w="76200" cap="flat" cmpd="sng" algn="ctr">
            <a:solidFill>
              <a:srgbClr val="FF7DB2"/>
            </a:solidFill>
            <a:prstDash val="solid"/>
            <a:round/>
            <a:headEnd type="none" w="med" len="med"/>
            <a:tailEnd type="triangle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91880" y="2276871"/>
            <a:ext cx="4591534" cy="1384995"/>
          </a:xfrm>
          <a:prstGeom prst="rect">
            <a:avLst/>
          </a:prstGeom>
          <a:solidFill>
            <a:srgbClr val="FFFFCC"/>
          </a:solidFill>
          <a:ln w="28575">
            <a:solidFill>
              <a:srgbClr val="FF7DB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lvl="1" algn="l">
              <a:spcBef>
                <a:spcPts val="0"/>
              </a:spcBef>
              <a:buClr>
                <a:srgbClr val="FF00FF"/>
              </a:buClr>
              <a:buSzPct val="80000"/>
            </a:pPr>
            <a:r>
              <a:rPr lang="zh-CN" altLang="en-US" sz="2800" b="0">
                <a:latin typeface="Consolas" panose="020B0609020204030204" pitchFamily="49" charset="0"/>
                <a:ea typeface="楷体" panose="02010609060101010101" pitchFamily="49" charset="-122"/>
              </a:rPr>
              <a:t>访问接口的方式：</a:t>
            </a:r>
            <a:endParaRPr lang="en-US" altLang="zh-CN" sz="2800" b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sz="2800" b="0">
                <a:latin typeface="Consolas" panose="020B0609020204030204" pitchFamily="49" charset="0"/>
                <a:ea typeface="楷体" panose="02010609060101010101" pitchFamily="49" charset="-122"/>
              </a:rPr>
              <a:t>统一编址：</a:t>
            </a:r>
            <a:r>
              <a:rPr lang="en-US" altLang="zh-CN" sz="2800" b="0">
                <a:latin typeface="Consolas" panose="020B0609020204030204" pitchFamily="49" charset="0"/>
                <a:ea typeface="楷体" panose="02010609060101010101" pitchFamily="49" charset="-122"/>
              </a:rPr>
              <a:t>LOAD/STORE</a:t>
            </a:r>
            <a:endParaRPr lang="en-US" altLang="zh-CN" sz="2800" b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pPr marL="342900" lvl="1" indent="-342900" algn="l"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v"/>
            </a:pPr>
            <a:r>
              <a:rPr lang="zh-CN" altLang="en-US" b="0">
                <a:latin typeface="Consolas" panose="020B0609020204030204" pitchFamily="49" charset="0"/>
                <a:ea typeface="楷体" panose="02010609060101010101" pitchFamily="49" charset="-122"/>
              </a:rPr>
              <a:t>独立编址：</a:t>
            </a:r>
            <a:r>
              <a:rPr lang="en-US" altLang="zh-CN" b="0">
                <a:latin typeface="Consolas" panose="020B0609020204030204" pitchFamily="49" charset="0"/>
                <a:ea typeface="楷体" panose="02010609060101010101" pitchFamily="49" charset="-122"/>
              </a:rPr>
              <a:t>IN/OUT</a:t>
            </a:r>
            <a:endParaRPr lang="zh-CN" altLang="en-US" sz="2800" b="0" dirty="0">
              <a:latin typeface="Consolas" panose="020B0609020204030204" pitchFamily="49" charset="0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2932794" y="4463684"/>
            <a:ext cx="559086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7DB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文本框 10"/>
          <p:cNvSpPr txBox="1"/>
          <p:nvPr/>
        </p:nvSpPr>
        <p:spPr bwMode="auto">
          <a:xfrm>
            <a:off x="5537180" y="44777"/>
            <a:ext cx="3416320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二、指令功能的设计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 bwMode="auto">
          <a:xfrm>
            <a:off x="577968" y="5147135"/>
            <a:ext cx="2747867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（修改PC的内容）</a:t>
            </a:r>
            <a:endParaRPr lang="zh-CN" altLang="en-US" sz="240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20610"/>
            <a:ext cx="8362950" cy="5760799"/>
          </a:xfrm>
        </p:spPr>
        <p:txBody>
          <a:bodyPr/>
          <a:lstStyle/>
          <a:p>
            <a:r>
              <a:rPr lang="zh-CN" altLang="en-US"/>
              <a:t>指令格式、操作码设计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FF"/>
                </a:solidFill>
              </a:rPr>
              <a:t>定长</a:t>
            </a:r>
            <a:r>
              <a:rPr lang="zh-CN" altLang="en-US"/>
              <a:t>操作码</a:t>
            </a:r>
            <a:endParaRPr lang="en-US" altLang="zh-CN"/>
          </a:p>
          <a:p>
            <a:pPr lvl="2"/>
            <a:r>
              <a:rPr lang="zh-CN" altLang="en-US"/>
              <a:t>指令系统共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zh-CN" altLang="en-US"/>
              <a:t>条指令，所有指令均用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zh-CN" altLang="en-US"/>
              <a:t>位编码，</a:t>
            </a:r>
            <a:br>
              <a:rPr lang="en-US" altLang="zh-CN"/>
            </a:br>
            <a:r>
              <a:rPr lang="zh-CN" altLang="en-US"/>
              <a:t>应满足：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 i="1" baseline="30000">
                <a:solidFill>
                  <a:srgbClr val="FF0000"/>
                </a:solidFill>
              </a:rPr>
              <a:t>n</a:t>
            </a:r>
            <a:endParaRPr lang="en-US" altLang="zh-CN" i="1" baseline="30000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从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zh-CN" altLang="en-US"/>
              <a:t>个编码中选出</a:t>
            </a:r>
            <a:r>
              <a:rPr lang="en-US" altLang="zh-CN" i="1"/>
              <a:t>N</a:t>
            </a:r>
            <a:r>
              <a:rPr lang="zh-CN" altLang="en-US"/>
              <a:t>个编码，</a:t>
            </a:r>
            <a:br>
              <a:rPr lang="en-US" altLang="zh-CN"/>
            </a:br>
            <a:r>
              <a:rPr lang="zh-CN" altLang="en-US"/>
              <a:t>用来表示</a:t>
            </a:r>
            <a:r>
              <a:rPr lang="en-US" altLang="zh-CN" i="1"/>
              <a:t>N</a:t>
            </a:r>
            <a:r>
              <a:rPr lang="zh-CN" altLang="en-US"/>
              <a:t>条指令的操作码。</a:t>
            </a:r>
            <a:endParaRPr lang="en-US" altLang="zh-CN"/>
          </a:p>
          <a:p>
            <a:pPr lvl="2"/>
            <a:r>
              <a:rPr lang="zh-CN" altLang="en-US"/>
              <a:t>平均码长为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endParaRPr lang="en-US" altLang="zh-CN" i="1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0000FF"/>
                </a:solidFill>
              </a:rPr>
              <a:t>变长</a:t>
            </a:r>
            <a:r>
              <a:rPr lang="zh-CN" altLang="en-US"/>
              <a:t>操作码</a:t>
            </a:r>
            <a:endParaRPr lang="en-US" altLang="zh-CN"/>
          </a:p>
          <a:p>
            <a:pPr lvl="2"/>
            <a:r>
              <a:rPr lang="zh-CN" altLang="en-US"/>
              <a:t>原则：</a:t>
            </a:r>
            <a:r>
              <a:rPr lang="zh-CN" altLang="en-US">
                <a:solidFill>
                  <a:srgbClr val="CC00CC"/>
                </a:solidFill>
              </a:rPr>
              <a:t>短码不能是长码的前缀</a:t>
            </a:r>
            <a:endParaRPr lang="en-US" altLang="zh-CN">
              <a:solidFill>
                <a:srgbClr val="CC00CC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扩展操作码</a:t>
            </a:r>
            <a:r>
              <a:rPr lang="zh-CN" altLang="en-US"/>
              <a:t>设计</a:t>
            </a:r>
            <a:endParaRPr lang="en-US" altLang="zh-CN"/>
          </a:p>
          <a:p>
            <a:pPr lvl="2">
              <a:spcBef>
                <a:spcPts val="2400"/>
              </a:spcBef>
            </a:pPr>
            <a:r>
              <a:rPr lang="zh-CN" altLang="en-US"/>
              <a:t>平均码长＝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1"/>
              <p:cNvSpPr txBox="1"/>
              <p:nvPr/>
            </p:nvSpPr>
            <p:spPr bwMode="auto">
              <a:xfrm>
                <a:off x="2926160" y="5170488"/>
                <a:ext cx="1511300" cy="1093787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6160" y="5170488"/>
                <a:ext cx="1511300" cy="1093787"/>
              </a:xfrm>
              <a:prstGeom prst="rect">
                <a:avLst/>
              </a:prstGeom>
              <a:blipFill rotWithShape="1">
                <a:blip r:embed="rId1"/>
                <a:stretch>
                  <a:fillRect l="-5" t="-29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806802" y="2060848"/>
            <a:ext cx="2879998" cy="1815882"/>
          </a:xfrm>
          <a:prstGeom prst="rect">
            <a:avLst/>
          </a:prstGeom>
          <a:solidFill>
            <a:srgbClr val="FFFFCC"/>
          </a:solidFill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zh-CN" altLang="en-US" kern="0">
                <a:solidFill>
                  <a:srgbClr val="009900"/>
                </a:solidFill>
                <a:ea typeface="楷体" panose="02010609060101010101" pitchFamily="49" charset="-122"/>
              </a:rPr>
              <a:t>优点</a:t>
            </a:r>
            <a:r>
              <a:rPr lang="zh-CN" altLang="en-US" kern="0">
                <a:ea typeface="楷体" panose="02010609060101010101" pitchFamily="49" charset="-122"/>
              </a:rPr>
              <a:t>：</a:t>
            </a:r>
            <a:endParaRPr lang="en-US" altLang="zh-CN" kern="0">
              <a:ea typeface="楷体" panose="02010609060101010101" pitchFamily="49" charset="-122"/>
            </a:endParaRPr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zh-CN" altLang="en-US" kern="0">
                <a:ea typeface="楷体" panose="02010609060101010101" pitchFamily="49" charset="-122"/>
              </a:rPr>
              <a:t>操作码构造简单，</a:t>
            </a:r>
            <a:endParaRPr lang="en-US" altLang="zh-CN" kern="0">
              <a:ea typeface="楷体" panose="02010609060101010101" pitchFamily="49" charset="-122"/>
            </a:endParaRPr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zh-CN" altLang="en-US" kern="0">
                <a:ea typeface="楷体" panose="02010609060101010101" pitchFamily="49" charset="-122"/>
              </a:rPr>
              <a:t>硬件设计简单，</a:t>
            </a:r>
            <a:endParaRPr lang="en-US" altLang="zh-CN" kern="0">
              <a:ea typeface="楷体" panose="02010609060101010101" pitchFamily="49" charset="-122"/>
            </a:endParaRPr>
          </a:p>
          <a:p>
            <a:pPr algn="l">
              <a:spcBef>
                <a:spcPts val="0"/>
              </a:spcBef>
              <a:buClr>
                <a:schemeClr val="bg2"/>
              </a:buClr>
              <a:buSzPct val="75000"/>
            </a:pPr>
            <a:r>
              <a:rPr lang="zh-CN" altLang="en-US" kern="0">
                <a:ea typeface="楷体" panose="02010609060101010101" pitchFamily="49" charset="-122"/>
              </a:rPr>
              <a:t>译码速度快。</a:t>
            </a:r>
            <a:endParaRPr lang="zh-CN" altLang="en-US" kern="0"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79368" y="170330"/>
            <a:ext cx="3707432" cy="1384995"/>
          </a:xfrm>
          <a:prstGeom prst="rect">
            <a:avLst/>
          </a:prstGeom>
          <a:solidFill>
            <a:srgbClr val="FFFFCC"/>
          </a:solidFill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zh-CN" altLang="en-US" kern="0">
                <a:solidFill>
                  <a:srgbClr val="009900"/>
                </a:solidFill>
                <a:ea typeface="楷体" panose="02010609060101010101" pitchFamily="49" charset="-122"/>
              </a:rPr>
              <a:t>缺点</a:t>
            </a:r>
            <a:r>
              <a:rPr lang="zh-CN" altLang="en-US" kern="0">
                <a:ea typeface="楷体" panose="02010609060101010101" pitchFamily="49" charset="-122"/>
              </a:rPr>
              <a:t>：</a:t>
            </a:r>
            <a:endParaRPr lang="en-US" altLang="zh-CN" kern="0">
              <a:ea typeface="楷体" panose="02010609060101010101" pitchFamily="49" charset="-122"/>
            </a:endParaRPr>
          </a:p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zh-CN" altLang="en-US" kern="0">
                <a:ea typeface="楷体" panose="02010609060101010101" pitchFamily="49" charset="-122"/>
              </a:rPr>
              <a:t>操作码占存储空间大；</a:t>
            </a:r>
            <a:endParaRPr lang="en-US" altLang="zh-CN" kern="0">
              <a:ea typeface="楷体" panose="02010609060101010101" pitchFamily="49" charset="-122"/>
            </a:endParaRPr>
          </a:p>
          <a:p>
            <a:pPr lvl="0" algn="l">
              <a:spcBef>
                <a:spcPts val="0"/>
              </a:spcBef>
              <a:buClr>
                <a:schemeClr val="bg2"/>
              </a:buClr>
              <a:buSzPct val="75000"/>
              <a:defRPr/>
            </a:pPr>
            <a:r>
              <a:rPr lang="zh-CN" altLang="en-US" kern="0">
                <a:ea typeface="楷体" panose="02010609060101010101" pitchFamily="49" charset="-122"/>
              </a:rPr>
              <a:t>指令规模扩充受限。</a:t>
            </a:r>
            <a:endParaRPr lang="zh-CN" altLang="en-US" kern="0">
              <a:ea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5806802" y="5741055"/>
            <a:ext cx="307007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三、指令格式设计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457200" y="836712"/>
            <a:ext cx="8578850" cy="19442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385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5055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1795780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【p192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，例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5.3】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某计算机中有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20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条指令的使用频度是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80%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80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条指令的使用频度是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15%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40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条指令的使用频度是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5%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，试设计固定长度和可变长度的编码。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sp>
        <p:nvSpPr>
          <p:cNvPr id="11" name="内容占位符 2"/>
          <p:cNvSpPr txBox="1"/>
          <p:nvPr/>
        </p:nvSpPr>
        <p:spPr bwMode="auto">
          <a:xfrm>
            <a:off x="457646" y="2852936"/>
            <a:ext cx="8578850" cy="30243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【</a:t>
            </a: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解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】</a:t>
            </a:r>
            <a:endParaRPr lang="en-US" altLang="zh-CN" kern="0">
              <a:solidFill>
                <a:srgbClr val="000000"/>
              </a:solidFill>
              <a:latin typeface="Times New Roman" panose="02020503050405090304"/>
              <a:ea typeface="楷体" panose="02010609060101010101" pitchFamily="49" charset="-122"/>
            </a:endParaRPr>
          </a:p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（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1</a:t>
            </a: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）定长操作码：</a:t>
            </a:r>
            <a:endParaRPr lang="en-US" altLang="zh-CN" kern="0">
              <a:solidFill>
                <a:srgbClr val="000000"/>
              </a:solidFill>
              <a:latin typeface="Times New Roman" panose="02020503050405090304"/>
              <a:ea typeface="楷体" panose="02010609060101010101" pitchFamily="49" charset="-122"/>
            </a:endParaRPr>
          </a:p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20</a:t>
            </a:r>
            <a:r>
              <a:rPr lang="zh-CN" altLang="en-US" kern="0">
                <a:solidFill>
                  <a:srgbClr val="000000"/>
                </a:solidFill>
                <a:latin typeface="宋体" pitchFamily="2" charset="-122"/>
              </a:rPr>
              <a:t>＋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80</a:t>
            </a:r>
            <a:r>
              <a:rPr lang="zh-CN" altLang="en-US" kern="0">
                <a:solidFill>
                  <a:srgbClr val="000000"/>
                </a:solidFill>
                <a:latin typeface="宋体" pitchFamily="2" charset="-122"/>
              </a:rPr>
              <a:t>＋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40</a:t>
            </a:r>
            <a:r>
              <a:rPr lang="zh-CN" altLang="en-US" kern="0">
                <a:solidFill>
                  <a:srgbClr val="000000"/>
                </a:solidFill>
                <a:latin typeface="宋体" pitchFamily="2" charset="-122"/>
              </a:rPr>
              <a:t>＝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140 </a:t>
            </a: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条指令，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8</a:t>
            </a: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位操作码长度。</a:t>
            </a:r>
            <a:endParaRPr lang="en-US" altLang="zh-CN" kern="0">
              <a:solidFill>
                <a:srgbClr val="000000"/>
              </a:solidFill>
              <a:latin typeface="Times New Roman" panose="02020503050405090304"/>
              <a:ea typeface="楷体" panose="02010609060101010101" pitchFamily="49" charset="-122"/>
            </a:endParaRPr>
          </a:p>
          <a:p>
            <a:pPr algn="l">
              <a:spcBef>
                <a:spcPct val="20000"/>
              </a:spcBef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从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256</a:t>
            </a: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种编码中选出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140</a:t>
            </a: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种即可。</a:t>
            </a:r>
            <a:endParaRPr lang="en-US" altLang="zh-CN" kern="0">
              <a:solidFill>
                <a:srgbClr val="000000"/>
              </a:solidFill>
              <a:latin typeface="Times New Roman" panose="02020503050405090304"/>
              <a:ea typeface="楷体" panose="02010609060101010101" pitchFamily="49" charset="-122"/>
            </a:endParaRPr>
          </a:p>
          <a:p>
            <a:pPr algn="l">
              <a:spcBef>
                <a:spcPts val="1800"/>
              </a:spcBef>
              <a:buClr>
                <a:srgbClr val="00007D"/>
              </a:buClr>
              <a:buSzPct val="75000"/>
            </a:pP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（</a:t>
            </a:r>
            <a:r>
              <a:rPr lang="en-US" altLang="zh-CN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2</a:t>
            </a:r>
            <a:r>
              <a:rPr lang="zh-CN" altLang="en-US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）扩展操作码：</a:t>
            </a:r>
            <a:endParaRPr lang="zh-CN" altLang="en-US" kern="0">
              <a:solidFill>
                <a:srgbClr val="000000"/>
              </a:solidFill>
              <a:latin typeface="Times New Roman" panose="02020503050405090304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5952097" y="51751"/>
            <a:ext cx="307007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三、指令格式设计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 bwMode="auto">
          <a:xfrm>
            <a:off x="8383505" y="620688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213065" y="68431"/>
            <a:ext cx="5351145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385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5055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1795780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A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类指令：使用频度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80%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，共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20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条。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B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类指令：使用频度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15%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，共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80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条。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C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类指令：使用频度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5%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，共 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40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条。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sp>
        <p:nvSpPr>
          <p:cNvPr id="6" name="内容占位符 2"/>
          <p:cNvSpPr txBox="1"/>
          <p:nvPr/>
        </p:nvSpPr>
        <p:spPr bwMode="auto">
          <a:xfrm>
            <a:off x="67666" y="1196752"/>
            <a:ext cx="3432350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/>
          <a:p>
            <a:pPr algn="l">
              <a:spcBef>
                <a:spcPts val="1800"/>
              </a:spcBef>
              <a:buClr>
                <a:srgbClr val="00007D"/>
              </a:buClr>
              <a:buSzPct val="75000"/>
            </a:pPr>
            <a:r>
              <a:rPr lang="zh-CN" altLang="en-US" sz="2400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（</a:t>
            </a:r>
            <a:r>
              <a:rPr lang="en-US" altLang="zh-CN" sz="2400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2</a:t>
            </a:r>
            <a:r>
              <a:rPr lang="zh-CN" altLang="en-US" sz="2400" kern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）设计扩展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503050405090304"/>
                <a:ea typeface="楷体" panose="02010609060101010101" pitchFamily="49" charset="-122"/>
              </a:rPr>
              <a:t>操作码：</a:t>
            </a:r>
            <a:endParaRPr lang="zh-CN" altLang="en-US" sz="2400" kern="0" dirty="0">
              <a:solidFill>
                <a:srgbClr val="000000"/>
              </a:solidFill>
              <a:latin typeface="Times New Roman" panose="02020503050405090304"/>
              <a:ea typeface="楷体" panose="02010609060101010101" pitchFamily="49" charset="-122"/>
            </a:endParaRPr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211682" y="1647384"/>
            <a:ext cx="419858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385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5055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1795780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从短码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A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类指令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开始设计。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8890" y="2103239"/>
            <a:ext cx="33778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求满足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2</a:t>
            </a:r>
            <a:r>
              <a:rPr lang="en-US" altLang="zh-CN" sz="2400" i="1" baseline="50000">
                <a:solidFill>
                  <a:srgbClr val="FF0000"/>
                </a:solidFill>
                <a:latin typeface="Times New Roman" panose="02020503050405090304"/>
              </a:rPr>
              <a:t>x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＞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20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的最小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/>
              </a:rPr>
              <a:t>x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，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90401" y="2103239"/>
            <a:ext cx="14975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最小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/>
              </a:rPr>
              <a:t>x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＝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</a:rPr>
              <a:t>5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5364088" y="188640"/>
          <a:ext cx="630787" cy="6339840"/>
        </p:xfrm>
        <a:graphic>
          <a:graphicData uri="http://schemas.openxmlformats.org/drawingml/2006/table">
            <a:tbl>
              <a:tblPr firstRow="1" bandRow="1"/>
              <a:tblGrid>
                <a:gridCol w="630787"/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00000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00001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00010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00011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00100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00101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00110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00111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01000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01001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01010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01011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01100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01101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01110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01111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10000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10001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10010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10011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10100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10101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10110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10111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11000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11001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11010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11011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11100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11101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 dirty="0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11110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11111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 bwMode="auto">
          <a:xfrm>
            <a:off x="5364089" y="193872"/>
            <a:ext cx="630786" cy="3932884"/>
          </a:xfrm>
          <a:prstGeom prst="rect">
            <a:avLst/>
          </a:prstGeom>
          <a:noFill/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  <p:txBody>
          <a:bodyPr rtlCol="0" anchor="ctr"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93858" y="1006152"/>
            <a:ext cx="415498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endParaRPr lang="en-US" altLang="zh-CN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18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zh-CN" altLang="en-US" sz="1800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8890" y="2651298"/>
            <a:ext cx="47949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求满足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2</a:t>
            </a:r>
            <a:r>
              <a:rPr lang="en-US" altLang="zh-CN" sz="2400" baseline="30000">
                <a:solidFill>
                  <a:srgbClr val="FF0000"/>
                </a:solidFill>
                <a:latin typeface="Times New Roman" panose="02020503050405090304"/>
              </a:rPr>
              <a:t>5</a:t>
            </a:r>
            <a:r>
              <a:rPr lang="en-US" altLang="zh-CN" sz="240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20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×2</a:t>
            </a:r>
            <a:r>
              <a:rPr lang="en-US" altLang="zh-CN" sz="2400" i="1" baseline="50000">
                <a:solidFill>
                  <a:srgbClr val="0000FF"/>
                </a:solidFill>
                <a:latin typeface="Times New Roman" panose="02020503050405090304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＞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80 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的最小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503050405090304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，</a:t>
            </a:r>
            <a:endParaRPr lang="en-US" altLang="zh-CN" sz="2400" dirty="0">
              <a:solidFill>
                <a:srgbClr val="000000"/>
              </a:solidFill>
              <a:latin typeface="Times New Roman" panose="020205030504050903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8890" y="3107416"/>
            <a:ext cx="22829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即：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12×2</a:t>
            </a:r>
            <a:r>
              <a:rPr lang="en-US" altLang="zh-CN" sz="2400" i="1" baseline="50000">
                <a:solidFill>
                  <a:srgbClr val="0000FF"/>
                </a:solidFill>
                <a:latin typeface="Times New Roman" panose="02020503050405090304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＞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80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11013" y="3107415"/>
            <a:ext cx="17892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，最小 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503050405090304"/>
              </a:rPr>
              <a:t>y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＝</a:t>
            </a:r>
            <a:r>
              <a:rPr lang="en-US" altLang="zh-CN" sz="2400">
                <a:solidFill>
                  <a:srgbClr val="0000FF"/>
                </a:solidFill>
                <a:latin typeface="Times New Roman" panose="02020503050405090304"/>
              </a:rPr>
              <a:t>3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341646" y="1645576"/>
            <a:ext cx="4550556" cy="0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341646" y="2599167"/>
            <a:ext cx="4550556" cy="0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341646" y="4014159"/>
            <a:ext cx="4550556" cy="0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sp>
        <p:nvSpPr>
          <p:cNvPr id="19" name="文本框 18"/>
          <p:cNvSpPr txBox="1"/>
          <p:nvPr/>
        </p:nvSpPr>
        <p:spPr>
          <a:xfrm>
            <a:off x="216520" y="4063313"/>
            <a:ext cx="37737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((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2</a:t>
            </a:r>
            <a:r>
              <a:rPr lang="en-US" altLang="zh-CN" sz="2400" baseline="30000">
                <a:solidFill>
                  <a:srgbClr val="FF0000"/>
                </a:solidFill>
                <a:latin typeface="Times New Roman" panose="02020503050405090304"/>
              </a:rPr>
              <a:t>5</a:t>
            </a:r>
            <a:r>
              <a:rPr lang="en-US" altLang="zh-CN" sz="240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20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×2</a:t>
            </a:r>
            <a:r>
              <a:rPr lang="en-US" altLang="zh-CN" sz="2400" baseline="30000">
                <a:solidFill>
                  <a:srgbClr val="0000FF"/>
                </a:solidFill>
                <a:latin typeface="Times New Roman" panose="02020503050405090304"/>
              </a:rPr>
              <a:t>3</a:t>
            </a:r>
            <a:r>
              <a:rPr lang="en-US" altLang="zh-CN" sz="2400">
                <a:solidFill>
                  <a:srgbClr val="0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80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×2</a:t>
            </a:r>
            <a:r>
              <a:rPr lang="en-US" altLang="zh-CN" sz="2400" i="1" baseline="50000">
                <a:solidFill>
                  <a:srgbClr val="009900"/>
                </a:solidFill>
                <a:latin typeface="Times New Roman" panose="02020503050405090304"/>
              </a:rPr>
              <a:t>z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＞40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18890" y="4519168"/>
            <a:ext cx="22717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即：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16×2</a:t>
            </a:r>
            <a:r>
              <a:rPr lang="en-US" altLang="zh-CN" sz="2400" i="1" baseline="50000">
                <a:solidFill>
                  <a:srgbClr val="009900"/>
                </a:solidFill>
                <a:latin typeface="Times New Roman" panose="02020503050405090304"/>
              </a:rPr>
              <a:t>z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＞40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333467" y="4519168"/>
            <a:ext cx="10775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，</a:t>
            </a:r>
            <a:r>
              <a:rPr lang="en-US" altLang="zh-CN" sz="2400" i="1">
                <a:solidFill>
                  <a:srgbClr val="009900"/>
                </a:solidFill>
                <a:latin typeface="Times New Roman" panose="02020503050405090304"/>
              </a:rPr>
              <a:t>z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＝</a:t>
            </a:r>
            <a:r>
              <a:rPr lang="en-US" altLang="zh-CN" sz="2400">
                <a:solidFill>
                  <a:srgbClr val="009900"/>
                </a:solidFill>
                <a:latin typeface="Times New Roman" panose="02020503050405090304"/>
              </a:rPr>
              <a:t>2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86471" y="3540932"/>
            <a:ext cx="15215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?×2</a:t>
            </a:r>
            <a:r>
              <a:rPr lang="en-US" altLang="zh-CN" sz="2400" baseline="50000">
                <a:solidFill>
                  <a:srgbClr val="0000FF"/>
                </a:solidFill>
                <a:latin typeface="Times New Roman" panose="02020503050405090304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≥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80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327423" y="3540932"/>
            <a:ext cx="1265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?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10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65764" y="913835"/>
            <a:ext cx="862984" cy="3400931"/>
          </a:xfrm>
          <a:prstGeom prst="rect">
            <a:avLst/>
          </a:prstGeom>
          <a:solidFill>
            <a:srgbClr val="FFFFFF"/>
          </a:solidFill>
          <a:effectLst>
            <a:glow rad="63500">
              <a:srgbClr val="8A8AB9">
                <a:satMod val="175000"/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0" rIns="3600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10100 000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10100 001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10100 010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10100 011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10100 100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10100 101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10100 110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10100 111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……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11101 000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11101 001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11101 010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11101 011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11101 100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11101 101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11101 110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11101 111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5994386" y="4151062"/>
          <a:ext cx="467584" cy="1981200"/>
        </p:xfrm>
        <a:graphic>
          <a:graphicData uri="http://schemas.openxmlformats.org/drawingml/2006/table">
            <a:tbl>
              <a:tblPr firstRow="1" bandRow="1"/>
              <a:tblGrid>
                <a:gridCol w="467584"/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 dirty="0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" name="箭头: 右 25"/>
          <p:cNvSpPr/>
          <p:nvPr/>
        </p:nvSpPr>
        <p:spPr bwMode="auto">
          <a:xfrm>
            <a:off x="6508052" y="4151062"/>
            <a:ext cx="216024" cy="216024"/>
          </a:xfrm>
          <a:prstGeom prst="rightArrow">
            <a:avLst/>
          </a:prstGeom>
          <a:gradFill rotWithShape="1">
            <a:gsLst>
              <a:gs pos="0">
                <a:srgbClr val="8A8AB9">
                  <a:tint val="50000"/>
                  <a:satMod val="300000"/>
                </a:srgbClr>
              </a:gs>
              <a:gs pos="35000">
                <a:srgbClr val="8A8AB9">
                  <a:tint val="37000"/>
                  <a:satMod val="300000"/>
                </a:srgbClr>
              </a:gs>
              <a:gs pos="100000">
                <a:srgbClr val="8A8AB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8AB9">
                <a:shade val="95000"/>
                <a:satMod val="105000"/>
              </a:srgbClr>
            </a:solidFill>
            <a:prstDash val="solid"/>
            <a:headEnd type="none" w="med" len="me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楷体_GB2312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/>
        </p:nvGraphicFramePr>
        <p:xfrm>
          <a:off x="5993858" y="6132049"/>
          <a:ext cx="467584" cy="396240"/>
        </p:xfrm>
        <a:graphic>
          <a:graphicData uri="http://schemas.openxmlformats.org/drawingml/2006/table">
            <a:tbl>
              <a:tblPr firstRow="1" bandRow="1"/>
              <a:tblGrid>
                <a:gridCol w="467584"/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XXX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973954" y="4924422"/>
            <a:ext cx="15215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?×2</a:t>
            </a:r>
            <a:r>
              <a:rPr lang="en-US" altLang="zh-CN" sz="2400" baseline="50000">
                <a:solidFill>
                  <a:srgbClr val="009900"/>
                </a:solidFill>
                <a:latin typeface="Times New Roman" panose="02020503050405090304"/>
              </a:rPr>
              <a:t>2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≥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40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327423" y="4924348"/>
            <a:ext cx="1265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?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</a:rPr>
              <a:t>10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6461792" y="6132049"/>
          <a:ext cx="325180" cy="396240"/>
        </p:xfrm>
        <a:graphic>
          <a:graphicData uri="http://schemas.openxmlformats.org/drawingml/2006/table">
            <a:tbl>
              <a:tblPr firstRow="1" bandRow="1"/>
              <a:tblGrid>
                <a:gridCol w="325180"/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YY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algn="ctr"/>
                      <a:r>
                        <a:rPr lang="en-US" altLang="zh-CN" sz="13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YY</a:t>
                      </a:r>
                      <a:endParaRPr lang="zh-CN" altLang="en-US" sz="13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36000" marR="3600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矩形 30"/>
          <p:cNvSpPr/>
          <p:nvPr/>
        </p:nvSpPr>
        <p:spPr bwMode="auto">
          <a:xfrm>
            <a:off x="5364089" y="4170809"/>
            <a:ext cx="1097882" cy="1933574"/>
          </a:xfrm>
          <a:prstGeom prst="rect">
            <a:avLst/>
          </a:prstGeom>
          <a:noFill/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  <p:txBody>
          <a:bodyPr rtlCol="0" anchor="ctr"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5364088" y="6159103"/>
            <a:ext cx="1422883" cy="363391"/>
          </a:xfrm>
          <a:prstGeom prst="rect">
            <a:avLst/>
          </a:prstGeom>
          <a:noFill/>
          <a:ln w="7620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  <p:txBody>
          <a:bodyPr rtlCol="0" anchor="ctr"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71526" y="4521101"/>
            <a:ext cx="630548" cy="800219"/>
          </a:xfrm>
          <a:prstGeom prst="rect">
            <a:avLst/>
          </a:prstGeom>
          <a:solidFill>
            <a:srgbClr val="FFFFFF"/>
          </a:solidFill>
          <a:effectLst>
            <a:glow rad="63500">
              <a:srgbClr val="8A8AB9">
                <a:satMod val="175000"/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0" rIns="3600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: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</a:rPr>
              <a:t>00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</a:rPr>
              <a:t>        01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</a:rPr>
              <a:t>        10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</a:rPr>
              <a:t>        11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CACAFF">
                  <a:lumMod val="75000"/>
                </a:srgbClr>
              </a:solidFill>
              <a:effectLst/>
              <a:uLnTx/>
              <a:uFillTx/>
              <a:latin typeface="Arial" panose="020B06040202020902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151064" y="4526909"/>
            <a:ext cx="1098625" cy="2000548"/>
          </a:xfrm>
          <a:prstGeom prst="rect">
            <a:avLst/>
          </a:prstGeom>
          <a:solidFill>
            <a:srgbClr val="FFFFFF"/>
          </a:solidFill>
          <a:ln w="57150">
            <a:solidFill>
              <a:srgbClr val="00FF00">
                <a:alpha val="40000"/>
              </a:srgbClr>
            </a:solidFill>
          </a:ln>
          <a:effectLst>
            <a:glow rad="63500">
              <a:srgbClr val="8A8AB9">
                <a:satMod val="175000"/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0" rIns="36000" bIns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</a:rPr>
              <a:t>000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</a:rPr>
              <a:t>001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</a:rPr>
              <a:t>010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</a:rPr>
              <a:t>011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</a:rPr>
              <a:t>100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</a:rPr>
              <a:t>101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</a:rPr>
              <a:t>110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11110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</a:rPr>
              <a:t>111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11111 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Arial" panose="020B0604020202090204"/>
              </a:rPr>
              <a:t>000</a:t>
            </a:r>
            <a:r>
              <a:rPr kumimoji="0" lang="en-US" altLang="zh-CN" sz="13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</a:rPr>
              <a:t>11111</a:t>
            </a:r>
            <a:r>
              <a:rPr kumimoji="0" lang="en-US" altLang="zh-CN" sz="1300" i="0" u="sng" strike="noStrike" kern="0" cap="none" spc="0" normalizeH="0" baseline="0" noProof="0">
                <a:ln>
                  <a:noFill/>
                </a:ln>
                <a:solidFill>
                  <a:srgbClr val="CACAFF">
                    <a:lumMod val="75000"/>
                  </a:srgbClr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300" i="0" u="sng" strike="noStrike" kern="0" cap="none" spc="0" normalizeH="0" baseline="0" noProof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Arial" panose="020B0604020202090204"/>
              </a:rPr>
              <a:t>001</a:t>
            </a:r>
            <a:r>
              <a:rPr kumimoji="0" lang="en-US" altLang="zh-CN" sz="1300" i="0" u="sng" strike="noStrike" kern="0" cap="none" spc="0" normalizeH="0" baseline="0" noProof="0">
                <a:ln>
                  <a:noFill/>
                </a:ln>
                <a:solidFill>
                  <a:srgbClr val="CACAFF">
                    <a:lumMod val="75000"/>
                  </a:srgbClr>
                </a:solidFill>
                <a:effectLst/>
                <a:uLnTx/>
                <a:uFillTx/>
                <a:latin typeface="Arial" panose="020B0604020202090204"/>
              </a:rPr>
              <a:t> </a:t>
            </a:r>
            <a:r>
              <a:rPr kumimoji="0" lang="en-US" altLang="zh-CN" sz="1100" i="0" u="sng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</a:rPr>
              <a:t>YY</a:t>
            </a:r>
            <a:endParaRPr kumimoji="0" lang="en-US" altLang="zh-CN" sz="1300" i="0" u="sng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90204"/>
            </a:endParaRPr>
          </a:p>
        </p:txBody>
      </p:sp>
      <p:sp>
        <p:nvSpPr>
          <p:cNvPr id="35" name="箭头: 右 34"/>
          <p:cNvSpPr/>
          <p:nvPr/>
        </p:nvSpPr>
        <p:spPr bwMode="auto">
          <a:xfrm>
            <a:off x="6821091" y="6222157"/>
            <a:ext cx="284094" cy="216024"/>
          </a:xfrm>
          <a:prstGeom prst="rightArrow">
            <a:avLst/>
          </a:prstGeom>
          <a:gradFill rotWithShape="1">
            <a:gsLst>
              <a:gs pos="0">
                <a:srgbClr val="8A8AB9">
                  <a:tint val="50000"/>
                  <a:satMod val="300000"/>
                </a:srgbClr>
              </a:gs>
              <a:gs pos="35000">
                <a:srgbClr val="8A8AB9">
                  <a:tint val="37000"/>
                  <a:satMod val="300000"/>
                </a:srgbClr>
              </a:gs>
              <a:gs pos="100000">
                <a:srgbClr val="8A8AB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8A8AB9">
                <a:shade val="95000"/>
                <a:satMod val="105000"/>
              </a:srgbClr>
            </a:solidFill>
            <a:prstDash val="solid"/>
            <a:headEnd type="none" w="med" len="med"/>
            <a:tailEnd type="none" w="med" len="lg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楷体_GB2312"/>
              <a:cs typeface="+mn-cs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991574" y="4152439"/>
            <a:ext cx="389850" cy="25299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endParaRPr lang="en-US" altLang="zh-CN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缀</a:t>
            </a:r>
            <a:endParaRPr lang="zh-CN" altLang="en-US" sz="16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95034" y="399706"/>
            <a:ext cx="55816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80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678992" y="1120987"/>
            <a:ext cx="55816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80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202888" y="5795673"/>
            <a:ext cx="7008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180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341646" y="5386013"/>
            <a:ext cx="4550556" cy="0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FF00">
                <a:alpha val="40000"/>
              </a:srgbClr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sp>
        <p:nvSpPr>
          <p:cNvPr id="41" name="文本框 40"/>
          <p:cNvSpPr txBox="1"/>
          <p:nvPr/>
        </p:nvSpPr>
        <p:spPr>
          <a:xfrm>
            <a:off x="221181" y="5436688"/>
            <a:ext cx="23503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平均操作码长度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1181" y="5805264"/>
            <a:ext cx="44262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＝ </a:t>
            </a:r>
            <a:r>
              <a:rPr lang="en-US" altLang="zh-CN" sz="2400">
                <a:solidFill>
                  <a:srgbClr val="000000"/>
                </a:solidFill>
                <a:ea typeface="宋体" pitchFamily="2" charset="-122"/>
              </a:rPr>
              <a:t>5×80%</a:t>
            </a: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＋</a:t>
            </a:r>
            <a:r>
              <a:rPr lang="en-US" altLang="zh-CN" sz="2400">
                <a:solidFill>
                  <a:srgbClr val="000000"/>
                </a:solidFill>
                <a:ea typeface="宋体" pitchFamily="2" charset="-122"/>
              </a:rPr>
              <a:t>8×15%</a:t>
            </a: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＋</a:t>
            </a:r>
            <a:r>
              <a:rPr lang="en-US" altLang="zh-CN" sz="2400">
                <a:solidFill>
                  <a:srgbClr val="000000"/>
                </a:solidFill>
                <a:ea typeface="宋体" pitchFamily="2" charset="-122"/>
              </a:rPr>
              <a:t>10×5%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21181" y="6182789"/>
            <a:ext cx="18838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＝ </a:t>
            </a:r>
            <a:r>
              <a:rPr lang="en-US" altLang="zh-CN" sz="2400">
                <a:solidFill>
                  <a:srgbClr val="000000"/>
                </a:solidFill>
                <a:ea typeface="宋体" pitchFamily="2" charset="-122"/>
              </a:rPr>
              <a:t>5.7</a:t>
            </a: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（位）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 flipH="1">
            <a:off x="5940152" y="297985"/>
            <a:ext cx="21602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直接箭头连接符 45"/>
          <p:cNvCxnSpPr/>
          <p:nvPr/>
        </p:nvCxnSpPr>
        <p:spPr bwMode="auto">
          <a:xfrm flipH="1">
            <a:off x="5940152" y="4044941"/>
            <a:ext cx="21602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直接箭头连接符 46"/>
          <p:cNvCxnSpPr/>
          <p:nvPr/>
        </p:nvCxnSpPr>
        <p:spPr bwMode="auto">
          <a:xfrm flipH="1">
            <a:off x="7594076" y="1012267"/>
            <a:ext cx="21602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直接箭头连接符 47"/>
          <p:cNvCxnSpPr/>
          <p:nvPr/>
        </p:nvCxnSpPr>
        <p:spPr bwMode="auto">
          <a:xfrm flipH="1">
            <a:off x="7594076" y="4187617"/>
            <a:ext cx="21602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2" name="文本框 51"/>
          <p:cNvSpPr txBox="1"/>
          <p:nvPr/>
        </p:nvSpPr>
        <p:spPr bwMode="auto">
          <a:xfrm>
            <a:off x="6979185" y="4288760"/>
            <a:ext cx="1429242" cy="372721"/>
          </a:xfrm>
          <a:prstGeom prst="rect">
            <a:avLst/>
          </a:prstGeom>
          <a:solidFill>
            <a:srgbClr val="FFFF00">
              <a:alpha val="50196"/>
            </a:srgbClr>
          </a:solidFill>
          <a:ln w="28575" algn="ctr">
            <a:noFill/>
            <a:miter lim="800000"/>
            <a:tailEnd type="none" w="med" len="lg"/>
          </a:ln>
          <a:effectLst>
            <a:softEdge rad="127000"/>
          </a:effectLst>
        </p:spPr>
        <p:txBody>
          <a:bodyPr wrap="none" lIns="36000" tIns="0" rIns="36000" bIns="0" anchor="ctr" anchorCtr="0">
            <a:noAutofit/>
          </a:bodyPr>
          <a:lstStyle/>
          <a:p>
            <a:r>
              <a:rPr kumimoji="0" lang="en-US" altLang="zh-CN" sz="13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11110</a:t>
            </a:r>
            <a:r>
              <a:rPr kumimoji="0" lang="en-US" altLang="zh-CN" sz="1300" b="1" i="0" u="sng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 </a:t>
            </a:r>
            <a:r>
              <a:rPr kumimoji="0" lang="en-US" altLang="zh-CN" sz="1300" b="1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000</a:t>
            </a:r>
            <a:r>
              <a:rPr kumimoji="0" lang="en-US" altLang="zh-CN" sz="1300" b="1" i="0" u="sng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 </a:t>
            </a:r>
            <a:r>
              <a:rPr kumimoji="0" lang="en-US" altLang="zh-CN" sz="1300" b="1" i="0" u="sng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00</a:t>
            </a:r>
            <a:endParaRPr lang="zh-CN" altLang="en-US" sz="1300" u="sng"/>
          </a:p>
        </p:txBody>
      </p:sp>
      <p:sp>
        <p:nvSpPr>
          <p:cNvPr id="53" name="文本框 52"/>
          <p:cNvSpPr txBox="1"/>
          <p:nvPr/>
        </p:nvSpPr>
        <p:spPr bwMode="auto">
          <a:xfrm>
            <a:off x="6983519" y="6368408"/>
            <a:ext cx="1429242" cy="372721"/>
          </a:xfrm>
          <a:prstGeom prst="rect">
            <a:avLst/>
          </a:prstGeom>
          <a:solidFill>
            <a:srgbClr val="FFFF00">
              <a:alpha val="50196"/>
            </a:srgbClr>
          </a:solidFill>
          <a:ln w="28575" algn="ctr">
            <a:noFill/>
            <a:miter lim="800000"/>
            <a:tailEnd type="none" w="med" len="lg"/>
          </a:ln>
          <a:effectLst>
            <a:softEdge rad="127000"/>
          </a:effectLst>
        </p:spPr>
        <p:txBody>
          <a:bodyPr wrap="none" lIns="36000" tIns="0" rIns="36000" bIns="0" anchor="ctr" anchorCtr="0">
            <a:noAutofit/>
          </a:bodyPr>
          <a:lstStyle/>
          <a:p>
            <a:r>
              <a:rPr kumimoji="0" lang="en-US" altLang="zh-CN" sz="1300" b="1" i="0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11111</a:t>
            </a:r>
            <a:r>
              <a:rPr kumimoji="0" lang="en-US" altLang="zh-CN" sz="1300" b="1" i="0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 </a:t>
            </a:r>
            <a:r>
              <a:rPr lang="en-US" altLang="zh-CN" sz="1300" kern="0">
                <a:solidFill>
                  <a:srgbClr val="CC00FF"/>
                </a:solidFill>
                <a:latin typeface="Arial" panose="020B0604020202090204"/>
              </a:rPr>
              <a:t>001</a:t>
            </a:r>
            <a:r>
              <a:rPr kumimoji="0" lang="en-US" altLang="zh-CN" sz="1300" b="1" i="0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 </a:t>
            </a:r>
            <a:r>
              <a:rPr kumimoji="0" lang="en-US" altLang="zh-CN" sz="1300" b="1" i="0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90204"/>
                <a:ea typeface="宋体" pitchFamily="2" charset="-122"/>
                <a:cs typeface="+mn-cs"/>
              </a:rPr>
              <a:t>11</a:t>
            </a:r>
            <a:endParaRPr lang="zh-CN" altLang="en-US" sz="1300"/>
          </a:p>
        </p:txBody>
      </p:sp>
      <p:cxnSp>
        <p:nvCxnSpPr>
          <p:cNvPr id="54" name="直接箭头连接符 53"/>
          <p:cNvCxnSpPr/>
          <p:nvPr/>
        </p:nvCxnSpPr>
        <p:spPr bwMode="auto">
          <a:xfrm flipH="1">
            <a:off x="8202888" y="4341082"/>
            <a:ext cx="168638" cy="1297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直接箭头连接符 55"/>
          <p:cNvCxnSpPr/>
          <p:nvPr/>
        </p:nvCxnSpPr>
        <p:spPr bwMode="auto">
          <a:xfrm flipV="1">
            <a:off x="7020866" y="6566506"/>
            <a:ext cx="168638" cy="1297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文本框 57"/>
          <p:cNvSpPr txBox="1"/>
          <p:nvPr/>
        </p:nvSpPr>
        <p:spPr bwMode="auto">
          <a:xfrm>
            <a:off x="6143174" y="185972"/>
            <a:ext cx="970385" cy="215444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最小编码值</a:t>
            </a:r>
            <a:endParaRPr lang="zh-CN" altLang="en-US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 bwMode="auto">
          <a:xfrm>
            <a:off x="6040063" y="3642918"/>
            <a:ext cx="611312" cy="387798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</a:t>
            </a:r>
            <a:endParaRPr lang="en-US" altLang="zh-CN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编码值</a:t>
            </a:r>
            <a:endParaRPr lang="zh-CN" altLang="en-US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 bwMode="auto">
          <a:xfrm>
            <a:off x="7784678" y="885883"/>
            <a:ext cx="970385" cy="215444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最小编码值</a:t>
            </a:r>
            <a:endParaRPr lang="zh-CN" altLang="en-US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 bwMode="auto">
          <a:xfrm>
            <a:off x="7687374" y="3792535"/>
            <a:ext cx="611312" cy="387798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</a:t>
            </a:r>
            <a:endParaRPr lang="en-US" altLang="zh-CN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编码值</a:t>
            </a:r>
            <a:endParaRPr lang="zh-CN" altLang="en-US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 bwMode="auto">
          <a:xfrm>
            <a:off x="8358524" y="4010564"/>
            <a:ext cx="611312" cy="387798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</a:t>
            </a:r>
            <a:endParaRPr lang="en-US" altLang="zh-CN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编码值</a:t>
            </a:r>
            <a:endParaRPr lang="zh-CN" altLang="en-US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 bwMode="auto">
          <a:xfrm>
            <a:off x="6088891" y="6582971"/>
            <a:ext cx="970385" cy="215444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最大编码值</a:t>
            </a:r>
            <a:endParaRPr lang="zh-CN" altLang="en-US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 bwMode="auto">
          <a:xfrm>
            <a:off x="8383505" y="116632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0"/>
                            </p:stCondLst>
                            <p:childTnLst>
                              <p:par>
                                <p:cTn id="2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 animBg="1"/>
      <p:bldP spid="12" grpId="0"/>
      <p:bldP spid="13" grpId="0"/>
      <p:bldP spid="14" grpId="0"/>
      <p:bldP spid="15" grpId="0"/>
      <p:bldP spid="19" grpId="0"/>
      <p:bldP spid="20" grpId="0"/>
      <p:bldP spid="21" grpId="0"/>
      <p:bldP spid="22" grpId="0"/>
      <p:bldP spid="23" grpId="0"/>
      <p:bldP spid="24" grpId="0" animBg="1"/>
      <p:bldP spid="26" grpId="0" animBg="1"/>
      <p:bldP spid="28" grpId="0"/>
      <p:bldP spid="29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39" grpId="0"/>
      <p:bldP spid="41" grpId="0"/>
      <p:bldP spid="42" grpId="0"/>
      <p:bldP spid="43" grpId="0"/>
      <p:bldP spid="52" grpId="0" animBg="1"/>
      <p:bldP spid="53" grpId="0" animBg="1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591B6738-5A60-468E-A237-4E46B15B9A6B}" type="slidenum">
              <a:rPr lang="zh-CN" altLang="en-US" smtClean="0"/>
            </a:fld>
            <a:endParaRPr lang="en-US" altLang="zh-CN"/>
          </a:p>
        </p:txBody>
      </p:sp>
      <p:sp>
        <p:nvSpPr>
          <p:cNvPr id="1112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4450"/>
            <a:ext cx="8353425" cy="576263"/>
          </a:xfrm>
        </p:spPr>
        <p:txBody>
          <a:bodyPr/>
          <a:lstStyle/>
          <a:p>
            <a:r>
              <a:rPr lang="en-US" altLang="zh-CN" sz="2800" dirty="0">
                <a:ea typeface="黑体" pitchFamily="2" charset="-122"/>
              </a:rPr>
              <a:t>Page 211</a:t>
            </a:r>
            <a:r>
              <a:rPr lang="zh-CN" altLang="en-US" sz="2800" dirty="0">
                <a:ea typeface="黑体" pitchFamily="2" charset="-122"/>
              </a:rPr>
              <a:t>～</a:t>
            </a:r>
            <a:r>
              <a:rPr lang="en-US" altLang="zh-CN" sz="2800" dirty="0">
                <a:ea typeface="黑体" pitchFamily="2" charset="-122"/>
              </a:rPr>
              <a:t>212</a:t>
            </a:r>
            <a:r>
              <a:rPr lang="zh-CN" altLang="en-US" sz="2800" dirty="0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2800" dirty="0">
                <a:ea typeface="黑体" pitchFamily="2" charset="-122"/>
              </a:rPr>
              <a:t>习题 </a:t>
            </a:r>
            <a:r>
              <a:rPr lang="en-US" altLang="zh-CN" sz="2800" dirty="0">
                <a:ea typeface="黑体" pitchFamily="2" charset="-122"/>
              </a:rPr>
              <a:t>5.8</a:t>
            </a:r>
            <a:endParaRPr lang="en-US" altLang="zh-CN" sz="2800" dirty="0">
              <a:solidFill>
                <a:srgbClr val="006600"/>
              </a:solidFill>
              <a:ea typeface="黑体" pitchFamily="2" charset="-122"/>
            </a:endParaRPr>
          </a:p>
        </p:txBody>
      </p:sp>
      <p:sp>
        <p:nvSpPr>
          <p:cNvPr id="111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20713"/>
            <a:ext cx="8497887" cy="3095625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假设某型号的计算机共有</a:t>
            </a:r>
            <a:r>
              <a:rPr lang="en-US" altLang="zh-CN">
                <a:solidFill>
                  <a:srgbClr val="D60093"/>
                </a:solidFill>
              </a:rPr>
              <a:t>14</a:t>
            </a:r>
            <a:r>
              <a:rPr lang="zh-CN" altLang="en-US">
                <a:solidFill>
                  <a:srgbClr val="D60093"/>
                </a:solidFill>
              </a:rPr>
              <a:t>条</a:t>
            </a:r>
            <a:r>
              <a:rPr lang="zh-CN" altLang="en-US"/>
              <a:t>指令，各条指令的</a:t>
            </a:r>
            <a:r>
              <a:rPr lang="zh-CN" altLang="en-US">
                <a:solidFill>
                  <a:srgbClr val="D60093"/>
                </a:solidFill>
              </a:rPr>
              <a:t>使用频率</a:t>
            </a:r>
            <a:r>
              <a:rPr lang="zh-CN" altLang="en-US"/>
              <a:t>分别为：</a:t>
            </a:r>
            <a:r>
              <a:rPr lang="en-US" altLang="zh-CN"/>
              <a:t>0.01</a:t>
            </a:r>
            <a:r>
              <a:rPr lang="zh-CN" altLang="en-US"/>
              <a:t>、</a:t>
            </a:r>
            <a:r>
              <a:rPr lang="en-US" altLang="zh-CN"/>
              <a:t>0.15</a:t>
            </a:r>
            <a:r>
              <a:rPr lang="zh-CN" altLang="en-US"/>
              <a:t>、</a:t>
            </a:r>
            <a:r>
              <a:rPr lang="en-US" altLang="zh-CN"/>
              <a:t>0.12</a:t>
            </a:r>
            <a:r>
              <a:rPr lang="zh-CN" altLang="en-US"/>
              <a:t>、</a:t>
            </a:r>
            <a:r>
              <a:rPr lang="en-US" altLang="zh-CN"/>
              <a:t>0.03</a:t>
            </a:r>
            <a:r>
              <a:rPr lang="zh-CN" altLang="en-US"/>
              <a:t>、</a:t>
            </a:r>
            <a:r>
              <a:rPr lang="en-US" altLang="zh-CN"/>
              <a:t>0.02</a:t>
            </a:r>
            <a:r>
              <a:rPr lang="zh-CN" altLang="en-US"/>
              <a:t>、</a:t>
            </a:r>
            <a:r>
              <a:rPr lang="en-US" altLang="zh-CN"/>
              <a:t>0.04</a:t>
            </a:r>
            <a:r>
              <a:rPr lang="zh-CN" altLang="en-US"/>
              <a:t>、</a:t>
            </a:r>
            <a:r>
              <a:rPr lang="en-US" altLang="zh-CN"/>
              <a:t>0.02</a:t>
            </a:r>
            <a:r>
              <a:rPr lang="zh-CN" altLang="en-US"/>
              <a:t>、</a:t>
            </a:r>
            <a:r>
              <a:rPr lang="en-US" altLang="zh-CN"/>
              <a:t>0.04</a:t>
            </a:r>
            <a:r>
              <a:rPr lang="zh-CN" altLang="en-US"/>
              <a:t>、</a:t>
            </a:r>
            <a:r>
              <a:rPr lang="en-US" altLang="zh-CN"/>
              <a:t>0.01</a:t>
            </a:r>
            <a:r>
              <a:rPr lang="zh-CN" altLang="en-US"/>
              <a:t>、</a:t>
            </a:r>
            <a:r>
              <a:rPr lang="en-US" altLang="zh-CN"/>
              <a:t>0.13</a:t>
            </a:r>
            <a:r>
              <a:rPr lang="zh-CN" altLang="en-US"/>
              <a:t>、</a:t>
            </a:r>
            <a:r>
              <a:rPr lang="en-US" altLang="zh-CN"/>
              <a:t>0.15</a:t>
            </a:r>
            <a:r>
              <a:rPr lang="zh-CN" altLang="en-US"/>
              <a:t>、</a:t>
            </a:r>
            <a:r>
              <a:rPr lang="en-US" altLang="zh-CN"/>
              <a:t>0.14</a:t>
            </a:r>
            <a:r>
              <a:rPr lang="zh-CN" altLang="en-US"/>
              <a:t>、</a:t>
            </a:r>
            <a:r>
              <a:rPr lang="en-US" altLang="zh-CN"/>
              <a:t>0.11</a:t>
            </a:r>
            <a:r>
              <a:rPr lang="zh-CN" altLang="en-US"/>
              <a:t>、</a:t>
            </a:r>
            <a:r>
              <a:rPr lang="en-US" altLang="zh-CN"/>
              <a:t>0.03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/>
              <a:t>试给出</a:t>
            </a:r>
            <a:r>
              <a:rPr lang="zh-CN" altLang="en-US">
                <a:solidFill>
                  <a:srgbClr val="FF0000"/>
                </a:solidFill>
              </a:rPr>
              <a:t>定长</a:t>
            </a:r>
            <a:r>
              <a:rPr lang="zh-CN" altLang="en-US"/>
              <a:t>、只能有</a:t>
            </a:r>
            <a:r>
              <a:rPr lang="zh-CN" altLang="en-US">
                <a:solidFill>
                  <a:srgbClr val="0000FF"/>
                </a:solidFill>
              </a:rPr>
              <a:t>两种码长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扩展操作码</a:t>
            </a:r>
            <a:r>
              <a:rPr lang="zh-CN" altLang="en-US"/>
              <a:t> 两种编码方案，并计算各种方案的</a:t>
            </a:r>
            <a:r>
              <a:rPr lang="zh-CN" altLang="en-US">
                <a:solidFill>
                  <a:srgbClr val="008000"/>
                </a:solidFill>
              </a:rPr>
              <a:t>平均码长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  <a:endParaRPr lang="en-US" altLang="zh-CN"/>
          </a:p>
        </p:txBody>
      </p:sp>
      <p:graphicFrame>
        <p:nvGraphicFramePr>
          <p:cNvPr id="1112136" name="Group 72"/>
          <p:cNvGraphicFramePr>
            <a:graphicFrameLocks noGrp="1"/>
          </p:cNvGraphicFramePr>
          <p:nvPr/>
        </p:nvGraphicFramePr>
        <p:xfrm>
          <a:off x="539750" y="3767138"/>
          <a:ext cx="8208963" cy="1828800"/>
        </p:xfrm>
        <a:graphic>
          <a:graphicData uri="http://schemas.openxmlformats.org/drawingml/2006/table">
            <a:tbl>
              <a:tblPr/>
              <a:tblGrid>
                <a:gridCol w="1025525"/>
                <a:gridCol w="1027113"/>
                <a:gridCol w="1025525"/>
                <a:gridCol w="1027112"/>
                <a:gridCol w="1025525"/>
                <a:gridCol w="1025525"/>
                <a:gridCol w="1027113"/>
                <a:gridCol w="1025525"/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指令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7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概率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指令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概率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 bwMode="auto">
          <a:xfrm>
            <a:off x="8383505" y="116632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12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11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591B6738-5A60-468E-A237-4E46B15B9A6B}" type="slidenum">
              <a:rPr lang="zh-CN" altLang="en-US" smtClean="0"/>
            </a:fld>
            <a:endParaRPr lang="en-US" altLang="zh-CN"/>
          </a:p>
        </p:txBody>
      </p:sp>
      <p:sp>
        <p:nvSpPr>
          <p:cNvPr id="11141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44450"/>
            <a:ext cx="8497887" cy="576263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FF0000"/>
                </a:solidFill>
              </a:rPr>
              <a:t>定长</a:t>
            </a:r>
            <a:r>
              <a:rPr lang="zh-CN" altLang="en-US"/>
              <a:t>编码：</a:t>
            </a:r>
            <a:endParaRPr lang="en-US" altLang="zh-CN"/>
          </a:p>
        </p:txBody>
      </p:sp>
      <p:graphicFrame>
        <p:nvGraphicFramePr>
          <p:cNvPr id="1114115" name="Group 3"/>
          <p:cNvGraphicFramePr>
            <a:graphicFrameLocks noGrp="1"/>
          </p:cNvGraphicFramePr>
          <p:nvPr/>
        </p:nvGraphicFramePr>
        <p:xfrm>
          <a:off x="323850" y="647700"/>
          <a:ext cx="8496300" cy="3657600"/>
        </p:xfrm>
        <a:graphic>
          <a:graphicData uri="http://schemas.openxmlformats.org/drawingml/2006/table">
            <a:tbl>
              <a:tblPr/>
              <a:tblGrid>
                <a:gridCol w="1439863"/>
                <a:gridCol w="1008062"/>
                <a:gridCol w="1008063"/>
                <a:gridCol w="1008062"/>
                <a:gridCol w="1008063"/>
                <a:gridCol w="1008062"/>
                <a:gridCol w="1008063"/>
                <a:gridCol w="1008062"/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指令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7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概率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0000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0001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0010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0011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0101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0110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码长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指令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概率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0111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1010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1100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码长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sp>
        <p:nvSpPr>
          <p:cNvPr id="1114261" name="Rectangle 149"/>
          <p:cNvSpPr>
            <a:spLocks noChangeArrowheads="1"/>
          </p:cNvSpPr>
          <p:nvPr/>
        </p:nvSpPr>
        <p:spPr bwMode="auto">
          <a:xfrm>
            <a:off x="395288" y="4652963"/>
            <a:ext cx="8064500" cy="10080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l"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/>
              <a:t>其操作码的平均码长：</a:t>
            </a:r>
            <a:r>
              <a:rPr lang="en-US" altLang="zh-CN" sz="2800"/>
              <a:t>H</a:t>
            </a:r>
            <a:r>
              <a:rPr lang="zh-CN" altLang="en-US" sz="2800"/>
              <a:t>＝</a:t>
            </a:r>
            <a:r>
              <a:rPr lang="en-US" altLang="zh-CN" sz="2800"/>
              <a:t>4</a:t>
            </a:r>
            <a:r>
              <a:rPr lang="zh-CN" altLang="en-US" sz="2800"/>
              <a:t>（位）。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8383505" y="116632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591B6738-5A60-468E-A237-4E46B15B9A6B}" type="slidenum">
              <a:rPr lang="zh-CN" altLang="en-US" smtClean="0"/>
            </a:fld>
            <a:endParaRPr lang="en-US" altLang="zh-CN"/>
          </a:p>
        </p:txBody>
      </p:sp>
      <p:sp>
        <p:nvSpPr>
          <p:cNvPr id="111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4450"/>
            <a:ext cx="8497887" cy="576263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两种码长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扩展操作码</a:t>
            </a:r>
            <a:r>
              <a:rPr lang="zh-CN" altLang="en-US"/>
              <a:t>：</a:t>
            </a:r>
            <a:endParaRPr lang="en-US" altLang="zh-CN"/>
          </a:p>
        </p:txBody>
      </p:sp>
      <p:graphicFrame>
        <p:nvGraphicFramePr>
          <p:cNvPr id="1113501" name="Group 413"/>
          <p:cNvGraphicFramePr>
            <a:graphicFrameLocks noGrp="1"/>
          </p:cNvGraphicFramePr>
          <p:nvPr/>
        </p:nvGraphicFramePr>
        <p:xfrm>
          <a:off x="323850" y="647700"/>
          <a:ext cx="8496300" cy="3657600"/>
        </p:xfrm>
        <a:graphic>
          <a:graphicData uri="http://schemas.openxmlformats.org/drawingml/2006/table">
            <a:tbl>
              <a:tblPr/>
              <a:tblGrid>
                <a:gridCol w="1439863"/>
                <a:gridCol w="1008062"/>
                <a:gridCol w="1008063"/>
                <a:gridCol w="1008062"/>
                <a:gridCol w="1008063"/>
                <a:gridCol w="1008062"/>
                <a:gridCol w="1008063"/>
                <a:gridCol w="1008062"/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指令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7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概率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码长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指令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概率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码长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sp>
        <p:nvSpPr>
          <p:cNvPr id="7" name="任意多边形 6"/>
          <p:cNvSpPr/>
          <p:nvPr/>
        </p:nvSpPr>
        <p:spPr bwMode="auto">
          <a:xfrm>
            <a:off x="1835697" y="680314"/>
            <a:ext cx="6905968" cy="3540774"/>
          </a:xfrm>
          <a:custGeom>
            <a:avLst/>
            <a:gdLst>
              <a:gd name="connsiteX0" fmla="*/ 5991149 w 6883603"/>
              <a:gd name="connsiteY0" fmla="*/ 0 h 3540556"/>
              <a:gd name="connsiteX1" fmla="*/ 6876288 w 6883603"/>
              <a:gd name="connsiteY1" fmla="*/ 0 h 3540556"/>
              <a:gd name="connsiteX2" fmla="*/ 6883603 w 6883603"/>
              <a:gd name="connsiteY2" fmla="*/ 3540556 h 3540556"/>
              <a:gd name="connsiteX3" fmla="*/ 0 w 6883603"/>
              <a:gd name="connsiteY3" fmla="*/ 3540556 h 3540556"/>
              <a:gd name="connsiteX4" fmla="*/ 0 w 6883603"/>
              <a:gd name="connsiteY4" fmla="*/ 1858060 h 3540556"/>
              <a:gd name="connsiteX5" fmla="*/ 5991149 w 6883603"/>
              <a:gd name="connsiteY5" fmla="*/ 1858060 h 3540556"/>
              <a:gd name="connsiteX6" fmla="*/ 5991149 w 6883603"/>
              <a:gd name="connsiteY6" fmla="*/ 0 h 3540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3603" h="3540556">
                <a:moveTo>
                  <a:pt x="5991149" y="0"/>
                </a:moveTo>
                <a:lnTo>
                  <a:pt x="6876288" y="0"/>
                </a:lnTo>
                <a:cubicBezTo>
                  <a:pt x="6878726" y="1180185"/>
                  <a:pt x="6881165" y="2360371"/>
                  <a:pt x="6883603" y="3540556"/>
                </a:cubicBezTo>
                <a:lnTo>
                  <a:pt x="0" y="3540556"/>
                </a:lnTo>
                <a:lnTo>
                  <a:pt x="0" y="1858060"/>
                </a:lnTo>
                <a:lnTo>
                  <a:pt x="5991149" y="1858060"/>
                </a:lnTo>
                <a:lnTo>
                  <a:pt x="5991149" y="0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835696" y="692696"/>
            <a:ext cx="5904656" cy="1728192"/>
          </a:xfrm>
          <a:prstGeom prst="rect">
            <a:avLst/>
          </a:prstGeom>
          <a:solidFill>
            <a:srgbClr val="FF3399">
              <a:alpha val="29804"/>
            </a:srgbClr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156176" y="23103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rgbClr val="FF0000"/>
                </a:solidFill>
              </a:rPr>
              <a:t>大概率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08304" y="4293096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rgbClr val="FF0000"/>
                </a:solidFill>
              </a:rPr>
              <a:t>小概率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8383505" y="116632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591B6738-5A60-468E-A237-4E46B15B9A6B}" type="slidenum">
              <a:rPr lang="zh-CN" altLang="en-US" smtClean="0"/>
            </a:fld>
            <a:endParaRPr lang="en-US" altLang="zh-CN"/>
          </a:p>
        </p:txBody>
      </p:sp>
      <p:sp>
        <p:nvSpPr>
          <p:cNvPr id="111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4450"/>
            <a:ext cx="8497887" cy="576263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两种码长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扩展操作码</a:t>
            </a:r>
            <a:r>
              <a:rPr lang="zh-CN" altLang="en-US"/>
              <a:t>：</a:t>
            </a:r>
            <a:endParaRPr lang="en-US" altLang="zh-CN"/>
          </a:p>
        </p:txBody>
      </p:sp>
      <p:graphicFrame>
        <p:nvGraphicFramePr>
          <p:cNvPr id="1113501" name="Group 413"/>
          <p:cNvGraphicFramePr>
            <a:graphicFrameLocks noGrp="1"/>
          </p:cNvGraphicFramePr>
          <p:nvPr/>
        </p:nvGraphicFramePr>
        <p:xfrm>
          <a:off x="323850" y="647700"/>
          <a:ext cx="8496300" cy="3657600"/>
        </p:xfrm>
        <a:graphic>
          <a:graphicData uri="http://schemas.openxmlformats.org/drawingml/2006/table">
            <a:tbl>
              <a:tblPr/>
              <a:tblGrid>
                <a:gridCol w="1439863"/>
                <a:gridCol w="1008062"/>
                <a:gridCol w="1008063"/>
                <a:gridCol w="1008062"/>
                <a:gridCol w="1008063"/>
                <a:gridCol w="1008062"/>
                <a:gridCol w="1008063"/>
                <a:gridCol w="1008062"/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指令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7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概率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261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码长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指令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12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13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14</a:t>
                      </a: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概率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0.01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扩展编码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</a:rPr>
                        <a:t>码长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sp>
        <p:nvSpPr>
          <p:cNvPr id="1113499" name="Rectangle 411"/>
          <p:cNvSpPr>
            <a:spLocks noChangeArrowheads="1"/>
          </p:cNvSpPr>
          <p:nvPr/>
        </p:nvSpPr>
        <p:spPr bwMode="auto">
          <a:xfrm>
            <a:off x="395288" y="4652963"/>
            <a:ext cx="8353176" cy="2016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l"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/>
              <a:t>其操作码平均码长为：</a:t>
            </a:r>
            <a:r>
              <a:rPr lang="en-US" altLang="zh-CN" sz="2800"/>
              <a:t>H</a:t>
            </a:r>
            <a:r>
              <a:rPr lang="zh-CN" altLang="en-US" sz="2800"/>
              <a:t>＝</a:t>
            </a:r>
            <a:endParaRPr lang="zh-CN" altLang="en-US" sz="2800"/>
          </a:p>
          <a:p>
            <a:pPr algn="l">
              <a:spcBef>
                <a:spcPct val="9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FF"/>
                </a:solidFill>
              </a:rPr>
              <a:t>H</a:t>
            </a: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2400">
                <a:solidFill>
                  <a:srgbClr val="0000FF"/>
                </a:solidFill>
              </a:rPr>
              <a:t>0.15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0.15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0.14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0.12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0.11</a:t>
            </a:r>
            <a:r>
              <a:rPr lang="en-US" altLang="zh-CN" sz="240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sz="2400">
                <a:solidFill>
                  <a:srgbClr val="0000FF"/>
                </a:solidFill>
              </a:rPr>
              <a:t>×3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br>
              <a:rPr lang="zh-CN" altLang="en-US" sz="2400">
                <a:solidFill>
                  <a:srgbClr val="0000FF"/>
                </a:solidFill>
              </a:rPr>
            </a:br>
            <a:r>
              <a:rPr lang="zh-CN" altLang="en-US" sz="2400">
                <a:solidFill>
                  <a:srgbClr val="0000FF"/>
                </a:solidFill>
              </a:rPr>
              <a:t>       </a:t>
            </a:r>
            <a:r>
              <a:rPr lang="en-US" altLang="zh-CN" sz="240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2400">
                <a:solidFill>
                  <a:srgbClr val="0000FF"/>
                </a:solidFill>
              </a:rPr>
              <a:t>0.04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0.04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0.02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0.02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0.01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0.01</a:t>
            </a:r>
            <a:r>
              <a:rPr lang="en-US" altLang="zh-CN" sz="240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sz="2400">
                <a:solidFill>
                  <a:srgbClr val="0000FF"/>
                </a:solidFill>
              </a:rPr>
              <a:t>×5</a:t>
            </a:r>
            <a:endParaRPr lang="en-US" altLang="zh-CN" sz="2400">
              <a:solidFill>
                <a:srgbClr val="0000FF"/>
              </a:solidFill>
            </a:endParaRPr>
          </a:p>
          <a:p>
            <a:pPr algn="l">
              <a:spcBef>
                <a:spcPct val="1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FF"/>
                </a:solidFill>
              </a:rPr>
              <a:t>   ＝</a:t>
            </a:r>
            <a:r>
              <a:rPr lang="en-US" altLang="zh-CN" sz="2400">
                <a:solidFill>
                  <a:srgbClr val="0000FF"/>
                </a:solidFill>
              </a:rPr>
              <a:t>0.8×3</a:t>
            </a:r>
            <a:r>
              <a:rPr lang="zh-CN" altLang="en-US" sz="2400">
                <a:solidFill>
                  <a:srgbClr val="0000FF"/>
                </a:solidFill>
              </a:rPr>
              <a:t>＋</a:t>
            </a:r>
            <a:r>
              <a:rPr lang="en-US" altLang="zh-CN" sz="2400">
                <a:solidFill>
                  <a:srgbClr val="0000FF"/>
                </a:solidFill>
              </a:rPr>
              <a:t>0.2×5</a:t>
            </a:r>
            <a:r>
              <a:rPr lang="zh-CN" altLang="en-US" sz="2400">
                <a:solidFill>
                  <a:srgbClr val="0000FF"/>
                </a:solidFill>
              </a:rPr>
              <a:t>＝</a:t>
            </a:r>
            <a:r>
              <a:rPr lang="en-US" altLang="zh-CN" sz="2400">
                <a:solidFill>
                  <a:srgbClr val="0000FF"/>
                </a:solidFill>
              </a:rPr>
              <a:t>3.4</a:t>
            </a:r>
            <a:r>
              <a:rPr lang="zh-CN" altLang="en-US" sz="2400">
                <a:solidFill>
                  <a:srgbClr val="0000FF"/>
                </a:solidFill>
              </a:rPr>
              <a:t>（位）</a:t>
            </a:r>
            <a:endParaRPr lang="en-US" altLang="zh-CN">
              <a:solidFill>
                <a:srgbClr val="0000FF"/>
              </a:solidFill>
            </a:endParaRPr>
          </a:p>
        </p:txBody>
      </p:sp>
      <p:graphicFrame>
        <p:nvGraphicFramePr>
          <p:cNvPr id="1113500" name="Object 412"/>
          <p:cNvGraphicFramePr>
            <a:graphicFrameLocks noChangeAspect="1"/>
          </p:cNvGraphicFramePr>
          <p:nvPr/>
        </p:nvGraphicFramePr>
        <p:xfrm>
          <a:off x="4643438" y="4292600"/>
          <a:ext cx="129540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" name="公式" r:id="rId1" imgW="469900" imgH="431800" progId="Equation.3">
                  <p:embed/>
                </p:oleObj>
              </mc:Choice>
              <mc:Fallback>
                <p:oleObj name="公式" r:id="rId1" imgW="469900" imgH="431800" progId="Equation.3">
                  <p:embed/>
                  <p:pic>
                    <p:nvPicPr>
                      <p:cNvPr id="0" name="Object 4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292600"/>
                        <a:ext cx="1295400" cy="1189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任意多边形 6"/>
          <p:cNvSpPr/>
          <p:nvPr/>
        </p:nvSpPr>
        <p:spPr bwMode="auto">
          <a:xfrm>
            <a:off x="1835697" y="680314"/>
            <a:ext cx="6905968" cy="3540774"/>
          </a:xfrm>
          <a:custGeom>
            <a:avLst/>
            <a:gdLst>
              <a:gd name="connsiteX0" fmla="*/ 5991149 w 6883603"/>
              <a:gd name="connsiteY0" fmla="*/ 0 h 3540556"/>
              <a:gd name="connsiteX1" fmla="*/ 6876288 w 6883603"/>
              <a:gd name="connsiteY1" fmla="*/ 0 h 3540556"/>
              <a:gd name="connsiteX2" fmla="*/ 6883603 w 6883603"/>
              <a:gd name="connsiteY2" fmla="*/ 3540556 h 3540556"/>
              <a:gd name="connsiteX3" fmla="*/ 0 w 6883603"/>
              <a:gd name="connsiteY3" fmla="*/ 3540556 h 3540556"/>
              <a:gd name="connsiteX4" fmla="*/ 0 w 6883603"/>
              <a:gd name="connsiteY4" fmla="*/ 1858060 h 3540556"/>
              <a:gd name="connsiteX5" fmla="*/ 5991149 w 6883603"/>
              <a:gd name="connsiteY5" fmla="*/ 1858060 h 3540556"/>
              <a:gd name="connsiteX6" fmla="*/ 5991149 w 6883603"/>
              <a:gd name="connsiteY6" fmla="*/ 0 h 3540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3603" h="3540556">
                <a:moveTo>
                  <a:pt x="5991149" y="0"/>
                </a:moveTo>
                <a:lnTo>
                  <a:pt x="6876288" y="0"/>
                </a:lnTo>
                <a:cubicBezTo>
                  <a:pt x="6878726" y="1180185"/>
                  <a:pt x="6881165" y="2360371"/>
                  <a:pt x="6883603" y="3540556"/>
                </a:cubicBezTo>
                <a:lnTo>
                  <a:pt x="0" y="3540556"/>
                </a:lnTo>
                <a:lnTo>
                  <a:pt x="0" y="1858060"/>
                </a:lnTo>
                <a:lnTo>
                  <a:pt x="5991149" y="1858060"/>
                </a:lnTo>
                <a:lnTo>
                  <a:pt x="5991149" y="0"/>
                </a:lnTo>
                <a:close/>
              </a:path>
            </a:pathLst>
          </a:custGeom>
          <a:solidFill>
            <a:srgbClr val="0000FF">
              <a:alpha val="30196"/>
            </a:srgbClr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835696" y="692696"/>
            <a:ext cx="5904656" cy="1728192"/>
          </a:xfrm>
          <a:prstGeom prst="rect">
            <a:avLst/>
          </a:prstGeom>
          <a:solidFill>
            <a:srgbClr val="FF3399">
              <a:alpha val="29804"/>
            </a:srgbClr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156176" y="231031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rgbClr val="FF0000"/>
                </a:solidFill>
              </a:rPr>
              <a:t>大概率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08304" y="4293096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>
                <a:solidFill>
                  <a:srgbClr val="FF0000"/>
                </a:solidFill>
              </a:rPr>
              <a:t>小概率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8383505" y="116632"/>
            <a:ext cx="652991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/>
            <a:r>
              <a:rPr lang="zh-CN" altLang="en-US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1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13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13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10"/>
          <p:cNvSpPr txBox="1"/>
          <p:nvPr/>
        </p:nvSpPr>
        <p:spPr bwMode="auto">
          <a:xfrm>
            <a:off x="3852045" y="3929022"/>
            <a:ext cx="2386608" cy="864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385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5055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1795780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速度快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指令长度短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51520" y="2896453"/>
            <a:ext cx="2520379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立即寻址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539552" y="2175579"/>
            <a:ext cx="1081087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操作码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1620639" y="2175579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操作数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539552" y="1672342"/>
            <a:ext cx="2520950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指令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7236593" y="2679958"/>
            <a:ext cx="1439863" cy="1944687"/>
          </a:xfrm>
          <a:prstGeom prst="rect">
            <a:avLst/>
          </a:prstGeom>
          <a:solidFill>
            <a:srgbClr val="E5F5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347864" y="3544525"/>
            <a:ext cx="2592388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寄存器寻址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852043" y="2175133"/>
            <a:ext cx="1081088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操作码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4933131" y="2175133"/>
            <a:ext cx="1727200" cy="504825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寄存器编号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852043" y="1671895"/>
            <a:ext cx="2808288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指令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7236593" y="3183195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操作数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7236593" y="2176720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寄存器组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5795143" y="2679958"/>
            <a:ext cx="0" cy="792162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5795143" y="3472120"/>
            <a:ext cx="14414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3707904" y="1671895"/>
            <a:ext cx="5128365" cy="3125257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588224" y="1281184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pitchFamily="2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355293" y="1677176"/>
            <a:ext cx="2920488" cy="1204012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555776" y="2855434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pitchFamily="2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 bwMode="auto">
          <a:xfrm>
            <a:off x="3939109" y="45105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四、寻址方式：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351106" y="5373216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zh-CN" sz="2800" b="1" kern="10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取得操作数最</a:t>
            </a:r>
            <a:r>
              <a:rPr lang="zh-CN" altLang="en-US" kern="10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Times New Roman" panose="02020503050405090304" pitchFamily="18" charset="0"/>
              </a:rPr>
              <a:t>快</a:t>
            </a:r>
            <a:endParaRPr lang="zh-CN" altLang="en-US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4283968" y="1268288"/>
            <a:ext cx="1439863" cy="1944688"/>
          </a:xfrm>
          <a:prstGeom prst="rect">
            <a:avLst/>
          </a:prstGeom>
          <a:solidFill>
            <a:srgbClr val="FFE5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1331218" y="2708920"/>
            <a:ext cx="2592388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直接寻址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899418" y="1207001"/>
            <a:ext cx="1081088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操作码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1980506" y="1207001"/>
            <a:ext cx="1727200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操作数地址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899418" y="703764"/>
            <a:ext cx="2808288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指令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4283968" y="2215064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操作数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4283968" y="765051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主存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2842518" y="1711826"/>
            <a:ext cx="0" cy="79216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7" name="Line 23"/>
          <p:cNvSpPr>
            <a:spLocks noChangeShapeType="1"/>
          </p:cNvSpPr>
          <p:nvPr/>
        </p:nvSpPr>
        <p:spPr bwMode="auto">
          <a:xfrm>
            <a:off x="2842518" y="2503989"/>
            <a:ext cx="14414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783574" y="1676195"/>
            <a:ext cx="2117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FF0066"/>
                </a:solidFill>
                <a:ea typeface="宋体" pitchFamily="2" charset="-122"/>
              </a:rPr>
              <a:t>（主存 地址）</a:t>
            </a:r>
            <a:endParaRPr lang="zh-CN" altLang="en-US" sz="2400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744729" y="703317"/>
            <a:ext cx="3123138" cy="1945085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66013" y="2223278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pitchFamily="2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pitchFamily="2" charset="-122"/>
            </a:endParaRPr>
          </a:p>
        </p:txBody>
      </p:sp>
      <p:sp>
        <p:nvSpPr>
          <p:cNvPr id="35" name="Text Box 24"/>
          <p:cNvSpPr txBox="1">
            <a:spLocks noChangeArrowheads="1"/>
          </p:cNvSpPr>
          <p:nvPr/>
        </p:nvSpPr>
        <p:spPr bwMode="auto">
          <a:xfrm>
            <a:off x="1331640" y="5974432"/>
            <a:ext cx="2592387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/>
              <a:t>间接寻址</a:t>
            </a:r>
            <a:endParaRPr lang="zh-CN" altLang="en-US" sz="2400" dirty="0"/>
          </a:p>
        </p:txBody>
      </p:sp>
      <p:sp>
        <p:nvSpPr>
          <p:cNvPr id="36" name="Rectangle 25"/>
          <p:cNvSpPr>
            <a:spLocks noChangeArrowheads="1"/>
          </p:cNvSpPr>
          <p:nvPr/>
        </p:nvSpPr>
        <p:spPr bwMode="auto">
          <a:xfrm>
            <a:off x="1536247" y="3957390"/>
            <a:ext cx="1081087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r>
              <a:rPr lang="zh-CN" altLang="en-US" sz="2400"/>
              <a:t>操作码</a:t>
            </a:r>
            <a:endParaRPr lang="zh-CN" altLang="en-US" sz="2400"/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744729" y="3954760"/>
            <a:ext cx="1224533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指令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38" name="Rectangle 28"/>
          <p:cNvSpPr>
            <a:spLocks noChangeArrowheads="1"/>
          </p:cNvSpPr>
          <p:nvPr/>
        </p:nvSpPr>
        <p:spPr bwMode="auto">
          <a:xfrm>
            <a:off x="2617334" y="3957390"/>
            <a:ext cx="2304256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chemeClr val="tx1"/>
            </a:solidFill>
            <a:miter lim="800000"/>
            <a:tailEnd type="none" w="med" len="lg"/>
          </a:ln>
          <a:effectLst/>
        </p:spPr>
        <p:txBody>
          <a:bodyPr wrap="none" tIns="0" bIns="0" anchor="ctr" anchorCtr="0"/>
          <a:lstStyle/>
          <a:p>
            <a:r>
              <a:rPr lang="zh-CN" altLang="en-US" sz="2000"/>
              <a:t>操作数地址的地址</a:t>
            </a:r>
            <a:endParaRPr lang="zh-CN" altLang="en-US" sz="2000"/>
          </a:p>
        </p:txBody>
      </p:sp>
      <p:sp>
        <p:nvSpPr>
          <p:cNvPr id="39" name="Rectangle 30"/>
          <p:cNvSpPr>
            <a:spLocks noChangeArrowheads="1"/>
          </p:cNvSpPr>
          <p:nvPr/>
        </p:nvSpPr>
        <p:spPr bwMode="auto">
          <a:xfrm>
            <a:off x="5425299" y="4173290"/>
            <a:ext cx="1439862" cy="2232025"/>
          </a:xfrm>
          <a:prstGeom prst="rect">
            <a:avLst/>
          </a:prstGeom>
          <a:solidFill>
            <a:srgbClr val="FFE5FF"/>
          </a:solidFill>
          <a:ln w="28575" algn="ctr">
            <a:solidFill>
              <a:schemeClr val="tx1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41" name="Rectangle 31"/>
          <p:cNvSpPr>
            <a:spLocks noChangeArrowheads="1"/>
          </p:cNvSpPr>
          <p:nvPr/>
        </p:nvSpPr>
        <p:spPr bwMode="auto">
          <a:xfrm>
            <a:off x="5425299" y="4676527"/>
            <a:ext cx="1439862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r>
              <a:rPr lang="zh-CN" altLang="en-US" sz="2400"/>
              <a:t>操作数</a:t>
            </a:r>
            <a:endParaRPr lang="zh-CN" altLang="en-US" sz="2400"/>
          </a:p>
        </p:txBody>
      </p:sp>
      <p:sp>
        <p:nvSpPr>
          <p:cNvPr id="42" name="Text Box 32"/>
          <p:cNvSpPr txBox="1">
            <a:spLocks noChangeArrowheads="1"/>
          </p:cNvSpPr>
          <p:nvPr/>
        </p:nvSpPr>
        <p:spPr bwMode="auto">
          <a:xfrm>
            <a:off x="5425299" y="3717032"/>
            <a:ext cx="1439862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主存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43" name="Rectangle 33"/>
          <p:cNvSpPr>
            <a:spLocks noChangeArrowheads="1"/>
          </p:cNvSpPr>
          <p:nvPr/>
        </p:nvSpPr>
        <p:spPr bwMode="auto">
          <a:xfrm>
            <a:off x="5425299" y="5611565"/>
            <a:ext cx="1439862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chemeClr val="tx1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r>
              <a:rPr lang="zh-CN" altLang="en-US" sz="2000"/>
              <a:t>操作数地址</a:t>
            </a:r>
            <a:endParaRPr lang="zh-CN" altLang="en-US" sz="2000"/>
          </a:p>
        </p:txBody>
      </p:sp>
      <p:sp>
        <p:nvSpPr>
          <p:cNvPr id="44" name="Line 34"/>
          <p:cNvSpPr>
            <a:spLocks noChangeShapeType="1"/>
          </p:cNvSpPr>
          <p:nvPr/>
        </p:nvSpPr>
        <p:spPr bwMode="auto">
          <a:xfrm>
            <a:off x="3769536" y="4460627"/>
            <a:ext cx="0" cy="1368425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5" name="Line 35"/>
          <p:cNvSpPr>
            <a:spLocks noChangeShapeType="1"/>
          </p:cNvSpPr>
          <p:nvPr/>
        </p:nvSpPr>
        <p:spPr bwMode="auto">
          <a:xfrm>
            <a:off x="3769536" y="5829052"/>
            <a:ext cx="1655763" cy="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6" name="Line 36"/>
          <p:cNvSpPr>
            <a:spLocks noChangeShapeType="1"/>
          </p:cNvSpPr>
          <p:nvPr/>
        </p:nvSpPr>
        <p:spPr bwMode="auto">
          <a:xfrm>
            <a:off x="6865161" y="5829052"/>
            <a:ext cx="720725" cy="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7" name="Line 37"/>
          <p:cNvSpPr>
            <a:spLocks noChangeShapeType="1"/>
          </p:cNvSpPr>
          <p:nvPr/>
        </p:nvSpPr>
        <p:spPr bwMode="auto">
          <a:xfrm flipV="1">
            <a:off x="7585886" y="4965452"/>
            <a:ext cx="0" cy="86360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8" name="Line 38"/>
          <p:cNvSpPr>
            <a:spLocks noChangeShapeType="1"/>
          </p:cNvSpPr>
          <p:nvPr/>
        </p:nvSpPr>
        <p:spPr bwMode="auto">
          <a:xfrm flipH="1">
            <a:off x="6865161" y="4965452"/>
            <a:ext cx="720725" cy="0"/>
          </a:xfrm>
          <a:prstGeom prst="line">
            <a:avLst/>
          </a:prstGeom>
          <a:noFill/>
          <a:ln w="28575" cap="rnd">
            <a:solidFill>
              <a:schemeClr val="tx1"/>
            </a:solidFill>
            <a:rou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 sz="2400"/>
          </a:p>
        </p:txBody>
      </p:sp>
      <p:sp>
        <p:nvSpPr>
          <p:cNvPr id="49" name="矩形 48"/>
          <p:cNvSpPr/>
          <p:nvPr/>
        </p:nvSpPr>
        <p:spPr bwMode="auto">
          <a:xfrm>
            <a:off x="744729" y="3804068"/>
            <a:ext cx="4320877" cy="2170363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761333" y="5533651"/>
            <a:ext cx="831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2"/>
                </a:solidFill>
              </a:rPr>
              <a:t>CPU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 bwMode="auto">
          <a:xfrm>
            <a:off x="7020272" y="3987061"/>
            <a:ext cx="1988045" cy="95410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zh-CN" sz="2800" b="1" kern="10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取得操作数</a:t>
            </a:r>
            <a:endParaRPr lang="en-US" altLang="zh-CN" sz="2800" b="1" kern="100"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spcBef>
                <a:spcPts val="0"/>
              </a:spcBef>
            </a:pPr>
            <a:r>
              <a:rPr lang="zh-CN" altLang="zh-CN" sz="2800" b="1" kern="10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最</a:t>
            </a:r>
            <a:r>
              <a:rPr lang="zh-CN" altLang="en-US" kern="10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Times New Roman" panose="02020503050405090304" pitchFamily="18" charset="0"/>
              </a:rPr>
              <a:t>慢</a:t>
            </a:r>
            <a:endParaRPr lang="zh-CN" altLang="en-US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 bwMode="auto">
          <a:xfrm>
            <a:off x="3939109" y="45105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四、寻址方式：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4082799" y="1418358"/>
            <a:ext cx="1439863" cy="1944688"/>
          </a:xfrm>
          <a:prstGeom prst="rect">
            <a:avLst/>
          </a:prstGeom>
          <a:solidFill>
            <a:srgbClr val="E5F5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539552" y="2992014"/>
            <a:ext cx="3024188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寄存器间接寻址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7" name="Rectangle 32"/>
          <p:cNvSpPr>
            <a:spLocks noChangeArrowheads="1"/>
          </p:cNvSpPr>
          <p:nvPr/>
        </p:nvSpPr>
        <p:spPr bwMode="auto">
          <a:xfrm>
            <a:off x="698249" y="913533"/>
            <a:ext cx="1081088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操作码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8" name="Rectangle 33"/>
          <p:cNvSpPr>
            <a:spLocks noChangeArrowheads="1"/>
          </p:cNvSpPr>
          <p:nvPr/>
        </p:nvSpPr>
        <p:spPr bwMode="auto">
          <a:xfrm>
            <a:off x="1779337" y="913533"/>
            <a:ext cx="1727200" cy="504825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寄存器编号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9" name="Text Box 34"/>
          <p:cNvSpPr txBox="1">
            <a:spLocks noChangeArrowheads="1"/>
          </p:cNvSpPr>
          <p:nvPr/>
        </p:nvSpPr>
        <p:spPr bwMode="auto">
          <a:xfrm>
            <a:off x="1346321" y="1395829"/>
            <a:ext cx="1281463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指令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41" name="Rectangle 35"/>
          <p:cNvSpPr>
            <a:spLocks noChangeArrowheads="1"/>
          </p:cNvSpPr>
          <p:nvPr/>
        </p:nvSpPr>
        <p:spPr bwMode="auto">
          <a:xfrm>
            <a:off x="4082799" y="1921596"/>
            <a:ext cx="1439863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操作数地址</a:t>
            </a: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2" name="Text Box 36"/>
          <p:cNvSpPr txBox="1">
            <a:spLocks noChangeArrowheads="1"/>
          </p:cNvSpPr>
          <p:nvPr/>
        </p:nvSpPr>
        <p:spPr bwMode="auto">
          <a:xfrm>
            <a:off x="4082799" y="961778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寄存器组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43" name="Line 37"/>
          <p:cNvSpPr>
            <a:spLocks noChangeShapeType="1"/>
          </p:cNvSpPr>
          <p:nvPr/>
        </p:nvSpPr>
        <p:spPr bwMode="auto">
          <a:xfrm>
            <a:off x="2641349" y="1418358"/>
            <a:ext cx="0" cy="79216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4" name="Line 38"/>
          <p:cNvSpPr>
            <a:spLocks noChangeShapeType="1"/>
          </p:cNvSpPr>
          <p:nvPr/>
        </p:nvSpPr>
        <p:spPr bwMode="auto">
          <a:xfrm>
            <a:off x="2641349" y="2210521"/>
            <a:ext cx="14414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5" name="Rectangle 39"/>
          <p:cNvSpPr>
            <a:spLocks noChangeArrowheads="1"/>
          </p:cNvSpPr>
          <p:nvPr/>
        </p:nvSpPr>
        <p:spPr bwMode="auto">
          <a:xfrm>
            <a:off x="6874959" y="1416771"/>
            <a:ext cx="1439863" cy="1944687"/>
          </a:xfrm>
          <a:prstGeom prst="rect">
            <a:avLst/>
          </a:prstGeom>
          <a:solidFill>
            <a:srgbClr val="FFE5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6" name="Rectangle 40"/>
          <p:cNvSpPr>
            <a:spLocks noChangeArrowheads="1"/>
          </p:cNvSpPr>
          <p:nvPr/>
        </p:nvSpPr>
        <p:spPr bwMode="auto">
          <a:xfrm>
            <a:off x="6874959" y="1920008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操作数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7" name="Text Box 41"/>
          <p:cNvSpPr txBox="1">
            <a:spLocks noChangeArrowheads="1"/>
          </p:cNvSpPr>
          <p:nvPr/>
        </p:nvSpPr>
        <p:spPr bwMode="auto">
          <a:xfrm>
            <a:off x="6874959" y="961778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主存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48" name="Line 42"/>
          <p:cNvSpPr>
            <a:spLocks noChangeShapeType="1"/>
          </p:cNvSpPr>
          <p:nvPr/>
        </p:nvSpPr>
        <p:spPr bwMode="auto">
          <a:xfrm>
            <a:off x="5522662" y="2210521"/>
            <a:ext cx="135229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539552" y="692696"/>
            <a:ext cx="5214762" cy="2800344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73178" y="2073499"/>
            <a:ext cx="831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pitchFamily="2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pitchFamily="2" charset="-122"/>
            </a:endParaRP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539552" y="3763888"/>
            <a:ext cx="2232025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基址寻址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2285756" y="4303780"/>
            <a:ext cx="358775" cy="504825"/>
          </a:xfrm>
          <a:prstGeom prst="rect">
            <a:avLst/>
          </a:prstGeom>
          <a:solidFill>
            <a:srgbClr val="FFCC66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B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3" name="Rectangle 6"/>
          <p:cNvSpPr>
            <a:spLocks noChangeArrowheads="1"/>
          </p:cNvSpPr>
          <p:nvPr/>
        </p:nvSpPr>
        <p:spPr bwMode="auto">
          <a:xfrm>
            <a:off x="2644531" y="4303780"/>
            <a:ext cx="1727200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地址偏移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D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1475656" y="3835896"/>
            <a:ext cx="2808288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指令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55" name="Line 8"/>
          <p:cNvSpPr>
            <a:spLocks noChangeShapeType="1"/>
          </p:cNvSpPr>
          <p:nvPr/>
        </p:nvSpPr>
        <p:spPr bwMode="auto">
          <a:xfrm>
            <a:off x="3506543" y="4808605"/>
            <a:ext cx="3175" cy="287338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6" name="Line 9"/>
          <p:cNvSpPr>
            <a:spLocks noChangeShapeType="1"/>
          </p:cNvSpPr>
          <p:nvPr/>
        </p:nvSpPr>
        <p:spPr bwMode="auto">
          <a:xfrm>
            <a:off x="3506543" y="5097530"/>
            <a:ext cx="144145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7" name="Rectangle 10"/>
          <p:cNvSpPr>
            <a:spLocks noChangeArrowheads="1"/>
          </p:cNvSpPr>
          <p:nvPr/>
        </p:nvSpPr>
        <p:spPr bwMode="auto">
          <a:xfrm>
            <a:off x="6876553" y="4303780"/>
            <a:ext cx="1439863" cy="1944688"/>
          </a:xfrm>
          <a:prstGeom prst="rect">
            <a:avLst/>
          </a:prstGeom>
          <a:solidFill>
            <a:srgbClr val="FFE5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8" name="Rectangle 11"/>
          <p:cNvSpPr>
            <a:spLocks noChangeArrowheads="1"/>
          </p:cNvSpPr>
          <p:nvPr/>
        </p:nvSpPr>
        <p:spPr bwMode="auto">
          <a:xfrm>
            <a:off x="6876553" y="4807018"/>
            <a:ext cx="1439863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操作数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9" name="Text Box 12"/>
          <p:cNvSpPr txBox="1">
            <a:spLocks noChangeArrowheads="1"/>
          </p:cNvSpPr>
          <p:nvPr/>
        </p:nvSpPr>
        <p:spPr bwMode="auto">
          <a:xfrm>
            <a:off x="6876553" y="3800543"/>
            <a:ext cx="1439863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  <a:ea typeface="宋体" pitchFamily="2" charset="-122"/>
              </a:rPr>
              <a:t>主存</a:t>
            </a:r>
            <a:endParaRPr lang="zh-CN" altLang="en-US" sz="240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60" name="Line 13"/>
          <p:cNvSpPr>
            <a:spLocks noChangeShapeType="1"/>
          </p:cNvSpPr>
          <p:nvPr/>
        </p:nvSpPr>
        <p:spPr bwMode="auto">
          <a:xfrm>
            <a:off x="5524256" y="5097530"/>
            <a:ext cx="135070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1" name="Oval 14"/>
          <p:cNvSpPr>
            <a:spLocks noChangeArrowheads="1"/>
          </p:cNvSpPr>
          <p:nvPr/>
        </p:nvSpPr>
        <p:spPr bwMode="auto">
          <a:xfrm>
            <a:off x="4947993" y="4808605"/>
            <a:ext cx="576263" cy="576263"/>
          </a:xfrm>
          <a:prstGeom prst="ellipse">
            <a:avLst/>
          </a:prstGeom>
          <a:solidFill>
            <a:srgbClr val="FF99FF"/>
          </a:solidFill>
          <a:ln w="28575" algn="ctr">
            <a:solidFill>
              <a:srgbClr val="000000"/>
            </a:solidFill>
            <a:rou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＋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2" name="Rectangle 15"/>
          <p:cNvSpPr>
            <a:spLocks noChangeArrowheads="1"/>
          </p:cNvSpPr>
          <p:nvPr/>
        </p:nvSpPr>
        <p:spPr bwMode="auto">
          <a:xfrm>
            <a:off x="1563443" y="5959543"/>
            <a:ext cx="2808288" cy="504825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基址寄存器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3" name="Line 16"/>
          <p:cNvSpPr>
            <a:spLocks noChangeShapeType="1"/>
          </p:cNvSpPr>
          <p:nvPr/>
        </p:nvSpPr>
        <p:spPr bwMode="auto">
          <a:xfrm>
            <a:off x="2931868" y="5672205"/>
            <a:ext cx="2303463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4" name="Line 17"/>
          <p:cNvSpPr>
            <a:spLocks noChangeShapeType="1"/>
          </p:cNvSpPr>
          <p:nvPr/>
        </p:nvSpPr>
        <p:spPr bwMode="auto">
          <a:xfrm flipH="1" flipV="1">
            <a:off x="5235331" y="5383280"/>
            <a:ext cx="1587" cy="288925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5" name="Line 18"/>
          <p:cNvSpPr>
            <a:spLocks noChangeShapeType="1"/>
          </p:cNvSpPr>
          <p:nvPr/>
        </p:nvSpPr>
        <p:spPr bwMode="auto">
          <a:xfrm>
            <a:off x="2931868" y="5672205"/>
            <a:ext cx="0" cy="288925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6" name="Rectangle 19"/>
          <p:cNvSpPr>
            <a:spLocks noChangeArrowheads="1"/>
          </p:cNvSpPr>
          <p:nvPr/>
        </p:nvSpPr>
        <p:spPr bwMode="auto">
          <a:xfrm>
            <a:off x="1204668" y="4305368"/>
            <a:ext cx="1081088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操作码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7" name="Line 20"/>
          <p:cNvSpPr>
            <a:spLocks noChangeShapeType="1"/>
          </p:cNvSpPr>
          <p:nvPr/>
        </p:nvSpPr>
        <p:spPr bwMode="auto">
          <a:xfrm>
            <a:off x="2428631" y="4808605"/>
            <a:ext cx="0" cy="6477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8" name="Line 21"/>
          <p:cNvSpPr>
            <a:spLocks noChangeShapeType="1"/>
          </p:cNvSpPr>
          <p:nvPr/>
        </p:nvSpPr>
        <p:spPr bwMode="auto">
          <a:xfrm flipH="1">
            <a:off x="1133231" y="5456305"/>
            <a:ext cx="12954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9" name="Line 22"/>
          <p:cNvSpPr>
            <a:spLocks noChangeShapeType="1"/>
          </p:cNvSpPr>
          <p:nvPr/>
        </p:nvSpPr>
        <p:spPr bwMode="auto">
          <a:xfrm>
            <a:off x="1133231" y="5456305"/>
            <a:ext cx="0" cy="79216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non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70" name="Line 23"/>
          <p:cNvSpPr>
            <a:spLocks noChangeShapeType="1"/>
          </p:cNvSpPr>
          <p:nvPr/>
        </p:nvSpPr>
        <p:spPr bwMode="auto">
          <a:xfrm>
            <a:off x="1133231" y="6250055"/>
            <a:ext cx="431800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lg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71" name="矩形 70"/>
          <p:cNvSpPr/>
          <p:nvPr/>
        </p:nvSpPr>
        <p:spPr bwMode="auto">
          <a:xfrm>
            <a:off x="539553" y="3728346"/>
            <a:ext cx="5214762" cy="2869006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832231" y="3798310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00007D"/>
                </a:solidFill>
                <a:ea typeface="宋体" pitchFamily="2" charset="-122"/>
              </a:rPr>
              <a:t>CPU</a:t>
            </a:r>
            <a:endParaRPr lang="zh-CN" altLang="en-US" sz="2400">
              <a:solidFill>
                <a:srgbClr val="00007D"/>
              </a:solidFill>
              <a:ea typeface="宋体" pitchFamily="2" charset="-122"/>
            </a:endParaRPr>
          </a:p>
        </p:txBody>
      </p:sp>
      <p:sp>
        <p:nvSpPr>
          <p:cNvPr id="73" name="文本框 72"/>
          <p:cNvSpPr txBox="1"/>
          <p:nvPr/>
        </p:nvSpPr>
        <p:spPr bwMode="auto">
          <a:xfrm>
            <a:off x="5508383" y="2546641"/>
            <a:ext cx="1266693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kern="10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相对</a:t>
            </a:r>
            <a:r>
              <a:rPr lang="zh-CN" altLang="en-US" kern="10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Times New Roman" panose="02020503050405090304" pitchFamily="18" charset="0"/>
              </a:rPr>
              <a:t>快</a:t>
            </a:r>
            <a:endParaRPr lang="zh-CN" altLang="en-US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4" name="文本框 73"/>
          <p:cNvSpPr txBox="1"/>
          <p:nvPr/>
        </p:nvSpPr>
        <p:spPr bwMode="auto">
          <a:xfrm>
            <a:off x="5508383" y="4475558"/>
            <a:ext cx="1266693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kern="10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相对</a:t>
            </a:r>
            <a:r>
              <a:rPr lang="zh-CN" altLang="en-US" kern="10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Times New Roman" panose="02020503050405090304" pitchFamily="18" charset="0"/>
              </a:rPr>
              <a:t>慢</a:t>
            </a:r>
            <a:endParaRPr lang="zh-CN" altLang="en-US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5" name="文本框 74"/>
          <p:cNvSpPr txBox="1"/>
          <p:nvPr/>
        </p:nvSpPr>
        <p:spPr bwMode="auto">
          <a:xfrm>
            <a:off x="3939109" y="45105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四、寻址方式：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73" name="Text Box 14"/>
          <p:cNvSpPr txBox="1">
            <a:spLocks noChangeArrowheads="1"/>
          </p:cNvSpPr>
          <p:nvPr/>
        </p:nvSpPr>
        <p:spPr bwMode="auto">
          <a:xfrm>
            <a:off x="5855393" y="1408443"/>
            <a:ext cx="1832553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ea typeface="宋体" pitchFamily="2" charset="-122"/>
              </a:rPr>
              <a:t>PC</a:t>
            </a: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相对寻址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86" name="内容占位符 10"/>
          <p:cNvSpPr txBox="1"/>
          <p:nvPr/>
        </p:nvSpPr>
        <p:spPr bwMode="auto">
          <a:xfrm>
            <a:off x="5005336" y="1866312"/>
            <a:ext cx="3897221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385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5055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1795780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“与地址无关的程序设计”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814479" y="2310755"/>
            <a:ext cx="1081087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操作码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1895566" y="2310755"/>
            <a:ext cx="2950046" cy="5048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地址偏移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D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(</a:t>
            </a:r>
            <a:r>
              <a:rPr kumimoji="0" lang="en-US" altLang="zh-CN" sz="240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n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位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补码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)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</a:endParaRPr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814480" y="1896391"/>
            <a:ext cx="2113744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指令</a:t>
            </a:r>
            <a:endParaRPr lang="zh-CN" altLang="en-US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3374386" y="2815580"/>
            <a:ext cx="0" cy="38473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7092578" y="2857647"/>
            <a:ext cx="1439862" cy="2769219"/>
          </a:xfrm>
          <a:prstGeom prst="rect">
            <a:avLst/>
          </a:prstGeom>
          <a:solidFill>
            <a:srgbClr val="FFE5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2" name="Rectangle 23"/>
          <p:cNvSpPr>
            <a:spLocks noChangeArrowheads="1"/>
          </p:cNvSpPr>
          <p:nvPr/>
        </p:nvSpPr>
        <p:spPr bwMode="auto">
          <a:xfrm>
            <a:off x="7092578" y="4185416"/>
            <a:ext cx="1439862" cy="5048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指令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3" name="Text Box 24"/>
          <p:cNvSpPr txBox="1">
            <a:spLocks noChangeArrowheads="1"/>
          </p:cNvSpPr>
          <p:nvPr/>
        </p:nvSpPr>
        <p:spPr bwMode="auto">
          <a:xfrm>
            <a:off x="7092578" y="2425599"/>
            <a:ext cx="1439862" cy="45720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主存</a:t>
            </a:r>
            <a:endParaRPr lang="zh-CN" altLang="en-US" sz="2400" dirty="0">
              <a:solidFill>
                <a:srgbClr val="0000FF"/>
              </a:solidFill>
              <a:ea typeface="宋体" pitchFamily="2" charset="-122"/>
            </a:endParaRPr>
          </a:p>
        </p:txBody>
      </p:sp>
      <p:sp>
        <p:nvSpPr>
          <p:cNvPr id="34" name="Line 25"/>
          <p:cNvSpPr>
            <a:spLocks noChangeShapeType="1"/>
          </p:cNvSpPr>
          <p:nvPr/>
        </p:nvSpPr>
        <p:spPr bwMode="auto">
          <a:xfrm>
            <a:off x="4507170" y="4441823"/>
            <a:ext cx="258540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5" name="Oval 26"/>
          <p:cNvSpPr>
            <a:spLocks noChangeArrowheads="1"/>
          </p:cNvSpPr>
          <p:nvPr/>
        </p:nvSpPr>
        <p:spPr bwMode="auto">
          <a:xfrm>
            <a:off x="3096534" y="3204966"/>
            <a:ext cx="576262" cy="576262"/>
          </a:xfrm>
          <a:prstGeom prst="ellipse">
            <a:avLst/>
          </a:prstGeom>
          <a:solidFill>
            <a:srgbClr val="FF99FF"/>
          </a:solidFill>
          <a:ln w="28575" algn="ctr">
            <a:solidFill>
              <a:srgbClr val="000000"/>
            </a:solidFill>
            <a:round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＋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6" name="Rectangle 27"/>
          <p:cNvSpPr>
            <a:spLocks noChangeArrowheads="1"/>
          </p:cNvSpPr>
          <p:nvPr/>
        </p:nvSpPr>
        <p:spPr bwMode="auto">
          <a:xfrm>
            <a:off x="2013266" y="4182418"/>
            <a:ext cx="2493904" cy="504825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PC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7" name="Line 28"/>
          <p:cNvSpPr>
            <a:spLocks noChangeShapeType="1"/>
          </p:cNvSpPr>
          <p:nvPr/>
        </p:nvSpPr>
        <p:spPr bwMode="auto">
          <a:xfrm>
            <a:off x="2805354" y="3492303"/>
            <a:ext cx="291179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8" name="Line 30"/>
          <p:cNvSpPr>
            <a:spLocks noChangeShapeType="1"/>
          </p:cNvSpPr>
          <p:nvPr/>
        </p:nvSpPr>
        <p:spPr bwMode="auto">
          <a:xfrm>
            <a:off x="2805354" y="3492304"/>
            <a:ext cx="0" cy="689445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lg"/>
          </a:ln>
          <a:effectLst/>
        </p:spPr>
        <p:txBody>
          <a:bodyPr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599422" y="1807518"/>
            <a:ext cx="4450869" cy="3168352"/>
          </a:xfrm>
          <a:prstGeom prst="rect">
            <a:avLst/>
          </a:prstGeom>
          <a:noFill/>
          <a:ln w="28575" cap="flat" cmpd="sng" algn="ctr">
            <a:solidFill>
              <a:srgbClr val="9999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37169" y="1390289"/>
            <a:ext cx="817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rgbClr val="00007D"/>
                </a:solidFill>
                <a:ea typeface="宋体" pitchFamily="2" charset="-122"/>
              </a:rPr>
              <a:t>CPU</a:t>
            </a:r>
            <a:endParaRPr lang="zh-CN" altLang="en-US" sz="2400" dirty="0">
              <a:solidFill>
                <a:srgbClr val="00007D"/>
              </a:solidFill>
              <a:ea typeface="宋体" pitchFamily="2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94161" y="2931734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pitchFamily="2" charset="-122"/>
              </a:rPr>
              <a:t>①</a:t>
            </a:r>
            <a:endParaRPr lang="zh-CN" altLang="en-US" sz="2400" dirty="0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663151" y="377162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pitchFamily="2" charset="-122"/>
              </a:rPr>
              <a:t>②</a:t>
            </a:r>
            <a:endParaRPr lang="zh-CN" altLang="en-US" sz="2400" dirty="0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052524" y="403046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pitchFamily="2" charset="-122"/>
              </a:rPr>
              <a:t>③</a:t>
            </a:r>
            <a:endParaRPr lang="zh-CN" altLang="en-US" sz="2400" dirty="0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005336" y="4416859"/>
            <a:ext cx="2040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pitchFamily="2" charset="-122"/>
              </a:rPr>
              <a:t>取下一条指令</a:t>
            </a:r>
            <a:endParaRPr lang="zh-CN" altLang="en-US" sz="2400" dirty="0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46" name="Line 20"/>
          <p:cNvSpPr>
            <a:spLocks noChangeShapeType="1"/>
          </p:cNvSpPr>
          <p:nvPr/>
        </p:nvSpPr>
        <p:spPr bwMode="auto">
          <a:xfrm>
            <a:off x="3705381" y="3797016"/>
            <a:ext cx="0" cy="384733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cxnSp>
        <p:nvCxnSpPr>
          <p:cNvPr id="47" name="直接连接符 46"/>
          <p:cNvCxnSpPr>
            <a:stCxn id="35" idx="5"/>
          </p:cNvCxnSpPr>
          <p:nvPr/>
        </p:nvCxnSpPr>
        <p:spPr bwMode="auto">
          <a:xfrm>
            <a:off x="3588404" y="3696836"/>
            <a:ext cx="113168" cy="99511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lg"/>
          </a:ln>
          <a:effectLst/>
        </p:spPr>
      </p:cxnSp>
      <p:sp>
        <p:nvSpPr>
          <p:cNvPr id="48" name="内容占位符 10"/>
          <p:cNvSpPr txBox="1"/>
          <p:nvPr/>
        </p:nvSpPr>
        <p:spPr bwMode="auto">
          <a:xfrm>
            <a:off x="502822" y="5478323"/>
            <a:ext cx="6125062" cy="8309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385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5055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1795780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þ"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cs typeface="+mn-cs"/>
              </a:rPr>
              <a:t>无需考虑本指令在主存中的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再定位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cs typeface="+mn-cs"/>
              </a:rPr>
              <a:t>问题。</a:t>
            </a:r>
            <a:endParaRPr kumimoji="0" lang="en-US" altLang="zh-CN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þ"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cs typeface="+mn-cs"/>
              </a:rPr>
              <a:t>节省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cs typeface="+mn-cs"/>
              </a:rPr>
              <a:t>指令的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cs typeface="+mn-cs"/>
              </a:rPr>
              <a:t>存储空间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cs typeface="+mn-cs"/>
              </a:rPr>
              <a:t>。</a:t>
            </a: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cs typeface="+mn-cs"/>
            </a:endParaRPr>
          </a:p>
        </p:txBody>
      </p:sp>
      <p:sp>
        <p:nvSpPr>
          <p:cNvPr id="49" name="Rectangle 23"/>
          <p:cNvSpPr>
            <a:spLocks noChangeArrowheads="1"/>
          </p:cNvSpPr>
          <p:nvPr/>
        </p:nvSpPr>
        <p:spPr bwMode="auto">
          <a:xfrm>
            <a:off x="7092578" y="3249874"/>
            <a:ext cx="1439862" cy="504825"/>
          </a:xfrm>
          <a:prstGeom prst="rect">
            <a:avLst/>
          </a:prstGeom>
          <a:solidFill>
            <a:srgbClr val="C1FFE6"/>
          </a:solidFill>
          <a:ln w="28575" algn="ctr">
            <a:solidFill>
              <a:srgbClr val="000000"/>
            </a:solidFill>
            <a:miter lim="800000"/>
            <a:tailEnd type="non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ea typeface="宋体" pitchFamily="2" charset="-122"/>
              </a:rPr>
              <a:t>数据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0" name="Line 25"/>
          <p:cNvSpPr>
            <a:spLocks noChangeShapeType="1"/>
          </p:cNvSpPr>
          <p:nvPr/>
        </p:nvSpPr>
        <p:spPr bwMode="auto">
          <a:xfrm>
            <a:off x="3668852" y="3493366"/>
            <a:ext cx="3423726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728146" y="307879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pitchFamily="2" charset="-122"/>
              </a:rPr>
              <a:t>②</a:t>
            </a:r>
            <a:endParaRPr lang="zh-CN" altLang="en-US" sz="2400" dirty="0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090822" y="3056751"/>
            <a:ext cx="14221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solidFill>
                  <a:srgbClr val="FF0066"/>
                </a:solidFill>
                <a:ea typeface="宋体" pitchFamily="2" charset="-122"/>
              </a:rPr>
              <a:t>访问数据</a:t>
            </a:r>
            <a:endParaRPr lang="zh-CN" altLang="en-US" sz="2400" dirty="0">
              <a:solidFill>
                <a:srgbClr val="FF0066"/>
              </a:solidFill>
              <a:ea typeface="宋体" pitchFamily="2" charset="-122"/>
            </a:endParaRPr>
          </a:p>
        </p:txBody>
      </p:sp>
      <p:sp>
        <p:nvSpPr>
          <p:cNvPr id="53" name="任意多边形: 形状 52"/>
          <p:cNvSpPr/>
          <p:nvPr/>
        </p:nvSpPr>
        <p:spPr bwMode="auto">
          <a:xfrm>
            <a:off x="3092082" y="3181881"/>
            <a:ext cx="4000492" cy="228744"/>
          </a:xfrm>
          <a:custGeom>
            <a:avLst/>
            <a:gdLst>
              <a:gd name="connsiteX0" fmla="*/ 0 w 3809256"/>
              <a:gd name="connsiteY0" fmla="*/ 0 h 307773"/>
              <a:gd name="connsiteX1" fmla="*/ 758283 w 3809256"/>
              <a:gd name="connsiteY1" fmla="*/ 254247 h 307773"/>
              <a:gd name="connsiteX2" fmla="*/ 3809256 w 3809256"/>
              <a:gd name="connsiteY2" fmla="*/ 307773 h 307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09256" h="307773">
                <a:moveTo>
                  <a:pt x="0" y="0"/>
                </a:moveTo>
                <a:cubicBezTo>
                  <a:pt x="61703" y="101476"/>
                  <a:pt x="123407" y="202952"/>
                  <a:pt x="758283" y="254247"/>
                </a:cubicBezTo>
                <a:cubicBezTo>
                  <a:pt x="1393159" y="305542"/>
                  <a:pt x="2601207" y="306657"/>
                  <a:pt x="3809256" y="307773"/>
                </a:cubicBezTo>
              </a:path>
            </a:pathLst>
          </a:custGeom>
          <a:noFill/>
          <a:ln w="57150" cap="flat" cmpd="sng" algn="ctr">
            <a:solidFill>
              <a:srgbClr val="00FF00">
                <a:alpha val="50196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4" name="任意多边形: 形状 53"/>
          <p:cNvSpPr/>
          <p:nvPr/>
        </p:nvSpPr>
        <p:spPr bwMode="auto">
          <a:xfrm>
            <a:off x="3097387" y="3300980"/>
            <a:ext cx="3995187" cy="1065024"/>
          </a:xfrm>
          <a:custGeom>
            <a:avLst/>
            <a:gdLst>
              <a:gd name="connsiteX0" fmla="*/ 0 w 3788228"/>
              <a:gd name="connsiteY0" fmla="*/ 0 h 1088572"/>
              <a:gd name="connsiteX1" fmla="*/ 1116280 w 3788228"/>
              <a:gd name="connsiteY1" fmla="*/ 898567 h 1088572"/>
              <a:gd name="connsiteX2" fmla="*/ 3788228 w 3788228"/>
              <a:gd name="connsiteY2" fmla="*/ 1088572 h 108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88228" h="1088572">
                <a:moveTo>
                  <a:pt x="0" y="0"/>
                </a:moveTo>
                <a:cubicBezTo>
                  <a:pt x="242454" y="358569"/>
                  <a:pt x="484909" y="717138"/>
                  <a:pt x="1116280" y="898567"/>
                </a:cubicBezTo>
                <a:cubicBezTo>
                  <a:pt x="1747651" y="1079996"/>
                  <a:pt x="2767939" y="1084284"/>
                  <a:pt x="3788228" y="1088572"/>
                </a:cubicBezTo>
              </a:path>
            </a:pathLst>
          </a:custGeom>
          <a:noFill/>
          <a:ln w="57150" cap="flat" cmpd="sng" algn="ctr">
            <a:solidFill>
              <a:srgbClr val="FF660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t" anchorCtr="0" compatLnSpc="1">
            <a:noAutofit/>
          </a:bodyPr>
          <a:lstStyle/>
          <a:p>
            <a:pPr>
              <a:spcBef>
                <a:spcPct val="0"/>
              </a:spcBef>
            </a:pP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078397" y="3509350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endParaRPr lang="zh-CN" altLang="en-US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 bwMode="auto">
          <a:xfrm>
            <a:off x="1813437" y="764704"/>
            <a:ext cx="3047629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zh-CN" sz="240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en-US" altLang="zh-CN" sz="2400" i="1" baseline="30000">
                <a:solidFill>
                  <a:srgbClr val="FF0000"/>
                </a:solidFill>
              </a:rPr>
              <a:t>n</a:t>
            </a:r>
            <a:r>
              <a:rPr lang="en-US" altLang="zh-CN" sz="2400" baseline="30000">
                <a:solidFill>
                  <a:srgbClr val="FF0000"/>
                </a:solidFill>
              </a:rPr>
              <a:t>-1</a:t>
            </a:r>
            <a:r>
              <a:rPr lang="en-US" altLang="zh-CN" sz="2400">
                <a:solidFill>
                  <a:srgbClr val="000000"/>
                </a:solidFill>
                <a:latin typeface="+mn-ea"/>
                <a:cs typeface="Times New Roman" panose="02020503050405090304" pitchFamily="18" charset="0"/>
              </a:rPr>
              <a:t>≤</a:t>
            </a:r>
            <a:r>
              <a:rPr lang="en-US" altLang="zh-CN" sz="2400">
                <a:solidFill>
                  <a:srgbClr val="000000"/>
                </a:solidFill>
              </a:rPr>
              <a:t>X</a:t>
            </a:r>
            <a:r>
              <a:rPr lang="en-US" altLang="zh-CN" sz="2400">
                <a:solidFill>
                  <a:srgbClr val="000000"/>
                </a:solidFill>
                <a:latin typeface="+mn-ea"/>
                <a:cs typeface="Times New Roman" panose="02020503050405090304" pitchFamily="18" charset="0"/>
              </a:rPr>
              <a:t>≤</a:t>
            </a:r>
            <a:r>
              <a:rPr lang="zh-CN" altLang="en-US" sz="2400">
                <a:solidFill>
                  <a:srgbClr val="000000"/>
                </a:solidFill>
                <a:cs typeface="Times New Roman" panose="02020503050405090304" pitchFamily="18" charset="0"/>
              </a:rPr>
              <a:t>＋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(</a:t>
            </a: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en-US" altLang="zh-CN" sz="2400" i="1" baseline="30000">
                <a:solidFill>
                  <a:srgbClr val="FF0000"/>
                </a:solidFill>
              </a:rPr>
              <a:t>n</a:t>
            </a:r>
            <a:r>
              <a:rPr lang="en-US" altLang="zh-CN" sz="2400" baseline="30000">
                <a:solidFill>
                  <a:srgbClr val="FF0000"/>
                </a:solidFill>
              </a:rPr>
              <a:t>-1</a:t>
            </a:r>
            <a:r>
              <a:rPr lang="en-US" altLang="zh-CN" sz="2400">
                <a:solidFill>
                  <a:srgbClr val="FF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</a:t>
            </a: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  <a:cs typeface="Times New Roman" panose="02020503050405090304" pitchFamily="18" charset="0"/>
              </a:rPr>
              <a:t>)</a:t>
            </a:r>
            <a:endParaRPr lang="zh-CN" altLang="en-US" sz="2400">
              <a:solidFill>
                <a:srgbClr val="000000"/>
              </a:solidFill>
              <a:latin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6" name="文本框 65"/>
          <p:cNvSpPr txBox="1"/>
          <p:nvPr/>
        </p:nvSpPr>
        <p:spPr bwMode="auto">
          <a:xfrm>
            <a:off x="2255865" y="1124744"/>
            <a:ext cx="195438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2400">
                <a:solidFill>
                  <a:srgbClr val="0070C0"/>
                </a:solidFill>
                <a:cs typeface="Times New Roman" panose="02020503050405090304" pitchFamily="18" charset="0"/>
              </a:rPr>
              <a:t>真值</a:t>
            </a:r>
            <a:r>
              <a:rPr lang="en-US" altLang="zh-CN" sz="2400">
                <a:solidFill>
                  <a:srgbClr val="0070C0"/>
                </a:solidFill>
                <a:cs typeface="Times New Roman" panose="02020503050405090304" pitchFamily="18" charset="0"/>
              </a:rPr>
              <a:t>X</a:t>
            </a:r>
            <a:r>
              <a:rPr lang="zh-CN" altLang="en-US" sz="2400">
                <a:solidFill>
                  <a:srgbClr val="0070C0"/>
                </a:solidFill>
                <a:cs typeface="Times New Roman" panose="02020503050405090304" pitchFamily="18" charset="0"/>
              </a:rPr>
              <a:t>的范围</a:t>
            </a:r>
            <a:endParaRPr lang="zh-CN" altLang="en-US" sz="2400">
              <a:solidFill>
                <a:srgbClr val="0070C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 flipV="1">
            <a:off x="4231218" y="1137513"/>
            <a:ext cx="0" cy="1173243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1929468" y="1137513"/>
            <a:ext cx="3003663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7" name="文本框 96"/>
          <p:cNvSpPr txBox="1"/>
          <p:nvPr/>
        </p:nvSpPr>
        <p:spPr bwMode="auto">
          <a:xfrm>
            <a:off x="3939109" y="45105"/>
            <a:ext cx="2709396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四、寻址方式：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4" grpId="0" animBg="1"/>
      <p:bldP spid="34" grpId="1" animBg="1"/>
      <p:bldP spid="34" grpId="2" animBg="1"/>
      <p:bldP spid="35" grpId="0" animBg="1"/>
      <p:bldP spid="35" grpId="1" animBg="1"/>
      <p:bldP spid="37" grpId="0" animBg="1"/>
      <p:bldP spid="37" grpId="1" animBg="1"/>
      <p:bldP spid="38" grpId="0" animBg="1"/>
      <p:bldP spid="38" grpId="1" animBg="1"/>
      <p:bldP spid="42" grpId="0"/>
      <p:bldP spid="42" grpId="1"/>
      <p:bldP spid="43" grpId="0"/>
      <p:bldP spid="43" grpId="1"/>
      <p:bldP spid="43" grpId="2"/>
      <p:bldP spid="44" grpId="0"/>
      <p:bldP spid="44" grpId="1"/>
      <p:bldP spid="44" grpId="2"/>
      <p:bldP spid="45" grpId="0"/>
      <p:bldP spid="45" grpId="1"/>
      <p:bldP spid="45" grpId="2"/>
      <p:bldP spid="46" grpId="0" animBg="1"/>
      <p:bldP spid="46" grpId="1" animBg="1"/>
      <p:bldP spid="46" grpId="2" animBg="1"/>
      <p:bldP spid="50" grpId="0" animBg="1"/>
      <p:bldP spid="50" grpId="1" animBg="1"/>
      <p:bldP spid="51" grpId="0"/>
      <p:bldP spid="51" grpId="1"/>
      <p:bldP spid="52" grpId="0"/>
      <p:bldP spid="52" grpId="1"/>
      <p:bldP spid="53" grpId="0" animBg="1"/>
      <p:bldP spid="54" grpId="0" animBg="1"/>
      <p:bldP spid="55" grpId="0"/>
      <p:bldP spid="65" grpId="0"/>
      <p:bldP spid="6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黑体" pitchFamily="2" charset="-122"/>
              </a:rPr>
              <a:t>Page 213</a:t>
            </a:r>
            <a:r>
              <a:rPr lang="zh-CN" altLang="en-US">
                <a:ea typeface="黑体" pitchFamily="2" charset="-122"/>
              </a:rPr>
              <a:t>～</a:t>
            </a:r>
            <a:r>
              <a:rPr lang="en-US" altLang="zh-CN">
                <a:ea typeface="黑体" pitchFamily="2" charset="-122"/>
              </a:rPr>
              <a:t>214</a:t>
            </a:r>
            <a:r>
              <a:rPr lang="zh-CN" altLang="en-US"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>
                <a:ea typeface="黑体" pitchFamily="2" charset="-122"/>
              </a:rPr>
              <a:t>习题 </a:t>
            </a:r>
            <a:r>
              <a:rPr lang="en-US" altLang="zh-CN">
                <a:ea typeface="黑体" pitchFamily="2" charset="-122"/>
              </a:rPr>
              <a:t>5.20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3850" y="620688"/>
            <a:ext cx="4465638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385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5055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1795780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说明下列指令执行后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R1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的值。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R1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为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16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位寄存器。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Tx/>
              <a:buFont typeface="Wingdings" panose="05000000000000000000" pitchFamily="2" charset="2"/>
              <a:buAutoNum type="circleNumDbPlain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宋体" pitchFamily="2" charset="-122"/>
                <a:cs typeface="+mn-cs"/>
              </a:rPr>
              <a:t>MOV R1,#1200H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宋体" pitchFamily="2" charset="-122"/>
              <a:cs typeface="+mn-cs"/>
            </a:endParaRP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Tx/>
              <a:buFont typeface="Wingdings" panose="05000000000000000000" pitchFamily="2" charset="2"/>
              <a:buAutoNum type="circleNumDbPlain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宋体" pitchFamily="2" charset="-122"/>
                <a:cs typeface="+mn-cs"/>
              </a:rPr>
              <a:t>MOV R1,RB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宋体" pitchFamily="2" charset="-122"/>
              <a:cs typeface="+mn-cs"/>
            </a:endParaRP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Tx/>
              <a:buFont typeface="Wingdings" panose="05000000000000000000" pitchFamily="2" charset="2"/>
              <a:buAutoNum type="circleNumDbPlain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宋体" pitchFamily="2" charset="-122"/>
                <a:cs typeface="+mn-cs"/>
              </a:rPr>
              <a:t>MOV R1,(1200H)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宋体" pitchFamily="2" charset="-122"/>
              <a:cs typeface="+mn-cs"/>
            </a:endParaRP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Tx/>
              <a:buFont typeface="Wingdings" panose="05000000000000000000" pitchFamily="2" charset="2"/>
              <a:buAutoNum type="circleNumDbPlain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宋体" pitchFamily="2" charset="-122"/>
                <a:cs typeface="+mn-cs"/>
              </a:rPr>
              <a:t>MOV R1,(RB)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宋体" pitchFamily="2" charset="-122"/>
              <a:cs typeface="+mn-cs"/>
            </a:endParaRP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Tx/>
              <a:buFont typeface="Wingdings" panose="05000000000000000000" pitchFamily="2" charset="2"/>
              <a:buAutoNum type="circleNumDbPlain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宋体" pitchFamily="2" charset="-122"/>
                <a:cs typeface="+mn-cs"/>
              </a:rPr>
              <a:t>MOV R1,1100H(RB)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宋体" pitchFamily="2" charset="-122"/>
              <a:cs typeface="+mn-cs"/>
            </a:endParaRP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Tx/>
              <a:buFont typeface="Wingdings" panose="05000000000000000000" pitchFamily="2" charset="2"/>
              <a:buAutoNum type="circleNumDbPlain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宋体" pitchFamily="2" charset="-122"/>
                <a:cs typeface="+mn-cs"/>
              </a:rPr>
              <a:t>MOV R1,(RB)(RI)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宋体" pitchFamily="2" charset="-122"/>
              <a:cs typeface="+mn-cs"/>
            </a:endParaRPr>
          </a:p>
          <a:p>
            <a:pPr marL="358775" marR="0" lvl="0" indent="-358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Tx/>
              <a:buFont typeface="Wingdings" panose="05000000000000000000" pitchFamily="2" charset="2"/>
              <a:buAutoNum type="circleNumDbPlain"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宋体" pitchFamily="2" charset="-122"/>
                <a:cs typeface="+mn-cs"/>
              </a:rPr>
              <a:t>MOV R1,1100H(RB)(RI)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6" name="Group 109"/>
          <p:cNvGraphicFramePr>
            <a:graphicFrameLocks noGrp="1"/>
          </p:cNvGraphicFramePr>
          <p:nvPr/>
        </p:nvGraphicFramePr>
        <p:xfrm>
          <a:off x="3923928" y="894928"/>
          <a:ext cx="2016125" cy="2743200"/>
        </p:xfrm>
        <a:graphic>
          <a:graphicData uri="http://schemas.openxmlformats.org/drawingml/2006/table">
            <a:tbl>
              <a:tblPr/>
              <a:tblGrid>
                <a:gridCol w="676275"/>
                <a:gridCol w="1339850"/>
              </a:tblGrid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寄存器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pitchFamily="2" charset="-122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RB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0100H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3349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RI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0002H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pitchFamily="2" charset="-122"/>
                        </a:rPr>
                        <a:t>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Group 247"/>
          <p:cNvGraphicFramePr>
            <a:graphicFrameLocks noGrp="1"/>
          </p:cNvGraphicFramePr>
          <p:nvPr/>
        </p:nvGraphicFramePr>
        <p:xfrm>
          <a:off x="6083300" y="894928"/>
          <a:ext cx="2592388" cy="5486400"/>
        </p:xfrm>
        <a:graphic>
          <a:graphicData uri="http://schemas.openxmlformats.org/drawingml/2006/table">
            <a:tbl>
              <a:tblPr/>
              <a:tblGrid>
                <a:gridCol w="1252538"/>
                <a:gridCol w="1339850"/>
              </a:tblGrid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地址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内存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pitchFamily="2" charset="-122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0100H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12H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2905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0101H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34H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2667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0102H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56H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171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0103H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78H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2841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pitchFamily="2" charset="-122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pitchFamily="2" charset="-122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1200H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2AH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2190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1201H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4CH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1202H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B7H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3349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1203H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</a:rPr>
                        <a:t>65H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3365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503050405090304"/>
                          <a:ea typeface="楷体_GB231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pitchFamily="2" charset="-122"/>
                        </a:rPr>
                        <a:t>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248"/>
          <p:cNvSpPr>
            <a:spLocks noChangeArrowheads="1"/>
          </p:cNvSpPr>
          <p:nvPr/>
        </p:nvSpPr>
        <p:spPr bwMode="auto">
          <a:xfrm>
            <a:off x="1619250" y="4739432"/>
            <a:ext cx="1765300" cy="180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452755" indent="-452755" algn="l">
              <a:spcBef>
                <a:spcPct val="20000"/>
              </a:spcBef>
              <a:buClr>
                <a:srgbClr val="990033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4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rPr>
              <a:t>1200H</a:t>
            </a:r>
            <a:endParaRPr lang="en-US" altLang="zh-CN" sz="2400">
              <a:solidFill>
                <a:srgbClr val="000000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452755" indent="-452755" algn="l">
              <a:spcBef>
                <a:spcPct val="20000"/>
              </a:spcBef>
              <a:buClr>
                <a:srgbClr val="990033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4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rPr>
              <a:t>0100H</a:t>
            </a:r>
            <a:endParaRPr lang="en-US" altLang="zh-CN" sz="2400">
              <a:solidFill>
                <a:srgbClr val="000000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452755" indent="-452755" algn="l">
              <a:spcBef>
                <a:spcPct val="20000"/>
              </a:spcBef>
              <a:buClr>
                <a:srgbClr val="990033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4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rPr>
              <a:t>4C2AH</a:t>
            </a:r>
            <a:endParaRPr lang="en-US" altLang="zh-CN" sz="2400">
              <a:solidFill>
                <a:srgbClr val="000000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452755" indent="-452755" algn="l">
              <a:spcBef>
                <a:spcPct val="20000"/>
              </a:spcBef>
              <a:buClr>
                <a:srgbClr val="990033"/>
              </a:buClr>
              <a:buFont typeface="Wingdings" panose="05000000000000000000" pitchFamily="2" charset="2"/>
              <a:buAutoNum type="circleNumDbPlain"/>
            </a:pPr>
            <a:r>
              <a:rPr lang="en-US" altLang="zh-CN" sz="24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rPr>
              <a:t>3412H</a:t>
            </a:r>
            <a:endParaRPr lang="en-US" altLang="zh-CN" sz="2400">
              <a:solidFill>
                <a:srgbClr val="0000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9" name="Rectangle 249"/>
          <p:cNvSpPr>
            <a:spLocks noChangeArrowheads="1"/>
          </p:cNvSpPr>
          <p:nvPr/>
        </p:nvSpPr>
        <p:spPr bwMode="auto">
          <a:xfrm>
            <a:off x="3419475" y="4739432"/>
            <a:ext cx="1765300" cy="180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452755" indent="-452755" algn="l">
              <a:spcBef>
                <a:spcPct val="20000"/>
              </a:spcBef>
              <a:buClr>
                <a:srgbClr val="990033"/>
              </a:buClr>
              <a:buFont typeface="Wingdings" panose="05000000000000000000" pitchFamily="2" charset="2"/>
              <a:buAutoNum type="circleNumDbPlain" startAt="5"/>
            </a:pPr>
            <a:r>
              <a:rPr lang="en-US" altLang="zh-CN" sz="24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rPr>
              <a:t>4C2AH</a:t>
            </a:r>
            <a:endParaRPr lang="en-US" altLang="zh-CN" sz="2400">
              <a:solidFill>
                <a:srgbClr val="000000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452755" indent="-452755" algn="l">
              <a:spcBef>
                <a:spcPct val="20000"/>
              </a:spcBef>
              <a:buClr>
                <a:srgbClr val="990033"/>
              </a:buClr>
              <a:buFont typeface="Wingdings" panose="05000000000000000000" pitchFamily="2" charset="2"/>
              <a:buAutoNum type="circleNumDbPlain" startAt="5"/>
            </a:pPr>
            <a:r>
              <a:rPr lang="en-US" altLang="zh-CN" sz="24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rPr>
              <a:t>7856H</a:t>
            </a:r>
            <a:endParaRPr lang="en-US" altLang="zh-CN" sz="2400">
              <a:solidFill>
                <a:srgbClr val="000000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 marL="452755" indent="-452755" algn="l">
              <a:spcBef>
                <a:spcPct val="20000"/>
              </a:spcBef>
              <a:buClr>
                <a:srgbClr val="990033"/>
              </a:buClr>
              <a:buFont typeface="Wingdings" panose="05000000000000000000" pitchFamily="2" charset="2"/>
              <a:buAutoNum type="circleNumDbPlain" startAt="5"/>
            </a:pPr>
            <a:r>
              <a:rPr lang="en-US" altLang="zh-CN" sz="24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rPr>
              <a:t>65B7H</a:t>
            </a:r>
            <a:endParaRPr lang="en-US" altLang="zh-CN" sz="2400">
              <a:solidFill>
                <a:srgbClr val="000000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0" name="Text Box 250"/>
          <p:cNvSpPr txBox="1">
            <a:spLocks noChangeArrowheads="1"/>
          </p:cNvSpPr>
          <p:nvPr/>
        </p:nvSpPr>
        <p:spPr bwMode="auto">
          <a:xfrm>
            <a:off x="250825" y="4725144"/>
            <a:ext cx="1512888" cy="95410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990033"/>
                </a:solidFill>
                <a:ea typeface="宋体" pitchFamily="2" charset="-122"/>
              </a:rPr>
              <a:t>【</a:t>
            </a:r>
            <a:r>
              <a:rPr lang="zh-CN" altLang="en-US">
                <a:solidFill>
                  <a:srgbClr val="990033"/>
                </a:solidFill>
                <a:ea typeface="宋体" pitchFamily="2" charset="-122"/>
              </a:rPr>
              <a:t>解</a:t>
            </a:r>
            <a:r>
              <a:rPr lang="en-US" altLang="zh-CN">
                <a:solidFill>
                  <a:srgbClr val="990033"/>
                </a:solidFill>
                <a:ea typeface="宋体" pitchFamily="2" charset="-122"/>
              </a:rPr>
              <a:t>】</a:t>
            </a:r>
            <a:endParaRPr lang="en-US" altLang="zh-CN">
              <a:solidFill>
                <a:srgbClr val="990033"/>
              </a:solidFill>
              <a:ea typeface="宋体" pitchFamily="2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990033"/>
                </a:solidFill>
                <a:ea typeface="宋体" pitchFamily="2" charset="-122"/>
              </a:rPr>
              <a:t>   R1</a:t>
            </a:r>
            <a:r>
              <a:rPr lang="zh-CN" altLang="en-US">
                <a:solidFill>
                  <a:srgbClr val="990033"/>
                </a:solidFill>
                <a:ea typeface="宋体" pitchFamily="2" charset="-122"/>
              </a:rPr>
              <a:t>＝</a:t>
            </a:r>
            <a:endParaRPr lang="zh-CN" altLang="en-US">
              <a:solidFill>
                <a:srgbClr val="990033"/>
              </a:solidFill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60232" y="548680"/>
            <a:ext cx="23076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zh-CN" altLang="en-US" sz="2400" kern="0">
                <a:solidFill>
                  <a:srgbClr val="FF0000"/>
                </a:solidFill>
                <a:ea typeface="宋体" pitchFamily="2" charset="-122"/>
              </a:rPr>
              <a:t>（小端存储）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72200" y="188640"/>
            <a:ext cx="2592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zh-CN" altLang="en-US" sz="2400" kern="0">
                <a:solidFill>
                  <a:srgbClr val="FF0000"/>
                </a:solidFill>
                <a:ea typeface="宋体" pitchFamily="2" charset="-122"/>
              </a:rPr>
              <a:t>（按字节编址）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9750" y="980728"/>
            <a:ext cx="8496300" cy="43204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ker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黑体" pitchFamily="2" charset="-122"/>
                <a:cs typeface="Arial" panose="020B0604020202090204" pitchFamily="34" charset="0"/>
              </a:rPr>
              <a:t>早期</a:t>
            </a:r>
            <a:r>
              <a:rPr lang="zh-CN" altLang="en-US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黑体" pitchFamily="2" charset="-122"/>
                <a:cs typeface="Arial" panose="020B0604020202090204" pitchFamily="34" charset="0"/>
              </a:rPr>
              <a:t> </a:t>
            </a:r>
            <a:r>
              <a:rPr lang="en-US" altLang="zh-CN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黑体" pitchFamily="2" charset="-122"/>
                <a:cs typeface="Arial" panose="020B0604020202090204" pitchFamily="34" charset="0"/>
              </a:rPr>
              <a:t>CISC </a:t>
            </a:r>
            <a:r>
              <a:rPr lang="zh-CN" altLang="en-US" ker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黑体" pitchFamily="2" charset="-122"/>
                <a:cs typeface="Arial" panose="020B0604020202090204" pitchFamily="34" charset="0"/>
              </a:rPr>
              <a:t>处理器的特点：</a:t>
            </a:r>
            <a:endParaRPr lang="en-US" altLang="zh-CN" ker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90204" pitchFamily="34" charset="0"/>
              <a:ea typeface="黑体" pitchFamily="2" charset="-122"/>
              <a:cs typeface="Arial" panose="020B0604020202090204" pitchFamily="34" charset="0"/>
            </a:endParaRPr>
          </a:p>
          <a:p>
            <a:pPr>
              <a:spcBef>
                <a:spcPts val="1800"/>
              </a:spcBef>
            </a:pPr>
            <a:r>
              <a:rPr lang="zh-CN" altLang="en-US" kern="0">
                <a:solidFill>
                  <a:srgbClr val="C00000"/>
                </a:solidFill>
              </a:rPr>
              <a:t>指令系统复杂 </a:t>
            </a:r>
            <a:br>
              <a:rPr lang="en-US" altLang="zh-CN" kern="0">
                <a:solidFill>
                  <a:srgbClr val="C00000"/>
                </a:solidFill>
              </a:rPr>
            </a:br>
            <a:r>
              <a:rPr lang="en-US" altLang="zh-CN" kern="0"/>
              <a:t>—— </a:t>
            </a:r>
            <a:r>
              <a:rPr lang="zh-CN" altLang="en-US" kern="0"/>
              <a:t>条数多、寻址方式多、格式多、长度不固定</a:t>
            </a:r>
            <a:endParaRPr lang="zh-CN" altLang="en-US" kern="0"/>
          </a:p>
          <a:p>
            <a:pPr>
              <a:spcBef>
                <a:spcPts val="1800"/>
              </a:spcBef>
            </a:pPr>
            <a:r>
              <a:rPr lang="zh-CN" altLang="en-US" kern="0"/>
              <a:t>多数指令执行需多个时钟周期</a:t>
            </a:r>
            <a:endParaRPr lang="zh-CN" altLang="en-US" kern="0"/>
          </a:p>
          <a:p>
            <a:pPr>
              <a:spcBef>
                <a:spcPts val="1800"/>
              </a:spcBef>
            </a:pPr>
            <a:r>
              <a:rPr lang="zh-CN" altLang="en-US" kern="0"/>
              <a:t>有多种指令可以访问主存</a:t>
            </a:r>
            <a:endParaRPr lang="zh-CN" altLang="en-US" kern="0"/>
          </a:p>
          <a:p>
            <a:pPr>
              <a:spcBef>
                <a:spcPts val="1800"/>
              </a:spcBef>
            </a:pPr>
            <a:r>
              <a:rPr lang="zh-CN" altLang="en-US" kern="0"/>
              <a:t>控制器采用</a:t>
            </a:r>
            <a:r>
              <a:rPr lang="zh-CN" altLang="en-US" kern="0">
                <a:solidFill>
                  <a:srgbClr val="FF0000"/>
                </a:solidFill>
              </a:rPr>
              <a:t>微程序</a:t>
            </a:r>
            <a:r>
              <a:rPr lang="zh-CN" altLang="en-US" kern="0"/>
              <a:t>方式实现</a:t>
            </a:r>
            <a:endParaRPr lang="zh-CN" altLang="en-US" kern="0"/>
          </a:p>
          <a:p>
            <a:pPr>
              <a:spcBef>
                <a:spcPts val="1800"/>
              </a:spcBef>
            </a:pPr>
            <a:r>
              <a:rPr lang="zh-CN" altLang="en-US" kern="0"/>
              <a:t>寄存器数量有限</a:t>
            </a:r>
            <a:endParaRPr lang="zh-CN" altLang="en-US" kern="0"/>
          </a:p>
        </p:txBody>
      </p:sp>
      <p:sp>
        <p:nvSpPr>
          <p:cNvPr id="6" name="文本框 5"/>
          <p:cNvSpPr txBox="1"/>
          <p:nvPr/>
        </p:nvSpPr>
        <p:spPr bwMode="auto">
          <a:xfrm>
            <a:off x="590550" y="5714092"/>
            <a:ext cx="5804794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x86（</a:t>
            </a:r>
            <a:r>
              <a:rPr lang="en-US" altLang="zh-CN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lang="zh-CN" altLang="en-US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AMD</a:t>
            </a:r>
            <a:r>
              <a:rPr lang="zh-CN" altLang="en-US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、海光、兆芯）</a:t>
            </a:r>
            <a:endParaRPr lang="zh-CN" altLang="en-US">
              <a:solidFill>
                <a:srgbClr val="FF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3939109" y="45105"/>
            <a:ext cx="3126177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en-US" altLang="zh-CN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CISC </a:t>
            </a:r>
            <a:r>
              <a:rPr lang="zh-CN" altLang="en-US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</a:t>
            </a:r>
            <a:endParaRPr lang="zh-CN" altLang="en-US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 指令系统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9750" y="549275"/>
            <a:ext cx="8496300" cy="61928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ker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黑体" pitchFamily="2" charset="-122"/>
                <a:cs typeface="Arial" panose="020B0604020202090204" pitchFamily="34" charset="0"/>
              </a:rPr>
              <a:t>RISC</a:t>
            </a:r>
            <a:r>
              <a:rPr lang="zh-CN" altLang="en-US" ker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黑体" pitchFamily="2" charset="-122"/>
                <a:cs typeface="Arial" panose="020B0604020202090204" pitchFamily="34" charset="0"/>
              </a:rPr>
              <a:t>的特点：</a:t>
            </a:r>
            <a:endParaRPr lang="en-US" altLang="zh-CN" ker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90204" pitchFamily="34" charset="0"/>
              <a:ea typeface="黑体" pitchFamily="2" charset="-122"/>
              <a:cs typeface="Arial" panose="020B0604020202090204" pitchFamily="34" charset="0"/>
            </a:endParaRPr>
          </a:p>
          <a:p>
            <a:pPr>
              <a:spcBef>
                <a:spcPts val="200"/>
              </a:spcBef>
            </a:pPr>
            <a:r>
              <a:rPr lang="zh-CN" altLang="en-US" kern="0">
                <a:solidFill>
                  <a:srgbClr val="FF0000"/>
                </a:solidFill>
              </a:rPr>
              <a:t>指令系统简单</a:t>
            </a:r>
            <a:endParaRPr lang="en-US" altLang="zh-CN" kern="0">
              <a:solidFill>
                <a:srgbClr val="FF0000"/>
              </a:solidFill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>
                <a:latin typeface="Times New Roman" panose="02020503050405090304" pitchFamily="18" charset="0"/>
              </a:rPr>
              <a:t>指令条数少、格式少、长度固定、功能简单</a:t>
            </a:r>
            <a:endParaRPr lang="en-US" altLang="zh-CN" sz="2400" kern="0">
              <a:latin typeface="Times New Roman" panose="02020503050405090304" pitchFamily="18" charset="0"/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>
                <a:latin typeface="Times New Roman" panose="02020503050405090304" pitchFamily="18" charset="0"/>
              </a:rPr>
              <a:t>寻址方式少</a:t>
            </a:r>
            <a:endParaRPr lang="en-US" altLang="zh-CN" sz="2400" kern="0">
              <a:latin typeface="Times New Roman" panose="02020503050405090304" pitchFamily="18" charset="0"/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>
                <a:latin typeface="Times New Roman" panose="02020503050405090304" pitchFamily="18" charset="0"/>
              </a:rPr>
              <a:t>采用</a:t>
            </a:r>
            <a:r>
              <a:rPr lang="zh-CN" altLang="en-US" sz="2400" kern="0">
                <a:solidFill>
                  <a:srgbClr val="0000FF"/>
                </a:solidFill>
                <a:latin typeface="Times New Roman" panose="02020503050405090304" pitchFamily="18" charset="0"/>
              </a:rPr>
              <a:t>硬布线</a:t>
            </a:r>
            <a:r>
              <a:rPr lang="zh-CN" altLang="en-US" sz="2400" kern="0">
                <a:latin typeface="Times New Roman" panose="02020503050405090304" pitchFamily="18" charset="0"/>
              </a:rPr>
              <a:t>控制逻辑（不用或少用微程序控制）</a:t>
            </a:r>
            <a:endParaRPr lang="en-US" altLang="zh-CN" sz="2400" kern="0"/>
          </a:p>
          <a:p>
            <a:pPr>
              <a:spcBef>
                <a:spcPts val="200"/>
              </a:spcBef>
            </a:pPr>
            <a:r>
              <a:rPr lang="en-US" altLang="zh-CN" kern="0">
                <a:solidFill>
                  <a:srgbClr val="FF0000"/>
                </a:solidFill>
              </a:rPr>
              <a:t>Load/Store</a:t>
            </a:r>
            <a:r>
              <a:rPr lang="zh-CN" altLang="en-US" kern="0">
                <a:solidFill>
                  <a:srgbClr val="FF0000"/>
                </a:solidFill>
              </a:rPr>
              <a:t>结构</a:t>
            </a:r>
            <a:endParaRPr lang="en-US" altLang="zh-CN" kern="0">
              <a:solidFill>
                <a:srgbClr val="FF0000"/>
              </a:solidFill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只有</a:t>
            </a:r>
            <a:r>
              <a:rPr lang="en-US" altLang="zh-CN" sz="2400" kern="0"/>
              <a:t>LOAD</a:t>
            </a:r>
            <a:r>
              <a:rPr lang="zh-CN" altLang="en-US" sz="2400" kern="0"/>
              <a:t>和</a:t>
            </a:r>
            <a:r>
              <a:rPr lang="en-US" altLang="zh-CN" sz="2400" kern="0"/>
              <a:t>STORE</a:t>
            </a:r>
            <a:r>
              <a:rPr lang="zh-CN" altLang="en-US" sz="2400" kern="0"/>
              <a:t>指令可以访问存储器</a:t>
            </a:r>
            <a:endParaRPr lang="en-US" altLang="zh-CN" sz="2400" kern="0"/>
          </a:p>
          <a:p>
            <a:pPr lvl="1">
              <a:spcBef>
                <a:spcPts val="200"/>
              </a:spcBef>
            </a:pPr>
            <a:r>
              <a:rPr lang="zh-CN" altLang="en-US" sz="2400" kern="0">
                <a:solidFill>
                  <a:srgbClr val="0000FF"/>
                </a:solidFill>
              </a:rPr>
              <a:t>寄存器多</a:t>
            </a:r>
            <a:endParaRPr lang="en-US" altLang="zh-CN" sz="2400" kern="0">
              <a:solidFill>
                <a:srgbClr val="0000FF"/>
              </a:solidFill>
            </a:endParaRPr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寄存器窗口技术</a:t>
            </a:r>
            <a:endParaRPr lang="en-US" altLang="zh-CN" sz="2400" kern="0"/>
          </a:p>
          <a:p>
            <a:pPr>
              <a:spcBef>
                <a:spcPts val="200"/>
              </a:spcBef>
            </a:pPr>
            <a:r>
              <a:rPr lang="zh-CN" altLang="en-US" kern="0"/>
              <a:t>十分重视提高</a:t>
            </a:r>
            <a:r>
              <a:rPr lang="zh-CN" altLang="en-US" kern="0">
                <a:solidFill>
                  <a:srgbClr val="FF0000"/>
                </a:solidFill>
              </a:rPr>
              <a:t>流水线</a:t>
            </a:r>
            <a:r>
              <a:rPr lang="zh-CN" altLang="en-US" kern="0"/>
              <a:t>的执行效率</a:t>
            </a:r>
            <a:endParaRPr lang="en-US" altLang="zh-CN" kern="0"/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大部分指令可以单周期执行完成</a:t>
            </a:r>
            <a:endParaRPr lang="en-US" altLang="zh-CN" sz="2400" kern="0"/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延迟转移技术</a:t>
            </a:r>
            <a:endParaRPr lang="en-US" altLang="zh-CN" sz="2400" kern="0"/>
          </a:p>
          <a:p>
            <a:pPr lvl="1">
              <a:spcBef>
                <a:spcPts val="200"/>
              </a:spcBef>
            </a:pPr>
            <a:r>
              <a:rPr lang="zh-CN" altLang="en-US" sz="2400" kern="0"/>
              <a:t>指令流调整技术</a:t>
            </a:r>
            <a:endParaRPr lang="en-US" altLang="zh-CN" sz="2400" kern="0"/>
          </a:p>
          <a:p>
            <a:pPr>
              <a:spcBef>
                <a:spcPts val="200"/>
              </a:spcBef>
            </a:pPr>
            <a:r>
              <a:rPr lang="zh-CN" altLang="en-US" kern="0">
                <a:latin typeface="宋体" pitchFamily="2" charset="-122"/>
              </a:rPr>
              <a:t>十分强调</a:t>
            </a:r>
            <a:r>
              <a:rPr lang="zh-CN" altLang="en-US" kern="0">
                <a:solidFill>
                  <a:srgbClr val="FF0000"/>
                </a:solidFill>
                <a:latin typeface="宋体" pitchFamily="2" charset="-122"/>
              </a:rPr>
              <a:t>优化编译</a:t>
            </a:r>
            <a:r>
              <a:rPr lang="zh-CN" altLang="en-US" kern="0">
                <a:latin typeface="宋体" pitchFamily="2" charset="-122"/>
              </a:rPr>
              <a:t>技术的作用（流水线优化）</a:t>
            </a:r>
            <a:endParaRPr lang="zh-CN" altLang="en-US" kern="0"/>
          </a:p>
        </p:txBody>
      </p:sp>
      <p:sp>
        <p:nvSpPr>
          <p:cNvPr id="5" name="文本框 4"/>
          <p:cNvSpPr txBox="1"/>
          <p:nvPr/>
        </p:nvSpPr>
        <p:spPr bwMode="auto">
          <a:xfrm>
            <a:off x="4631123" y="188640"/>
            <a:ext cx="4475905" cy="1200329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</a:t>
            </a:r>
            <a:r>
              <a:rPr lang="en-US" altLang="zh-CN" sz="24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飞腾、鲲鹏</a:t>
            </a:r>
            <a:r>
              <a:rPr lang="en-US" altLang="zh-CN" sz="24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RISC-V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龙芯、申威</a:t>
            </a:r>
            <a:r>
              <a:rPr lang="en-US" altLang="zh-CN" sz="24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</a:t>
            </a:r>
            <a:r>
              <a:rPr lang="en-US" altLang="zh-CN" sz="24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MIPS</a:t>
            </a:r>
            <a:r>
              <a:rPr lang="zh-CN" altLang="en-US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SPARC</a:t>
            </a:r>
            <a:endParaRPr lang="zh-CN" altLang="en-US" sz="240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 bwMode="auto">
          <a:xfrm>
            <a:off x="5909873" y="5299156"/>
            <a:ext cx="3126177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五、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CISC 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08" y="1479543"/>
            <a:ext cx="7278322" cy="50405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90629" y="2655288"/>
            <a:ext cx="13468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目的操作数</a:t>
            </a:r>
            <a:endParaRPr lang="en-US" altLang="zh-CN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寻址方式</a:t>
            </a:r>
            <a:endParaRPr lang="zh-CN" altLang="en-US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88024" y="2666622"/>
            <a:ext cx="111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目的</a:t>
            </a:r>
            <a:endParaRPr lang="en-US" altLang="zh-CN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寄存器号</a:t>
            </a:r>
            <a:endParaRPr lang="zh-CN" altLang="en-US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16980" y="1463199"/>
            <a:ext cx="111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源操作数</a:t>
            </a:r>
            <a:endParaRPr lang="en-US" altLang="zh-CN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寻址方式</a:t>
            </a:r>
            <a:endParaRPr lang="zh-CN" altLang="en-US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19455" y="1455292"/>
            <a:ext cx="11144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源</a:t>
            </a:r>
            <a:endParaRPr lang="en-US" altLang="zh-CN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寄存器号</a:t>
            </a:r>
            <a:endParaRPr lang="zh-CN" altLang="en-US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49763" y="3963255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C00FF"/>
                </a:solidFill>
                <a:latin typeface="Times New Roman" panose="02020503050405090304"/>
                <a:ea typeface="宋体"/>
              </a:rPr>
              <a:t>不用</a:t>
            </a:r>
            <a:endParaRPr lang="zh-CN" altLang="en-US" sz="1800" dirty="0">
              <a:solidFill>
                <a:srgbClr val="CC00FF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36277" y="4893411"/>
            <a:ext cx="20441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指明条件转移指令</a:t>
            </a:r>
            <a:br>
              <a:rPr lang="en-US" altLang="zh-CN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</a:b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需要判断的标志位</a:t>
            </a:r>
            <a:endParaRPr lang="zh-CN" altLang="en-US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54114" y="5406810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补码表示的偏移量</a:t>
            </a:r>
            <a:endParaRPr lang="zh-CN" altLang="en-US" sz="1800" dirty="0">
              <a:solidFill>
                <a:srgbClr val="FF0000"/>
              </a:solidFill>
              <a:latin typeface="Times New Roman" panose="02020503050405090304"/>
              <a:ea typeface="宋体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>
            <a:off x="4932040" y="5517232"/>
            <a:ext cx="0" cy="345187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4" name="直接箭头连接符 13"/>
          <p:cNvCxnSpPr/>
          <p:nvPr/>
        </p:nvCxnSpPr>
        <p:spPr bwMode="auto">
          <a:xfrm flipV="1">
            <a:off x="3484948" y="2454792"/>
            <a:ext cx="196329" cy="288408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 flipH="1" flipV="1">
            <a:off x="5004048" y="2445456"/>
            <a:ext cx="188676" cy="270850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3119983" y="360064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C00FF"/>
                </a:solidFill>
                <a:latin typeface="Times New Roman" panose="02020503050405090304"/>
                <a:ea typeface="宋体"/>
              </a:rPr>
              <a:t>寻址方式</a:t>
            </a:r>
            <a:endParaRPr lang="zh-CN" altLang="en-US" sz="1800" dirty="0">
              <a:solidFill>
                <a:srgbClr val="CC00FF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119983" y="5422723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C00FF"/>
                </a:solidFill>
                <a:latin typeface="Times New Roman" panose="02020503050405090304"/>
                <a:ea typeface="宋体"/>
              </a:rPr>
              <a:t>寻址方式</a:t>
            </a:r>
            <a:endParaRPr lang="zh-CN" altLang="en-US" sz="1800" dirty="0">
              <a:solidFill>
                <a:srgbClr val="CC00FF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12831" y="360064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solidFill>
                  <a:srgbClr val="CC00FF"/>
                </a:solidFill>
                <a:latin typeface="Times New Roman" panose="02020503050405090304"/>
                <a:ea typeface="宋体"/>
              </a:rPr>
              <a:t>寄存器号</a:t>
            </a:r>
            <a:endParaRPr lang="zh-CN" altLang="en-US" sz="1800" dirty="0">
              <a:solidFill>
                <a:srgbClr val="CC00FF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</a:fld>
            <a:endParaRPr lang="en-US" altLang="zh-CN"/>
          </a:p>
        </p:txBody>
      </p:sp>
      <p:sp>
        <p:nvSpPr>
          <p:cNvPr id="21" name="内容占位符 2"/>
          <p:cNvSpPr txBox="1"/>
          <p:nvPr/>
        </p:nvSpPr>
        <p:spPr>
          <a:xfrm>
            <a:off x="263072" y="152365"/>
            <a:ext cx="8639339" cy="1260766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3855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5055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1795780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C00000"/>
                </a:solidFill>
              </a:rPr>
              <a:t>【</a:t>
            </a:r>
            <a:r>
              <a:rPr lang="zh-CN" altLang="en-US" sz="2400" kern="0" dirty="0">
                <a:solidFill>
                  <a:srgbClr val="C00000"/>
                </a:solidFill>
              </a:rPr>
              <a:t>例</a:t>
            </a:r>
            <a:r>
              <a:rPr lang="en-US" altLang="zh-CN" sz="2400" kern="0" dirty="0">
                <a:solidFill>
                  <a:srgbClr val="C00000"/>
                </a:solidFill>
              </a:rPr>
              <a:t>】</a:t>
            </a:r>
            <a:r>
              <a:rPr lang="zh-CN" altLang="en-US" sz="2400" kern="0" dirty="0"/>
              <a:t>某计算机</a:t>
            </a:r>
            <a:r>
              <a:rPr lang="zh-CN" altLang="en-US" sz="2400" kern="0" dirty="0">
                <a:solidFill>
                  <a:srgbClr val="CC0099"/>
                </a:solidFill>
              </a:rPr>
              <a:t>字长</a:t>
            </a:r>
            <a:r>
              <a:rPr lang="zh-CN" altLang="en-US" sz="2400" kern="0" dirty="0"/>
              <a:t>为</a:t>
            </a:r>
            <a:r>
              <a:rPr lang="en-US" altLang="zh-CN" sz="2400" kern="0" dirty="0">
                <a:solidFill>
                  <a:srgbClr val="CC0099"/>
                </a:solidFill>
              </a:rPr>
              <a:t>16</a:t>
            </a:r>
            <a:r>
              <a:rPr lang="zh-CN" altLang="en-US" sz="2400" kern="0" dirty="0">
                <a:solidFill>
                  <a:srgbClr val="CC0099"/>
                </a:solidFill>
              </a:rPr>
              <a:t>位</a:t>
            </a:r>
            <a:r>
              <a:rPr lang="zh-CN" altLang="en-US" sz="2400" kern="0" dirty="0"/>
              <a:t>，主存</a:t>
            </a:r>
            <a:r>
              <a:rPr lang="zh-CN" altLang="en-US" sz="2400" kern="0" dirty="0">
                <a:solidFill>
                  <a:srgbClr val="008000"/>
                </a:solidFill>
              </a:rPr>
              <a:t>最大地址空间</a:t>
            </a:r>
            <a:r>
              <a:rPr lang="zh-CN" altLang="en-US" sz="2400" kern="0" dirty="0"/>
              <a:t>为</a:t>
            </a:r>
            <a:r>
              <a:rPr lang="en-US" altLang="zh-CN" sz="2400" kern="0" dirty="0">
                <a:solidFill>
                  <a:srgbClr val="008000"/>
                </a:solidFill>
              </a:rPr>
              <a:t>128KB</a:t>
            </a:r>
            <a:r>
              <a:rPr lang="zh-CN" altLang="en-US" sz="2400" kern="0" dirty="0"/>
              <a:t>，</a:t>
            </a:r>
            <a:r>
              <a:rPr lang="zh-CN" altLang="en-US" sz="2400" kern="0" dirty="0">
                <a:solidFill>
                  <a:srgbClr val="FF0000"/>
                </a:solidFill>
              </a:rPr>
              <a:t>按字编址</a:t>
            </a:r>
            <a:r>
              <a:rPr lang="zh-CN" altLang="en-US" sz="2400" kern="0" dirty="0"/>
              <a:t>（即每个</a:t>
            </a:r>
            <a:r>
              <a:rPr lang="en-US" altLang="zh-CN" sz="2400" kern="0" dirty="0"/>
              <a:t>16</a:t>
            </a:r>
            <a:r>
              <a:rPr lang="zh-CN" altLang="en-US" sz="2400" kern="0" dirty="0"/>
              <a:t>位的字占用一个内存地址）。</a:t>
            </a:r>
            <a:endParaRPr lang="en-US" altLang="zh-CN" sz="2400" kern="0" dirty="0"/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kern="0" dirty="0"/>
              <a:t>该计算机</a:t>
            </a:r>
            <a:r>
              <a:rPr lang="zh-CN" altLang="en-US" sz="2400" kern="0" dirty="0">
                <a:solidFill>
                  <a:srgbClr val="0000FF"/>
                </a:solidFill>
              </a:rPr>
              <a:t>所有指令</a:t>
            </a:r>
            <a:r>
              <a:rPr lang="zh-CN" altLang="en-US" sz="2400" kern="0" dirty="0"/>
              <a:t>均为</a:t>
            </a:r>
            <a:r>
              <a:rPr lang="zh-CN" altLang="en-US" sz="2400" kern="0" dirty="0">
                <a:solidFill>
                  <a:srgbClr val="0000FF"/>
                </a:solidFill>
              </a:rPr>
              <a:t>单字长</a:t>
            </a:r>
            <a:r>
              <a:rPr lang="zh-CN" altLang="en-US" sz="2400" kern="0" dirty="0"/>
              <a:t>，共有以下三种指令格式：</a:t>
            </a:r>
            <a:endParaRPr lang="zh-CN" altLang="en-US" sz="2400" kern="0" dirty="0"/>
          </a:p>
        </p:txBody>
      </p:sp>
      <p:sp>
        <p:nvSpPr>
          <p:cNvPr id="19" name="文本框 18"/>
          <p:cNvSpPr txBox="1"/>
          <p:nvPr/>
        </p:nvSpPr>
        <p:spPr bwMode="auto">
          <a:xfrm>
            <a:off x="6372200" y="3121804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 bwMode="auto">
          <a:xfrm>
            <a:off x="35496" y="1412699"/>
            <a:ext cx="5256584" cy="51846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3105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9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字长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位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主存最大地址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128KB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按字编址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所有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指令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均为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单字长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(1)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该指令系统最多可有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多少条指令？         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该计算机最多可有多少个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通用寄存器？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该计算机地址寄存器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AR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和数据寄存器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DR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至少各需多少位？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(2)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无条件转移指令跳转的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地址范围是多少？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539533" y="2665434"/>
            <a:ext cx="8002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2</a:t>
            </a:r>
            <a:r>
              <a:rPr lang="en-US" altLang="zh-CN" sz="2000" kern="0" baseline="300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4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=16</a:t>
            </a:r>
            <a:endParaRPr lang="zh-CN" altLang="en-US" sz="16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66961" y="3346873"/>
            <a:ext cx="671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2</a:t>
            </a:r>
            <a:r>
              <a:rPr lang="en-US" altLang="zh-CN" sz="2000" kern="0" baseline="3000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3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 panose="02020503050405090304"/>
                <a:ea typeface="宋体"/>
              </a:rPr>
              <a:t>=8</a:t>
            </a:r>
            <a:endParaRPr lang="zh-CN" altLang="en-US" sz="16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9097" y="4717957"/>
            <a:ext cx="2210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128KB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÷</a:t>
            </a: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2B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＝</a:t>
            </a: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64K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94966" y="3421005"/>
            <a:ext cx="6992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16</a:t>
            </a:r>
            <a:r>
              <a:rPr lang="zh-CN" altLang="en-US" sz="2000" kern="100" dirty="0">
                <a:solidFill>
                  <a:srgbClr val="FF0000"/>
                </a:solidFill>
                <a:ea typeface="宋体" pitchFamily="2" charset="-122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87000" y="4004079"/>
            <a:ext cx="6992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16</a:t>
            </a:r>
            <a:r>
              <a:rPr lang="zh-CN" altLang="en-US" sz="2000" kern="100" dirty="0">
                <a:solidFill>
                  <a:srgbClr val="FF0000"/>
                </a:solidFill>
                <a:ea typeface="宋体" pitchFamily="2" charset="-122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8862" y="5904425"/>
            <a:ext cx="3280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寄存器与内存地址均为</a:t>
            </a:r>
            <a:r>
              <a:rPr lang="nl-NL" altLang="zh-CN" sz="2000" kern="100" dirty="0">
                <a:solidFill>
                  <a:srgbClr val="FF0000"/>
                </a:solidFill>
                <a:ea typeface="宋体" pitchFamily="2" charset="-122"/>
              </a:rPr>
              <a:t>16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8863" y="6269250"/>
            <a:ext cx="45111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kern="1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→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可跳转到</a:t>
            </a:r>
            <a:r>
              <a:rPr lang="nl-NL" altLang="zh-CN" sz="2000" kern="100" dirty="0">
                <a:solidFill>
                  <a:srgbClr val="FF0000"/>
                </a:solidFill>
                <a:ea typeface="宋体" pitchFamily="2" charset="-122"/>
              </a:rPr>
              <a:t>64K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字内存空间的任意位置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4368" y="150690"/>
            <a:ext cx="6073336" cy="212618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827584" y="519063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</a:pPr>
            <a:r>
              <a:rPr lang="zh-CN" altLang="en-US" sz="2400" b="1" kern="0" dirty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寻址方式</a:t>
            </a:r>
            <a:r>
              <a:rPr lang="zh-CN" altLang="en-US" sz="2400" b="1" kern="0" dirty="0">
                <a:solidFill>
                  <a:srgbClr val="FF6600"/>
                </a:solidFill>
              </a:rPr>
              <a:t>定义：</a:t>
            </a:r>
            <a:endParaRPr lang="en-US" altLang="zh-CN" sz="2400" b="1" kern="0" dirty="0">
              <a:solidFill>
                <a:srgbClr val="FF6600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2994196" y="163316"/>
            <a:ext cx="0" cy="208666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550005" y="2320029"/>
            <a:ext cx="5484111" cy="3917283"/>
            <a:chOff x="4988858" y="2445423"/>
            <a:chExt cx="4098846" cy="2927793"/>
          </a:xfrm>
        </p:grpSpPr>
        <p:grpSp>
          <p:nvGrpSpPr>
            <p:cNvPr id="25" name="组合 24"/>
            <p:cNvGrpSpPr/>
            <p:nvPr/>
          </p:nvGrpSpPr>
          <p:grpSpPr>
            <a:xfrm>
              <a:off x="5004048" y="2492820"/>
              <a:ext cx="4083656" cy="2828112"/>
              <a:chOff x="5004048" y="2420888"/>
              <a:chExt cx="4083656" cy="2828112"/>
            </a:xfrm>
          </p:grpSpPr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4048" y="2420888"/>
                <a:ext cx="4083656" cy="2828112"/>
              </a:xfrm>
              <a:prstGeom prst="rect">
                <a:avLst/>
              </a:prstGeom>
            </p:spPr>
          </p:pic>
          <p:cxnSp>
            <p:nvCxnSpPr>
              <p:cNvPr id="17" name="直接连接符 16"/>
              <p:cNvCxnSpPr/>
              <p:nvPr/>
            </p:nvCxnSpPr>
            <p:spPr bwMode="auto">
              <a:xfrm>
                <a:off x="5029452" y="2586074"/>
                <a:ext cx="6480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/>
              <p:cNvCxnSpPr/>
              <p:nvPr/>
            </p:nvCxnSpPr>
            <p:spPr bwMode="auto">
              <a:xfrm>
                <a:off x="5796136" y="2586074"/>
                <a:ext cx="3760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0"/>
              <p:cNvCxnSpPr/>
              <p:nvPr/>
            </p:nvCxnSpPr>
            <p:spPr bwMode="auto">
              <a:xfrm>
                <a:off x="5031569" y="3611157"/>
                <a:ext cx="622048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 bwMode="auto">
              <a:xfrm>
                <a:off x="5031569" y="4640434"/>
                <a:ext cx="4971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1" name="矩形 30"/>
            <p:cNvSpPr/>
            <p:nvPr/>
          </p:nvSpPr>
          <p:spPr bwMode="auto">
            <a:xfrm>
              <a:off x="4988858" y="2445423"/>
              <a:ext cx="4098845" cy="2927793"/>
            </a:xfrm>
            <a:prstGeom prst="rect">
              <a:avLst/>
            </a:prstGeom>
            <a:noFill/>
            <a:ln w="57150" cap="flat" cmpd="sng" algn="ctr">
              <a:solidFill>
                <a:srgbClr val="00CC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0" y="557880"/>
            <a:ext cx="928139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】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 bwMode="auto">
          <a:xfrm>
            <a:off x="107504" y="63273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 bwMode="auto">
          <a:xfrm>
            <a:off x="35496" y="1412699"/>
            <a:ext cx="3410124" cy="36004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3105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9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字长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位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主存最大地址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128KB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按字编址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所有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指令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均为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单字长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(3)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条件转移指令的相对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偏移量范围是多少？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以条件转移指令的位置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为基准，向前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程序执行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的方向</a:t>
            </a:r>
            <a:r>
              <a:rPr lang="en-US" altLang="zh-CN" sz="2000" kern="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跳，最多可以跳过多少条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指令？向后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跳，最多可以跳过多少条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指令？</a:t>
            </a:r>
            <a:b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lang="en-US" altLang="zh-CN" sz="2000" kern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lang="zh-CN" altLang="en-US" sz="2000" kern="0">
                <a:solidFill>
                  <a:srgbClr val="000000"/>
                </a:solidFill>
              </a:rPr>
              <a:t>已知条件转移指令执行时，</a:t>
            </a:r>
            <a:r>
              <a:rPr lang="en-US" altLang="zh-CN" sz="2000" kern="0">
                <a:solidFill>
                  <a:srgbClr val="000000"/>
                </a:solidFill>
              </a:rPr>
              <a:t>PC</a:t>
            </a:r>
            <a:r>
              <a:rPr lang="zh-CN" altLang="en-US" sz="2000" kern="0">
                <a:solidFill>
                  <a:srgbClr val="000000"/>
                </a:solidFill>
              </a:rPr>
              <a:t>已指向顺序下一指令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)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</a:fld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4368" y="150690"/>
            <a:ext cx="6073336" cy="2126182"/>
          </a:xfrm>
          <a:prstGeom prst="rect">
            <a:avLst/>
          </a:prstGeom>
        </p:spPr>
      </p:pic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550005" y="2320029"/>
            <a:ext cx="5484111" cy="3917283"/>
            <a:chOff x="4988858" y="2445423"/>
            <a:chExt cx="4098846" cy="2927793"/>
          </a:xfrm>
        </p:grpSpPr>
        <p:grpSp>
          <p:nvGrpSpPr>
            <p:cNvPr id="25" name="组合 24"/>
            <p:cNvGrpSpPr/>
            <p:nvPr/>
          </p:nvGrpSpPr>
          <p:grpSpPr>
            <a:xfrm>
              <a:off x="5004048" y="2492820"/>
              <a:ext cx="4083656" cy="2828112"/>
              <a:chOff x="5004048" y="2420888"/>
              <a:chExt cx="4083656" cy="2828112"/>
            </a:xfrm>
          </p:grpSpPr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4048" y="2420888"/>
                <a:ext cx="4083656" cy="2828112"/>
              </a:xfrm>
              <a:prstGeom prst="rect">
                <a:avLst/>
              </a:prstGeom>
            </p:spPr>
          </p:pic>
          <p:cxnSp>
            <p:nvCxnSpPr>
              <p:cNvPr id="17" name="直接连接符 16"/>
              <p:cNvCxnSpPr/>
              <p:nvPr/>
            </p:nvCxnSpPr>
            <p:spPr bwMode="auto">
              <a:xfrm>
                <a:off x="5029452" y="2586074"/>
                <a:ext cx="6480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/>
              <p:cNvCxnSpPr/>
              <p:nvPr/>
            </p:nvCxnSpPr>
            <p:spPr bwMode="auto">
              <a:xfrm>
                <a:off x="5796136" y="2586074"/>
                <a:ext cx="3760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0"/>
              <p:cNvCxnSpPr/>
              <p:nvPr/>
            </p:nvCxnSpPr>
            <p:spPr bwMode="auto">
              <a:xfrm>
                <a:off x="5031569" y="3611157"/>
                <a:ext cx="622048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 bwMode="auto">
              <a:xfrm>
                <a:off x="5031569" y="4640434"/>
                <a:ext cx="4971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1" name="矩形 30"/>
            <p:cNvSpPr/>
            <p:nvPr/>
          </p:nvSpPr>
          <p:spPr bwMode="auto">
            <a:xfrm>
              <a:off x="4988858" y="2445423"/>
              <a:ext cx="4098845" cy="2927793"/>
            </a:xfrm>
            <a:prstGeom prst="rect">
              <a:avLst/>
            </a:prstGeom>
            <a:noFill/>
            <a:ln w="57150" cap="flat" cmpd="sng" algn="ctr">
              <a:solidFill>
                <a:srgbClr val="00CC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35495" y="5050630"/>
            <a:ext cx="32816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条件转移指令的相对偏移量</a:t>
            </a:r>
            <a:br>
              <a:rPr lang="en-US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</a:br>
            <a:r>
              <a:rPr lang="en-US" altLang="zh-CN" sz="2000" kern="1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补码</a:t>
            </a:r>
            <a:r>
              <a:rPr lang="en-US" altLang="zh-CN" sz="2000" kern="1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范围为</a:t>
            </a: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 -2</a:t>
            </a:r>
            <a:r>
              <a:rPr lang="en-US" altLang="zh-CN" sz="2000" kern="100" baseline="30000" dirty="0">
                <a:solidFill>
                  <a:srgbClr val="FF0000"/>
                </a:solidFill>
                <a:ea typeface="宋体" pitchFamily="2" charset="-122"/>
              </a:rPr>
              <a:t>5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～</a:t>
            </a: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2</a:t>
            </a:r>
            <a:r>
              <a:rPr lang="en-US" altLang="zh-CN" sz="2000" kern="100" baseline="30000" dirty="0">
                <a:solidFill>
                  <a:srgbClr val="FF0000"/>
                </a:solidFill>
                <a:ea typeface="宋体" pitchFamily="2" charset="-122"/>
              </a:rPr>
              <a:t>5</a:t>
            </a: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-1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，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316121" y="5663827"/>
            <a:ext cx="1766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即</a:t>
            </a:r>
            <a:r>
              <a:rPr lang="zh-CN" altLang="zh-CN" sz="2000" kern="100" dirty="0">
                <a:solidFill>
                  <a:srgbClr val="FF0000"/>
                </a:solidFill>
                <a:latin typeface="Times New Roman" panose="02020503050405090304"/>
                <a:ea typeface="Times New Roman" panose="02020503050405090304" pitchFamily="18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latin typeface="Times New Roman" panose="02020503050405090304"/>
                <a:ea typeface="Times New Roman" panose="02020503050405090304" pitchFamily="18" charset="0"/>
              </a:rPr>
              <a:t>-32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到</a:t>
            </a:r>
            <a:r>
              <a:rPr lang="en-US" altLang="zh-CN" sz="2000" kern="100" dirty="0">
                <a:solidFill>
                  <a:srgbClr val="FF0000"/>
                </a:solidFill>
                <a:ea typeface="宋体" pitchFamily="2" charset="-122"/>
              </a:rPr>
              <a:t>+31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2718" y="6269250"/>
            <a:ext cx="3280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向后跳，最多跳</a:t>
            </a:r>
            <a:r>
              <a:rPr lang="nl-NL" altLang="zh-CN" sz="2000" kern="100" dirty="0">
                <a:solidFill>
                  <a:srgbClr val="FF0000"/>
                </a:solidFill>
                <a:ea typeface="宋体" pitchFamily="2" charset="-122"/>
              </a:rPr>
              <a:t>31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条指令。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2718" y="5995587"/>
            <a:ext cx="32800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向前跳，最多跳</a:t>
            </a:r>
            <a:r>
              <a:rPr lang="nl-NL" altLang="zh-CN" sz="2000" kern="100" dirty="0">
                <a:solidFill>
                  <a:srgbClr val="FF0000"/>
                </a:solidFill>
                <a:ea typeface="宋体" pitchFamily="2" charset="-122"/>
              </a:rPr>
              <a:t>32</a:t>
            </a:r>
            <a:r>
              <a:rPr lang="zh-CN" altLang="zh-CN" sz="2000" kern="100" dirty="0">
                <a:solidFill>
                  <a:srgbClr val="FF0000"/>
                </a:solidFill>
                <a:ea typeface="宋体" pitchFamily="2" charset="-122"/>
                <a:cs typeface="Times New Roman" panose="02020503050405090304" pitchFamily="18" charset="0"/>
              </a:rPr>
              <a:t>条指令；</a:t>
            </a:r>
            <a:endParaRPr lang="zh-CN" altLang="en-US" sz="2000" dirty="0">
              <a:solidFill>
                <a:srgbClr val="000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673442" y="456170"/>
            <a:ext cx="1769790" cy="382391"/>
          </a:xfrm>
          <a:prstGeom prst="rect">
            <a:avLst/>
          </a:prstGeom>
          <a:solidFill>
            <a:srgbClr val="C5FFC5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条件转移指令</a:t>
            </a:r>
            <a:endParaRPr kumimoji="0" lang="zh-CN" altLang="en-US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673442" y="927076"/>
            <a:ext cx="1769790" cy="382391"/>
          </a:xfrm>
          <a:prstGeom prst="rect">
            <a:avLst/>
          </a:prstGeom>
          <a:solidFill>
            <a:srgbClr val="FFFFCC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itchFamily="2" charset="-122"/>
              </a:rPr>
              <a:t>顺序下一条指令</a:t>
            </a:r>
            <a:endParaRPr kumimoji="0" lang="zh-CN" altLang="en-US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5495" y="943196"/>
            <a:ext cx="724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kern="0" dirty="0">
                <a:solidFill>
                  <a:srgbClr val="CC0099"/>
                </a:solidFill>
                <a:latin typeface="Times New Roman" panose="02020503050405090304"/>
                <a:ea typeface="宋体"/>
              </a:rPr>
              <a:t>PC</a:t>
            </a:r>
            <a:r>
              <a:rPr lang="en-US" altLang="zh-CN" sz="1800" kern="0" dirty="0">
                <a:solidFill>
                  <a:srgbClr val="CC0099"/>
                </a:solidFill>
                <a:latin typeface="宋体" pitchFamily="2" charset="-122"/>
                <a:ea typeface="宋体" pitchFamily="2" charset="-122"/>
              </a:rPr>
              <a:t>→</a:t>
            </a:r>
            <a:endParaRPr lang="zh-CN" altLang="en-US" sz="1400" dirty="0">
              <a:solidFill>
                <a:srgbClr val="CC0099"/>
              </a:solidFill>
              <a:latin typeface="Times New Roman" panose="02020503050405090304"/>
              <a:ea typeface="宋体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2443232" y="602916"/>
            <a:ext cx="279824" cy="0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直接连接符 33"/>
          <p:cNvCxnSpPr/>
          <p:nvPr/>
        </p:nvCxnSpPr>
        <p:spPr bwMode="auto">
          <a:xfrm flipV="1">
            <a:off x="2723056" y="341948"/>
            <a:ext cx="0" cy="260967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35" name="直接连接符 34"/>
          <p:cNvCxnSpPr/>
          <p:nvPr/>
        </p:nvCxnSpPr>
        <p:spPr bwMode="auto">
          <a:xfrm>
            <a:off x="2443232" y="694272"/>
            <a:ext cx="291832" cy="0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直接连接符 35"/>
          <p:cNvCxnSpPr/>
          <p:nvPr/>
        </p:nvCxnSpPr>
        <p:spPr bwMode="auto">
          <a:xfrm>
            <a:off x="2735064" y="694273"/>
            <a:ext cx="0" cy="248923"/>
          </a:xfrm>
          <a:prstGeom prst="line">
            <a:avLst/>
          </a:prstGeom>
          <a:solidFill>
            <a:srgbClr val="9999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7" name="矩形 36"/>
          <p:cNvSpPr/>
          <p:nvPr/>
        </p:nvSpPr>
        <p:spPr>
          <a:xfrm>
            <a:off x="2410295" y="846004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0" dirty="0">
                <a:solidFill>
                  <a:srgbClr val="008000"/>
                </a:solidFill>
                <a:latin typeface="Times New Roman" panose="02020503050405090304"/>
                <a:ea typeface="宋体"/>
              </a:rPr>
              <a:t>向前</a:t>
            </a:r>
            <a:endParaRPr lang="zh-CN" altLang="en-US" sz="1400" dirty="0">
              <a:solidFill>
                <a:srgbClr val="008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398287" y="44624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0" dirty="0">
                <a:solidFill>
                  <a:srgbClr val="008000"/>
                </a:solidFill>
                <a:latin typeface="Times New Roman" panose="02020503050405090304"/>
                <a:ea typeface="宋体"/>
              </a:rPr>
              <a:t>向后</a:t>
            </a:r>
            <a:endParaRPr lang="zh-CN" altLang="en-US" sz="1400" dirty="0">
              <a:solidFill>
                <a:srgbClr val="008000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8932" y="469229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800" kern="0" dirty="0">
                <a:solidFill>
                  <a:srgbClr val="008000"/>
                </a:solidFill>
                <a:latin typeface="Times New Roman" panose="02020503050405090304"/>
                <a:ea typeface="宋体"/>
              </a:rPr>
              <a:t>执行</a:t>
            </a:r>
            <a:endParaRPr lang="zh-CN" altLang="en-US" sz="1400" dirty="0">
              <a:solidFill>
                <a:srgbClr val="008000"/>
              </a:solidFill>
              <a:latin typeface="Times New Roman" panose="02020503050405090304"/>
              <a:ea typeface="宋体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539552" y="363518"/>
            <a:ext cx="0" cy="9772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B0F0">
                <a:alpha val="40000"/>
              </a:srgbClr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40" name="文本框 39"/>
          <p:cNvSpPr txBox="1"/>
          <p:nvPr/>
        </p:nvSpPr>
        <p:spPr bwMode="auto">
          <a:xfrm>
            <a:off x="120101" y="86519"/>
            <a:ext cx="1627047" cy="276999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zh-CN" altLang="en-US" sz="1800">
                <a:solidFill>
                  <a:srgbClr val="0070C0"/>
                </a:solidFill>
              </a:rPr>
              <a:t>程序的执行方向</a:t>
            </a:r>
            <a:endParaRPr lang="zh-CN" altLang="en-US" sz="180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  <p:bldP spid="27" grpId="0"/>
      <p:bldP spid="28" grpId="0" animBg="1"/>
      <p:bldP spid="29" grpId="0" animBg="1"/>
      <p:bldP spid="30" grpId="0"/>
      <p:bldP spid="37" grpId="0"/>
      <p:bldP spid="38" grpId="0"/>
      <p:bldP spid="39" grpId="0"/>
      <p:bldP spid="4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 bwMode="auto">
          <a:xfrm>
            <a:off x="35495" y="150690"/>
            <a:ext cx="3514509" cy="6230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3105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9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字长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位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主存最大地址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128KB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按字编址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所有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指令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均为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单字长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(4)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若操作码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0010B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表示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加法操作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汇编语言助记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符为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ADD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寄存器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R4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的内容为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1234H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、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寄存器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R5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的内容为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5678H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；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内存地址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1234H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的内容为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5678H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内存地址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5678H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的内容为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1234H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，则：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汇编语句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“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ADD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R4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R5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+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”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逗号左侧为目的操作数，逗号右侧为源操作数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对应的机器码是什么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进制表示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？指令执行后，哪些寄存器和内存单元的内容会改变？</a:t>
            </a:r>
            <a:b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改变后的内容是什么？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</a:fld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4368" y="150690"/>
            <a:ext cx="6073336" cy="2126182"/>
          </a:xfrm>
          <a:prstGeom prst="rect">
            <a:avLst/>
          </a:prstGeom>
        </p:spPr>
      </p:pic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550005" y="2320029"/>
            <a:ext cx="5484111" cy="3917283"/>
            <a:chOff x="4988858" y="2445423"/>
            <a:chExt cx="4098846" cy="2927793"/>
          </a:xfrm>
        </p:grpSpPr>
        <p:grpSp>
          <p:nvGrpSpPr>
            <p:cNvPr id="25" name="组合 24"/>
            <p:cNvGrpSpPr/>
            <p:nvPr/>
          </p:nvGrpSpPr>
          <p:grpSpPr>
            <a:xfrm>
              <a:off x="5004048" y="2492820"/>
              <a:ext cx="4083656" cy="2828112"/>
              <a:chOff x="5004048" y="2420888"/>
              <a:chExt cx="4083656" cy="2828112"/>
            </a:xfrm>
          </p:grpSpPr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4048" y="2420888"/>
                <a:ext cx="4083656" cy="2828112"/>
              </a:xfrm>
              <a:prstGeom prst="rect">
                <a:avLst/>
              </a:prstGeom>
            </p:spPr>
          </p:pic>
          <p:cxnSp>
            <p:nvCxnSpPr>
              <p:cNvPr id="17" name="直接连接符 16"/>
              <p:cNvCxnSpPr/>
              <p:nvPr/>
            </p:nvCxnSpPr>
            <p:spPr bwMode="auto">
              <a:xfrm>
                <a:off x="5029452" y="2586074"/>
                <a:ext cx="6480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/>
              <p:cNvCxnSpPr/>
              <p:nvPr/>
            </p:nvCxnSpPr>
            <p:spPr bwMode="auto">
              <a:xfrm>
                <a:off x="5796136" y="2586074"/>
                <a:ext cx="3760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0"/>
              <p:cNvCxnSpPr/>
              <p:nvPr/>
            </p:nvCxnSpPr>
            <p:spPr bwMode="auto">
              <a:xfrm>
                <a:off x="5031569" y="3611157"/>
                <a:ext cx="622048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 bwMode="auto">
              <a:xfrm>
                <a:off x="5031569" y="4640434"/>
                <a:ext cx="4971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1" name="矩形 30"/>
            <p:cNvSpPr/>
            <p:nvPr/>
          </p:nvSpPr>
          <p:spPr bwMode="auto">
            <a:xfrm>
              <a:off x="4988858" y="2445423"/>
              <a:ext cx="4098845" cy="2927793"/>
            </a:xfrm>
            <a:prstGeom prst="rect">
              <a:avLst/>
            </a:prstGeom>
            <a:noFill/>
            <a:ln w="57150" cap="flat" cmpd="sng" algn="ctr">
              <a:solidFill>
                <a:srgbClr val="00CC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0" name="矩形 39"/>
          <p:cNvSpPr/>
          <p:nvPr/>
        </p:nvSpPr>
        <p:spPr>
          <a:xfrm>
            <a:off x="119336" y="6270279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itchFamily="2" charset="-122"/>
              </a:rPr>
              <a:t>0010 001 100 010 101</a:t>
            </a:r>
            <a:r>
              <a:rPr lang="zh-CN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itchFamily="2" charset="-122"/>
                <a:cs typeface="Times New Roman" panose="02020503050405090304" pitchFamily="18" charset="0"/>
              </a:rPr>
              <a:t>，</a:t>
            </a:r>
            <a:endParaRPr lang="zh-CN" altLang="en-US" sz="2000" b="0" dirty="0">
              <a:solidFill>
                <a:srgbClr val="000000"/>
              </a:solidFill>
              <a:highlight>
                <a:srgbClr val="FFFF00"/>
              </a:highlight>
              <a:latin typeface="Times New Roman" panose="02020503050405090304"/>
              <a:ea typeface="宋体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595038" y="6277211"/>
            <a:ext cx="14606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itchFamily="2" charset="-122"/>
                <a:cs typeface="Times New Roman" panose="02020503050405090304" pitchFamily="18" charset="0"/>
              </a:rPr>
              <a:t>即</a:t>
            </a: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itchFamily="2" charset="-122"/>
              </a:rPr>
              <a:t>2315H</a:t>
            </a:r>
            <a:r>
              <a:rPr lang="zh-CN" altLang="en-US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itchFamily="2" charset="-122"/>
              </a:rPr>
              <a:t>。</a:t>
            </a:r>
            <a:endParaRPr lang="zh-CN" altLang="en-US" sz="2000" b="0" dirty="0">
              <a:solidFill>
                <a:srgbClr val="000000"/>
              </a:solidFill>
              <a:highlight>
                <a:srgbClr val="FFFF00"/>
              </a:highlight>
              <a:latin typeface="Times New Roman" panose="02020503050405090304"/>
              <a:ea typeface="宋体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259632" y="2924944"/>
            <a:ext cx="9845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itchFamily="2" charset="-122"/>
              </a:rPr>
              <a:t>68ACH</a:t>
            </a:r>
            <a:endParaRPr lang="zh-CN" altLang="en-US" sz="2000" b="0" dirty="0">
              <a:solidFill>
                <a:srgbClr val="000000"/>
              </a:solidFill>
              <a:highlight>
                <a:srgbClr val="FFFF00"/>
              </a:highlight>
              <a:latin typeface="Times New Roman" panose="02020503050405090304"/>
              <a:ea typeface="宋体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719449" y="2877711"/>
            <a:ext cx="8835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0" kern="100" dirty="0">
                <a:solidFill>
                  <a:srgbClr val="FF0000"/>
                </a:solidFill>
                <a:highlight>
                  <a:srgbClr val="FFFF00"/>
                </a:highlight>
                <a:ea typeface="宋体" pitchFamily="2" charset="-122"/>
              </a:rPr>
              <a:t>5679H</a:t>
            </a:r>
            <a:endParaRPr lang="zh-CN" altLang="en-US" sz="2000" b="0" dirty="0">
              <a:solidFill>
                <a:srgbClr val="000000"/>
              </a:solidFill>
              <a:highlight>
                <a:srgbClr val="FFFF00"/>
              </a:highlight>
              <a:latin typeface="Times New Roman" panose="02020503050405090304"/>
              <a:ea typeface="宋体"/>
            </a:endParaRPr>
          </a:p>
        </p:txBody>
      </p:sp>
      <p:cxnSp>
        <p:nvCxnSpPr>
          <p:cNvPr id="44" name="直接箭头连接符 43"/>
          <p:cNvCxnSpPr/>
          <p:nvPr/>
        </p:nvCxnSpPr>
        <p:spPr bwMode="auto">
          <a:xfrm>
            <a:off x="2887925" y="2670837"/>
            <a:ext cx="210510" cy="256559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EA5F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5" name="直接箭头连接符 44"/>
          <p:cNvCxnSpPr/>
          <p:nvPr/>
        </p:nvCxnSpPr>
        <p:spPr bwMode="auto">
          <a:xfrm>
            <a:off x="925554" y="3140968"/>
            <a:ext cx="373323" cy="0"/>
          </a:xfrm>
          <a:prstGeom prst="straightConnector1">
            <a:avLst/>
          </a:prstGeom>
          <a:solidFill>
            <a:srgbClr val="9999FF"/>
          </a:solidFill>
          <a:ln w="28575" cap="flat" cmpd="sng" algn="ctr">
            <a:solidFill>
              <a:srgbClr val="EA5F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395567" y="4509120"/>
            <a:ext cx="2016193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EA5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直接连接符 46"/>
          <p:cNvCxnSpPr/>
          <p:nvPr/>
        </p:nvCxnSpPr>
        <p:spPr bwMode="auto">
          <a:xfrm>
            <a:off x="205454" y="6630242"/>
            <a:ext cx="2278314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EA5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/>
        </p:nvSpPr>
        <p:spPr bwMode="auto">
          <a:xfrm>
            <a:off x="35496" y="116632"/>
            <a:ext cx="289213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3105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9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字长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16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位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主存最大地址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128KB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按字编址</a:t>
            </a: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</a:t>
            </a:r>
            <a:b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所有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指令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均为</a:t>
            </a: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单字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长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Arial Black" panose="020B0A04020102020204" pitchFamily="34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9pPr>
          </a:lstStyle>
          <a:p>
            <a:fld id="{0A5406F1-B055-4B6E-B454-FCAD0C40DF27}" type="slidenum">
              <a:rPr lang="zh-CN" altLang="en-US" smtClean="0"/>
            </a:fld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14368" y="150690"/>
            <a:ext cx="6073336" cy="2126182"/>
          </a:xfrm>
          <a:prstGeom prst="rect">
            <a:avLst/>
          </a:prstGeom>
        </p:spPr>
      </p:pic>
      <p:grpSp>
        <p:nvGrpSpPr>
          <p:cNvPr id="32" name="组合 31"/>
          <p:cNvGrpSpPr>
            <a:grpSpLocks noChangeAspect="1"/>
          </p:cNvGrpSpPr>
          <p:nvPr/>
        </p:nvGrpSpPr>
        <p:grpSpPr>
          <a:xfrm>
            <a:off x="3550005" y="2320029"/>
            <a:ext cx="5484111" cy="3917283"/>
            <a:chOff x="4988858" y="2445423"/>
            <a:chExt cx="4098846" cy="2927793"/>
          </a:xfrm>
        </p:grpSpPr>
        <p:grpSp>
          <p:nvGrpSpPr>
            <p:cNvPr id="25" name="组合 24"/>
            <p:cNvGrpSpPr/>
            <p:nvPr/>
          </p:nvGrpSpPr>
          <p:grpSpPr>
            <a:xfrm>
              <a:off x="5004048" y="2492820"/>
              <a:ext cx="4083656" cy="2828112"/>
              <a:chOff x="5004048" y="2420888"/>
              <a:chExt cx="4083656" cy="2828112"/>
            </a:xfrm>
          </p:grpSpPr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4048" y="2420888"/>
                <a:ext cx="4083656" cy="2828112"/>
              </a:xfrm>
              <a:prstGeom prst="rect">
                <a:avLst/>
              </a:prstGeom>
            </p:spPr>
          </p:pic>
          <p:cxnSp>
            <p:nvCxnSpPr>
              <p:cNvPr id="17" name="直接连接符 16"/>
              <p:cNvCxnSpPr/>
              <p:nvPr/>
            </p:nvCxnSpPr>
            <p:spPr bwMode="auto">
              <a:xfrm>
                <a:off x="5029452" y="2586074"/>
                <a:ext cx="6480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直接连接符 18"/>
              <p:cNvCxnSpPr/>
              <p:nvPr/>
            </p:nvCxnSpPr>
            <p:spPr bwMode="auto">
              <a:xfrm>
                <a:off x="5796136" y="2586074"/>
                <a:ext cx="3760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直接连接符 20"/>
              <p:cNvCxnSpPr/>
              <p:nvPr/>
            </p:nvCxnSpPr>
            <p:spPr bwMode="auto">
              <a:xfrm>
                <a:off x="5031569" y="3611157"/>
                <a:ext cx="622048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 bwMode="auto">
              <a:xfrm>
                <a:off x="5031569" y="4640434"/>
                <a:ext cx="4971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1" name="矩形 30"/>
            <p:cNvSpPr/>
            <p:nvPr/>
          </p:nvSpPr>
          <p:spPr bwMode="auto">
            <a:xfrm>
              <a:off x="4988858" y="2445423"/>
              <a:ext cx="4098845" cy="2927793"/>
            </a:xfrm>
            <a:prstGeom prst="rect">
              <a:avLst/>
            </a:prstGeom>
            <a:noFill/>
            <a:ln w="57150" cap="flat" cmpd="sng" algn="ctr">
              <a:solidFill>
                <a:srgbClr val="00CC00">
                  <a:alpha val="4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1" name="文本框 40"/>
          <p:cNvSpPr txBox="1"/>
          <p:nvPr/>
        </p:nvSpPr>
        <p:spPr bwMode="auto">
          <a:xfrm>
            <a:off x="6046267" y="5229200"/>
            <a:ext cx="321169" cy="215444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</a:rPr>
              <a:t>OF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 bwMode="auto">
          <a:xfrm>
            <a:off x="6655468" y="5229200"/>
            <a:ext cx="301933" cy="215444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</a:rPr>
              <a:t>Z</a:t>
            </a:r>
            <a:r>
              <a:rPr lang="zh-CN" altLang="en-US" sz="1400">
                <a:solidFill>
                  <a:srgbClr val="FF0000"/>
                </a:solidFill>
              </a:rPr>
              <a:t>F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 bwMode="auto">
          <a:xfrm>
            <a:off x="6355676" y="5229200"/>
            <a:ext cx="311551" cy="215444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</a:rPr>
              <a:t>C</a:t>
            </a:r>
            <a:r>
              <a:rPr lang="zh-CN" altLang="en-US" sz="1400">
                <a:solidFill>
                  <a:srgbClr val="FF0000"/>
                </a:solidFill>
              </a:rPr>
              <a:t>F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043612" y="5622924"/>
            <a:ext cx="933451" cy="254347"/>
          </a:xfrm>
          <a:prstGeom prst="rect">
            <a:avLst/>
          </a:prstGeom>
          <a:noFill/>
          <a:ln w="5715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7" name="箭头: 下 6"/>
          <p:cNvSpPr/>
          <p:nvPr/>
        </p:nvSpPr>
        <p:spPr bwMode="auto">
          <a:xfrm flipV="1">
            <a:off x="6482445" y="5426062"/>
            <a:ext cx="72008" cy="148444"/>
          </a:xfrm>
          <a:prstGeom prst="downArrow">
            <a:avLst>
              <a:gd name="adj1" fmla="val 50000"/>
              <a:gd name="adj2" fmla="val 73147"/>
            </a:avLst>
          </a:prstGeom>
          <a:solidFill>
            <a:srgbClr val="FFCCFF"/>
          </a:solidFill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4" name="箭头: 下 43"/>
          <p:cNvSpPr/>
          <p:nvPr/>
        </p:nvSpPr>
        <p:spPr bwMode="auto">
          <a:xfrm flipV="1">
            <a:off x="6776310" y="5426062"/>
            <a:ext cx="72008" cy="148444"/>
          </a:xfrm>
          <a:prstGeom prst="downArrow">
            <a:avLst>
              <a:gd name="adj1" fmla="val 50000"/>
              <a:gd name="adj2" fmla="val 73147"/>
            </a:avLst>
          </a:prstGeom>
          <a:solidFill>
            <a:srgbClr val="FFCCFF"/>
          </a:solidFill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5" name="箭头: 下 44"/>
          <p:cNvSpPr/>
          <p:nvPr/>
        </p:nvSpPr>
        <p:spPr bwMode="auto">
          <a:xfrm flipV="1">
            <a:off x="6177668" y="5426062"/>
            <a:ext cx="72008" cy="148444"/>
          </a:xfrm>
          <a:prstGeom prst="downArrow">
            <a:avLst>
              <a:gd name="adj1" fmla="val 50000"/>
              <a:gd name="adj2" fmla="val 73147"/>
            </a:avLst>
          </a:prstGeom>
          <a:solidFill>
            <a:srgbClr val="FFCCFF"/>
          </a:solidFill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46" name="内容占位符 2"/>
          <p:cNvSpPr txBox="1"/>
          <p:nvPr/>
        </p:nvSpPr>
        <p:spPr bwMode="auto">
          <a:xfrm>
            <a:off x="471170" y="1196752"/>
            <a:ext cx="2300630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3105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9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000" kern="0">
                <a:latin typeface="Consolas" panose="020B0609020204030204" pitchFamily="49" charset="0"/>
                <a:ea typeface="宋体"/>
              </a:rPr>
              <a:t>    MOV R1,#100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宋体"/>
              </a:rPr>
              <a:t>    LEA R2,DATA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宋体"/>
              </a:rPr>
              <a:t>    MOV R3,#0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宋体"/>
              </a:rPr>
              <a:t>L1: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ADD R3,(R2)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000" b="1" kern="0">
                <a:latin typeface="Consolas" panose="020B0609020204030204" pitchFamily="49" charset="0"/>
                <a:ea typeface="宋体"/>
              </a:rPr>
              <a:t>    ADDI R2,#1</a:t>
            </a:r>
            <a:endParaRPr lang="en-US" altLang="zh-CN" sz="2000" b="1" kern="0"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宋体"/>
              </a:rPr>
              <a:t>    SUBI R1,#1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000" b="1" kern="0">
                <a:latin typeface="Consolas" panose="020B0609020204030204" pitchFamily="49" charset="0"/>
                <a:ea typeface="宋体"/>
              </a:rPr>
              <a:t>    </a:t>
            </a:r>
            <a:r>
              <a:rPr lang="en-US" altLang="zh-CN" sz="2000" b="1" kern="0">
                <a:solidFill>
                  <a:srgbClr val="0000FF"/>
                </a:solidFill>
                <a:latin typeface="Consolas" panose="020B0609020204030204" pitchFamily="49" charset="0"/>
                <a:ea typeface="宋体"/>
              </a:rPr>
              <a:t>JNZ L1</a:t>
            </a:r>
            <a:endParaRPr lang="en-US" altLang="zh-CN" sz="2000" b="1" kern="0">
              <a:solidFill>
                <a:srgbClr val="0000FF"/>
              </a:solidFill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宋体"/>
              </a:rPr>
              <a:t>    MOV SUM,R3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宋体" pitchFamily="2" charset="-122"/>
            </a:endParaRPr>
          </a:p>
        </p:txBody>
      </p:sp>
      <p:sp>
        <p:nvSpPr>
          <p:cNvPr id="47" name="内容占位符 2"/>
          <p:cNvSpPr txBox="1"/>
          <p:nvPr/>
        </p:nvSpPr>
        <p:spPr bwMode="auto">
          <a:xfrm>
            <a:off x="35496" y="1196752"/>
            <a:ext cx="466794" cy="255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3105" indent="-3524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33CC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B050"/>
              </a:buClr>
              <a:buSzPct val="7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8955" indent="-3619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9966FF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000" kern="0">
                <a:solidFill>
                  <a:srgbClr val="00B050"/>
                </a:solidFill>
                <a:latin typeface="Consolas" panose="020B0609020204030204" pitchFamily="49" charset="0"/>
                <a:ea typeface="宋体"/>
              </a:rPr>
              <a:t>00</a:t>
            </a:r>
            <a:endParaRPr lang="en-US" altLang="zh-CN" sz="2000" kern="0">
              <a:solidFill>
                <a:srgbClr val="00B050"/>
              </a:solidFill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01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000" kern="0">
                <a:solidFill>
                  <a:srgbClr val="00B050"/>
                </a:solidFill>
                <a:latin typeface="Consolas" panose="020B0609020204030204" pitchFamily="49" charset="0"/>
                <a:ea typeface="宋体"/>
              </a:rPr>
              <a:t>02</a:t>
            </a:r>
            <a:endParaRPr lang="en-US" altLang="zh-CN" sz="2000" kern="0">
              <a:solidFill>
                <a:srgbClr val="00B050"/>
              </a:solidFill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03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000" kern="0">
                <a:solidFill>
                  <a:srgbClr val="00B050"/>
                </a:solidFill>
                <a:latin typeface="Consolas" panose="020B0609020204030204" pitchFamily="49" charset="0"/>
                <a:ea typeface="宋体"/>
              </a:rPr>
              <a:t>04</a:t>
            </a:r>
            <a:endParaRPr lang="en-US" altLang="zh-CN" sz="2000" kern="0">
              <a:solidFill>
                <a:srgbClr val="00B050"/>
              </a:solidFill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05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altLang="zh-CN" sz="2000" kern="0">
                <a:solidFill>
                  <a:srgbClr val="00B050"/>
                </a:solidFill>
                <a:latin typeface="Consolas" panose="020B0609020204030204" pitchFamily="49" charset="0"/>
                <a:ea typeface="宋体"/>
              </a:rPr>
              <a:t>06</a:t>
            </a:r>
            <a:endParaRPr lang="en-US" altLang="zh-CN" sz="2000" kern="0">
              <a:solidFill>
                <a:srgbClr val="00B050"/>
              </a:solidFill>
              <a:latin typeface="Consolas" panose="020B0609020204030204" pitchFamily="49" charset="0"/>
              <a:ea typeface="宋体"/>
            </a:endParaRPr>
          </a:p>
          <a:p>
            <a:pPr marL="0" marR="0" lvl="0" indent="0" algn="l" defTabSz="914400" rtl="0" eaLnBrk="1" fontAlgn="base" latinLnBrk="0" hangingPunct="1">
              <a:spcBef>
                <a:spcPts val="0"/>
              </a:spcBef>
              <a:spcAft>
                <a:spcPct val="0"/>
              </a:spcAft>
              <a:buClr>
                <a:srgbClr val="FF6600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</a:rPr>
              <a:t>07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nsolas" panose="020B0609020204030204" pitchFamily="49" charset="0"/>
              <a:ea typeface="宋体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 bwMode="auto">
          <a:xfrm>
            <a:off x="107504" y="3789040"/>
            <a:ext cx="3312368" cy="1631216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操作码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0010B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表示加法操作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ADD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，操作码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1100B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表示条件转移操作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JNZ</a:t>
            </a:r>
            <a:r>
              <a:rPr lang="en-US" altLang="zh-CN" sz="2000" kern="0">
                <a:latin typeface="宋体" pitchFamily="2" charset="-122"/>
              </a:rPr>
              <a:t>(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ZF=1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则跳转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宋体" pitchFamily="2" charset="-122"/>
              </a:rPr>
              <a:t>)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。写出上述代码中标记为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蓝色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的两条指令的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机器码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。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 bwMode="auto">
          <a:xfrm>
            <a:off x="4037867" y="2633215"/>
            <a:ext cx="688256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0010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 bwMode="auto">
          <a:xfrm>
            <a:off x="5270156" y="2633215"/>
            <a:ext cx="534368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000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 bwMode="auto">
          <a:xfrm>
            <a:off x="6231493" y="2633215"/>
            <a:ext cx="534369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011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 bwMode="auto">
          <a:xfrm>
            <a:off x="7276882" y="2633215"/>
            <a:ext cx="534369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001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 bwMode="auto">
          <a:xfrm>
            <a:off x="8232563" y="2633215"/>
            <a:ext cx="534368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010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5" name="文本框 54"/>
          <p:cNvSpPr txBox="1"/>
          <p:nvPr/>
        </p:nvSpPr>
        <p:spPr bwMode="auto">
          <a:xfrm>
            <a:off x="4037868" y="6076356"/>
            <a:ext cx="688256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1100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 bwMode="auto">
          <a:xfrm>
            <a:off x="5258105" y="6076356"/>
            <a:ext cx="534368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100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 bwMode="auto">
          <a:xfrm>
            <a:off x="6251265" y="6076356"/>
            <a:ext cx="534369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001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 bwMode="auto">
          <a:xfrm>
            <a:off x="1641623" y="5475560"/>
            <a:ext cx="996033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000100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 bwMode="auto">
          <a:xfrm>
            <a:off x="539552" y="5475560"/>
            <a:ext cx="1053741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>
              <a:spcBef>
                <a:spcPts val="0"/>
              </a:spcBef>
            </a:pPr>
            <a:r>
              <a:rPr lang="en-US" altLang="zh-CN" sz="2400" kern="0">
                <a:solidFill>
                  <a:srgbClr val="C00000"/>
                </a:solidFill>
                <a:latin typeface="宋体" pitchFamily="2" charset="-122"/>
              </a:rPr>
              <a:t>[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" charset="-122"/>
              </a:rPr>
              <a:t>]</a:t>
            </a:r>
            <a:r>
              <a:rPr kumimoji="0" lang="zh-CN" altLang="en-US" sz="2400" b="1" i="0" u="none" strike="noStrike" kern="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补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 bwMode="auto">
          <a:xfrm>
            <a:off x="1641623" y="5949280"/>
            <a:ext cx="996033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l"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111100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 bwMode="auto">
          <a:xfrm>
            <a:off x="355206" y="5949280"/>
            <a:ext cx="1238087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 algn="r">
              <a:spcBef>
                <a:spcPts val="0"/>
              </a:spcBef>
            </a:pPr>
            <a:r>
              <a:rPr lang="en-US" altLang="zh-CN" sz="2400" kern="0">
                <a:solidFill>
                  <a:srgbClr val="C00000"/>
                </a:solidFill>
                <a:latin typeface="宋体" pitchFamily="2" charset="-122"/>
              </a:rPr>
              <a:t>[</a:t>
            </a:r>
            <a:r>
              <a:rPr lang="en-US" altLang="zh-CN" sz="2400" kern="0">
                <a:solidFill>
                  <a:srgbClr val="C00000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-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" charset="-122"/>
              </a:rPr>
              <a:t>]</a:t>
            </a:r>
            <a:r>
              <a:rPr kumimoji="0" lang="zh-CN" altLang="en-US" sz="2400" b="1" i="0" u="none" strike="noStrike" kern="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补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＝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 bwMode="auto">
          <a:xfrm>
            <a:off x="7516511" y="6076356"/>
            <a:ext cx="996034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111100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3" name="文本框 62"/>
          <p:cNvSpPr txBox="1"/>
          <p:nvPr/>
        </p:nvSpPr>
        <p:spPr bwMode="auto">
          <a:xfrm>
            <a:off x="2362867" y="1751243"/>
            <a:ext cx="1811073" cy="1099191"/>
          </a:xfrm>
          <a:prstGeom prst="rect">
            <a:avLst/>
          </a:prstGeom>
          <a:solidFill>
            <a:srgbClr val="FFFFCC"/>
          </a:solidFill>
          <a:ln w="28575" algn="ctr">
            <a:noFill/>
            <a:miter lim="800000"/>
            <a:tailEnd type="none" w="med" len="lg"/>
          </a:ln>
          <a:effectLst>
            <a:softEdge rad="317500"/>
          </a:effectLst>
        </p:spPr>
        <p:txBody>
          <a:bodyPr wrap="none" lIns="36000" tIns="0" rIns="36000" bIns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20CAH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 bwMode="auto">
          <a:xfrm>
            <a:off x="2362867" y="2659920"/>
            <a:ext cx="1811073" cy="1099191"/>
          </a:xfrm>
          <a:prstGeom prst="rect">
            <a:avLst/>
          </a:prstGeom>
          <a:solidFill>
            <a:srgbClr val="FFFFCC"/>
          </a:solidFill>
          <a:ln w="28575" algn="ctr">
            <a:noFill/>
            <a:miter lim="800000"/>
            <a:tailEnd type="none" w="med" len="lg"/>
          </a:ln>
          <a:effectLst>
            <a:softEdge rad="317500"/>
          </a:effectLst>
        </p:spPr>
        <p:txBody>
          <a:bodyPr wrap="none" lIns="36000" tIns="0" rIns="36000" bIns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C87CH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066422" y="2176943"/>
            <a:ext cx="1630639" cy="281031"/>
          </a:xfrm>
          <a:prstGeom prst="rect">
            <a:avLst/>
          </a:prstGeom>
          <a:noFill/>
          <a:ln w="57150" cap="flat" cmpd="sng" algn="ctr">
            <a:solidFill>
              <a:srgbClr val="FF33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5" name="矩形 64"/>
          <p:cNvSpPr/>
          <p:nvPr/>
        </p:nvSpPr>
        <p:spPr bwMode="auto">
          <a:xfrm>
            <a:off x="1066422" y="3077387"/>
            <a:ext cx="1630639" cy="281031"/>
          </a:xfrm>
          <a:prstGeom prst="rect">
            <a:avLst/>
          </a:prstGeom>
          <a:noFill/>
          <a:ln w="57150" cap="flat" cmpd="sng" algn="ctr">
            <a:solidFill>
              <a:srgbClr val="FF33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66" name="文本框 65"/>
          <p:cNvSpPr txBox="1"/>
          <p:nvPr/>
        </p:nvSpPr>
        <p:spPr bwMode="auto">
          <a:xfrm>
            <a:off x="559427" y="1084669"/>
            <a:ext cx="370862" cy="30777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36000" tIns="0" rIns="36000" bIns="0">
            <a:spAutoFit/>
          </a:bodyPr>
          <a:lstStyle/>
          <a:p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(5)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 animBg="1"/>
      <p:bldP spid="64" grpId="0" animBg="1"/>
      <p:bldP spid="10" grpId="0" animBg="1"/>
      <p:bldP spid="6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全国</a:t>
            </a:r>
            <a:r>
              <a:rPr lang="en-US" altLang="zh-CN"/>
              <a:t>-</a:t>
            </a:r>
            <a:r>
              <a:rPr lang="en-US" altLang="zh-CN" baseline="-25000"/>
              <a:t> </a:t>
            </a:r>
            <a:r>
              <a:rPr lang="en-US" altLang="zh-CN"/>
              <a:t>408 </a:t>
            </a:r>
            <a:r>
              <a:rPr lang="zh-CN" altLang="en-US"/>
              <a:t>计算机专业基础考研 </a:t>
            </a:r>
            <a:r>
              <a:rPr lang="en-US" altLang="zh-CN"/>
              <a:t>2021      </a:t>
            </a:r>
            <a:r>
              <a:rPr lang="en-US" altLang="zh-CN">
                <a:solidFill>
                  <a:srgbClr val="0070C0"/>
                </a:solidFill>
              </a:rPr>
              <a:t>43.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(</a:t>
            </a:r>
            <a:r>
              <a:rPr lang="en-US" altLang="zh-CN">
                <a:solidFill>
                  <a:srgbClr val="0070C0"/>
                </a:solidFill>
              </a:rPr>
              <a:t>15</a:t>
            </a:r>
            <a:r>
              <a:rPr lang="zh-CN" altLang="en-US">
                <a:solidFill>
                  <a:srgbClr val="0070C0"/>
                </a:solidFill>
              </a:rPr>
              <a:t>分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)</a:t>
            </a:r>
            <a:endParaRPr lang="zh-CN" altLang="en-US">
              <a:solidFill>
                <a:srgbClr val="0070C0"/>
              </a:solidFill>
              <a:latin typeface="+mj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20611"/>
            <a:ext cx="8928992" cy="1198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假定计算机</a:t>
            </a:r>
            <a:r>
              <a:rPr lang="en-US" altLang="zh-CN" sz="2400"/>
              <a:t>M</a:t>
            </a:r>
            <a:r>
              <a:rPr lang="zh-CN" altLang="en-US" sz="2400"/>
              <a:t>字长为</a:t>
            </a:r>
            <a:r>
              <a:rPr lang="en-US" altLang="zh-CN" sz="2400"/>
              <a:t>16</a:t>
            </a:r>
            <a:r>
              <a:rPr lang="zh-CN" altLang="en-US" sz="2400"/>
              <a:t>位，按字节编址，连接</a:t>
            </a:r>
            <a:r>
              <a:rPr lang="en-US" altLang="zh-CN" sz="2400"/>
              <a:t>CPU</a:t>
            </a:r>
            <a:r>
              <a:rPr lang="zh-CN" altLang="en-US" sz="2400"/>
              <a:t>和主存的系统总线中地址线位</a:t>
            </a:r>
            <a:r>
              <a:rPr lang="en-US" altLang="zh-CN" sz="2400"/>
              <a:t>20</a:t>
            </a:r>
            <a:r>
              <a:rPr lang="zh-CN" altLang="en-US" sz="2400"/>
              <a:t>位、数据线为</a:t>
            </a:r>
            <a:r>
              <a:rPr lang="en-US" altLang="zh-CN" sz="2400"/>
              <a:t>8</a:t>
            </a:r>
            <a:r>
              <a:rPr lang="zh-CN" altLang="en-US" sz="2400"/>
              <a:t>位，采用</a:t>
            </a:r>
            <a:r>
              <a:rPr lang="en-US" altLang="zh-CN" sz="2400"/>
              <a:t>16</a:t>
            </a:r>
            <a:r>
              <a:rPr lang="zh-CN" altLang="en-US" sz="2400"/>
              <a:t>位定长指令字，</a:t>
            </a:r>
            <a:br>
              <a:rPr lang="en-US" altLang="zh-CN" sz="2400"/>
            </a:br>
            <a:r>
              <a:rPr lang="zh-CN" altLang="en-US" sz="2400"/>
              <a:t>指令格式及其说明如下：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179512" y="1844824"/>
          <a:ext cx="892899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1728192"/>
                <a:gridCol w="576064"/>
                <a:gridCol w="576064"/>
                <a:gridCol w="576064"/>
                <a:gridCol w="1192694"/>
                <a:gridCol w="37038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格式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指令功能或指令格式说明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R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0 0 0 0 0 0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rd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op1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rd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itchFamily="2" charset="-122"/>
                          <a:ea typeface="宋体" pitchFamily="2" charset="-122"/>
                        </a:rPr>
                        <a:t>←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+mn-lt"/>
                          <a:ea typeface="宋体" pitchFamily="2" charset="-122"/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rs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 op1 R[rt]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I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op2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imm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ALU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运算、条件转移、访存操作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J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op3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target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PC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的低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10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位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itchFamily="2" charset="-122"/>
                          <a:ea typeface="宋体" pitchFamily="2" charset="-122"/>
                        </a:rPr>
                        <a:t>←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target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0" name="内容占位符 2"/>
          <p:cNvSpPr txBox="1"/>
          <p:nvPr/>
        </p:nvSpPr>
        <p:spPr bwMode="auto">
          <a:xfrm>
            <a:off x="107504" y="3501086"/>
            <a:ext cx="8928992" cy="12960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kern="0"/>
              <a:t>其中，</a:t>
            </a:r>
            <a:r>
              <a:rPr lang="en-US" altLang="zh-CN" sz="2400" kern="0"/>
              <a:t>op1</a:t>
            </a:r>
            <a:r>
              <a:rPr lang="zh-CN" altLang="en-US" sz="2400" kern="0"/>
              <a:t>～</a:t>
            </a:r>
            <a:r>
              <a:rPr lang="en-US" altLang="zh-CN" sz="2400" kern="0"/>
              <a:t>op3</a:t>
            </a:r>
            <a:r>
              <a:rPr lang="zh-CN" altLang="en-US" sz="2400" kern="0"/>
              <a:t>为操作码，</a:t>
            </a:r>
            <a:r>
              <a:rPr lang="en-US" altLang="zh-CN" sz="2400" kern="0" err="1"/>
              <a:t>rs</a:t>
            </a:r>
            <a:r>
              <a:rPr lang="zh-CN" altLang="en-US" sz="2400" kern="0"/>
              <a:t>、</a:t>
            </a:r>
            <a:r>
              <a:rPr lang="en-US" altLang="zh-CN" sz="2400" kern="0"/>
              <a:t>rt </a:t>
            </a:r>
            <a:r>
              <a:rPr lang="zh-CN" altLang="en-US" sz="2400" kern="0"/>
              <a:t>和 </a:t>
            </a:r>
            <a:r>
              <a:rPr lang="en-US" altLang="zh-CN" sz="2400" kern="0" err="1"/>
              <a:t>rd</a:t>
            </a:r>
            <a:r>
              <a:rPr lang="en-US" altLang="zh-CN" sz="2400" kern="0"/>
              <a:t> </a:t>
            </a:r>
            <a:r>
              <a:rPr lang="zh-CN" altLang="en-US" sz="2400" kern="0"/>
              <a:t>为通用寄存器编号，</a:t>
            </a:r>
            <a:endParaRPr lang="en-US" altLang="zh-CN" sz="2400" ker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kern="0"/>
              <a:t>R[r]</a:t>
            </a:r>
            <a:r>
              <a:rPr lang="zh-CN" altLang="en-US" sz="2400" kern="0"/>
              <a:t>表示寄存器</a:t>
            </a:r>
            <a:r>
              <a:rPr lang="en-US" altLang="zh-CN" sz="2400" kern="0"/>
              <a:t>r</a:t>
            </a:r>
            <a:r>
              <a:rPr lang="zh-CN" altLang="en-US" sz="2400" kern="0"/>
              <a:t>的内容，</a:t>
            </a:r>
            <a:r>
              <a:rPr lang="en-US" altLang="zh-CN" sz="2400" kern="0" err="1"/>
              <a:t>imm</a:t>
            </a:r>
            <a:r>
              <a:rPr lang="zh-CN" altLang="en-US" sz="2400" kern="0"/>
              <a:t>为立即数，</a:t>
            </a:r>
            <a:r>
              <a:rPr lang="en-US" altLang="zh-CN" sz="2400" kern="0"/>
              <a:t>target</a:t>
            </a:r>
            <a:r>
              <a:rPr lang="zh-CN" altLang="en-US" sz="2400" kern="0"/>
              <a:t>为转移目标的形式地址。请回答下列问题。</a:t>
            </a:r>
            <a:endParaRPr lang="zh-CN" altLang="en-US" sz="2400" kern="0"/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107504" y="4725144"/>
            <a:ext cx="8928992" cy="198045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kern="0"/>
              <a:t>1</a:t>
            </a:r>
            <a:r>
              <a:rPr lang="zh-CN" altLang="en-US" sz="2400" kern="0"/>
              <a:t>）</a:t>
            </a:r>
            <a:r>
              <a:rPr lang="en-US" altLang="zh-CN" sz="2400" kern="0"/>
              <a:t>ALU</a:t>
            </a:r>
            <a:r>
              <a:rPr lang="zh-CN" altLang="en-US" sz="2400" kern="0"/>
              <a:t>的宽度是</a:t>
            </a:r>
            <a:r>
              <a:rPr lang="en-US" altLang="zh-CN" sz="2400" kern="0"/>
              <a:t>______</a:t>
            </a:r>
            <a:r>
              <a:rPr lang="zh-CN" altLang="en-US" sz="2400" kern="0"/>
              <a:t>位，可寻址主存空间大小为</a:t>
            </a:r>
            <a:r>
              <a:rPr lang="en-US" altLang="zh-CN" sz="2400" kern="0"/>
              <a:t>______</a:t>
            </a:r>
            <a:r>
              <a:rPr lang="zh-CN" altLang="en-US" sz="2400" kern="0"/>
              <a:t>字节，</a:t>
            </a:r>
            <a:endParaRPr lang="en-US" altLang="zh-CN" sz="2400" kern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kern="0"/>
              <a:t>     指令寄存器应有</a:t>
            </a:r>
            <a:r>
              <a:rPr lang="en-US" altLang="zh-CN" sz="2400" kern="0"/>
              <a:t>______</a:t>
            </a:r>
            <a:r>
              <a:rPr lang="zh-CN" altLang="en-US" sz="2400" kern="0"/>
              <a:t>位，</a:t>
            </a:r>
            <a:endParaRPr lang="en-US" altLang="zh-CN" sz="2400" kern="0"/>
          </a:p>
          <a:p>
            <a:pPr marL="0" indent="0">
              <a:buNone/>
            </a:pPr>
            <a:r>
              <a:rPr lang="zh-CN" altLang="en-US" sz="2400" kern="0"/>
              <a:t>     主存地址寄存器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MAR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/>
              <a:t>应有</a:t>
            </a:r>
            <a:r>
              <a:rPr lang="en-US" altLang="zh-CN" sz="2400" kern="0"/>
              <a:t>______</a:t>
            </a:r>
            <a:r>
              <a:rPr lang="zh-CN" altLang="en-US" sz="2400" kern="0"/>
              <a:t>位，</a:t>
            </a:r>
            <a:endParaRPr lang="en-US" altLang="zh-CN" sz="2400" kern="0"/>
          </a:p>
          <a:p>
            <a:pPr marL="0" indent="0">
              <a:buNone/>
            </a:pPr>
            <a:r>
              <a:rPr lang="zh-CN" altLang="en-US" sz="2400" kern="0"/>
              <a:t>     主存数据寄存器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/>
              <a:t>MDR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/>
              <a:t>应有</a:t>
            </a:r>
            <a:r>
              <a:rPr lang="en-US" altLang="zh-CN" sz="2400" kern="0"/>
              <a:t>______</a:t>
            </a:r>
            <a:r>
              <a:rPr lang="zh-CN" altLang="en-US" sz="2400" kern="0"/>
              <a:t>位。</a:t>
            </a:r>
            <a:endParaRPr lang="zh-CN" altLang="en-US" sz="2400" kern="0"/>
          </a:p>
        </p:txBody>
      </p:sp>
      <p:sp>
        <p:nvSpPr>
          <p:cNvPr id="13" name="矩形 12"/>
          <p:cNvSpPr/>
          <p:nvPr/>
        </p:nvSpPr>
        <p:spPr>
          <a:xfrm>
            <a:off x="2745424" y="4697802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16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268782" y="4697802"/>
            <a:ext cx="7024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1M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23156" y="5114894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16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52229" y="5497990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20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41998" y="5937227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8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 bwMode="auto">
          <a:xfrm>
            <a:off x="6319085" y="5763160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全国</a:t>
            </a:r>
            <a:r>
              <a:rPr lang="en-US" altLang="zh-CN"/>
              <a:t>-</a:t>
            </a:r>
            <a:r>
              <a:rPr lang="en-US" altLang="zh-CN" baseline="-25000"/>
              <a:t> </a:t>
            </a:r>
            <a:r>
              <a:rPr lang="en-US" altLang="zh-CN"/>
              <a:t>408 </a:t>
            </a:r>
            <a:r>
              <a:rPr lang="zh-CN" altLang="en-US"/>
              <a:t>计算机专业基础考研 </a:t>
            </a:r>
            <a:r>
              <a:rPr lang="en-US" altLang="zh-CN"/>
              <a:t>2021      </a:t>
            </a:r>
            <a:r>
              <a:rPr lang="en-US" altLang="zh-CN">
                <a:solidFill>
                  <a:srgbClr val="0070C0"/>
                </a:solidFill>
              </a:rPr>
              <a:t>43.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(</a:t>
            </a:r>
            <a:r>
              <a:rPr lang="en-US" altLang="zh-CN">
                <a:solidFill>
                  <a:srgbClr val="0070C0"/>
                </a:solidFill>
              </a:rPr>
              <a:t>15</a:t>
            </a:r>
            <a:r>
              <a:rPr lang="zh-CN" altLang="en-US">
                <a:solidFill>
                  <a:srgbClr val="0070C0"/>
                </a:solidFill>
              </a:rPr>
              <a:t>分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20611"/>
            <a:ext cx="8928992" cy="1198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假定计算机</a:t>
            </a:r>
            <a:r>
              <a:rPr lang="en-US" altLang="zh-CN" sz="2400"/>
              <a:t>M</a:t>
            </a:r>
            <a:r>
              <a:rPr lang="zh-CN" altLang="en-US" sz="2400"/>
              <a:t>字长为</a:t>
            </a:r>
            <a:r>
              <a:rPr lang="en-US" altLang="zh-CN" sz="2400"/>
              <a:t>16</a:t>
            </a:r>
            <a:r>
              <a:rPr lang="zh-CN" altLang="en-US" sz="2400"/>
              <a:t>位，按字节编址，连接</a:t>
            </a:r>
            <a:r>
              <a:rPr lang="en-US" altLang="zh-CN" sz="2400"/>
              <a:t>CPU</a:t>
            </a:r>
            <a:r>
              <a:rPr lang="zh-CN" altLang="en-US" sz="2400"/>
              <a:t>和主存的系统总线中地址线位</a:t>
            </a:r>
            <a:r>
              <a:rPr lang="en-US" altLang="zh-CN" sz="2400"/>
              <a:t>20</a:t>
            </a:r>
            <a:r>
              <a:rPr lang="zh-CN" altLang="en-US" sz="2400"/>
              <a:t>位、数据线为</a:t>
            </a:r>
            <a:r>
              <a:rPr lang="en-US" altLang="zh-CN" sz="2400"/>
              <a:t>8</a:t>
            </a:r>
            <a:r>
              <a:rPr lang="zh-CN" altLang="en-US" sz="2400"/>
              <a:t>位，采用</a:t>
            </a:r>
            <a:r>
              <a:rPr lang="en-US" altLang="zh-CN" sz="2400"/>
              <a:t>16</a:t>
            </a:r>
            <a:r>
              <a:rPr lang="zh-CN" altLang="en-US" sz="2400"/>
              <a:t>位定长指令字，</a:t>
            </a:r>
            <a:br>
              <a:rPr lang="en-US" altLang="zh-CN" sz="2400"/>
            </a:br>
            <a:r>
              <a:rPr lang="zh-CN" altLang="en-US" sz="2400"/>
              <a:t>指令格式及其说明如下：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179512" y="1844824"/>
          <a:ext cx="892899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1728192"/>
                <a:gridCol w="576064"/>
                <a:gridCol w="576064"/>
                <a:gridCol w="576064"/>
                <a:gridCol w="1192694"/>
                <a:gridCol w="37038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格式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指令功能或指令格式说明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R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0 0 0 0 0 0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rd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op1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rd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itchFamily="2" charset="-122"/>
                          <a:ea typeface="宋体" pitchFamily="2" charset="-122"/>
                        </a:rPr>
                        <a:t>←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+mn-lt"/>
                          <a:ea typeface="宋体" pitchFamily="2" charset="-122"/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rs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 op1 R[rt]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I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op2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imm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ALU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运算、条件转移、访存操作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J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op3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target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PC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的低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10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位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itchFamily="2" charset="-122"/>
                          <a:ea typeface="宋体" pitchFamily="2" charset="-122"/>
                        </a:rPr>
                        <a:t>←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target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2" name="内容占位符 2"/>
          <p:cNvSpPr txBox="1"/>
          <p:nvPr/>
        </p:nvSpPr>
        <p:spPr bwMode="auto">
          <a:xfrm>
            <a:off x="107504" y="3573016"/>
            <a:ext cx="8928992" cy="313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kern="0"/>
              <a:t>2</a:t>
            </a:r>
            <a:r>
              <a:rPr lang="zh-CN" altLang="en-US" sz="2400" kern="0"/>
              <a:t>）</a:t>
            </a:r>
            <a:r>
              <a:rPr lang="en-US" altLang="zh-CN" sz="2400" kern="0"/>
              <a:t>R</a:t>
            </a:r>
            <a:r>
              <a:rPr lang="zh-CN" altLang="en-US" sz="2400" kern="0"/>
              <a:t>型格式最多可定义</a:t>
            </a:r>
            <a:r>
              <a:rPr lang="en-US" altLang="zh-CN" sz="2400" kern="0"/>
              <a:t>_________</a:t>
            </a:r>
            <a:r>
              <a:rPr lang="zh-CN" altLang="en-US" sz="2400" kern="0"/>
              <a:t>种操作，</a:t>
            </a:r>
            <a:endParaRPr lang="en-US" altLang="zh-CN" sz="2400" ker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kern="0"/>
              <a:t>      I</a:t>
            </a:r>
            <a:r>
              <a:rPr lang="zh-CN" altLang="en-US" sz="2400" kern="0"/>
              <a:t>型和</a:t>
            </a:r>
            <a:r>
              <a:rPr lang="en-US" altLang="zh-CN" sz="2400" kern="0"/>
              <a:t>J</a:t>
            </a:r>
            <a:r>
              <a:rPr lang="zh-CN" altLang="en-US" sz="2400" kern="0"/>
              <a:t>型格式最多可定义</a:t>
            </a:r>
            <a:r>
              <a:rPr lang="en-US" altLang="zh-CN" sz="2400" kern="0"/>
              <a:t>___________</a:t>
            </a:r>
            <a:r>
              <a:rPr lang="zh-CN" altLang="en-US" sz="2400" kern="0"/>
              <a:t>种操作，</a:t>
            </a:r>
            <a:endParaRPr lang="en-US" altLang="zh-CN" sz="2400" ker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kern="0"/>
              <a:t>      </a:t>
            </a:r>
            <a:r>
              <a:rPr lang="zh-CN" altLang="en-US" sz="2400" kern="0"/>
              <a:t>通用寄存器最多有</a:t>
            </a:r>
            <a:r>
              <a:rPr lang="en-US" altLang="zh-CN" sz="2400" kern="0"/>
              <a:t>______</a:t>
            </a:r>
            <a:r>
              <a:rPr lang="zh-CN" altLang="en-US" sz="2400" kern="0"/>
              <a:t>个。</a:t>
            </a:r>
            <a:endParaRPr lang="zh-CN" altLang="en-US" sz="2400" kern="0"/>
          </a:p>
        </p:txBody>
      </p:sp>
      <p:sp>
        <p:nvSpPr>
          <p:cNvPr id="18" name="矩形 17"/>
          <p:cNvSpPr/>
          <p:nvPr/>
        </p:nvSpPr>
        <p:spPr>
          <a:xfrm>
            <a:off x="3420576" y="3546640"/>
            <a:ext cx="1204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2</a:t>
            </a:r>
            <a:r>
              <a:rPr lang="en-US" altLang="zh-CN" kern="0" baseline="30000">
                <a:solidFill>
                  <a:srgbClr val="FF0000"/>
                </a:solidFill>
              </a:rPr>
              <a:t>4</a:t>
            </a:r>
            <a:r>
              <a:rPr lang="zh-CN" altLang="en-US" kern="0">
                <a:solidFill>
                  <a:srgbClr val="FF0000"/>
                </a:solidFill>
              </a:rPr>
              <a:t>＝</a:t>
            </a:r>
            <a:r>
              <a:rPr lang="en-US" altLang="zh-CN" kern="0">
                <a:solidFill>
                  <a:srgbClr val="FF0000"/>
                </a:solidFill>
              </a:rPr>
              <a:t>16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052031" y="3950640"/>
            <a:ext cx="15632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2</a:t>
            </a:r>
            <a:r>
              <a:rPr lang="en-US" altLang="zh-CN" kern="0" baseline="30000">
                <a:solidFill>
                  <a:srgbClr val="FF0000"/>
                </a:solidFill>
              </a:rPr>
              <a:t>6</a:t>
            </a:r>
            <a:r>
              <a:rPr lang="en-US" altLang="zh-CN" kern="0">
                <a:solidFill>
                  <a:srgbClr val="FF0000"/>
                </a:solidFill>
              </a:rPr>
              <a:t>-1</a:t>
            </a:r>
            <a:r>
              <a:rPr lang="zh-CN" altLang="en-US" kern="0">
                <a:solidFill>
                  <a:srgbClr val="FF0000"/>
                </a:solidFill>
              </a:rPr>
              <a:t>＝</a:t>
            </a:r>
            <a:r>
              <a:rPr lang="en-US" altLang="zh-CN" kern="0">
                <a:solidFill>
                  <a:srgbClr val="FF0000"/>
                </a:solidFill>
              </a:rPr>
              <a:t>63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84057" y="435631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kern="0">
                <a:solidFill>
                  <a:srgbClr val="FF0000"/>
                </a:solidFill>
              </a:rPr>
              <a:t>4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6319085" y="5763160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全国</a:t>
            </a:r>
            <a:r>
              <a:rPr lang="en-US" altLang="zh-CN"/>
              <a:t>-</a:t>
            </a:r>
            <a:r>
              <a:rPr lang="en-US" altLang="zh-CN" baseline="-25000"/>
              <a:t> </a:t>
            </a:r>
            <a:r>
              <a:rPr lang="en-US" altLang="zh-CN"/>
              <a:t>408 </a:t>
            </a:r>
            <a:r>
              <a:rPr lang="zh-CN" altLang="en-US"/>
              <a:t>计算机专业基础考研 </a:t>
            </a:r>
            <a:r>
              <a:rPr lang="en-US" altLang="zh-CN"/>
              <a:t>2021      </a:t>
            </a:r>
            <a:r>
              <a:rPr lang="en-US" altLang="zh-CN">
                <a:solidFill>
                  <a:srgbClr val="0070C0"/>
                </a:solidFill>
              </a:rPr>
              <a:t>43.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(</a:t>
            </a:r>
            <a:r>
              <a:rPr lang="en-US" altLang="zh-CN">
                <a:solidFill>
                  <a:srgbClr val="0070C0"/>
                </a:solidFill>
              </a:rPr>
              <a:t>15</a:t>
            </a:r>
            <a:r>
              <a:rPr lang="zh-CN" altLang="en-US">
                <a:solidFill>
                  <a:srgbClr val="0070C0"/>
                </a:solidFill>
              </a:rPr>
              <a:t>分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20611"/>
            <a:ext cx="8928992" cy="1198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假定计算机</a:t>
            </a:r>
            <a:r>
              <a:rPr lang="en-US" altLang="zh-CN" sz="2400"/>
              <a:t>M</a:t>
            </a:r>
            <a:r>
              <a:rPr lang="zh-CN" altLang="en-US" sz="2400"/>
              <a:t>字长为</a:t>
            </a:r>
            <a:r>
              <a:rPr lang="en-US" altLang="zh-CN" sz="2400"/>
              <a:t>16</a:t>
            </a:r>
            <a:r>
              <a:rPr lang="zh-CN" altLang="en-US" sz="2400"/>
              <a:t>位，按字节编址，连接</a:t>
            </a:r>
            <a:r>
              <a:rPr lang="en-US" altLang="zh-CN" sz="2400"/>
              <a:t>CPU</a:t>
            </a:r>
            <a:r>
              <a:rPr lang="zh-CN" altLang="en-US" sz="2400"/>
              <a:t>和主存的系统总线中地址线位</a:t>
            </a:r>
            <a:r>
              <a:rPr lang="en-US" altLang="zh-CN" sz="2400"/>
              <a:t>20</a:t>
            </a:r>
            <a:r>
              <a:rPr lang="zh-CN" altLang="en-US" sz="2400"/>
              <a:t>位、数据线为</a:t>
            </a:r>
            <a:r>
              <a:rPr lang="en-US" altLang="zh-CN" sz="2400"/>
              <a:t>8</a:t>
            </a:r>
            <a:r>
              <a:rPr lang="zh-CN" altLang="en-US" sz="2400"/>
              <a:t>位，采用</a:t>
            </a:r>
            <a:r>
              <a:rPr lang="en-US" altLang="zh-CN" sz="2400"/>
              <a:t>16</a:t>
            </a:r>
            <a:r>
              <a:rPr lang="zh-CN" altLang="en-US" sz="2400"/>
              <a:t>位定长指令字，</a:t>
            </a:r>
            <a:br>
              <a:rPr lang="en-US" altLang="zh-CN" sz="2400"/>
            </a:br>
            <a:r>
              <a:rPr lang="zh-CN" altLang="en-US" sz="2400"/>
              <a:t>指令格式及其说明如下：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179512" y="1844824"/>
          <a:ext cx="892899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1728192"/>
                <a:gridCol w="576064"/>
                <a:gridCol w="576064"/>
                <a:gridCol w="576064"/>
                <a:gridCol w="1192694"/>
                <a:gridCol w="37038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格式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指令功能或指令格式说明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R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0 0 0 0 0 0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rd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op1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rd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itchFamily="2" charset="-122"/>
                          <a:ea typeface="宋体" pitchFamily="2" charset="-122"/>
                        </a:rPr>
                        <a:t>←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+mn-lt"/>
                          <a:ea typeface="宋体" pitchFamily="2" charset="-122"/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rs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 op1 R[rt]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I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op2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imm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ALU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运算、条件转移、访存操作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J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op3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target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PC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的低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10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位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itchFamily="2" charset="-122"/>
                          <a:ea typeface="宋体" pitchFamily="2" charset="-122"/>
                        </a:rPr>
                        <a:t>←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target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2" name="内容占位符 2"/>
          <p:cNvSpPr txBox="1"/>
          <p:nvPr/>
        </p:nvSpPr>
        <p:spPr bwMode="auto">
          <a:xfrm>
            <a:off x="107504" y="3573016"/>
            <a:ext cx="8928992" cy="313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kern="0"/>
              <a:t>3</a:t>
            </a:r>
            <a:r>
              <a:rPr lang="zh-CN" altLang="en-US" sz="2400" kern="0"/>
              <a:t>）假定 </a:t>
            </a:r>
            <a:r>
              <a:rPr lang="en-US" altLang="zh-CN" sz="2400" kern="0"/>
              <a:t>op1 </a:t>
            </a:r>
            <a:r>
              <a:rPr lang="zh-CN" altLang="en-US" sz="2400" kern="0"/>
              <a:t>为 </a:t>
            </a:r>
            <a:r>
              <a:rPr lang="en-US" altLang="zh-CN" sz="2400" kern="0">
                <a:solidFill>
                  <a:srgbClr val="0000FF"/>
                </a:solidFill>
              </a:rPr>
              <a:t>0010</a:t>
            </a:r>
            <a:r>
              <a:rPr lang="en-US" altLang="zh-CN" sz="2400" kern="0"/>
              <a:t> </a:t>
            </a:r>
            <a:r>
              <a:rPr lang="zh-CN" altLang="en-US" sz="2400" kern="0"/>
              <a:t>和 </a:t>
            </a:r>
            <a:r>
              <a:rPr lang="en-US" altLang="zh-CN" sz="2400" kern="0">
                <a:solidFill>
                  <a:srgbClr val="FF00FF"/>
                </a:solidFill>
              </a:rPr>
              <a:t>0011</a:t>
            </a:r>
            <a:r>
              <a:rPr lang="en-US" altLang="zh-CN" sz="2400" kern="0"/>
              <a:t> </a:t>
            </a:r>
            <a:r>
              <a:rPr lang="zh-CN" altLang="en-US" sz="2400" kern="0"/>
              <a:t>时，分别表示</a:t>
            </a:r>
            <a:r>
              <a:rPr lang="zh-CN" altLang="en-US" sz="2400" kern="0">
                <a:solidFill>
                  <a:srgbClr val="7030A0"/>
                </a:solidFill>
              </a:rPr>
              <a:t>带符号整数</a:t>
            </a:r>
            <a:r>
              <a:rPr lang="zh-CN" altLang="en-US" sz="2400" kern="0">
                <a:solidFill>
                  <a:srgbClr val="0000FF"/>
                </a:solidFill>
              </a:rPr>
              <a:t>减法</a:t>
            </a:r>
            <a:r>
              <a:rPr lang="zh-CN" altLang="en-US" sz="2400" kern="0"/>
              <a:t>和</a:t>
            </a:r>
            <a:r>
              <a:rPr lang="zh-CN" altLang="en-US" sz="2400" kern="0">
                <a:solidFill>
                  <a:srgbClr val="7030A0"/>
                </a:solidFill>
              </a:rPr>
              <a:t>带符号整数</a:t>
            </a:r>
            <a:r>
              <a:rPr lang="zh-CN" altLang="en-US" sz="2400" kern="0">
                <a:solidFill>
                  <a:srgbClr val="FF00FF"/>
                </a:solidFill>
              </a:rPr>
              <a:t>乘法</a:t>
            </a:r>
            <a:r>
              <a:rPr lang="zh-CN" altLang="en-US" sz="2400" kern="0"/>
              <a:t>指令，则指令</a:t>
            </a:r>
            <a:r>
              <a:rPr lang="en-US" altLang="zh-CN" sz="2400" kern="0">
                <a:solidFill>
                  <a:srgbClr val="FF0000"/>
                </a:solidFill>
              </a:rPr>
              <a:t>01B2H</a:t>
            </a:r>
            <a:r>
              <a:rPr lang="zh-CN" altLang="en-US" sz="2400" kern="0"/>
              <a:t>的功能是什么？</a:t>
            </a:r>
            <a:endParaRPr lang="en-US" altLang="zh-CN" sz="2400" kern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400" kern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kern="0"/>
              <a:t>若</a:t>
            </a:r>
            <a:r>
              <a:rPr lang="en-US" altLang="zh-CN" sz="2400" kern="0"/>
              <a:t>1</a:t>
            </a:r>
            <a:r>
              <a:rPr lang="zh-CN" altLang="en-US" sz="2400" kern="0"/>
              <a:t>、</a:t>
            </a:r>
            <a:r>
              <a:rPr lang="en-US" altLang="zh-CN" sz="2400" kern="0"/>
              <a:t>2</a:t>
            </a:r>
            <a:r>
              <a:rPr lang="zh-CN" altLang="en-US" sz="2400" kern="0"/>
              <a:t>、</a:t>
            </a:r>
            <a:r>
              <a:rPr lang="en-US" altLang="zh-CN" sz="2400" kern="0"/>
              <a:t>3</a:t>
            </a:r>
            <a:r>
              <a:rPr lang="zh-CN" altLang="en-US" sz="2400" kern="0"/>
              <a:t>号通用寄存器当前内容分别为</a:t>
            </a:r>
            <a:r>
              <a:rPr lang="en-US" altLang="zh-CN" sz="2400" kern="0"/>
              <a:t>B052H</a:t>
            </a:r>
            <a:r>
              <a:rPr lang="zh-CN" altLang="en-US" sz="2400" kern="0"/>
              <a:t>、</a:t>
            </a:r>
            <a:r>
              <a:rPr lang="en-US" altLang="zh-CN" sz="2400" kern="0"/>
              <a:t>0008H</a:t>
            </a:r>
            <a:r>
              <a:rPr lang="zh-CN" altLang="en-US" sz="2400" kern="0"/>
              <a:t>、</a:t>
            </a:r>
            <a:r>
              <a:rPr lang="en-US" altLang="zh-CN" sz="2400" kern="0"/>
              <a:t>0020H</a:t>
            </a:r>
            <a:r>
              <a:rPr lang="zh-CN" altLang="en-US" sz="2400" kern="0"/>
              <a:t>，则分别执行指令</a:t>
            </a:r>
            <a:r>
              <a:rPr lang="en-US" altLang="zh-CN" sz="2400" kern="0"/>
              <a:t>01B2H</a:t>
            </a:r>
            <a:r>
              <a:rPr lang="zh-CN" altLang="en-US" sz="2400" kern="0"/>
              <a:t>和</a:t>
            </a:r>
            <a:r>
              <a:rPr lang="en-US" altLang="zh-CN" sz="2400" kern="0"/>
              <a:t>01B3H</a:t>
            </a:r>
            <a:r>
              <a:rPr lang="zh-CN" altLang="en-US" sz="2400" kern="0"/>
              <a:t>后，</a:t>
            </a:r>
            <a:r>
              <a:rPr lang="en-US" altLang="zh-CN" sz="2400" kern="0"/>
              <a:t>3</a:t>
            </a:r>
            <a:r>
              <a:rPr lang="zh-CN" altLang="en-US" sz="2400" kern="0"/>
              <a:t>号通用寄存器的内容各是什么？各自结果是否溢出？</a:t>
            </a:r>
            <a:endParaRPr lang="zh-CN" altLang="en-US" sz="2400" kern="0"/>
          </a:p>
        </p:txBody>
      </p:sp>
      <p:sp>
        <p:nvSpPr>
          <p:cNvPr id="7" name="矩形 6"/>
          <p:cNvSpPr/>
          <p:nvPr/>
        </p:nvSpPr>
        <p:spPr>
          <a:xfrm>
            <a:off x="2465366" y="4284716"/>
            <a:ext cx="43572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0000 00</a:t>
            </a: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01</a:t>
            </a:r>
            <a:r>
              <a:rPr lang="en-US" altLang="zh-CN" sz="1600" b="0" kern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altLang="zh-CN" sz="1800" b="0" kern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b="0" kern="0">
                <a:solidFill>
                  <a:srgbClr val="FF0000"/>
                </a:solidFill>
                <a:latin typeface="Consolas" panose="020B0609020204030204" pitchFamily="49" charset="0"/>
              </a:rPr>
              <a:t>11  0010</a:t>
            </a:r>
            <a:endParaRPr lang="zh-CN" altLang="en-US" b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22923" y="1455952"/>
            <a:ext cx="2709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R3 </a:t>
            </a:r>
            <a:r>
              <a:rPr lang="en-US" altLang="zh-CN" sz="2400">
                <a:solidFill>
                  <a:srgbClr val="FF0000"/>
                </a:solidFill>
                <a:latin typeface="宋体" pitchFamily="2" charset="-122"/>
              </a:rPr>
              <a:t>←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R1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r>
              <a:rPr lang="zh-CN" altLang="en-US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－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R2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zh-CN" altLang="en-US" sz="320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0956" y="5866993"/>
            <a:ext cx="2709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R3 </a:t>
            </a:r>
            <a:r>
              <a:rPr lang="en-US" altLang="zh-CN" sz="2400">
                <a:solidFill>
                  <a:srgbClr val="FF0000"/>
                </a:solidFill>
                <a:latin typeface="宋体" pitchFamily="2" charset="-122"/>
              </a:rPr>
              <a:t>←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R1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)</a:t>
            </a:r>
            <a:r>
              <a:rPr lang="zh-CN" altLang="en-US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－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R2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)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20956" y="6260587"/>
            <a:ext cx="2709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R3 </a:t>
            </a:r>
            <a:r>
              <a:rPr lang="en-US" altLang="zh-CN" sz="2400">
                <a:solidFill>
                  <a:srgbClr val="FF0000"/>
                </a:solidFill>
                <a:latin typeface="宋体" pitchFamily="2" charset="-122"/>
              </a:rPr>
              <a:t>←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R1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)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×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Times New Roman" panose="02020503050405090304"/>
                <a:ea typeface="宋体"/>
              </a:rPr>
              <a:t>R2</a:t>
            </a:r>
            <a:r>
              <a:rPr lang="en-US" altLang="zh-CN" sz="2400">
                <a:solidFill>
                  <a:srgbClr val="FF0000"/>
                </a:solidFill>
                <a:latin typeface="宋体"/>
                <a:ea typeface="宋体"/>
              </a:rPr>
              <a:t>)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793937" y="5589240"/>
            <a:ext cx="10903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kern="0">
                <a:solidFill>
                  <a:srgbClr val="0000FF"/>
                </a:solidFill>
              </a:rPr>
              <a:t>B052H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612796" y="5881379"/>
            <a:ext cx="1271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400" kern="0">
                <a:solidFill>
                  <a:srgbClr val="0000FF"/>
                </a:solidFill>
              </a:rPr>
              <a:t>－     </a:t>
            </a:r>
            <a:r>
              <a:rPr lang="en-US" altLang="zh-CN" sz="2400" kern="0">
                <a:solidFill>
                  <a:srgbClr val="0000FF"/>
                </a:solidFill>
              </a:rPr>
              <a:t>8H</a:t>
            </a:r>
            <a:endParaRPr lang="zh-CN" altLang="en-US">
              <a:solidFill>
                <a:srgbClr val="0000FF"/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 flipH="1">
            <a:off x="3707904" y="6299084"/>
            <a:ext cx="1169717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矩形 22"/>
          <p:cNvSpPr/>
          <p:nvPr/>
        </p:nvSpPr>
        <p:spPr>
          <a:xfrm>
            <a:off x="3768966" y="6278637"/>
            <a:ext cx="11592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kern="0">
                <a:solidFill>
                  <a:srgbClr val="0000FF"/>
                </a:solidFill>
              </a:rPr>
              <a:t>B04AH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930787" y="6278637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400" kern="0">
                <a:solidFill>
                  <a:srgbClr val="0000FF"/>
                </a:solidFill>
              </a:rPr>
              <a:t>不溢出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548926" y="5589240"/>
            <a:ext cx="2877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kern="0">
                <a:solidFill>
                  <a:srgbClr val="D60093"/>
                </a:solidFill>
              </a:rPr>
              <a:t>1011 0000 0101 0010</a:t>
            </a:r>
            <a:endParaRPr lang="zh-CN" altLang="en-US">
              <a:solidFill>
                <a:srgbClr val="D60093"/>
              </a:solidFill>
            </a:endParaRPr>
          </a:p>
        </p:txBody>
      </p:sp>
      <p:sp>
        <p:nvSpPr>
          <p:cNvPr id="26" name="矩形: 圆角 25"/>
          <p:cNvSpPr/>
          <p:nvPr/>
        </p:nvSpPr>
        <p:spPr bwMode="auto">
          <a:xfrm>
            <a:off x="5644662" y="5589240"/>
            <a:ext cx="474784" cy="433491"/>
          </a:xfrm>
          <a:prstGeom prst="roundRect">
            <a:avLst>
              <a:gd name="adj" fmla="val 34921"/>
            </a:avLst>
          </a:prstGeom>
          <a:solidFill>
            <a:srgbClr val="0000FF">
              <a:alpha val="40000"/>
            </a:srgb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286307" y="5589240"/>
            <a:ext cx="646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0">
                <a:solidFill>
                  <a:srgbClr val="0000FF"/>
                </a:solidFill>
              </a:rPr>
              <a:t>000</a:t>
            </a:r>
            <a:endParaRPr lang="zh-CN" altLang="en-US">
              <a:solidFill>
                <a:srgbClr val="0000FF"/>
              </a:solidFill>
            </a:endParaRPr>
          </a:p>
        </p:txBody>
      </p:sp>
      <p:cxnSp>
        <p:nvCxnSpPr>
          <p:cNvPr id="30" name="直接连接符 29"/>
          <p:cNvCxnSpPr/>
          <p:nvPr/>
        </p:nvCxnSpPr>
        <p:spPr bwMode="auto">
          <a:xfrm>
            <a:off x="8200448" y="5926019"/>
            <a:ext cx="67099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C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/>
          <p:cNvCxnSpPr/>
          <p:nvPr/>
        </p:nvCxnSpPr>
        <p:spPr bwMode="auto">
          <a:xfrm>
            <a:off x="7524328" y="5926019"/>
            <a:ext cx="67099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66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/>
          <p:cNvCxnSpPr/>
          <p:nvPr/>
        </p:nvCxnSpPr>
        <p:spPr bwMode="auto">
          <a:xfrm>
            <a:off x="6822649" y="5926019"/>
            <a:ext cx="67099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直接连接符 33"/>
          <p:cNvCxnSpPr/>
          <p:nvPr/>
        </p:nvCxnSpPr>
        <p:spPr bwMode="auto">
          <a:xfrm>
            <a:off x="6157364" y="5926019"/>
            <a:ext cx="670991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66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矩形 34"/>
          <p:cNvSpPr/>
          <p:nvPr/>
        </p:nvSpPr>
        <p:spPr>
          <a:xfrm>
            <a:off x="6403194" y="5987553"/>
            <a:ext cx="1039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400" kern="0">
                <a:solidFill>
                  <a:srgbClr val="C00000"/>
                </a:solidFill>
              </a:rPr>
              <a:t>8290H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524328" y="598755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400" kern="0">
                <a:solidFill>
                  <a:srgbClr val="C00000"/>
                </a:solidFill>
              </a:rPr>
              <a:t>溢出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-0.08142 -3.33333E-6 C -0.11805 -3.33333E-6 -0.16267 -0.09143 -0.16267 -0.16504 L -0.16267 -0.33009 " pathEditMode="relative" rAng="0" ptsTypes="AAAA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42" y="-1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13" grpId="0"/>
      <p:bldP spid="17" grpId="0"/>
      <p:bldP spid="15" grpId="0"/>
      <p:bldP spid="21" grpId="0"/>
      <p:bldP spid="23" grpId="0"/>
      <p:bldP spid="24" grpId="0"/>
      <p:bldP spid="25" grpId="0"/>
      <p:bldP spid="26" grpId="0" animBg="1"/>
      <p:bldP spid="28" grpId="0"/>
      <p:bldP spid="35" grpId="0"/>
      <p:bldP spid="3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全国</a:t>
            </a:r>
            <a:r>
              <a:rPr lang="en-US" altLang="zh-CN"/>
              <a:t>-</a:t>
            </a:r>
            <a:r>
              <a:rPr lang="en-US" altLang="zh-CN" baseline="-25000"/>
              <a:t> </a:t>
            </a:r>
            <a:r>
              <a:rPr lang="en-US" altLang="zh-CN"/>
              <a:t>408 </a:t>
            </a:r>
            <a:r>
              <a:rPr lang="zh-CN" altLang="en-US"/>
              <a:t>计算机专业基础考研 </a:t>
            </a:r>
            <a:r>
              <a:rPr lang="en-US" altLang="zh-CN"/>
              <a:t>2021      </a:t>
            </a:r>
            <a:r>
              <a:rPr lang="en-US" altLang="zh-CN">
                <a:solidFill>
                  <a:srgbClr val="0070C0"/>
                </a:solidFill>
              </a:rPr>
              <a:t>43.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(</a:t>
            </a:r>
            <a:r>
              <a:rPr lang="en-US" altLang="zh-CN">
                <a:solidFill>
                  <a:srgbClr val="0070C0"/>
                </a:solidFill>
              </a:rPr>
              <a:t>15</a:t>
            </a:r>
            <a:r>
              <a:rPr lang="zh-CN" altLang="en-US">
                <a:solidFill>
                  <a:srgbClr val="0070C0"/>
                </a:solidFill>
              </a:rPr>
              <a:t>分</a:t>
            </a:r>
            <a:r>
              <a:rPr lang="en-US" altLang="zh-CN">
                <a:solidFill>
                  <a:srgbClr val="0070C0"/>
                </a:solidFill>
                <a:latin typeface="+mj-ea"/>
              </a:rPr>
              <a:t>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20611"/>
            <a:ext cx="8928992" cy="1198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假定计算机</a:t>
            </a:r>
            <a:r>
              <a:rPr lang="en-US" altLang="zh-CN" sz="2400"/>
              <a:t>M</a:t>
            </a:r>
            <a:r>
              <a:rPr lang="zh-CN" altLang="en-US" sz="2400"/>
              <a:t>字长为</a:t>
            </a:r>
            <a:r>
              <a:rPr lang="en-US" altLang="zh-CN" sz="2400"/>
              <a:t>16</a:t>
            </a:r>
            <a:r>
              <a:rPr lang="zh-CN" altLang="en-US" sz="2400"/>
              <a:t>位，按字节编址，连接</a:t>
            </a:r>
            <a:r>
              <a:rPr lang="en-US" altLang="zh-CN" sz="2400"/>
              <a:t>CPU</a:t>
            </a:r>
            <a:r>
              <a:rPr lang="zh-CN" altLang="en-US" sz="2400"/>
              <a:t>和主存的系统总线中地址线位</a:t>
            </a:r>
            <a:r>
              <a:rPr lang="en-US" altLang="zh-CN" sz="2400"/>
              <a:t>20</a:t>
            </a:r>
            <a:r>
              <a:rPr lang="zh-CN" altLang="en-US" sz="2400"/>
              <a:t>位、数据线为</a:t>
            </a:r>
            <a:r>
              <a:rPr lang="en-US" altLang="zh-CN" sz="2400"/>
              <a:t>8</a:t>
            </a:r>
            <a:r>
              <a:rPr lang="zh-CN" altLang="en-US" sz="2400"/>
              <a:t>位，采用</a:t>
            </a:r>
            <a:r>
              <a:rPr lang="en-US" altLang="zh-CN" sz="2400"/>
              <a:t>16</a:t>
            </a:r>
            <a:r>
              <a:rPr lang="zh-CN" altLang="en-US" sz="2400"/>
              <a:t>位定长指令字，</a:t>
            </a:r>
            <a:br>
              <a:rPr lang="en-US" altLang="zh-CN" sz="2400"/>
            </a:br>
            <a:r>
              <a:rPr lang="zh-CN" altLang="en-US" sz="2400"/>
              <a:t>指令格式及其说明如下：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179512" y="1844824"/>
          <a:ext cx="892899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1728192"/>
                <a:gridCol w="576064"/>
                <a:gridCol w="576064"/>
                <a:gridCol w="576064"/>
                <a:gridCol w="1192694"/>
                <a:gridCol w="37038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格式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zh-CN" altLang="en-US" sz="2000" b="1">
                          <a:solidFill>
                            <a:srgbClr val="0000FF"/>
                          </a:solidFill>
                        </a:rPr>
                        <a:t>位</a:t>
                      </a:r>
                      <a:endParaRPr lang="zh-CN" altLang="en-US" sz="2000" b="1">
                        <a:solidFill>
                          <a:srgbClr val="0000FF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指令功能或指令格式说明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R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0 0 0 0 0 0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rd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op1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rd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itchFamily="2" charset="-122"/>
                          <a:ea typeface="宋体" pitchFamily="2" charset="-122"/>
                        </a:rPr>
                        <a:t>←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+mn-lt"/>
                          <a:ea typeface="宋体" pitchFamily="2" charset="-122"/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R[</a:t>
                      </a:r>
                      <a:r>
                        <a:rPr lang="en-US" altLang="zh-CN" sz="2000" b="1" err="1">
                          <a:solidFill>
                            <a:srgbClr val="008000"/>
                          </a:solidFill>
                        </a:rPr>
                        <a:t>rs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] op1 R[rt]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I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op2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rs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rt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 err="1"/>
                        <a:t>imm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ALU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运算、条件转移、访存操作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solidFill>
                            <a:srgbClr val="CC0066"/>
                          </a:solidFill>
                        </a:rPr>
                        <a:t>J</a:t>
                      </a:r>
                      <a:r>
                        <a:rPr lang="zh-CN" altLang="en-US" sz="2000" b="1">
                          <a:solidFill>
                            <a:srgbClr val="CC0066"/>
                          </a:solidFill>
                        </a:rPr>
                        <a:t>型</a:t>
                      </a:r>
                      <a:endParaRPr lang="zh-CN" altLang="en-US" sz="2000" b="1">
                        <a:solidFill>
                          <a:srgbClr val="CC0066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op3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2000" b="1"/>
                        <a:t>target</a:t>
                      </a:r>
                      <a:endParaRPr lang="zh-CN" altLang="en-US" sz="2000" b="1"/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anchor="ctr"/>
                </a:tc>
                <a:tc hMerge="1">
                  <a:tcPr anchor="ctr"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 PC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的低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10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位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  <a:latin typeface="宋体" pitchFamily="2" charset="-122"/>
                          <a:ea typeface="宋体" pitchFamily="2" charset="-122"/>
                        </a:rPr>
                        <a:t>←</a:t>
                      </a:r>
                      <a:r>
                        <a:rPr lang="zh-CN" altLang="en-US" sz="2000" b="1">
                          <a:solidFill>
                            <a:srgbClr val="008000"/>
                          </a:solidFill>
                        </a:rPr>
                        <a:t> </a:t>
                      </a:r>
                      <a:r>
                        <a:rPr lang="en-US" altLang="zh-CN" sz="2000" b="1">
                          <a:solidFill>
                            <a:srgbClr val="008000"/>
                          </a:solidFill>
                        </a:rPr>
                        <a:t>target</a:t>
                      </a:r>
                      <a:endParaRPr lang="zh-CN" altLang="en-US" sz="2000" b="1">
                        <a:solidFill>
                          <a:srgbClr val="008000"/>
                        </a:solidFill>
                      </a:endParaRPr>
                    </a:p>
                  </a:txBody>
                  <a:tcPr marL="0" marR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2" name="内容占位符 2"/>
          <p:cNvSpPr txBox="1"/>
          <p:nvPr/>
        </p:nvSpPr>
        <p:spPr bwMode="auto">
          <a:xfrm>
            <a:off x="107504" y="3573016"/>
            <a:ext cx="8928992" cy="313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5560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385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5055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40180" indent="-365125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560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en-US" altLang="zh-CN" sz="2400" kern="0"/>
              <a:t>4</a:t>
            </a:r>
            <a:r>
              <a:rPr lang="zh-CN" altLang="en-US" sz="2400" kern="0"/>
              <a:t>）若采用 </a:t>
            </a:r>
            <a:r>
              <a:rPr lang="en-US" altLang="zh-CN" sz="2400" kern="0"/>
              <a:t>I </a:t>
            </a:r>
            <a:r>
              <a:rPr lang="zh-CN" altLang="en-US" sz="2400" kern="0"/>
              <a:t>型格式的访存指令中 </a:t>
            </a:r>
            <a:r>
              <a:rPr lang="en-US" altLang="zh-CN" sz="2400" kern="0" err="1"/>
              <a:t>imm</a:t>
            </a:r>
            <a:r>
              <a:rPr lang="en-US" altLang="zh-CN" sz="2400" kern="0">
                <a:latin typeface="+mn-ea"/>
              </a:rPr>
              <a:t>(</a:t>
            </a:r>
            <a:r>
              <a:rPr lang="zh-CN" altLang="en-US" sz="2400" kern="0"/>
              <a:t>偏移量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/>
              <a:t>为带符号整数，</a:t>
            </a:r>
            <a:endParaRPr lang="en-US" altLang="zh-CN" sz="2400" kern="0"/>
          </a:p>
          <a:p>
            <a:pPr marL="0" indent="0">
              <a:buNone/>
            </a:pPr>
            <a:r>
              <a:rPr lang="zh-CN" altLang="en-US" sz="2400" kern="0"/>
              <a:t>则地址计算时应对 </a:t>
            </a:r>
            <a:r>
              <a:rPr lang="en-US" altLang="zh-CN" sz="2400" kern="0" err="1"/>
              <a:t>imm</a:t>
            </a:r>
            <a:r>
              <a:rPr lang="en-US" altLang="zh-CN" sz="2400" kern="0"/>
              <a:t> </a:t>
            </a:r>
            <a:r>
              <a:rPr lang="zh-CN" altLang="en-US" sz="2400" kern="0"/>
              <a:t>进行零扩展还是符号扩展？</a:t>
            </a:r>
            <a:endParaRPr lang="en-US" altLang="zh-CN" sz="2400" kern="0"/>
          </a:p>
          <a:p>
            <a:pPr marL="0" indent="0">
              <a:buNone/>
            </a:pPr>
            <a:endParaRPr lang="en-US" altLang="zh-CN" sz="2400" kern="0"/>
          </a:p>
          <a:p>
            <a:pPr marL="0" indent="0">
              <a:buNone/>
            </a:pPr>
            <a:r>
              <a:rPr lang="en-US" altLang="zh-CN" sz="2400" kern="0"/>
              <a:t>5</a:t>
            </a:r>
            <a:r>
              <a:rPr lang="zh-CN" altLang="en-US" sz="2400" kern="0"/>
              <a:t>）无条件转移指令可以采用上述哪种指令格式？</a:t>
            </a:r>
            <a:endParaRPr lang="zh-CN" altLang="en-US" sz="2400" kern="0"/>
          </a:p>
        </p:txBody>
      </p:sp>
      <p:cxnSp>
        <p:nvCxnSpPr>
          <p:cNvPr id="27" name="直接连接符 26"/>
          <p:cNvCxnSpPr/>
          <p:nvPr/>
        </p:nvCxnSpPr>
        <p:spPr bwMode="auto">
          <a:xfrm>
            <a:off x="5570663" y="4365104"/>
            <a:ext cx="1216999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矩形 28"/>
          <p:cNvSpPr/>
          <p:nvPr/>
        </p:nvSpPr>
        <p:spPr>
          <a:xfrm>
            <a:off x="6920216" y="4761984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503050405090304"/>
                <a:ea typeface="宋体"/>
              </a:rPr>
              <a:t>J </a:t>
            </a:r>
            <a:r>
              <a:rPr lang="zh-CN" altLang="en-US">
                <a:solidFill>
                  <a:srgbClr val="FF0000"/>
                </a:solidFill>
                <a:latin typeface="Times New Roman" panose="02020503050405090304"/>
                <a:ea typeface="宋体"/>
              </a:rPr>
              <a:t>型</a:t>
            </a:r>
            <a:endParaRPr lang="zh-CN" altLang="en-US" sz="3200"/>
          </a:p>
        </p:txBody>
      </p:sp>
      <p:sp>
        <p:nvSpPr>
          <p:cNvPr id="9" name="文本框 8"/>
          <p:cNvSpPr txBox="1"/>
          <p:nvPr/>
        </p:nvSpPr>
        <p:spPr bwMode="auto">
          <a:xfrm>
            <a:off x="6319085" y="5763160"/>
            <a:ext cx="271741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综合举例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68325"/>
            <a:ext cx="8362950" cy="4422129"/>
          </a:xfrm>
        </p:spPr>
        <p:txBody>
          <a:bodyPr/>
          <a:lstStyle/>
          <a:p>
            <a:r>
              <a:rPr lang="en-US" altLang="zh-CN"/>
              <a:t>CPU</a:t>
            </a:r>
            <a:r>
              <a:rPr lang="zh-CN" altLang="en-US"/>
              <a:t>的内部结构（</a:t>
            </a:r>
            <a:r>
              <a:rPr lang="zh-CN" altLang="en-US">
                <a:solidFill>
                  <a:srgbClr val="FF0000"/>
                </a:solidFill>
              </a:rPr>
              <a:t>数据通路</a:t>
            </a:r>
            <a:r>
              <a:rPr lang="zh-CN" altLang="en-US"/>
              <a:t>）。</a:t>
            </a:r>
            <a:endParaRPr lang="en-US" altLang="zh-CN"/>
          </a:p>
          <a:p>
            <a:r>
              <a:rPr lang="zh-CN" altLang="en-US"/>
              <a:t>指令周期、</a:t>
            </a:r>
            <a:r>
              <a:rPr lang="en-US" altLang="zh-CN"/>
              <a:t>CPU</a:t>
            </a:r>
            <a:r>
              <a:rPr lang="zh-CN" altLang="en-US"/>
              <a:t>周期、节拍周期、时钟周期</a:t>
            </a:r>
            <a:endParaRPr lang="en-US" altLang="zh-CN"/>
          </a:p>
          <a:p>
            <a:r>
              <a:rPr lang="zh-CN" altLang="en-US">
                <a:solidFill>
                  <a:srgbClr val="0000FF"/>
                </a:solidFill>
              </a:rPr>
              <a:t>微操作序列</a:t>
            </a:r>
            <a:r>
              <a:rPr lang="zh-CN" altLang="en-US"/>
              <a:t>和</a:t>
            </a:r>
            <a:r>
              <a:rPr lang="zh-CN" altLang="en-US">
                <a:solidFill>
                  <a:srgbClr val="0000FF"/>
                </a:solidFill>
              </a:rPr>
              <a:t>微命令序列</a:t>
            </a:r>
            <a:endParaRPr lang="en-US" altLang="zh-CN">
              <a:solidFill>
                <a:srgbClr val="0000FF"/>
              </a:solidFill>
            </a:endParaRPr>
          </a:p>
          <a:p>
            <a:r>
              <a:rPr lang="zh-CN" altLang="en-US"/>
              <a:t>控制器的设计方法：</a:t>
            </a:r>
            <a:endParaRPr lang="en-US" altLang="zh-CN"/>
          </a:p>
          <a:p>
            <a:pPr lvl="1"/>
            <a:r>
              <a:rPr lang="zh-CN" altLang="en-US"/>
              <a:t>硬布线：快，设计困难、不可修改、难以扩充</a:t>
            </a:r>
            <a:endParaRPr lang="en-US" altLang="zh-CN"/>
          </a:p>
          <a:p>
            <a:pPr lvl="1"/>
            <a:r>
              <a:rPr lang="zh-CN" altLang="en-US"/>
              <a:t>微程序：慢，设计简单、规范，便于修改</a:t>
            </a:r>
            <a:r>
              <a:rPr lang="en-US" altLang="zh-CN"/>
              <a:t>/</a:t>
            </a:r>
            <a:r>
              <a:rPr lang="zh-CN" altLang="en-US"/>
              <a:t>扩充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微程序</a:t>
            </a:r>
            <a:r>
              <a:rPr lang="zh-CN" altLang="en-US"/>
              <a:t>控制基本原理，</a:t>
            </a:r>
            <a:r>
              <a:rPr lang="zh-CN" altLang="en-US">
                <a:solidFill>
                  <a:srgbClr val="FF0000"/>
                </a:solidFill>
              </a:rPr>
              <a:t>微指令</a:t>
            </a:r>
            <a:r>
              <a:rPr lang="zh-CN" altLang="en-US"/>
              <a:t>的组织方式；</a:t>
            </a:r>
            <a:br>
              <a:rPr lang="en-US" altLang="zh-CN"/>
            </a:br>
            <a:r>
              <a:rPr lang="zh-CN" altLang="en-US">
                <a:solidFill>
                  <a:srgbClr val="0000FF"/>
                </a:solidFill>
              </a:rPr>
              <a:t>水平型</a:t>
            </a:r>
            <a:r>
              <a:rPr lang="zh-CN" altLang="en-US"/>
              <a:t>微指令</a:t>
            </a:r>
            <a:r>
              <a:rPr lang="zh-CN" altLang="en-US">
                <a:solidFill>
                  <a:srgbClr val="0000FF"/>
                </a:solidFill>
              </a:rPr>
              <a:t>控制域</a:t>
            </a:r>
            <a:r>
              <a:rPr lang="zh-CN" altLang="en-US"/>
              <a:t>的设计。</a:t>
            </a:r>
            <a:endParaRPr lang="en-US" altLang="zh-CN"/>
          </a:p>
          <a:p>
            <a:pPr lvl="2"/>
            <a:r>
              <a:rPr lang="zh-CN" altLang="en-US">
                <a:solidFill>
                  <a:srgbClr val="006600"/>
                </a:solidFill>
              </a:rPr>
              <a:t>相容</a:t>
            </a:r>
            <a:r>
              <a:rPr lang="zh-CN" altLang="en-US"/>
              <a:t>和</a:t>
            </a:r>
            <a:r>
              <a:rPr lang="zh-CN" altLang="en-US">
                <a:solidFill>
                  <a:srgbClr val="006600"/>
                </a:solidFill>
              </a:rPr>
              <a:t>互斥</a:t>
            </a:r>
            <a:r>
              <a:rPr lang="zh-CN" altLang="en-US"/>
              <a:t>：</a:t>
            </a:r>
            <a:br>
              <a:rPr lang="en-US" altLang="zh-CN"/>
            </a:br>
            <a:r>
              <a:rPr lang="zh-CN" altLang="en-US"/>
              <a:t>分辨不同的控制信号的</a:t>
            </a:r>
            <a:r>
              <a:rPr lang="zh-CN" altLang="en-US">
                <a:solidFill>
                  <a:srgbClr val="006600"/>
                </a:solidFill>
              </a:rPr>
              <a:t>相容性</a:t>
            </a:r>
            <a:r>
              <a:rPr lang="zh-CN" altLang="en-US"/>
              <a:t>或者</a:t>
            </a:r>
            <a:r>
              <a:rPr lang="zh-CN" altLang="en-US">
                <a:solidFill>
                  <a:srgbClr val="006600"/>
                </a:solidFill>
              </a:rPr>
              <a:t>互斥性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 bwMode="auto">
          <a:xfrm>
            <a:off x="323528" y="5229200"/>
            <a:ext cx="8712968" cy="124677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noAutofit/>
          </a:bodyPr>
          <a:lstStyle/>
          <a:p>
            <a:pPr marL="342900" indent="-342900" algn="l">
              <a:buClr>
                <a:srgbClr val="FF9933"/>
              </a:buClr>
              <a:buSzPct val="150000"/>
              <a:buFont typeface="Wingdings" panose="05000000000000000000" pitchFamily="2" charset="2"/>
              <a:buChar char=""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一条（机器）指令对应一个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微程序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，该微程序包含从取指令到执行指令一个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完整微操作序列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对应的全部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微指令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</a:t>
            </a:r>
            <a:b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</a:b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它被存入一个称为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控制存储器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control memory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）的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ROM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中。</a:t>
            </a:r>
            <a:endParaRPr lang="zh-CN" altLang="en-US" sz="2400"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6084990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>
                <a:ea typeface="宋体" pitchFamily="2" charset="-122"/>
              </a:rPr>
              <a:t>某微程序控制器采用的</a:t>
            </a:r>
            <a:r>
              <a:rPr lang="zh-CN" altLang="zh-CN" sz="2400">
                <a:solidFill>
                  <a:srgbClr val="FF0000"/>
                </a:solidFill>
                <a:ea typeface="宋体" pitchFamily="2" charset="-122"/>
              </a:rPr>
              <a:t>微指令</a:t>
            </a:r>
            <a:r>
              <a:rPr lang="zh-CN" altLang="zh-CN" sz="2400">
                <a:ea typeface="宋体" pitchFamily="2" charset="-122"/>
              </a:rPr>
              <a:t>字长为</a:t>
            </a: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24</a:t>
            </a:r>
            <a:r>
              <a:rPr lang="zh-CN" altLang="zh-CN" sz="2400">
                <a:solidFill>
                  <a:srgbClr val="FF0000"/>
                </a:solidFill>
                <a:ea typeface="宋体" pitchFamily="2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。微命令部分由</a:t>
            </a:r>
            <a:r>
              <a:rPr lang="en-US" altLang="zh-CN" sz="2400">
                <a:ea typeface="宋体" pitchFamily="2" charset="-122"/>
              </a:rPr>
              <a:t>4</a:t>
            </a:r>
            <a:r>
              <a:rPr lang="zh-CN" altLang="zh-CN" sz="2400">
                <a:ea typeface="宋体" pitchFamily="2" charset="-122"/>
              </a:rPr>
              <a:t>个字段构成，各字段所包括的互斥微命令分别为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5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lang="zh-CN" altLang="zh-CN" sz="2400">
                <a:ea typeface="宋体" pitchFamily="2" charset="-122"/>
              </a:rPr>
              <a:t>、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8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lang="zh-CN" altLang="zh-CN" sz="2400">
                <a:ea typeface="宋体" pitchFamily="2" charset="-122"/>
              </a:rPr>
              <a:t>、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14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lang="zh-CN" altLang="zh-CN" sz="2400">
                <a:ea typeface="宋体" pitchFamily="2" charset="-122"/>
              </a:rPr>
              <a:t>和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个</a:t>
            </a:r>
            <a:r>
              <a:rPr lang="zh-CN" altLang="zh-CN" sz="2400">
                <a:ea typeface="宋体" pitchFamily="2" charset="-122"/>
              </a:rPr>
              <a:t>。另外控制</a:t>
            </a:r>
            <a:r>
              <a:rPr lang="zh-CN" altLang="zh-CN" sz="2400">
                <a:solidFill>
                  <a:srgbClr val="009900"/>
                </a:solidFill>
                <a:ea typeface="宋体" pitchFamily="2" charset="-122"/>
              </a:rPr>
              <a:t>产生次地址的条件</a:t>
            </a:r>
            <a:r>
              <a:rPr lang="zh-CN" altLang="zh-CN" sz="2400">
                <a:ea typeface="宋体" pitchFamily="2" charset="-122"/>
              </a:rPr>
              <a:t>有</a:t>
            </a:r>
            <a:r>
              <a:rPr lang="en-US" altLang="zh-CN" sz="240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种</a:t>
            </a:r>
            <a:r>
              <a:rPr lang="zh-CN" altLang="zh-CN" sz="2400">
                <a:ea typeface="宋体" pitchFamily="2" charset="-122"/>
              </a:rPr>
              <a:t>。试说明该微控制器最多可用</a:t>
            </a:r>
            <a:r>
              <a:rPr lang="zh-CN" altLang="zh-CN" sz="2400">
                <a:solidFill>
                  <a:srgbClr val="D60093"/>
                </a:solidFill>
                <a:latin typeface="黑体" pitchFamily="2" charset="-122"/>
                <a:ea typeface="黑体" pitchFamily="2" charset="-122"/>
              </a:rPr>
              <a:t>几位</a:t>
            </a:r>
            <a:r>
              <a:rPr lang="zh-CN" altLang="zh-CN" sz="2400">
                <a:ea typeface="宋体" pitchFamily="2" charset="-122"/>
              </a:rPr>
              <a:t>来表示</a:t>
            </a:r>
            <a:r>
              <a:rPr lang="zh-CN" altLang="zh-CN" sz="2400">
                <a:solidFill>
                  <a:srgbClr val="D60093"/>
                </a:solidFill>
                <a:latin typeface="黑体" pitchFamily="2" charset="-122"/>
                <a:ea typeface="黑体" pitchFamily="2" charset="-122"/>
              </a:rPr>
              <a:t>次地址</a:t>
            </a:r>
            <a:r>
              <a:rPr lang="zh-CN" altLang="zh-CN" sz="2400">
                <a:ea typeface="宋体" pitchFamily="2" charset="-122"/>
              </a:rPr>
              <a:t>？</a:t>
            </a:r>
            <a:r>
              <a:rPr lang="zh-CN" altLang="zh-CN" sz="2400">
                <a:solidFill>
                  <a:srgbClr val="D60093"/>
                </a:solidFill>
                <a:latin typeface="黑体" pitchFamily="2" charset="-122"/>
                <a:ea typeface="黑体" pitchFamily="2" charset="-122"/>
              </a:rPr>
              <a:t>控制存储器</a:t>
            </a:r>
            <a:r>
              <a:rPr lang="zh-CN" altLang="zh-CN" sz="2400">
                <a:ea typeface="宋体" pitchFamily="2" charset="-122"/>
              </a:rPr>
              <a:t>的</a:t>
            </a:r>
            <a:r>
              <a:rPr lang="zh-CN" altLang="zh-CN" sz="2400">
                <a:solidFill>
                  <a:srgbClr val="D60093"/>
                </a:solidFill>
                <a:latin typeface="黑体" pitchFamily="2" charset="-122"/>
                <a:ea typeface="黑体" pitchFamily="2" charset="-122"/>
              </a:rPr>
              <a:t>容量</a:t>
            </a:r>
            <a:r>
              <a:rPr lang="zh-CN" altLang="zh-CN" sz="2400">
                <a:ea typeface="宋体" pitchFamily="2" charset="-122"/>
              </a:rPr>
              <a:t>为多少？</a:t>
            </a:r>
            <a:endParaRPr lang="en-US" altLang="zh-CN" sz="240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40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40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sz="240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2400">
                <a:ea typeface="宋体" pitchFamily="2" charset="-122"/>
              </a:rPr>
              <a:t>【</a:t>
            </a:r>
            <a:r>
              <a:rPr lang="zh-CN" altLang="zh-CN" sz="2400">
                <a:ea typeface="宋体" pitchFamily="2" charset="-122"/>
              </a:rPr>
              <a:t>解</a:t>
            </a:r>
            <a:r>
              <a:rPr lang="en-US" altLang="zh-CN" sz="2400">
                <a:ea typeface="宋体" pitchFamily="2" charset="-122"/>
              </a:rPr>
              <a:t>】</a:t>
            </a:r>
            <a:endParaRPr lang="en-US" altLang="zh-CN" sz="240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sz="2400">
                <a:ea typeface="宋体" pitchFamily="2" charset="-122"/>
              </a:rPr>
              <a:t>5</a:t>
            </a:r>
            <a:r>
              <a:rPr lang="zh-CN" altLang="zh-CN" sz="2400">
                <a:ea typeface="宋体" pitchFamily="2" charset="-122"/>
              </a:rPr>
              <a:t>个互斥微命令加一个</a:t>
            </a:r>
            <a:r>
              <a:rPr lang="en-US" altLang="zh-CN" sz="2400">
                <a:ea typeface="宋体" pitchFamily="2" charset="-122"/>
              </a:rPr>
              <a:t>NOP</a:t>
            </a:r>
            <a:r>
              <a:rPr lang="zh-CN" altLang="en-US" sz="2400">
                <a:ea typeface="宋体" pitchFamily="2" charset="-122"/>
              </a:rPr>
              <a:t>，</a:t>
            </a:r>
            <a:r>
              <a:rPr lang="zh-CN" altLang="zh-CN" sz="2400">
                <a:ea typeface="宋体" pitchFamily="2" charset="-122"/>
              </a:rPr>
              <a:t>需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3</a:t>
            </a:r>
            <a:r>
              <a:rPr lang="zh-CN" altLang="zh-CN" sz="2400">
                <a:solidFill>
                  <a:srgbClr val="FF0000"/>
                </a:solidFill>
                <a:ea typeface="黑体" pitchFamily="2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编码；</a:t>
            </a:r>
            <a:r>
              <a:rPr lang="en-US" altLang="zh-CN" sz="2400">
                <a:ea typeface="宋体" pitchFamily="2" charset="-122"/>
              </a:rPr>
              <a:t>  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(5+1)]</a:t>
            </a:r>
            <a:r>
              <a:rPr lang="zh-CN" altLang="en-US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en-US" altLang="zh-CN" sz="2400">
                <a:ea typeface="宋体" pitchFamily="2" charset="-122"/>
              </a:rPr>
              <a:t>8</a:t>
            </a:r>
            <a:r>
              <a:rPr lang="zh-CN" altLang="zh-CN" sz="2400">
                <a:ea typeface="宋体" pitchFamily="2" charset="-122"/>
              </a:rPr>
              <a:t>个互斥微命令</a:t>
            </a:r>
            <a:r>
              <a:rPr lang="zh-CN" altLang="en-US" sz="2400">
                <a:ea typeface="宋体" pitchFamily="2" charset="-122"/>
              </a:rPr>
              <a:t>加</a:t>
            </a:r>
            <a:r>
              <a:rPr lang="zh-CN" altLang="zh-CN" sz="2400">
                <a:ea typeface="宋体" pitchFamily="2" charset="-122"/>
              </a:rPr>
              <a:t>一个</a:t>
            </a:r>
            <a:r>
              <a:rPr lang="en-US" altLang="zh-CN" sz="2400">
                <a:ea typeface="宋体" pitchFamily="2" charset="-122"/>
              </a:rPr>
              <a:t>NOP</a:t>
            </a:r>
            <a:r>
              <a:rPr lang="zh-CN" altLang="zh-CN" sz="2400">
                <a:ea typeface="宋体" pitchFamily="2" charset="-122"/>
              </a:rPr>
              <a:t>，需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4</a:t>
            </a:r>
            <a:r>
              <a:rPr lang="zh-CN" altLang="zh-CN" sz="2400">
                <a:solidFill>
                  <a:srgbClr val="FF0000"/>
                </a:solidFill>
                <a:ea typeface="黑体" pitchFamily="2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编码；</a:t>
            </a:r>
            <a:r>
              <a:rPr lang="en-US" altLang="zh-CN" sz="2400">
                <a:ea typeface="宋体" pitchFamily="2" charset="-122"/>
              </a:rPr>
              <a:t>  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(8+1)]</a:t>
            </a:r>
            <a:r>
              <a:rPr lang="zh-CN" altLang="en-US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en-US" altLang="zh-CN" sz="2400">
                <a:ea typeface="宋体" pitchFamily="2" charset="-122"/>
              </a:rPr>
              <a:t>14</a:t>
            </a:r>
            <a:r>
              <a:rPr lang="zh-CN" altLang="zh-CN" sz="2400">
                <a:ea typeface="宋体" pitchFamily="2" charset="-122"/>
              </a:rPr>
              <a:t>个互斥微命令</a:t>
            </a:r>
            <a:r>
              <a:rPr lang="zh-CN" altLang="en-US" sz="2400">
                <a:ea typeface="宋体" pitchFamily="2" charset="-122"/>
              </a:rPr>
              <a:t>加</a:t>
            </a:r>
            <a:r>
              <a:rPr lang="zh-CN" altLang="zh-CN" sz="2400">
                <a:ea typeface="宋体" pitchFamily="2" charset="-122"/>
              </a:rPr>
              <a:t>一个</a:t>
            </a:r>
            <a:r>
              <a:rPr lang="en-US" altLang="zh-CN" sz="2400">
                <a:ea typeface="宋体" pitchFamily="2" charset="-122"/>
              </a:rPr>
              <a:t>NOP</a:t>
            </a:r>
            <a:r>
              <a:rPr lang="zh-CN" altLang="zh-CN" sz="2400">
                <a:ea typeface="宋体" pitchFamily="2" charset="-122"/>
              </a:rPr>
              <a:t>，需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4</a:t>
            </a:r>
            <a:r>
              <a:rPr lang="zh-CN" altLang="zh-CN" sz="2400">
                <a:solidFill>
                  <a:srgbClr val="FF0000"/>
                </a:solidFill>
                <a:ea typeface="黑体" pitchFamily="2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编码；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(14+1)]</a:t>
            </a:r>
            <a:r>
              <a:rPr lang="zh-CN" altLang="en-US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en-US" altLang="zh-CN" sz="2400">
                <a:ea typeface="宋体" pitchFamily="2" charset="-122"/>
              </a:rPr>
              <a:t>3</a:t>
            </a:r>
            <a:r>
              <a:rPr lang="zh-CN" altLang="zh-CN" sz="2400">
                <a:ea typeface="宋体" pitchFamily="2" charset="-122"/>
              </a:rPr>
              <a:t>个互斥微命令</a:t>
            </a:r>
            <a:r>
              <a:rPr lang="zh-CN" altLang="en-US" sz="2400">
                <a:ea typeface="宋体" pitchFamily="2" charset="-122"/>
              </a:rPr>
              <a:t>加</a:t>
            </a:r>
            <a:r>
              <a:rPr lang="zh-CN" altLang="zh-CN" sz="2400">
                <a:ea typeface="宋体" pitchFamily="2" charset="-122"/>
              </a:rPr>
              <a:t>一个</a:t>
            </a:r>
            <a:r>
              <a:rPr lang="en-US" altLang="zh-CN" sz="2400">
                <a:ea typeface="宋体" pitchFamily="2" charset="-122"/>
              </a:rPr>
              <a:t>NOP</a:t>
            </a:r>
            <a:r>
              <a:rPr lang="zh-CN" altLang="zh-CN" sz="2400">
                <a:ea typeface="宋体" pitchFamily="2" charset="-122"/>
              </a:rPr>
              <a:t>，需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2</a:t>
            </a:r>
            <a:r>
              <a:rPr lang="zh-CN" altLang="zh-CN" sz="2400">
                <a:solidFill>
                  <a:srgbClr val="FF0000"/>
                </a:solidFill>
                <a:ea typeface="黑体" pitchFamily="2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编码；</a:t>
            </a:r>
            <a:r>
              <a:rPr lang="en-US" altLang="zh-CN" sz="2400">
                <a:ea typeface="宋体" pitchFamily="2" charset="-122"/>
              </a:rPr>
              <a:t>  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(3+1)]</a:t>
            </a:r>
            <a:r>
              <a:rPr lang="zh-CN" altLang="en-US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次地址控制字</a:t>
            </a:r>
            <a:r>
              <a:rPr lang="zh-CN" altLang="zh-CN" sz="2400">
                <a:ea typeface="宋体" pitchFamily="2" charset="-122"/>
              </a:rPr>
              <a:t>的只需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2</a:t>
            </a:r>
            <a:r>
              <a:rPr lang="zh-CN" altLang="zh-CN" sz="2400">
                <a:solidFill>
                  <a:srgbClr val="FF0000"/>
                </a:solidFill>
                <a:ea typeface="黑体" pitchFamily="2" charset="-122"/>
              </a:rPr>
              <a:t>位</a:t>
            </a:r>
            <a:r>
              <a:rPr lang="zh-CN" altLang="zh-CN" sz="2400">
                <a:ea typeface="宋体" pitchFamily="2" charset="-122"/>
              </a:rPr>
              <a:t>编码即可。</a:t>
            </a:r>
            <a:r>
              <a:rPr lang="en-US" altLang="zh-CN" sz="2400">
                <a:solidFill>
                  <a:srgbClr val="000000"/>
                </a:solidFill>
                <a:ea typeface="宋体" pitchFamily="2" charset="-122"/>
                <a:sym typeface="Microsoft Yahei" panose="020B0503020204020204" pitchFamily="34" charset="-122"/>
              </a:rPr>
              <a:t>          </a:t>
            </a:r>
            <a:r>
              <a:rPr lang="en-US" altLang="zh-CN" sz="2000">
                <a:solidFill>
                  <a:srgbClr val="000000"/>
                </a:solidFill>
                <a:ea typeface="宋体" pitchFamily="2" charset="-122"/>
                <a:sym typeface="Microsoft Yahe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[log</a:t>
            </a:r>
            <a:r>
              <a:rPr lang="en-US" altLang="zh-CN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2</a:t>
            </a:r>
            <a:r>
              <a:rPr lang="en-US" altLang="zh-CN" sz="24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3]</a:t>
            </a:r>
            <a:r>
              <a:rPr lang="zh-CN" altLang="en-US" sz="2400" baseline="-25000">
                <a:solidFill>
                  <a:srgbClr val="006600"/>
                </a:solidFill>
                <a:ea typeface="宋体" pitchFamily="2" charset="-122"/>
                <a:sym typeface="Microsoft Yahei" panose="020B0503020204020204" pitchFamily="34" charset="-122"/>
              </a:rPr>
              <a:t>向上取整</a:t>
            </a:r>
            <a:endParaRPr lang="zh-CN" altLang="zh-CN" sz="2400">
              <a:ea typeface="宋体" pitchFamily="2" charset="-122"/>
            </a:endParaRPr>
          </a:p>
          <a:p>
            <a:pPr>
              <a:buNone/>
            </a:pPr>
            <a:r>
              <a:rPr lang="zh-CN" altLang="zh-CN" sz="2400">
                <a:solidFill>
                  <a:srgbClr val="0000FF"/>
                </a:solidFill>
                <a:ea typeface="宋体" pitchFamily="2" charset="-122"/>
              </a:rPr>
              <a:t>次地址编码</a:t>
            </a:r>
            <a:r>
              <a:rPr lang="zh-CN" altLang="zh-CN" sz="2400">
                <a:ea typeface="宋体" pitchFamily="2" charset="-122"/>
              </a:rPr>
              <a:t>为</a:t>
            </a:r>
            <a:r>
              <a:rPr lang="zh-CN" altLang="en-US" sz="2400">
                <a:ea typeface="宋体" pitchFamily="2" charset="-122"/>
              </a:rPr>
              <a:t>：</a:t>
            </a:r>
            <a:r>
              <a:rPr lang="en-US" altLang="zh-CN" sz="2400">
                <a:ea typeface="宋体" pitchFamily="2" charset="-122"/>
              </a:rPr>
              <a:t>24</a:t>
            </a:r>
            <a:r>
              <a:rPr lang="zh-CN" altLang="zh-CN" sz="2400">
                <a:ea typeface="宋体" pitchFamily="2" charset="-122"/>
              </a:rPr>
              <a:t>－</a:t>
            </a:r>
            <a:r>
              <a:rPr lang="en-US" altLang="zh-CN" sz="240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>
                <a:ea typeface="宋体" pitchFamily="2" charset="-122"/>
              </a:rPr>
              <a:t>3</a:t>
            </a:r>
            <a:r>
              <a:rPr lang="zh-CN" altLang="zh-CN" sz="2400">
                <a:ea typeface="宋体" pitchFamily="2" charset="-122"/>
              </a:rPr>
              <a:t>＋</a:t>
            </a:r>
            <a:r>
              <a:rPr lang="en-US" altLang="zh-CN" sz="2400">
                <a:ea typeface="宋体" pitchFamily="2" charset="-122"/>
              </a:rPr>
              <a:t>4</a:t>
            </a:r>
            <a:r>
              <a:rPr lang="zh-CN" altLang="zh-CN" sz="2400">
                <a:ea typeface="宋体" pitchFamily="2" charset="-122"/>
              </a:rPr>
              <a:t>＋</a:t>
            </a:r>
            <a:r>
              <a:rPr lang="en-US" altLang="zh-CN" sz="2400">
                <a:ea typeface="宋体" pitchFamily="2" charset="-122"/>
              </a:rPr>
              <a:t>4</a:t>
            </a:r>
            <a:r>
              <a:rPr lang="zh-CN" altLang="zh-CN" sz="2400">
                <a:ea typeface="宋体" pitchFamily="2" charset="-122"/>
              </a:rPr>
              <a:t>＋</a:t>
            </a:r>
            <a:r>
              <a:rPr lang="en-US" altLang="zh-CN" sz="2400">
                <a:ea typeface="宋体" pitchFamily="2" charset="-122"/>
              </a:rPr>
              <a:t>2</a:t>
            </a:r>
            <a:r>
              <a:rPr lang="zh-CN" altLang="zh-CN" sz="2400">
                <a:ea typeface="宋体" pitchFamily="2" charset="-122"/>
              </a:rPr>
              <a:t>＋</a:t>
            </a:r>
            <a:r>
              <a:rPr lang="en-US" altLang="zh-CN" sz="2400">
                <a:ea typeface="宋体" pitchFamily="2" charset="-122"/>
              </a:rPr>
              <a:t>2</a:t>
            </a:r>
            <a:r>
              <a:rPr lang="en-US" altLang="zh-CN" sz="240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zh-CN" sz="2400">
                <a:ea typeface="宋体" pitchFamily="2" charset="-122"/>
              </a:rPr>
              <a:t>＝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9</a:t>
            </a:r>
            <a:r>
              <a:rPr lang="zh-CN" altLang="zh-CN" sz="2400">
                <a:solidFill>
                  <a:srgbClr val="FF0000"/>
                </a:solidFill>
                <a:ea typeface="黑体" pitchFamily="2" charset="-122"/>
              </a:rPr>
              <a:t>位</a:t>
            </a:r>
            <a:endParaRPr lang="zh-CN" altLang="zh-CN" sz="2400">
              <a:solidFill>
                <a:srgbClr val="FF0000"/>
              </a:solidFill>
              <a:ea typeface="黑体" pitchFamily="2" charset="-122"/>
            </a:endParaRPr>
          </a:p>
          <a:p>
            <a:pPr>
              <a:buNone/>
            </a:pPr>
            <a:r>
              <a:rPr lang="zh-CN" altLang="zh-CN" sz="2400">
                <a:ea typeface="宋体" pitchFamily="2" charset="-122"/>
              </a:rPr>
              <a:t>控制存储器的容量为</a:t>
            </a:r>
            <a:r>
              <a:rPr lang="zh-CN" altLang="en-US" sz="2400">
                <a:ea typeface="宋体" pitchFamily="2" charset="-122"/>
              </a:rPr>
              <a:t>：</a:t>
            </a:r>
            <a:r>
              <a:rPr lang="en-US" altLang="zh-CN" sz="2400">
                <a:ea typeface="黑体" pitchFamily="2" charset="-122"/>
              </a:rPr>
              <a:t>2</a:t>
            </a:r>
            <a:r>
              <a:rPr lang="en-US" altLang="zh-CN" sz="2400" baseline="30000">
                <a:ea typeface="黑体" pitchFamily="2" charset="-122"/>
              </a:rPr>
              <a:t>9</a:t>
            </a:r>
            <a:r>
              <a:rPr lang="zh-CN" altLang="zh-CN" sz="2400">
                <a:ea typeface="黑体" pitchFamily="2" charset="-122"/>
              </a:rPr>
              <a:t>×</a:t>
            </a:r>
            <a:r>
              <a:rPr lang="en-US" altLang="zh-CN" sz="2400">
                <a:ea typeface="黑体" pitchFamily="2" charset="-122"/>
              </a:rPr>
              <a:t>24bit</a:t>
            </a:r>
            <a:r>
              <a:rPr lang="zh-CN" altLang="en-US" sz="2400">
                <a:ea typeface="黑体" pitchFamily="2" charset="-122"/>
              </a:rPr>
              <a:t>＝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512</a:t>
            </a:r>
            <a:r>
              <a:rPr lang="zh-CN" altLang="zh-CN" sz="2400">
                <a:solidFill>
                  <a:srgbClr val="FF0000"/>
                </a:solidFill>
                <a:ea typeface="黑体" pitchFamily="2" charset="-122"/>
              </a:rPr>
              <a:t>×</a:t>
            </a:r>
            <a:r>
              <a:rPr lang="en-US" altLang="zh-CN" sz="2400">
                <a:solidFill>
                  <a:srgbClr val="FF0000"/>
                </a:solidFill>
                <a:ea typeface="黑体" pitchFamily="2" charset="-122"/>
              </a:rPr>
              <a:t>24bit</a:t>
            </a:r>
            <a:endParaRPr lang="zh-CN" altLang="zh-CN" sz="240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Group 298"/>
          <p:cNvGraphicFramePr>
            <a:graphicFrameLocks noGrp="1"/>
          </p:cNvGraphicFramePr>
          <p:nvPr/>
        </p:nvGraphicFramePr>
        <p:xfrm>
          <a:off x="1465311" y="2367930"/>
          <a:ext cx="7139137" cy="792480"/>
        </p:xfrm>
        <a:graphic>
          <a:graphicData uri="http://schemas.openxmlformats.org/drawingml/2006/table">
            <a:tbl>
              <a:tblPr/>
              <a:tblGrid>
                <a:gridCol w="936104"/>
                <a:gridCol w="936104"/>
                <a:gridCol w="936104"/>
                <a:gridCol w="936104"/>
                <a:gridCol w="1512168"/>
                <a:gridCol w="1882553"/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控  制  域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次地址控制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地址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字段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字段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字段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字段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AC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楷体" panose="02010609060101010101" pitchFamily="49" charset="-122"/>
                        <a:cs typeface="Times New Roman" panose="0202050305040509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605383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2" charset="-122"/>
              </a:rPr>
              <a:t>3bit</a:t>
            </a:r>
            <a:endParaRPr lang="zh-CN" altLang="en-US" sz="2400" b="0"/>
          </a:p>
        </p:txBody>
      </p:sp>
      <p:sp>
        <p:nvSpPr>
          <p:cNvPr id="7" name="矩形 6"/>
          <p:cNvSpPr/>
          <p:nvPr/>
        </p:nvSpPr>
        <p:spPr>
          <a:xfrm>
            <a:off x="2555776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2" charset="-122"/>
              </a:rPr>
              <a:t>4bit</a:t>
            </a:r>
            <a:endParaRPr lang="zh-CN" altLang="en-US" sz="2400" b="0"/>
          </a:p>
        </p:txBody>
      </p:sp>
      <p:sp>
        <p:nvSpPr>
          <p:cNvPr id="8" name="矩形 7"/>
          <p:cNvSpPr/>
          <p:nvPr/>
        </p:nvSpPr>
        <p:spPr>
          <a:xfrm>
            <a:off x="3506169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2" charset="-122"/>
              </a:rPr>
              <a:t>4bit</a:t>
            </a:r>
            <a:endParaRPr lang="zh-CN" altLang="en-US" sz="2400" b="0"/>
          </a:p>
        </p:txBody>
      </p:sp>
      <p:sp>
        <p:nvSpPr>
          <p:cNvPr id="9" name="矩形 8"/>
          <p:cNvSpPr/>
          <p:nvPr/>
        </p:nvSpPr>
        <p:spPr>
          <a:xfrm>
            <a:off x="4442554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2" charset="-122"/>
              </a:rPr>
              <a:t>2bit</a:t>
            </a:r>
            <a:endParaRPr lang="zh-CN" altLang="en-US" sz="2400" b="0"/>
          </a:p>
        </p:txBody>
      </p:sp>
      <p:sp>
        <p:nvSpPr>
          <p:cNvPr id="10" name="矩形 9"/>
          <p:cNvSpPr/>
          <p:nvPr/>
        </p:nvSpPr>
        <p:spPr>
          <a:xfrm>
            <a:off x="5628292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2" charset="-122"/>
              </a:rPr>
              <a:t>2bit</a:t>
            </a:r>
            <a:endParaRPr lang="zh-CN" altLang="en-US" sz="2400" b="0"/>
          </a:p>
        </p:txBody>
      </p:sp>
      <p:sp>
        <p:nvSpPr>
          <p:cNvPr id="11" name="矩形 10"/>
          <p:cNvSpPr/>
          <p:nvPr/>
        </p:nvSpPr>
        <p:spPr>
          <a:xfrm>
            <a:off x="7298764" y="3111351"/>
            <a:ext cx="662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2" charset="-122"/>
              </a:rPr>
              <a:t>9bit</a:t>
            </a:r>
            <a:endParaRPr lang="zh-CN" altLang="en-US" sz="2400" b="0"/>
          </a:p>
        </p:txBody>
      </p:sp>
      <p:sp>
        <p:nvSpPr>
          <p:cNvPr id="12" name="矩形 11"/>
          <p:cNvSpPr/>
          <p:nvPr/>
        </p:nvSpPr>
        <p:spPr>
          <a:xfrm>
            <a:off x="5150740" y="42891"/>
            <a:ext cx="28969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p267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6.13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1465311" y="2295922"/>
            <a:ext cx="713913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66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5" name="矩形 14"/>
          <p:cNvSpPr/>
          <p:nvPr/>
        </p:nvSpPr>
        <p:spPr>
          <a:xfrm>
            <a:off x="4437509" y="2051323"/>
            <a:ext cx="1273271" cy="461666"/>
          </a:xfrm>
          <a:prstGeom prst="rect">
            <a:avLst/>
          </a:prstGeom>
          <a:solidFill>
            <a:schemeClr val="bg1"/>
          </a:solidFill>
          <a:effectLst>
            <a:softEdge rad="127000"/>
          </a:effectLst>
        </p:spPr>
        <p:txBody>
          <a:bodyPr wrap="square" anchor="ctr" anchorCtr="0">
            <a:noAutofit/>
          </a:bodyPr>
          <a:lstStyle/>
          <a:p>
            <a:r>
              <a:rPr lang="en-US" altLang="zh-CN" sz="2400" b="0">
                <a:solidFill>
                  <a:srgbClr val="FF0000"/>
                </a:solidFill>
                <a:ea typeface="黑体" pitchFamily="2" charset="-122"/>
              </a:rPr>
              <a:t>24bit</a:t>
            </a:r>
            <a:endParaRPr lang="zh-CN" altLang="en-US" sz="2400" b="0"/>
          </a:p>
        </p:txBody>
      </p:sp>
      <p:sp>
        <p:nvSpPr>
          <p:cNvPr id="16" name="文本框 15"/>
          <p:cNvSpPr txBox="1"/>
          <p:nvPr/>
        </p:nvSpPr>
        <p:spPr bwMode="auto">
          <a:xfrm>
            <a:off x="8031516" y="112066"/>
            <a:ext cx="1112484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【例1】</a:t>
            </a:r>
            <a:endParaRPr lang="zh-CN" altLang="en-US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10"/>
            <a:ext cx="8362950" cy="590473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在微程序控制器设计中，若控制器需要处理</a:t>
            </a:r>
            <a:r>
              <a:rPr lang="en-US" altLang="zh-CN" sz="2400" b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100</a:t>
            </a:r>
            <a:r>
              <a:rPr lang="zh-CN" altLang="en-US" sz="2400" b="1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条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，每条指令需要最多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8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条</a:t>
            </a:r>
            <a:r>
              <a:rPr lang="zh-CN" altLang="en-US" sz="2400" b="1">
                <a:solidFill>
                  <a:srgbClr val="CC0099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构成的微程序来实现其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功能；微指令控制域采用水平型字段译码法，控制器需要产生</a:t>
            </a:r>
            <a:r>
              <a:rPr lang="en-US" altLang="zh-CN" sz="240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100</a:t>
            </a:r>
            <a:r>
              <a:rPr lang="zh-CN" altLang="en-US" sz="240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996633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微命令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控制信号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，且被分配为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6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99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相容类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，如下表：</a:t>
            </a:r>
            <a:endParaRPr lang="en-US" altLang="zh-CN" sz="240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（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）确定微指令控制域各字段的位数，使其尽可能短。</a:t>
            </a:r>
            <a:endParaRPr lang="zh-CN" altLang="en-US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如果</a:t>
            </a:r>
            <a:r>
              <a:rPr lang="zh-CN" altLang="en-US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控制存储器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每个</a:t>
            </a:r>
            <a:r>
              <a:rPr lang="zh-CN" altLang="en-US" sz="2400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单元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可以存储一条</a:t>
            </a:r>
            <a:r>
              <a:rPr lang="zh-CN" altLang="en-US" sz="2400">
                <a:solidFill>
                  <a:srgbClr val="D60093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，则</a:t>
            </a:r>
            <a:endParaRPr lang="en-US" altLang="zh-CN" sz="240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          </a:t>
            </a:r>
            <a:r>
              <a:rPr lang="zh-CN" altLang="en-US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控制存储器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至少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单元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</a:t>
            </a:r>
            <a:endParaRPr lang="en-US" altLang="zh-CN" sz="240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          </a:t>
            </a:r>
            <a:r>
              <a:rPr lang="zh-CN" altLang="en-US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控制存储器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99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地址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至少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位；</a:t>
            </a:r>
            <a:endParaRPr lang="en-US" altLang="zh-CN" sz="240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717550" indent="0">
              <a:spcBef>
                <a:spcPts val="1200"/>
              </a:spcBef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若微指令的次地址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(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即下一条微指令的地址</a:t>
            </a:r>
            <a:r>
              <a:rPr lang="en-US" altLang="zh-CN" sz="2400">
                <a:solidFill>
                  <a:srgbClr val="00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仅有</a:t>
            </a:r>
            <a:r>
              <a:rPr lang="zh-CN" altLang="en-US" sz="2400">
                <a:solidFill>
                  <a:srgbClr val="99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顺序地址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和</a:t>
            </a:r>
            <a:r>
              <a:rPr lang="zh-CN" altLang="en-US" sz="2400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无条件跳转地址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两种情况，则</a:t>
            </a:r>
            <a:endParaRPr lang="en-US" altLang="zh-CN" sz="240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717550" indent="0">
              <a:buNone/>
            </a:pPr>
            <a:r>
              <a:rPr lang="zh-CN" altLang="en-US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地址控制字段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AC</a:t>
            </a:r>
            <a:r>
              <a:rPr lang="en-US" altLang="zh-CN" sz="240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需要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位。</a:t>
            </a:r>
            <a:endParaRPr lang="en-US" altLang="zh-CN" sz="240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55549" y="42891"/>
            <a:ext cx="28873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p266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6.12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graphicFrame>
        <p:nvGraphicFramePr>
          <p:cNvPr id="6" name="表格 15"/>
          <p:cNvGraphicFramePr>
            <a:graphicFrameLocks noGrp="1"/>
          </p:cNvGraphicFramePr>
          <p:nvPr/>
        </p:nvGraphicFramePr>
        <p:xfrm>
          <a:off x="1838598" y="2204864"/>
          <a:ext cx="5466804" cy="87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2"/>
                <a:gridCol w="671107"/>
                <a:gridCol w="671107"/>
                <a:gridCol w="671107"/>
                <a:gridCol w="671107"/>
                <a:gridCol w="671107"/>
                <a:gridCol w="67110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类型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3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4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5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996633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微命令</a:t>
                      </a:r>
                      <a:r>
                        <a:rPr lang="zh-CN" altLang="en-US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数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14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29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8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23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11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15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 bwMode="auto">
          <a:xfrm>
            <a:off x="3275856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3976314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4638675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5301036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 bwMode="auto">
          <a:xfrm>
            <a:off x="5963340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 bwMode="auto">
          <a:xfrm>
            <a:off x="6627578" y="2996952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 bwMode="auto">
          <a:xfrm>
            <a:off x="3851920" y="4141586"/>
            <a:ext cx="64633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800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 bwMode="auto">
          <a:xfrm>
            <a:off x="4864968" y="4558651"/>
            <a:ext cx="492443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10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 bwMode="auto">
          <a:xfrm>
            <a:off x="5018857" y="5810398"/>
            <a:ext cx="338554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 bwMode="auto">
          <a:xfrm>
            <a:off x="7912894" y="112066"/>
            <a:ext cx="1231106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【例２】</a:t>
            </a:r>
            <a:endParaRPr lang="zh-CN" altLang="en-US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506150"/>
            <a:ext cx="8784976" cy="5976742"/>
          </a:xfrm>
        </p:spPr>
        <p:txBody>
          <a:bodyPr/>
          <a:lstStyle/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3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）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根据以上设计，如果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的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地址域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采用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单地址格式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则微指令由以下三部分构成：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“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地址控制字段</a:t>
            </a:r>
            <a:r>
              <a:rPr lang="en-US" altLang="zh-CN" sz="2400" b="1">
                <a:solidFill>
                  <a:srgbClr val="008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AC</a:t>
            </a:r>
            <a:r>
              <a:rPr lang="en-US" altLang="zh-CN" sz="2400" b="1">
                <a:solidFill>
                  <a:srgbClr val="008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)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＋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无条件跳转地址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＋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6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个字段的控制域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”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一条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共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位，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控制存储器的容量至少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_________________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字节。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如果</a:t>
            </a:r>
            <a:r>
              <a:rPr lang="zh-CN" altLang="en-US" sz="2400" b="1">
                <a:solidFill>
                  <a:srgbClr val="D60093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微指令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的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地址域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采用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可变格式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，则微指令有以下两种格式：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① 控制微指令，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标识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＝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0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“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标识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＋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6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个字段的控制域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”共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位；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② 转移微指令，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标识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＝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，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“</a:t>
            </a:r>
            <a:r>
              <a:rPr lang="zh-CN" altLang="en-US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标识</a:t>
            </a:r>
            <a:r>
              <a:rPr lang="en-US" altLang="zh-CN" sz="2400" b="1">
                <a:solidFill>
                  <a:srgbClr val="FF66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S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＋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跳转地址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”，共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位。</a:t>
            </a:r>
            <a:endParaRPr lang="en-US" altLang="zh-CN" sz="2400" b="1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控制存储器的容量至少</a:t>
            </a:r>
            <a:r>
              <a:rPr lang="en-US" altLang="zh-CN" sz="240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_________________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字节。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55549" y="42891"/>
            <a:ext cx="28873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p266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latin typeface="+mj-lt"/>
                <a:ea typeface="黑体" pitchFamily="2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latin typeface="+mj-lt"/>
                <a:ea typeface="黑体" pitchFamily="2" charset="-122"/>
              </a:rPr>
              <a:t>6.12</a:t>
            </a:r>
            <a:endParaRPr lang="zh-CN" altLang="en-US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graphicFrame>
        <p:nvGraphicFramePr>
          <p:cNvPr id="6" name="表格 15"/>
          <p:cNvGraphicFramePr>
            <a:graphicFrameLocks noGrp="1"/>
          </p:cNvGraphicFramePr>
          <p:nvPr/>
        </p:nvGraphicFramePr>
        <p:xfrm>
          <a:off x="1632918" y="548619"/>
          <a:ext cx="5466804" cy="87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162"/>
                <a:gridCol w="671107"/>
                <a:gridCol w="671107"/>
                <a:gridCol w="671107"/>
                <a:gridCol w="671107"/>
                <a:gridCol w="671107"/>
                <a:gridCol w="67110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类型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0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3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4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rgbClr val="9900FF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5</a:t>
                      </a:r>
                      <a:endParaRPr lang="zh-CN" altLang="en-US" sz="2400" b="1">
                        <a:solidFill>
                          <a:srgbClr val="9900FF"/>
                        </a:solidFill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996633"/>
                          </a:solidFill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微命令</a:t>
                      </a:r>
                      <a:r>
                        <a:rPr lang="zh-CN" altLang="en-US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数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14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29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8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23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11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15</a:t>
                      </a:r>
                      <a:endParaRPr lang="zh-CN" altLang="en-US" sz="2400" b="1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 bwMode="auto">
          <a:xfrm>
            <a:off x="3070176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 bwMode="auto">
          <a:xfrm>
            <a:off x="3770634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4432995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5095356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5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 bwMode="auto">
          <a:xfrm>
            <a:off x="5757660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 bwMode="auto">
          <a:xfrm>
            <a:off x="6421898" y="1340707"/>
            <a:ext cx="66236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4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 bwMode="auto">
          <a:xfrm>
            <a:off x="2085256" y="2306442"/>
            <a:ext cx="739305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 bwMode="auto">
          <a:xfrm>
            <a:off x="4192951" y="2247800"/>
            <a:ext cx="893193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10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 bwMode="auto">
          <a:xfrm>
            <a:off x="6727520" y="2247800"/>
            <a:ext cx="893193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26 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bit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 bwMode="auto">
          <a:xfrm>
            <a:off x="2627784" y="2922194"/>
            <a:ext cx="492444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37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 bwMode="auto">
          <a:xfrm>
            <a:off x="3378226" y="3314540"/>
            <a:ext cx="2658100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800×37 </a:t>
            </a:r>
            <a:r>
              <a:rPr lang="en-US" altLang="zh-CN" sz="2400">
                <a:solidFill>
                  <a:srgbClr val="FF0000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/ 8 </a:t>
            </a:r>
            <a:r>
              <a:rPr lang="zh-CN" altLang="en-US" sz="2400">
                <a:solidFill>
                  <a:srgbClr val="FF0000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＝</a:t>
            </a:r>
            <a:r>
              <a:rPr lang="en-US" altLang="zh-CN" sz="2400">
                <a:solidFill>
                  <a:srgbClr val="FF0000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3700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 bwMode="auto">
          <a:xfrm>
            <a:off x="5104276" y="4721405"/>
            <a:ext cx="492444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27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 bwMode="auto">
          <a:xfrm>
            <a:off x="4346177" y="5537868"/>
            <a:ext cx="475451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11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3368220" y="5943118"/>
            <a:ext cx="2658100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Microsoft Yahei" panose="020B0503020204020204" pitchFamily="34" charset="-122"/>
              </a:rPr>
              <a:t>800×27 </a:t>
            </a:r>
            <a:r>
              <a:rPr lang="en-US" altLang="zh-CN" sz="2400">
                <a:solidFill>
                  <a:srgbClr val="FF0000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/ 8 </a:t>
            </a:r>
            <a:r>
              <a:rPr lang="zh-CN" altLang="en-US" sz="2400">
                <a:solidFill>
                  <a:srgbClr val="FF0000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＝</a:t>
            </a:r>
            <a:r>
              <a:rPr lang="en-US" altLang="zh-CN" sz="2400">
                <a:solidFill>
                  <a:srgbClr val="FF0000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2700</a:t>
            </a:r>
            <a:endParaRPr lang="zh-CN" altLang="en-US" sz="2400" i="1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 bwMode="auto">
          <a:xfrm>
            <a:off x="1643619" y="6315167"/>
            <a:ext cx="6519735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CC0099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最大可以寻址</a:t>
            </a:r>
            <a:r>
              <a:rPr lang="en-US" altLang="zh-CN" sz="2400">
                <a:solidFill>
                  <a:srgbClr val="CC0099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2</a:t>
            </a:r>
            <a:r>
              <a:rPr lang="en-US" altLang="zh-CN" sz="2400" baseline="30000">
                <a:solidFill>
                  <a:srgbClr val="CC0099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26</a:t>
            </a:r>
            <a:r>
              <a:rPr lang="zh-CN" altLang="en-US" sz="2400">
                <a:solidFill>
                  <a:srgbClr val="CC0099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个单元，最大容量</a:t>
            </a:r>
            <a:r>
              <a:rPr lang="en-US" altLang="zh-CN" sz="2400">
                <a:solidFill>
                  <a:srgbClr val="CC0099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2</a:t>
            </a:r>
            <a:r>
              <a:rPr lang="en-US" altLang="zh-CN" sz="2400" baseline="30000">
                <a:solidFill>
                  <a:srgbClr val="CC0099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26</a:t>
            </a:r>
            <a:r>
              <a:rPr lang="en-US" altLang="zh-CN" sz="2400">
                <a:solidFill>
                  <a:srgbClr val="CC0099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×27bit</a:t>
            </a:r>
            <a:r>
              <a:rPr lang="zh-CN" altLang="en-US" sz="2400">
                <a:solidFill>
                  <a:srgbClr val="CC0099"/>
                </a:solidFill>
                <a:cs typeface="Times New Roman" panose="02020503050405090304" pitchFamily="18" charset="0"/>
                <a:sym typeface="Microsoft Yahei" panose="020B0503020204020204" pitchFamily="34" charset="-122"/>
              </a:rPr>
              <a:t>。</a:t>
            </a:r>
            <a:endParaRPr lang="zh-CN" altLang="en-US" sz="2400" i="1">
              <a:solidFill>
                <a:srgbClr val="CC0099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 bwMode="auto">
          <a:xfrm>
            <a:off x="7912894" y="112066"/>
            <a:ext cx="1231106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【例２】</a:t>
            </a:r>
            <a:endParaRPr lang="zh-CN" altLang="en-US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根据给定的</a:t>
            </a:r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数据通路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，写某指令的</a:t>
            </a:r>
            <a:r>
              <a:rPr lang="zh-CN" altLang="en-US" sz="240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微操作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>
                <a:solidFill>
                  <a:srgbClr val="FF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微命令</a:t>
            </a:r>
            <a:r>
              <a:rPr lang="zh-CN" altLang="en-US" sz="24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</a:t>
            </a:r>
            <a:endParaRPr lang="zh-CN" altLang="en-US" sz="24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Box 8"/>
          <p:cNvSpPr txBox="1">
            <a:spLocks noChangeAspect="1" noChangeArrowheads="1"/>
          </p:cNvSpPr>
          <p:nvPr/>
        </p:nvSpPr>
        <p:spPr bwMode="auto">
          <a:xfrm>
            <a:off x="755576" y="6381328"/>
            <a:ext cx="612068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图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6.3  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单总线数据通路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CPU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</a:rPr>
              <a:t>内部结构图</a:t>
            </a:r>
            <a:endParaRPr kumimoji="0" lang="zh-CN" altLang="en-US" sz="4800" i="0" u="none" strike="noStrike" kern="0" cap="none" spc="0" normalizeH="0" baseline="0" noProof="0">
              <a:ln>
                <a:noFill/>
              </a:ln>
              <a:solidFill>
                <a:srgbClr val="00007D"/>
              </a:solidFill>
              <a:effectLst/>
              <a:uLnTx/>
              <a:uFillTx/>
            </a:endParaRPr>
          </a:p>
        </p:txBody>
      </p:sp>
      <p:sp>
        <p:nvSpPr>
          <p:cNvPr id="8" name="Text Box 29"/>
          <p:cNvSpPr txBox="1">
            <a:spLocks noChangeAspect="1" noChangeArrowheads="1"/>
          </p:cNvSpPr>
          <p:nvPr/>
        </p:nvSpPr>
        <p:spPr bwMode="auto">
          <a:xfrm>
            <a:off x="1043608" y="620688"/>
            <a:ext cx="5544616" cy="5688632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  <a:miter lim="800000"/>
          </a:ln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CPU</a:t>
            </a:r>
            <a:endParaRPr kumimoji="0" lang="en-US" altLang="zh-CN" sz="480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9" name="Text Box 6"/>
          <p:cNvSpPr txBox="1">
            <a:spLocks noChangeAspect="1" noChangeArrowheads="1"/>
          </p:cNvSpPr>
          <p:nvPr/>
        </p:nvSpPr>
        <p:spPr bwMode="auto">
          <a:xfrm>
            <a:off x="2951960" y="5156371"/>
            <a:ext cx="1394613" cy="2769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0" tIns="0" rIns="0" bIns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内部控制信号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10" name="Text Box 11"/>
          <p:cNvSpPr txBox="1">
            <a:spLocks noChangeAspect="1" noChangeArrowheads="1"/>
          </p:cNvSpPr>
          <p:nvPr/>
        </p:nvSpPr>
        <p:spPr bwMode="auto">
          <a:xfrm>
            <a:off x="4631929" y="692696"/>
            <a:ext cx="1858963" cy="42041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</a:ln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寄存器组</a:t>
            </a:r>
            <a:endParaRPr kumimoji="0" lang="zh-CN" altLang="en-US" sz="440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11" name="Text Box 12"/>
          <p:cNvSpPr txBox="1">
            <a:spLocks noChangeAspect="1" noChangeArrowheads="1"/>
          </p:cNvSpPr>
          <p:nvPr/>
        </p:nvSpPr>
        <p:spPr bwMode="auto">
          <a:xfrm>
            <a:off x="4817825" y="1162698"/>
            <a:ext cx="1487170" cy="322086"/>
          </a:xfrm>
          <a:prstGeom prst="rect">
            <a:avLst/>
          </a:prstGeom>
          <a:solidFill>
            <a:srgbClr val="FFCCFF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R0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 Box 13"/>
          <p:cNvSpPr txBox="1">
            <a:spLocks noChangeAspect="1" noChangeArrowheads="1"/>
          </p:cNvSpPr>
          <p:nvPr/>
        </p:nvSpPr>
        <p:spPr bwMode="auto">
          <a:xfrm>
            <a:off x="4817825" y="1998067"/>
            <a:ext cx="1487170" cy="322086"/>
          </a:xfrm>
          <a:prstGeom prst="rect">
            <a:avLst/>
          </a:prstGeom>
          <a:solidFill>
            <a:srgbClr val="FFCCFF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Rn-1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Text Box 14"/>
          <p:cNvSpPr txBox="1">
            <a:spLocks noChangeAspect="1" noChangeArrowheads="1"/>
          </p:cNvSpPr>
          <p:nvPr/>
        </p:nvSpPr>
        <p:spPr bwMode="auto">
          <a:xfrm>
            <a:off x="4817825" y="2481196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SP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Text Box 15"/>
          <p:cNvSpPr txBox="1">
            <a:spLocks noChangeAspect="1" noChangeArrowheads="1"/>
          </p:cNvSpPr>
          <p:nvPr/>
        </p:nvSpPr>
        <p:spPr bwMode="auto">
          <a:xfrm>
            <a:off x="4817825" y="2964326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(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)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</a:t>
            </a:r>
            <a:endParaRPr kumimoji="0" lang="en-US" altLang="zh-CN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Text Box 16"/>
          <p:cNvSpPr txBox="1">
            <a:spLocks noChangeAspect="1" noChangeArrowheads="1"/>
          </p:cNvSpPr>
          <p:nvPr/>
        </p:nvSpPr>
        <p:spPr bwMode="auto">
          <a:xfrm>
            <a:off x="4817825" y="3447455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(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</a:rPr>
              <a:t>)</a:t>
            </a: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</a:t>
            </a:r>
            <a:endParaRPr kumimoji="0" lang="en-US" altLang="zh-CN" sz="4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Text Box 17"/>
          <p:cNvSpPr txBox="1">
            <a:spLocks noChangeAspect="1" noChangeArrowheads="1"/>
          </p:cNvSpPr>
          <p:nvPr/>
        </p:nvSpPr>
        <p:spPr bwMode="auto">
          <a:xfrm>
            <a:off x="4817825" y="3930584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PC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Text Box 18"/>
          <p:cNvSpPr txBox="1">
            <a:spLocks noChangeAspect="1" noChangeArrowheads="1"/>
          </p:cNvSpPr>
          <p:nvPr/>
        </p:nvSpPr>
        <p:spPr bwMode="auto">
          <a:xfrm>
            <a:off x="4817825" y="4413713"/>
            <a:ext cx="1487170" cy="322086"/>
          </a:xfrm>
          <a:prstGeom prst="rect">
            <a:avLst/>
          </a:prstGeom>
          <a:solidFill>
            <a:srgbClr val="FFCC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IR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Line 19"/>
          <p:cNvSpPr>
            <a:spLocks noChangeAspect="1" noChangeShapeType="1"/>
          </p:cNvSpPr>
          <p:nvPr/>
        </p:nvSpPr>
        <p:spPr bwMode="auto">
          <a:xfrm>
            <a:off x="5561411" y="1594746"/>
            <a:ext cx="0" cy="322086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Line 22"/>
          <p:cNvSpPr>
            <a:spLocks noChangeAspect="1" noChangeShapeType="1"/>
          </p:cNvSpPr>
          <p:nvPr/>
        </p:nvSpPr>
        <p:spPr bwMode="auto">
          <a:xfrm flipH="1">
            <a:off x="4074716" y="1323816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Line 23"/>
          <p:cNvSpPr>
            <a:spLocks noChangeAspect="1" noChangeShapeType="1"/>
          </p:cNvSpPr>
          <p:nvPr/>
        </p:nvSpPr>
        <p:spPr bwMode="auto">
          <a:xfrm flipH="1">
            <a:off x="4074716" y="2159297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Line 24"/>
          <p:cNvSpPr>
            <a:spLocks noChangeAspect="1" noChangeShapeType="1"/>
          </p:cNvSpPr>
          <p:nvPr/>
        </p:nvSpPr>
        <p:spPr bwMode="auto">
          <a:xfrm flipH="1">
            <a:off x="4074716" y="2642483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" name="Line 25"/>
          <p:cNvSpPr>
            <a:spLocks noChangeAspect="1" noChangeShapeType="1"/>
          </p:cNvSpPr>
          <p:nvPr/>
        </p:nvSpPr>
        <p:spPr bwMode="auto">
          <a:xfrm flipH="1">
            <a:off x="4074716" y="3125668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Line 26"/>
          <p:cNvSpPr>
            <a:spLocks noChangeAspect="1" noChangeShapeType="1"/>
          </p:cNvSpPr>
          <p:nvPr/>
        </p:nvSpPr>
        <p:spPr bwMode="auto">
          <a:xfrm flipH="1">
            <a:off x="4074716" y="4092038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" name="Line 27"/>
          <p:cNvSpPr>
            <a:spLocks noChangeAspect="1" noChangeShapeType="1"/>
          </p:cNvSpPr>
          <p:nvPr/>
        </p:nvSpPr>
        <p:spPr bwMode="auto">
          <a:xfrm flipH="1">
            <a:off x="4074716" y="3608853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Text Box 29"/>
          <p:cNvSpPr txBox="1">
            <a:spLocks noChangeAspect="1" noChangeArrowheads="1"/>
          </p:cNvSpPr>
          <p:nvPr/>
        </p:nvSpPr>
        <p:spPr bwMode="auto">
          <a:xfrm>
            <a:off x="1115616" y="1412776"/>
            <a:ext cx="2216789" cy="352839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</a:ln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ALU</a:t>
            </a:r>
            <a:endParaRPr kumimoji="0" lang="en-US" altLang="zh-CN" sz="440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26" name="Text Box 30"/>
          <p:cNvSpPr txBox="1">
            <a:spLocks noChangeAspect="1" noChangeArrowheads="1"/>
          </p:cNvSpPr>
          <p:nvPr/>
        </p:nvSpPr>
        <p:spPr bwMode="auto">
          <a:xfrm>
            <a:off x="1659746" y="1954739"/>
            <a:ext cx="1486807" cy="322133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PSW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" name="Text Box 33"/>
          <p:cNvSpPr txBox="1">
            <a:spLocks noChangeAspect="1" noChangeArrowheads="1"/>
          </p:cNvSpPr>
          <p:nvPr/>
        </p:nvSpPr>
        <p:spPr bwMode="auto">
          <a:xfrm>
            <a:off x="1673169" y="3442243"/>
            <a:ext cx="1486807" cy="644265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96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算术、布尔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96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逻辑</a:t>
            </a:r>
            <a:endParaRPr kumimoji="0" lang="zh-CN" altLang="en-US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Line 34"/>
          <p:cNvSpPr>
            <a:spLocks noChangeAspect="1" noChangeShapeType="1"/>
          </p:cNvSpPr>
          <p:nvPr/>
        </p:nvSpPr>
        <p:spPr bwMode="auto">
          <a:xfrm flipV="1">
            <a:off x="1301467" y="2154007"/>
            <a:ext cx="371702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9" name="Line 35"/>
          <p:cNvSpPr>
            <a:spLocks noChangeAspect="1" noChangeShapeType="1"/>
          </p:cNvSpPr>
          <p:nvPr/>
        </p:nvSpPr>
        <p:spPr bwMode="auto">
          <a:xfrm>
            <a:off x="2788274" y="3120111"/>
            <a:ext cx="929255" cy="0"/>
          </a:xfrm>
          <a:prstGeom prst="line">
            <a:avLst/>
          </a:prstGeom>
          <a:noFill/>
          <a:ln w="38100" cap="rnd">
            <a:solidFill>
              <a:srgbClr val="0000FF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Line 36"/>
          <p:cNvSpPr>
            <a:spLocks noChangeAspect="1" noChangeShapeType="1"/>
          </p:cNvSpPr>
          <p:nvPr/>
        </p:nvSpPr>
        <p:spPr bwMode="auto">
          <a:xfrm flipH="1">
            <a:off x="3146554" y="2115805"/>
            <a:ext cx="55445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39"/>
          <p:cNvSpPr>
            <a:spLocks noChangeAspect="1" noChangeShapeType="1"/>
          </p:cNvSpPr>
          <p:nvPr/>
        </p:nvSpPr>
        <p:spPr bwMode="auto">
          <a:xfrm flipH="1">
            <a:off x="3159976" y="4569707"/>
            <a:ext cx="55755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2" name="Text Box 40"/>
          <p:cNvSpPr txBox="1">
            <a:spLocks noChangeAspect="1" noChangeArrowheads="1"/>
          </p:cNvSpPr>
          <p:nvPr/>
        </p:nvSpPr>
        <p:spPr bwMode="auto">
          <a:xfrm>
            <a:off x="1673169" y="2636912"/>
            <a:ext cx="1486807" cy="322133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暂存器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Text Box 41"/>
          <p:cNvSpPr txBox="1">
            <a:spLocks noChangeAspect="1" noChangeArrowheads="1"/>
          </p:cNvSpPr>
          <p:nvPr/>
        </p:nvSpPr>
        <p:spPr bwMode="auto">
          <a:xfrm>
            <a:off x="1673169" y="4408641"/>
            <a:ext cx="1486807" cy="322133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暂存器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Z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Line 42"/>
          <p:cNvSpPr>
            <a:spLocks noChangeAspect="1" noChangeShapeType="1"/>
          </p:cNvSpPr>
          <p:nvPr/>
        </p:nvSpPr>
        <p:spPr bwMode="auto">
          <a:xfrm>
            <a:off x="3159976" y="2797978"/>
            <a:ext cx="55755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Line 43"/>
          <p:cNvSpPr>
            <a:spLocks noChangeAspect="1" noChangeShapeType="1"/>
          </p:cNvSpPr>
          <p:nvPr/>
        </p:nvSpPr>
        <p:spPr bwMode="auto">
          <a:xfrm rot="5400000" flipH="1">
            <a:off x="1803271" y="3200644"/>
            <a:ext cx="483199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" name="Line 44"/>
          <p:cNvSpPr>
            <a:spLocks noChangeAspect="1" noChangeShapeType="1"/>
          </p:cNvSpPr>
          <p:nvPr/>
        </p:nvSpPr>
        <p:spPr bwMode="auto">
          <a:xfrm rot="5400000" flipH="1">
            <a:off x="2255506" y="4247575"/>
            <a:ext cx="32213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Line 45"/>
          <p:cNvSpPr>
            <a:spLocks noChangeAspect="1" noChangeShapeType="1"/>
          </p:cNvSpPr>
          <p:nvPr/>
        </p:nvSpPr>
        <p:spPr bwMode="auto">
          <a:xfrm rot="5400000" flipH="1">
            <a:off x="2627208" y="3281177"/>
            <a:ext cx="322133" cy="0"/>
          </a:xfrm>
          <a:prstGeom prst="line">
            <a:avLst/>
          </a:prstGeom>
          <a:noFill/>
          <a:ln w="38100" cap="rnd">
            <a:solidFill>
              <a:srgbClr val="0000FF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8" name="Line 46"/>
          <p:cNvSpPr>
            <a:spLocks noChangeAspect="1" noChangeShapeType="1"/>
          </p:cNvSpPr>
          <p:nvPr/>
        </p:nvSpPr>
        <p:spPr bwMode="auto">
          <a:xfrm>
            <a:off x="1301467" y="2132855"/>
            <a:ext cx="0" cy="199688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9" name="Text Box 52"/>
          <p:cNvSpPr txBox="1">
            <a:spLocks noChangeAspect="1" noChangeArrowheads="1"/>
          </p:cNvSpPr>
          <p:nvPr/>
        </p:nvSpPr>
        <p:spPr bwMode="auto">
          <a:xfrm>
            <a:off x="6648797" y="3322762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0" name="Text Box 53"/>
          <p:cNvSpPr txBox="1">
            <a:spLocks noChangeAspect="1" noChangeArrowheads="1"/>
          </p:cNvSpPr>
          <p:nvPr/>
        </p:nvSpPr>
        <p:spPr bwMode="auto">
          <a:xfrm>
            <a:off x="6648797" y="5483002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Text Box 54"/>
          <p:cNvSpPr txBox="1">
            <a:spLocks noChangeAspect="1" noChangeArrowheads="1"/>
          </p:cNvSpPr>
          <p:nvPr/>
        </p:nvSpPr>
        <p:spPr bwMode="auto">
          <a:xfrm>
            <a:off x="6648797" y="2852936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2" name="Line 56"/>
          <p:cNvSpPr>
            <a:spLocks noChangeAspect="1" noChangeShapeType="1"/>
          </p:cNvSpPr>
          <p:nvPr/>
        </p:nvSpPr>
        <p:spPr bwMode="auto">
          <a:xfrm rot="16200000" flipH="1">
            <a:off x="2148765" y="5192786"/>
            <a:ext cx="503235" cy="0"/>
          </a:xfrm>
          <a:prstGeom prst="line">
            <a:avLst/>
          </a:prstGeom>
          <a:noFill/>
          <a:ln w="50800">
            <a:solidFill>
              <a:srgbClr val="FF0066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3" name="Line 58"/>
          <p:cNvSpPr>
            <a:spLocks noChangeAspect="1" noChangeShapeType="1"/>
          </p:cNvSpPr>
          <p:nvPr/>
        </p:nvSpPr>
        <p:spPr bwMode="auto">
          <a:xfrm flipH="1" flipV="1">
            <a:off x="2371474" y="5444403"/>
            <a:ext cx="2467584" cy="0"/>
          </a:xfrm>
          <a:prstGeom prst="line">
            <a:avLst/>
          </a:prstGeom>
          <a:noFill/>
          <a:ln w="50800">
            <a:solidFill>
              <a:srgbClr val="FF0066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4" name="Line 59"/>
          <p:cNvSpPr>
            <a:spLocks noChangeAspect="1" noChangeShapeType="1"/>
          </p:cNvSpPr>
          <p:nvPr/>
        </p:nvSpPr>
        <p:spPr bwMode="auto">
          <a:xfrm rot="5400000" flipH="1">
            <a:off x="5285507" y="5013060"/>
            <a:ext cx="576295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5" name="Line 61"/>
          <p:cNvSpPr>
            <a:spLocks noChangeAspect="1" noChangeShapeType="1"/>
          </p:cNvSpPr>
          <p:nvPr/>
        </p:nvSpPr>
        <p:spPr bwMode="auto">
          <a:xfrm flipH="1" flipV="1">
            <a:off x="4417813" y="5182429"/>
            <a:ext cx="974277" cy="0"/>
          </a:xfrm>
          <a:prstGeom prst="line">
            <a:avLst/>
          </a:prstGeom>
          <a:noFill/>
          <a:ln w="50800">
            <a:solidFill>
              <a:srgbClr val="FF0066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6" name="Line 62"/>
          <p:cNvSpPr>
            <a:spLocks noChangeAspect="1" noChangeShapeType="1"/>
          </p:cNvSpPr>
          <p:nvPr/>
        </p:nvSpPr>
        <p:spPr bwMode="auto">
          <a:xfrm rot="16200000" flipH="1" flipV="1">
            <a:off x="4294339" y="5300799"/>
            <a:ext cx="287214" cy="0"/>
          </a:xfrm>
          <a:prstGeom prst="line">
            <a:avLst/>
          </a:prstGeom>
          <a:noFill/>
          <a:ln w="50800">
            <a:solidFill>
              <a:srgbClr val="FF0066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7" name="Line 63"/>
          <p:cNvSpPr>
            <a:spLocks noChangeAspect="1" noChangeShapeType="1"/>
          </p:cNvSpPr>
          <p:nvPr/>
        </p:nvSpPr>
        <p:spPr bwMode="auto">
          <a:xfrm rot="16200000">
            <a:off x="521236" y="4883222"/>
            <a:ext cx="1556052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8" name="Line 64"/>
          <p:cNvSpPr>
            <a:spLocks noChangeAspect="1" noChangeShapeType="1"/>
          </p:cNvSpPr>
          <p:nvPr/>
        </p:nvSpPr>
        <p:spPr bwMode="auto">
          <a:xfrm rot="10800000" flipV="1">
            <a:off x="1279129" y="5661248"/>
            <a:ext cx="3541345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9" name="Text Box 57"/>
          <p:cNvSpPr txBox="1">
            <a:spLocks noChangeAspect="1" noChangeArrowheads="1"/>
          </p:cNvSpPr>
          <p:nvPr/>
        </p:nvSpPr>
        <p:spPr bwMode="auto">
          <a:xfrm>
            <a:off x="4818409" y="5301209"/>
            <a:ext cx="1486745" cy="864096"/>
          </a:xfrm>
          <a:prstGeom prst="rect">
            <a:avLst/>
          </a:prstGeom>
          <a:solidFill>
            <a:srgbClr val="CCFF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控制器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0" name="Line 65"/>
          <p:cNvSpPr>
            <a:spLocks noChangeAspect="1" noChangeShapeType="1"/>
          </p:cNvSpPr>
          <p:nvPr/>
        </p:nvSpPr>
        <p:spPr bwMode="auto">
          <a:xfrm>
            <a:off x="4089004" y="4577755"/>
            <a:ext cx="7429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Line 47"/>
          <p:cNvSpPr>
            <a:spLocks noChangeAspect="1" noChangeShapeType="1"/>
          </p:cNvSpPr>
          <p:nvPr/>
        </p:nvSpPr>
        <p:spPr bwMode="auto">
          <a:xfrm flipH="1">
            <a:off x="1301467" y="3764376"/>
            <a:ext cx="54239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2" name="等腰三角形 51"/>
          <p:cNvSpPr/>
          <p:nvPr/>
        </p:nvSpPr>
        <p:spPr bwMode="auto">
          <a:xfrm flipV="1">
            <a:off x="2209407" y="3304319"/>
            <a:ext cx="402546" cy="360040"/>
          </a:xfrm>
          <a:prstGeom prst="triangl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3" name="直角三角形 52"/>
          <p:cNvSpPr/>
          <p:nvPr/>
        </p:nvSpPr>
        <p:spPr bwMode="auto">
          <a:xfrm>
            <a:off x="1666715" y="3443316"/>
            <a:ext cx="360040" cy="643038"/>
          </a:xfrm>
          <a:prstGeom prst="rtTriangl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4" name="直角三角形 53"/>
          <p:cNvSpPr/>
          <p:nvPr/>
        </p:nvSpPr>
        <p:spPr bwMode="auto">
          <a:xfrm flipH="1">
            <a:off x="2800553" y="3450630"/>
            <a:ext cx="360040" cy="635723"/>
          </a:xfrm>
          <a:prstGeom prst="rtTriangle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5" name="直角三角形 54"/>
          <p:cNvSpPr>
            <a:spLocks noChangeAspect="1"/>
          </p:cNvSpPr>
          <p:nvPr/>
        </p:nvSpPr>
        <p:spPr bwMode="auto">
          <a:xfrm>
            <a:off x="1624404" y="3384483"/>
            <a:ext cx="415898" cy="742802"/>
          </a:xfrm>
          <a:prstGeom prst="rtTriangle">
            <a:avLst/>
          </a:prstGeom>
          <a:solidFill>
            <a:srgbClr val="FFFF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6" name="矩形 55"/>
          <p:cNvSpPr/>
          <p:nvPr/>
        </p:nvSpPr>
        <p:spPr bwMode="auto">
          <a:xfrm>
            <a:off x="2169387" y="3253124"/>
            <a:ext cx="486461" cy="182880"/>
          </a:xfrm>
          <a:prstGeom prst="rect">
            <a:avLst/>
          </a:prstGeom>
          <a:solidFill>
            <a:srgbClr val="FFFF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7" name="直角三角形 56"/>
          <p:cNvSpPr>
            <a:spLocks noChangeAspect="1"/>
          </p:cNvSpPr>
          <p:nvPr/>
        </p:nvSpPr>
        <p:spPr bwMode="auto">
          <a:xfrm flipH="1">
            <a:off x="2794812" y="3380820"/>
            <a:ext cx="415898" cy="742802"/>
          </a:xfrm>
          <a:prstGeom prst="rtTriangle">
            <a:avLst/>
          </a:prstGeom>
          <a:solidFill>
            <a:srgbClr val="FFFF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58" name="直接连接符 57"/>
          <p:cNvCxnSpPr/>
          <p:nvPr/>
        </p:nvCxnSpPr>
        <p:spPr bwMode="auto">
          <a:xfrm>
            <a:off x="1291568" y="3765185"/>
            <a:ext cx="555949" cy="0"/>
          </a:xfrm>
          <a:prstGeom prst="line">
            <a:avLst/>
          </a:prstGeom>
          <a:solidFill>
            <a:srgbClr val="FFFFFF"/>
          </a:solidFill>
          <a:ln w="381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59" name="直接箭头连接符 58"/>
          <p:cNvCxnSpPr/>
          <p:nvPr/>
        </p:nvCxnSpPr>
        <p:spPr bwMode="auto">
          <a:xfrm rot="5400000">
            <a:off x="5214236" y="5050101"/>
            <a:ext cx="308333" cy="1588"/>
          </a:xfrm>
          <a:prstGeom prst="straightConnector1">
            <a:avLst/>
          </a:prstGeom>
          <a:noFill/>
          <a:ln w="50800">
            <a:solidFill>
              <a:srgbClr val="FF0066"/>
            </a:solidFill>
            <a:round/>
            <a:headEnd type="triangle" w="med" len="med"/>
          </a:ln>
        </p:spPr>
      </p:cxnSp>
      <p:sp>
        <p:nvSpPr>
          <p:cNvPr id="60" name="Text Box 41"/>
          <p:cNvSpPr txBox="1">
            <a:spLocks noChangeAspect="1" noChangeArrowheads="1"/>
          </p:cNvSpPr>
          <p:nvPr/>
        </p:nvSpPr>
        <p:spPr bwMode="auto">
          <a:xfrm>
            <a:off x="251520" y="5842795"/>
            <a:ext cx="576064" cy="322133"/>
          </a:xfrm>
          <a:prstGeom prst="rect">
            <a:avLst/>
          </a:prstGeom>
          <a:solidFill>
            <a:srgbClr val="CC99FF"/>
          </a:solidFill>
          <a:ln w="19050">
            <a:solidFill>
              <a:srgbClr val="000000"/>
            </a:solidFill>
            <a:prstDash val="solid"/>
            <a:miter lim="800000"/>
          </a:ln>
        </p:spPr>
        <p:txBody>
          <a:bodyPr wrap="none"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时钟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Text Box 41"/>
          <p:cNvSpPr txBox="1">
            <a:spLocks noChangeAspect="1" noChangeArrowheads="1"/>
          </p:cNvSpPr>
          <p:nvPr/>
        </p:nvSpPr>
        <p:spPr bwMode="auto">
          <a:xfrm>
            <a:off x="3110533" y="5805265"/>
            <a:ext cx="1296144" cy="394116"/>
          </a:xfrm>
          <a:prstGeom prst="rect">
            <a:avLst/>
          </a:prstGeom>
          <a:solidFill>
            <a:srgbClr val="CC99FF"/>
          </a:solidFill>
          <a:ln w="19050">
            <a:solidFill>
              <a:srgbClr val="000000"/>
            </a:solidFill>
            <a:miter lim="800000"/>
          </a:ln>
        </p:spPr>
        <p:txBody>
          <a:bodyPr wrap="none"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时序产生器</a:t>
            </a:r>
            <a:endParaRPr kumimoji="0" lang="en-US" altLang="zh-CN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62" name="直接箭头连接符 61"/>
          <p:cNvCxnSpPr/>
          <p:nvPr/>
        </p:nvCxnSpPr>
        <p:spPr bwMode="auto">
          <a:xfrm>
            <a:off x="827584" y="6000927"/>
            <a:ext cx="2282949" cy="0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63" name="Line 39"/>
          <p:cNvSpPr>
            <a:spLocks noChangeAspect="1" noChangeShapeType="1"/>
          </p:cNvSpPr>
          <p:nvPr/>
        </p:nvSpPr>
        <p:spPr bwMode="auto">
          <a:xfrm flipH="1">
            <a:off x="4406677" y="5999364"/>
            <a:ext cx="413536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4" name="上下箭头 76"/>
          <p:cNvSpPr/>
          <p:nvPr/>
        </p:nvSpPr>
        <p:spPr bwMode="auto">
          <a:xfrm>
            <a:off x="7020272" y="2788024"/>
            <a:ext cx="288032" cy="3325905"/>
          </a:xfrm>
          <a:prstGeom prst="upDownArrow">
            <a:avLst>
              <a:gd name="adj1" fmla="val 50000"/>
              <a:gd name="adj2" fmla="val 76144"/>
            </a:avLst>
          </a:prstGeom>
          <a:solidFill>
            <a:srgbClr val="FF660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5" name="TextBox 77"/>
          <p:cNvSpPr txBox="1"/>
          <p:nvPr/>
        </p:nvSpPr>
        <p:spPr>
          <a:xfrm>
            <a:off x="6732240" y="3905761"/>
            <a:ext cx="432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系统总线</a:t>
            </a: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</a:endParaRPr>
          </a:p>
        </p:txBody>
      </p:sp>
      <p:sp>
        <p:nvSpPr>
          <p:cNvPr id="66" name="Line 49"/>
          <p:cNvSpPr>
            <a:spLocks noChangeAspect="1" noChangeShapeType="1"/>
          </p:cNvSpPr>
          <p:nvPr/>
        </p:nvSpPr>
        <p:spPr bwMode="auto">
          <a:xfrm>
            <a:off x="7227331" y="4100965"/>
            <a:ext cx="576064" cy="0"/>
          </a:xfrm>
          <a:prstGeom prst="line">
            <a:avLst/>
          </a:prstGeom>
          <a:noFill/>
          <a:ln w="41275">
            <a:solidFill>
              <a:srgbClr val="9999FF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7" name="Line 50"/>
          <p:cNvSpPr>
            <a:spLocks noChangeAspect="1" noChangeShapeType="1"/>
          </p:cNvSpPr>
          <p:nvPr/>
        </p:nvSpPr>
        <p:spPr bwMode="auto">
          <a:xfrm>
            <a:off x="7227331" y="4391999"/>
            <a:ext cx="576064" cy="0"/>
          </a:xfrm>
          <a:prstGeom prst="line">
            <a:avLst/>
          </a:prstGeom>
          <a:noFill/>
          <a:ln w="41275">
            <a:solidFill>
              <a:srgbClr val="00B05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8" name="Line 51"/>
          <p:cNvSpPr>
            <a:spLocks noChangeAspect="1" noChangeShapeType="1"/>
          </p:cNvSpPr>
          <p:nvPr/>
        </p:nvSpPr>
        <p:spPr bwMode="auto">
          <a:xfrm>
            <a:off x="7227331" y="3815935"/>
            <a:ext cx="576064" cy="0"/>
          </a:xfrm>
          <a:prstGeom prst="line">
            <a:avLst/>
          </a:prstGeom>
          <a:noFill/>
          <a:ln w="41275">
            <a:solidFill>
              <a:srgbClr val="FF66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9" name="Text Box 52"/>
          <p:cNvSpPr txBox="1">
            <a:spLocks noChangeAspect="1" noChangeArrowheads="1"/>
          </p:cNvSpPr>
          <p:nvPr/>
        </p:nvSpPr>
        <p:spPr bwMode="auto">
          <a:xfrm>
            <a:off x="7371347" y="3815935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0" name="Text Box 53"/>
          <p:cNvSpPr txBox="1">
            <a:spLocks noChangeAspect="1" noChangeArrowheads="1"/>
          </p:cNvSpPr>
          <p:nvPr/>
        </p:nvSpPr>
        <p:spPr bwMode="auto">
          <a:xfrm>
            <a:off x="7371347" y="4108209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1" name="Text Box 54"/>
          <p:cNvSpPr txBox="1">
            <a:spLocks noChangeAspect="1" noChangeArrowheads="1"/>
          </p:cNvSpPr>
          <p:nvPr/>
        </p:nvSpPr>
        <p:spPr bwMode="auto">
          <a:xfrm>
            <a:off x="7371347" y="3543679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2" name="Text Box 30"/>
          <p:cNvSpPr txBox="1">
            <a:spLocks noChangeAspect="1" noChangeArrowheads="1"/>
          </p:cNvSpPr>
          <p:nvPr/>
        </p:nvSpPr>
        <p:spPr bwMode="auto">
          <a:xfrm>
            <a:off x="7803395" y="3671919"/>
            <a:ext cx="1008111" cy="864096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</a:ln>
        </p:spPr>
        <p:txBody>
          <a:bodyPr t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主存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储器</a:t>
            </a:r>
            <a:endParaRPr kumimoji="0" lang="en-US" altLang="zh-CN" sz="4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3" name="Line 49"/>
          <p:cNvSpPr>
            <a:spLocks noChangeAspect="1" noChangeShapeType="1"/>
          </p:cNvSpPr>
          <p:nvPr/>
        </p:nvSpPr>
        <p:spPr bwMode="auto">
          <a:xfrm>
            <a:off x="7227331" y="5334354"/>
            <a:ext cx="576064" cy="0"/>
          </a:xfrm>
          <a:prstGeom prst="line">
            <a:avLst/>
          </a:prstGeom>
          <a:noFill/>
          <a:ln w="41275">
            <a:solidFill>
              <a:srgbClr val="9999FF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4" name="Line 50"/>
          <p:cNvSpPr>
            <a:spLocks noChangeAspect="1" noChangeShapeType="1"/>
          </p:cNvSpPr>
          <p:nvPr/>
        </p:nvSpPr>
        <p:spPr bwMode="auto">
          <a:xfrm>
            <a:off x="7227331" y="5625388"/>
            <a:ext cx="576064" cy="0"/>
          </a:xfrm>
          <a:prstGeom prst="line">
            <a:avLst/>
          </a:prstGeom>
          <a:noFill/>
          <a:ln w="41275">
            <a:solidFill>
              <a:srgbClr val="00B05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5" name="Line 51"/>
          <p:cNvSpPr>
            <a:spLocks noChangeAspect="1" noChangeShapeType="1"/>
          </p:cNvSpPr>
          <p:nvPr/>
        </p:nvSpPr>
        <p:spPr bwMode="auto">
          <a:xfrm>
            <a:off x="7227331" y="5049324"/>
            <a:ext cx="576064" cy="0"/>
          </a:xfrm>
          <a:prstGeom prst="line">
            <a:avLst/>
          </a:prstGeom>
          <a:noFill/>
          <a:ln w="41275">
            <a:solidFill>
              <a:srgbClr val="FF66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6" name="Text Box 52"/>
          <p:cNvSpPr txBox="1">
            <a:spLocks noChangeAspect="1" noChangeArrowheads="1"/>
          </p:cNvSpPr>
          <p:nvPr/>
        </p:nvSpPr>
        <p:spPr bwMode="auto">
          <a:xfrm>
            <a:off x="7371347" y="5049324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7" name="Text Box 53"/>
          <p:cNvSpPr txBox="1">
            <a:spLocks noChangeAspect="1" noChangeArrowheads="1"/>
          </p:cNvSpPr>
          <p:nvPr/>
        </p:nvSpPr>
        <p:spPr bwMode="auto">
          <a:xfrm>
            <a:off x="7371347" y="5341598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8" name="Text Box 54"/>
          <p:cNvSpPr txBox="1">
            <a:spLocks noChangeAspect="1" noChangeArrowheads="1"/>
          </p:cNvSpPr>
          <p:nvPr/>
        </p:nvSpPr>
        <p:spPr bwMode="auto">
          <a:xfrm>
            <a:off x="7371347" y="4777068"/>
            <a:ext cx="371475" cy="3222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DB</a:t>
            </a:r>
            <a:endParaRPr kumimoji="0" lang="en-US" altLang="zh-CN" sz="4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9" name="Text Box 30"/>
          <p:cNvSpPr txBox="1">
            <a:spLocks noChangeAspect="1" noChangeArrowheads="1"/>
          </p:cNvSpPr>
          <p:nvPr/>
        </p:nvSpPr>
        <p:spPr bwMode="auto">
          <a:xfrm>
            <a:off x="7803396" y="4761292"/>
            <a:ext cx="504055" cy="1080120"/>
          </a:xfrm>
          <a:prstGeom prst="rect">
            <a:avLst/>
          </a:prstGeom>
          <a:solidFill>
            <a:srgbClr val="CCECFF"/>
          </a:solidFill>
          <a:ln w="19050">
            <a:solidFill>
              <a:srgbClr val="000000"/>
            </a:solidFill>
            <a:miter lim="800000"/>
          </a:ln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I/O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接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口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0" name="Text Box 30"/>
          <p:cNvSpPr txBox="1">
            <a:spLocks noChangeAspect="1" noChangeArrowheads="1"/>
          </p:cNvSpPr>
          <p:nvPr/>
        </p:nvSpPr>
        <p:spPr bwMode="auto">
          <a:xfrm>
            <a:off x="8307451" y="4761292"/>
            <a:ext cx="504055" cy="1080120"/>
          </a:xfrm>
          <a:prstGeom prst="rect">
            <a:avLst/>
          </a:prstGeom>
          <a:solidFill>
            <a:srgbClr val="FFFF99"/>
          </a:solidFill>
          <a:ln w="19050">
            <a:solidFill>
              <a:srgbClr val="000000"/>
            </a:solidFill>
            <a:miter lim="800000"/>
          </a:ln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I/O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设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备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1" name="Line 51"/>
          <p:cNvSpPr>
            <a:spLocks noChangeAspect="1" noChangeShapeType="1"/>
          </p:cNvSpPr>
          <p:nvPr/>
        </p:nvSpPr>
        <p:spPr bwMode="auto">
          <a:xfrm>
            <a:off x="6305154" y="3125192"/>
            <a:ext cx="787126" cy="0"/>
          </a:xfrm>
          <a:prstGeom prst="line">
            <a:avLst/>
          </a:prstGeom>
          <a:noFill/>
          <a:ln w="41275">
            <a:solidFill>
              <a:srgbClr val="FF6600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2" name="Line 49"/>
          <p:cNvSpPr>
            <a:spLocks noChangeAspect="1" noChangeShapeType="1"/>
          </p:cNvSpPr>
          <p:nvPr/>
        </p:nvSpPr>
        <p:spPr bwMode="auto">
          <a:xfrm>
            <a:off x="6305154" y="3607792"/>
            <a:ext cx="787126" cy="0"/>
          </a:xfrm>
          <a:prstGeom prst="line">
            <a:avLst/>
          </a:prstGeom>
          <a:noFill/>
          <a:ln w="41275">
            <a:solidFill>
              <a:srgbClr val="9999FF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3" name="Line 50"/>
          <p:cNvSpPr>
            <a:spLocks noChangeAspect="1" noChangeShapeType="1"/>
          </p:cNvSpPr>
          <p:nvPr/>
        </p:nvSpPr>
        <p:spPr bwMode="auto">
          <a:xfrm>
            <a:off x="6305154" y="5766792"/>
            <a:ext cx="787126" cy="0"/>
          </a:xfrm>
          <a:prstGeom prst="line">
            <a:avLst/>
          </a:prstGeom>
          <a:noFill/>
          <a:ln w="41275">
            <a:solidFill>
              <a:srgbClr val="00B05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4" name="Text Box 21"/>
          <p:cNvSpPr txBox="1">
            <a:spLocks noChangeAspect="1" noChangeArrowheads="1"/>
          </p:cNvSpPr>
          <p:nvPr/>
        </p:nvSpPr>
        <p:spPr bwMode="auto">
          <a:xfrm>
            <a:off x="3703241" y="908695"/>
            <a:ext cx="371475" cy="4032473"/>
          </a:xfrm>
          <a:prstGeom prst="rect">
            <a:avLst/>
          </a:prstGeom>
          <a:solidFill>
            <a:srgbClr val="CCECFF"/>
          </a:solidFill>
          <a:ln w="19050">
            <a:solidFill>
              <a:srgbClr val="000000"/>
            </a:solidFill>
            <a:miter lim="800000"/>
          </a:ln>
        </p:spPr>
        <p:txBody>
          <a:bodyPr vert="eaVert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CPU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内部总线</a:t>
            </a:r>
            <a:endParaRPr kumimoji="0" lang="zh-CN" altLang="en-US" sz="4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020272" y="697920"/>
            <a:ext cx="20600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605" marR="0" lvl="0" indent="-268605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无缓存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L="268605" marR="0" lvl="0" indent="-268605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无虚存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L="268605" marR="0" lvl="0" indent="-268605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无多任务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L="268605" marR="0" lvl="0" indent="-268605" algn="l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内存与CPU速度一样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89" name="文本框 88"/>
          <p:cNvSpPr txBox="1"/>
          <p:nvPr/>
        </p:nvSpPr>
        <p:spPr bwMode="auto">
          <a:xfrm>
            <a:off x="7912894" y="112066"/>
            <a:ext cx="1231106" cy="369332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【例３】</a:t>
            </a:r>
            <a:endParaRPr lang="zh-CN" altLang="en-US" sz="240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动作按钮: 上一张 84">
            <a:hlinkClick r:id="" action="ppaction://hlinkshowjump?jump=lastslideviewed" highlightClick="1"/>
          </p:cNvPr>
          <p:cNvSpPr/>
          <p:nvPr/>
        </p:nvSpPr>
        <p:spPr bwMode="auto">
          <a:xfrm>
            <a:off x="7803395" y="6201534"/>
            <a:ext cx="432048" cy="432048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 控制器设计</a:t>
            </a:r>
            <a:r>
              <a:rPr lang="zh-CN" altLang="en-US"/>
              <a:t>、</a:t>
            </a:r>
            <a:r>
              <a:rPr lang="en-US" altLang="zh-CN"/>
              <a:t>CPU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64626"/>
            <a:ext cx="8712968" cy="44645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某计算机系统简化的</a:t>
            </a:r>
            <a:r>
              <a:rPr lang="en-US" altLang="zh-CN" sz="2400" dirty="0"/>
              <a:t>CPU</a:t>
            </a:r>
            <a:r>
              <a:rPr lang="zh-CN" altLang="en-US" sz="2400" dirty="0"/>
              <a:t>结构如 </a:t>
            </a:r>
            <a:r>
              <a:rPr lang="zh-CN" altLang="en-US" sz="2400" dirty="0">
                <a:hlinkClick r:id="rId1" action="ppaction://hlinksldjump"/>
              </a:rPr>
              <a:t>图</a:t>
            </a:r>
            <a:r>
              <a:rPr lang="en-US" altLang="zh-CN" sz="2400" dirty="0">
                <a:hlinkClick r:id="rId1" action="ppaction://hlinksldjump"/>
              </a:rPr>
              <a:t>6.3</a:t>
            </a:r>
            <a:r>
              <a:rPr lang="en-US" altLang="zh-CN" sz="2400" dirty="0"/>
              <a:t> </a:t>
            </a:r>
            <a:r>
              <a:rPr lang="zh-CN" altLang="en-US" sz="2400" dirty="0"/>
              <a:t>所示，有如下减法指令：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3200" dirty="0">
                <a:solidFill>
                  <a:srgbClr val="CC0000"/>
                </a:solidFill>
              </a:rPr>
              <a:t>SUB  B</a:t>
            </a:r>
            <a:r>
              <a:rPr lang="en-US" altLang="zh-CN" sz="3200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en-US" altLang="zh-CN" sz="3200" dirty="0">
                <a:solidFill>
                  <a:srgbClr val="CC0000"/>
                </a:solidFill>
              </a:rPr>
              <a:t>R0</a:t>
            </a:r>
            <a:r>
              <a:rPr lang="en-US" altLang="zh-CN" sz="3200" dirty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en-US" altLang="zh-CN" sz="3200" dirty="0">
                <a:solidFill>
                  <a:srgbClr val="CC0000"/>
                </a:solidFill>
              </a:rPr>
              <a:t>, R1</a:t>
            </a:r>
            <a:endParaRPr lang="en-US" altLang="zh-CN" sz="3200" dirty="0">
              <a:solidFill>
                <a:srgbClr val="CC0000"/>
              </a:solidFill>
            </a:endParaRPr>
          </a:p>
          <a:p>
            <a:pPr marL="0" indent="0">
              <a:buNone/>
            </a:pPr>
            <a:r>
              <a:rPr lang="zh-CN" altLang="en-US" sz="2400" dirty="0"/>
              <a:t>其中</a:t>
            </a:r>
            <a:r>
              <a:rPr lang="en-US" altLang="zh-CN" sz="2400" dirty="0"/>
              <a:t>B</a:t>
            </a:r>
            <a:r>
              <a:rPr lang="en-US" altLang="zh-CN" sz="2400" dirty="0">
                <a:latin typeface="宋体" pitchFamily="2" charset="-122"/>
              </a:rPr>
              <a:t>(</a:t>
            </a:r>
            <a:r>
              <a:rPr lang="en-US" altLang="zh-CN" sz="2400" dirty="0"/>
              <a:t>R0</a:t>
            </a:r>
            <a:r>
              <a:rPr lang="en-US" altLang="zh-CN" sz="2400" dirty="0">
                <a:latin typeface="宋体" pitchFamily="2" charset="-122"/>
              </a:rPr>
              <a:t>)</a:t>
            </a:r>
            <a:r>
              <a:rPr lang="zh-CN" altLang="en-US" sz="2400" dirty="0"/>
              <a:t>表示</a:t>
            </a:r>
            <a:r>
              <a:rPr lang="zh-CN" altLang="en-US" sz="2400" dirty="0">
                <a:solidFill>
                  <a:srgbClr val="D60093"/>
                </a:solidFill>
              </a:rPr>
              <a:t>基址寻址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8000"/>
                </a:solidFill>
              </a:rPr>
              <a:t>偏移量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FF0000"/>
                </a:solidFill>
              </a:rPr>
              <a:t>R0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8000"/>
                </a:solidFill>
              </a:rPr>
              <a:t>基址寄存器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指令的功能是：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>
                <a:solidFill>
                  <a:srgbClr val="008000"/>
                </a:solidFill>
              </a:rPr>
              <a:t>基址寄存器</a:t>
            </a:r>
            <a:r>
              <a:rPr lang="en-US" altLang="zh-CN" sz="2400" dirty="0"/>
              <a:t>R0</a:t>
            </a:r>
            <a:r>
              <a:rPr lang="zh-CN" altLang="en-US" sz="2400" dirty="0"/>
              <a:t>的内容加</a:t>
            </a:r>
            <a:r>
              <a:rPr lang="zh-CN" altLang="en-US" sz="2400" dirty="0">
                <a:solidFill>
                  <a:srgbClr val="008000"/>
                </a:solidFill>
              </a:rPr>
              <a:t>偏移量</a:t>
            </a:r>
            <a:r>
              <a:rPr lang="en-US" altLang="zh-CN" sz="2400" dirty="0"/>
              <a:t>B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和</a:t>
            </a:r>
            <a:r>
              <a:rPr lang="en-US" altLang="zh-CN" sz="2400" dirty="0">
                <a:latin typeface="宋体" pitchFamily="2" charset="-122"/>
              </a:rPr>
              <a:t>(</a:t>
            </a:r>
            <a:r>
              <a:rPr lang="zh-CN" altLang="en-US" sz="2400" dirty="0"/>
              <a:t>记为 </a:t>
            </a:r>
            <a:r>
              <a:rPr lang="en-US" altLang="zh-CN" sz="2400" i="1" dirty="0" err="1">
                <a:solidFill>
                  <a:srgbClr val="0070C0"/>
                </a:solidFill>
              </a:rPr>
              <a:t>Addr</a:t>
            </a:r>
            <a:r>
              <a:rPr lang="en-US" altLang="zh-CN" sz="2400" dirty="0">
                <a:latin typeface="宋体" pitchFamily="2" charset="-122"/>
              </a:rPr>
              <a:t>)</a:t>
            </a:r>
            <a:r>
              <a:rPr lang="zh-CN" altLang="en-US" sz="2400" dirty="0"/>
              <a:t>为内存地址，内存地址为 </a:t>
            </a:r>
            <a:r>
              <a:rPr lang="en-US" altLang="zh-CN" sz="2400" i="1" dirty="0" err="1">
                <a:solidFill>
                  <a:srgbClr val="0070C0"/>
                </a:solidFill>
              </a:rPr>
              <a:t>Addr</a:t>
            </a:r>
            <a:r>
              <a:rPr lang="en-US" altLang="zh-CN" sz="2400" i="1" dirty="0">
                <a:solidFill>
                  <a:srgbClr val="0070C0"/>
                </a:solidFill>
              </a:rPr>
              <a:t> </a:t>
            </a:r>
            <a:r>
              <a:rPr lang="zh-CN" altLang="en-US" sz="2400" dirty="0"/>
              <a:t>的单元的内容作为</a:t>
            </a:r>
            <a:r>
              <a:rPr lang="zh-CN" altLang="en-US" sz="2400" dirty="0">
                <a:solidFill>
                  <a:srgbClr val="9900FF"/>
                </a:solidFill>
              </a:rPr>
              <a:t>被减数</a:t>
            </a:r>
            <a:r>
              <a:rPr lang="zh-CN" altLang="en-US" sz="2400" dirty="0"/>
              <a:t>，</a:t>
            </a:r>
            <a:br>
              <a:rPr lang="en-US" altLang="zh-CN" sz="2400" dirty="0"/>
            </a:br>
            <a:r>
              <a:rPr lang="en-US" altLang="zh-CN" sz="2400" dirty="0"/>
              <a:t>R1</a:t>
            </a:r>
            <a:r>
              <a:rPr lang="zh-CN" altLang="en-US" sz="2400" dirty="0"/>
              <a:t>寄存器的内容作为</a:t>
            </a:r>
            <a:r>
              <a:rPr lang="zh-CN" altLang="en-US" sz="2400" dirty="0">
                <a:solidFill>
                  <a:srgbClr val="9900FF"/>
                </a:solidFill>
              </a:rPr>
              <a:t>减数</a:t>
            </a:r>
            <a:r>
              <a:rPr lang="zh-CN" altLang="en-US" sz="2400" dirty="0"/>
              <a:t>，二者相减，</a:t>
            </a:r>
            <a:br>
              <a:rPr lang="en-US" altLang="zh-CN" sz="2400" dirty="0"/>
            </a:br>
            <a:r>
              <a:rPr lang="zh-CN" altLang="en-US" sz="2400" dirty="0">
                <a:solidFill>
                  <a:srgbClr val="FF0000"/>
                </a:solidFill>
              </a:rPr>
              <a:t>差</a:t>
            </a:r>
            <a:r>
              <a:rPr lang="zh-CN" altLang="en-US" sz="2400" dirty="0"/>
              <a:t>存入内存地址为 </a:t>
            </a:r>
            <a:r>
              <a:rPr lang="en-US" altLang="zh-CN" sz="2400" i="1" dirty="0" err="1">
                <a:solidFill>
                  <a:srgbClr val="0070C0"/>
                </a:solidFill>
              </a:rPr>
              <a:t>Addr</a:t>
            </a:r>
            <a:r>
              <a:rPr lang="en-US" altLang="zh-CN" sz="2400" i="1" dirty="0">
                <a:solidFill>
                  <a:srgbClr val="0070C0"/>
                </a:solidFill>
              </a:rPr>
              <a:t> </a:t>
            </a:r>
            <a:r>
              <a:rPr lang="zh-CN" altLang="en-US" sz="2400" dirty="0"/>
              <a:t>的单元。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写出上述减法指令包括取指令在内的</a:t>
            </a:r>
            <a:r>
              <a:rPr lang="zh-CN" altLang="en-US" sz="2400" dirty="0">
                <a:solidFill>
                  <a:srgbClr val="FF0000"/>
                </a:solidFill>
              </a:rPr>
              <a:t>微操作序列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微命令序列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【例３】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 控制器设计</a:t>
            </a:r>
            <a:r>
              <a:rPr lang="zh-CN" altLang="en-US"/>
              <a:t>、</a:t>
            </a:r>
            <a:r>
              <a:rPr lang="en-US" altLang="zh-CN"/>
              <a:t>CPU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 bwMode="auto">
          <a:xfrm>
            <a:off x="577385" y="568325"/>
            <a:ext cx="2722220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SUB  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R0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R1</a:t>
            </a:r>
            <a:endParaRPr lang="zh-CN" altLang="en-US" dirty="0"/>
          </a:p>
        </p:txBody>
      </p:sp>
      <p:graphicFrame>
        <p:nvGraphicFramePr>
          <p:cNvPr id="9" name="Group 44"/>
          <p:cNvGraphicFramePr>
            <a:graphicFrameLocks noGrp="1"/>
          </p:cNvGraphicFramePr>
          <p:nvPr/>
        </p:nvGraphicFramePr>
        <p:xfrm>
          <a:off x="438404" y="1091545"/>
          <a:ext cx="6458823" cy="5289864"/>
        </p:xfrm>
        <a:graphic>
          <a:graphicData uri="http://schemas.openxmlformats.org/drawingml/2006/table">
            <a:tbl>
              <a:tblPr/>
              <a:tblGrid>
                <a:gridCol w="372631"/>
                <a:gridCol w="459775"/>
                <a:gridCol w="2602081"/>
                <a:gridCol w="3024336"/>
              </a:tblGrid>
              <a:tr h="440822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节拍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微操作序列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微命令序列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 dirty="0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取指</a:t>
                      </a:r>
                      <a:endParaRPr lang="zh-CN" altLang="en-US" sz="2000" b="1" dirty="0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T2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Memory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[AR]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Mread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T3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PC+I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PC+1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row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执行</a:t>
                      </a:r>
                      <a:endParaRPr lang="zh-CN" altLang="en-US" sz="2000" b="1" dirty="0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endParaRPr lang="zh-CN" altLang="en-US" sz="2000" dirty="0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地址字段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B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)</a:t>
                      </a:r>
                      <a:endParaRPr kumimoji="1" lang="en-US" altLang="zh-CN" sz="20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spc="0" normalizeH="0" baseline="-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T2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Y+R0</a:t>
                      </a:r>
                      <a:endParaRPr kumimoji="1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R0</a:t>
                      </a:r>
                      <a:r>
                        <a:rPr kumimoji="1" lang="en-US" altLang="zh-CN" sz="2000" b="1" i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 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ADD</a:t>
                      </a:r>
                      <a:endParaRPr kumimoji="1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T3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T4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Memory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[AR]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Mread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T5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T6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s-E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r>
                        <a:rPr kumimoji="1" lang="es-E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s-E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Y-R1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R1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SUB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T7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s-E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r>
                        <a:rPr kumimoji="1" lang="es-ES" altLang="zh-CN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s-E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T8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Memory[AR]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DR</a:t>
                      </a:r>
                      <a:endParaRPr kumimoji="1" lang="es-E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Mwrite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右大括号 9"/>
          <p:cNvSpPr/>
          <p:nvPr/>
        </p:nvSpPr>
        <p:spPr bwMode="auto">
          <a:xfrm>
            <a:off x="6953628" y="2893177"/>
            <a:ext cx="216024" cy="790302"/>
          </a:xfrm>
          <a:prstGeom prst="rightBrace">
            <a:avLst>
              <a:gd name="adj1" fmla="val 32907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右大括号 10"/>
          <p:cNvSpPr/>
          <p:nvPr/>
        </p:nvSpPr>
        <p:spPr bwMode="auto">
          <a:xfrm>
            <a:off x="6961539" y="3786996"/>
            <a:ext cx="216024" cy="785004"/>
          </a:xfrm>
          <a:prstGeom prst="rightBrace">
            <a:avLst>
              <a:gd name="adj1" fmla="val 34521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右大括号 11"/>
          <p:cNvSpPr/>
          <p:nvPr/>
        </p:nvSpPr>
        <p:spPr bwMode="auto">
          <a:xfrm>
            <a:off x="6953628" y="4641011"/>
            <a:ext cx="216024" cy="836762"/>
          </a:xfrm>
          <a:prstGeom prst="rightBrace">
            <a:avLst>
              <a:gd name="adj1" fmla="val 40170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30976" y="3106691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 panose="02020503050405090304"/>
                <a:ea typeface="宋体"/>
              </a:rPr>
              <a:t>准备主存地址</a:t>
            </a:r>
            <a:endParaRPr lang="zh-CN" altLang="en-US" sz="2000" dirty="0">
              <a:solidFill>
                <a:srgbClr val="FF0066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159313" y="3960067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 panose="02020503050405090304"/>
                <a:ea typeface="宋体"/>
              </a:rPr>
              <a:t>取主存操作数</a:t>
            </a:r>
            <a:endParaRPr lang="zh-CN" altLang="en-US" sz="2000" dirty="0">
              <a:solidFill>
                <a:srgbClr val="FF0066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130976" y="4838880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 panose="02020503050405090304"/>
                <a:ea typeface="宋体"/>
              </a:rPr>
              <a:t>减法运算</a:t>
            </a:r>
            <a:endParaRPr lang="zh-CN" altLang="en-US" sz="2000" dirty="0">
              <a:solidFill>
                <a:srgbClr val="FF0066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6" name="右大括号 15"/>
          <p:cNvSpPr/>
          <p:nvPr/>
        </p:nvSpPr>
        <p:spPr bwMode="auto">
          <a:xfrm>
            <a:off x="6961539" y="5529533"/>
            <a:ext cx="216024" cy="851796"/>
          </a:xfrm>
          <a:prstGeom prst="rightBrace">
            <a:avLst>
              <a:gd name="adj1" fmla="val 40170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69652" y="5729536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 panose="02020503050405090304"/>
                <a:ea typeface="宋体"/>
              </a:rPr>
              <a:t>存结果</a:t>
            </a:r>
            <a:endParaRPr lang="zh-CN" altLang="en-US" sz="2000" dirty="0">
              <a:solidFill>
                <a:srgbClr val="FF0066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331640" y="1570008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1331640" y="2015370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1331640" y="2450699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1331640" y="2902703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1331640" y="3340084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31640" y="3776667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1331640" y="4218317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1331640" y="4649637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331640" y="5098425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1331640" y="5532283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1331640" y="5972683"/>
            <a:ext cx="2498488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3923928" y="1578634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3923928" y="2020178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3923928" y="2455639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3923928" y="2900522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3923928" y="3339959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3923928" y="3781503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3923928" y="4214421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3923928" y="4667888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3923928" y="5108793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3923928" y="5546073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3923928" y="5982995"/>
            <a:ext cx="2880320" cy="362309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9" name="文本框 38"/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【例３】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动作按钮: 空白 4">
            <a:hlinkClick r:id="rId1" action="ppaction://hlinksldjump" highlightClick="1"/>
          </p:cNvPr>
          <p:cNvSpPr/>
          <p:nvPr/>
        </p:nvSpPr>
        <p:spPr bwMode="auto">
          <a:xfrm>
            <a:off x="8055411" y="1064641"/>
            <a:ext cx="863774" cy="513993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/>
              <a:t>图</a:t>
            </a:r>
            <a:r>
              <a:rPr lang="zh-CN" altLang="en-US" sz="1200"/>
              <a:t> </a:t>
            </a:r>
            <a:r>
              <a:rPr lang="en-US" altLang="zh-CN" sz="2400"/>
              <a:t>6.3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 animBg="1"/>
      <p:bldP spid="17" grpId="0"/>
      <p:bldP spid="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 控制器设计</a:t>
            </a:r>
            <a:r>
              <a:rPr lang="zh-CN" altLang="en-US"/>
              <a:t>、</a:t>
            </a:r>
            <a:r>
              <a:rPr lang="en-US" altLang="zh-CN"/>
              <a:t>CPU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 bwMode="auto">
          <a:xfrm>
            <a:off x="577385" y="568325"/>
            <a:ext cx="2722220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SUB  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R0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, R1</a:t>
            </a:r>
            <a:endParaRPr lang="zh-CN" altLang="en-US" dirty="0"/>
          </a:p>
        </p:txBody>
      </p:sp>
      <p:graphicFrame>
        <p:nvGraphicFramePr>
          <p:cNvPr id="9" name="Group 44"/>
          <p:cNvGraphicFramePr>
            <a:graphicFrameLocks noGrp="1"/>
          </p:cNvGraphicFramePr>
          <p:nvPr/>
        </p:nvGraphicFramePr>
        <p:xfrm>
          <a:off x="438404" y="1091545"/>
          <a:ext cx="6458823" cy="5289864"/>
        </p:xfrm>
        <a:graphic>
          <a:graphicData uri="http://schemas.openxmlformats.org/drawingml/2006/table">
            <a:tbl>
              <a:tblPr/>
              <a:tblGrid>
                <a:gridCol w="372631"/>
                <a:gridCol w="459775"/>
                <a:gridCol w="2602081"/>
                <a:gridCol w="3024336"/>
              </a:tblGrid>
              <a:tr h="440822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节拍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微操作序列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微命令序列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2000" b="1" dirty="0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取指</a:t>
                      </a:r>
                      <a:endParaRPr lang="zh-CN" altLang="en-US" sz="2000" b="1" dirty="0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T2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Memory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[AR]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Mread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T3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PC+I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PC+1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rowSpan="8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执行</a:t>
                      </a:r>
                      <a:endParaRPr lang="zh-CN" altLang="en-US" sz="2000" b="1" dirty="0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  <a:p>
                      <a:pPr algn="ctr"/>
                      <a:endParaRPr lang="zh-CN" altLang="en-US" sz="2000" dirty="0"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地址字段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B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)</a:t>
                      </a:r>
                      <a:endParaRPr kumimoji="1" lang="en-US" altLang="zh-CN" sz="2000" b="1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IR</a:t>
                      </a:r>
                      <a:r>
                        <a:rPr kumimoji="1" lang="en-US" altLang="zh-CN" sz="2000" b="1" i="0" u="none" strike="noStrike" kern="1200" cap="none" spc="0" normalizeH="0" baseline="-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T2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Y+R0</a:t>
                      </a:r>
                      <a:endParaRPr kumimoji="1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R0</a:t>
                      </a:r>
                      <a:r>
                        <a:rPr kumimoji="1" lang="en-US" altLang="zh-CN" sz="2000" b="1" i="0" u="none" strike="noStrike" kern="1200" cap="none" spc="0" normalizeH="0" baseline="-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 </a:t>
                      </a:r>
                      <a:r>
                        <a:rPr kumimoji="1" lang="zh-CN" alt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ADD</a:t>
                      </a:r>
                      <a:endParaRPr kumimoji="1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T3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T4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r>
                        <a:rPr kumimoji="1" lang="en-US" altLang="zh-CN" sz="20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Memory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[AR]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Mread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T5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T6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s-E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r>
                        <a:rPr kumimoji="1" lang="es-E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s-E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Y-R1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R1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SUB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T7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s-E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</a:t>
                      </a:r>
                      <a:r>
                        <a:rPr kumimoji="1" lang="es-ES" altLang="zh-CN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s-E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Z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DRI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in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0822">
                <a:tc vMerge="1">
                  <a:tcPr marL="72000" marR="72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T8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Memory[AR]</a:t>
                      </a:r>
                      <a:r>
                        <a:rPr kumimoji="1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anose="02020503050405090304" pitchFamily="18" charset="0"/>
                        </a:rPr>
                        <a:t>←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DR</a:t>
                      </a:r>
                      <a:endParaRPr kumimoji="1" lang="es-E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AR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DRS</a:t>
                      </a:r>
                      <a:r>
                        <a:rPr kumimoji="1" lang="en-US" altLang="zh-CN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out</a:t>
                      </a:r>
                      <a:r>
                        <a:rPr kumimoji="1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，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楷体" panose="02010609060101010101" pitchFamily="49" charset="-122"/>
                          <a:cs typeface="Times New Roman" panose="02020503050405090304" pitchFamily="18" charset="0"/>
                        </a:rPr>
                        <a:t>Mwrite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72000" marR="72000" marT="36000" marB="3600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右大括号 9"/>
          <p:cNvSpPr/>
          <p:nvPr/>
        </p:nvSpPr>
        <p:spPr bwMode="auto">
          <a:xfrm>
            <a:off x="6953628" y="2893177"/>
            <a:ext cx="216024" cy="790302"/>
          </a:xfrm>
          <a:prstGeom prst="rightBrace">
            <a:avLst>
              <a:gd name="adj1" fmla="val 32907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右大括号 10"/>
          <p:cNvSpPr/>
          <p:nvPr/>
        </p:nvSpPr>
        <p:spPr bwMode="auto">
          <a:xfrm>
            <a:off x="6961539" y="3786996"/>
            <a:ext cx="216024" cy="785004"/>
          </a:xfrm>
          <a:prstGeom prst="rightBrace">
            <a:avLst>
              <a:gd name="adj1" fmla="val 34521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右大括号 11"/>
          <p:cNvSpPr/>
          <p:nvPr/>
        </p:nvSpPr>
        <p:spPr bwMode="auto">
          <a:xfrm>
            <a:off x="6953628" y="4641011"/>
            <a:ext cx="216024" cy="836762"/>
          </a:xfrm>
          <a:prstGeom prst="rightBrace">
            <a:avLst>
              <a:gd name="adj1" fmla="val 40170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30976" y="3106691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 panose="02020503050405090304"/>
                <a:ea typeface="宋体"/>
              </a:rPr>
              <a:t>准备主存地址</a:t>
            </a:r>
            <a:endParaRPr lang="zh-CN" altLang="en-US" sz="2000" dirty="0">
              <a:solidFill>
                <a:srgbClr val="FF0066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159313" y="3960067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 panose="02020503050405090304"/>
                <a:ea typeface="宋体"/>
              </a:rPr>
              <a:t>取主存操作数</a:t>
            </a:r>
            <a:endParaRPr lang="zh-CN" altLang="en-US" sz="2000" dirty="0">
              <a:solidFill>
                <a:srgbClr val="FF0066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130976" y="4838880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 panose="02020503050405090304"/>
                <a:ea typeface="宋体"/>
              </a:rPr>
              <a:t>减法运算</a:t>
            </a:r>
            <a:endParaRPr lang="zh-CN" altLang="en-US" sz="2000" dirty="0">
              <a:solidFill>
                <a:srgbClr val="FF0066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6" name="右大括号 15"/>
          <p:cNvSpPr/>
          <p:nvPr/>
        </p:nvSpPr>
        <p:spPr bwMode="auto">
          <a:xfrm>
            <a:off x="6961539" y="5529533"/>
            <a:ext cx="216024" cy="851796"/>
          </a:xfrm>
          <a:prstGeom prst="rightBrace">
            <a:avLst>
              <a:gd name="adj1" fmla="val 40170"/>
              <a:gd name="adj2" fmla="val 50000"/>
            </a:avLst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69652" y="5729536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FF0066"/>
                </a:solidFill>
                <a:latin typeface="Times New Roman" panose="02020503050405090304"/>
                <a:ea typeface="宋体"/>
              </a:rPr>
              <a:t>存结果</a:t>
            </a:r>
            <a:endParaRPr lang="zh-CN" altLang="en-US" sz="2000" dirty="0">
              <a:solidFill>
                <a:srgbClr val="FF0066"/>
              </a:solidFill>
              <a:latin typeface="Times New Roman" panose="02020503050405090304"/>
              <a:ea typeface="宋体"/>
            </a:endParaRPr>
          </a:p>
        </p:txBody>
      </p:sp>
      <p:sp>
        <p:nvSpPr>
          <p:cNvPr id="18" name="文本框 17"/>
          <p:cNvSpPr txBox="1"/>
          <p:nvPr/>
        </p:nvSpPr>
        <p:spPr bwMode="auto">
          <a:xfrm>
            <a:off x="7707708" y="90943"/>
            <a:ext cx="1436292" cy="430887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【例３】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动作按钮: 空白 18">
            <a:hlinkClick r:id="rId1" action="ppaction://hlinksldjump" highlightClick="1"/>
          </p:cNvPr>
          <p:cNvSpPr/>
          <p:nvPr/>
        </p:nvSpPr>
        <p:spPr bwMode="auto">
          <a:xfrm>
            <a:off x="8055411" y="1064641"/>
            <a:ext cx="863774" cy="513993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/>
              <a:t>图</a:t>
            </a:r>
            <a:r>
              <a:rPr lang="zh-CN" altLang="en-US" sz="1200"/>
              <a:t> </a:t>
            </a:r>
            <a:r>
              <a:rPr lang="en-US" altLang="zh-CN" sz="2400"/>
              <a:t>6.3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5051" y="1412776"/>
            <a:ext cx="8013898" cy="4752528"/>
          </a:xfrm>
        </p:spPr>
        <p:txBody>
          <a:bodyPr/>
          <a:lstStyle/>
          <a:p>
            <a:pPr marL="622300" indent="-622300">
              <a:spcBef>
                <a:spcPct val="30000"/>
              </a:spcBef>
              <a:buClr>
                <a:srgbClr val="0000FF"/>
              </a:buClr>
              <a:buSzPct val="130000"/>
              <a:buFont typeface="Wingdings" panose="05000000000000000000" pitchFamily="2" charset="2"/>
              <a:buChar char="!"/>
            </a:pPr>
            <a:r>
              <a:rPr lang="en-US" altLang="zh-CN"/>
              <a:t>CPU </a:t>
            </a:r>
            <a:r>
              <a:rPr lang="zh-CN" altLang="en-US"/>
              <a:t>时间</a:t>
            </a:r>
            <a:endParaRPr lang="zh-CN" altLang="en-US"/>
          </a:p>
          <a:p>
            <a:pPr marL="622300" indent="-622300">
              <a:spcBef>
                <a:spcPct val="30000"/>
              </a:spcBef>
              <a:buClr>
                <a:srgbClr val="0000FF"/>
              </a:buClr>
              <a:buSzPct val="130000"/>
              <a:buFont typeface="Wingdings" panose="05000000000000000000" pitchFamily="2" charset="2"/>
              <a:buChar char="!"/>
            </a:pPr>
            <a:r>
              <a:rPr lang="en-US" altLang="zh-CN"/>
              <a:t>CPI </a:t>
            </a:r>
            <a:r>
              <a:rPr lang="zh-CN" altLang="en-US"/>
              <a:t>与 </a:t>
            </a:r>
            <a:r>
              <a:rPr lang="en-US" altLang="zh-CN"/>
              <a:t>IPC</a:t>
            </a:r>
            <a:endParaRPr lang="en-US" altLang="zh-CN"/>
          </a:p>
          <a:p>
            <a:pPr marL="981075" lvl="1" indent="-351155">
              <a:spcBef>
                <a:spcPct val="10000"/>
              </a:spcBef>
            </a:pPr>
            <a:r>
              <a:rPr lang="en-US" altLang="zh-CN"/>
              <a:t>Cache</a:t>
            </a:r>
            <a:r>
              <a:rPr lang="zh-CN" altLang="en-US"/>
              <a:t>行为发生变化</a:t>
            </a:r>
            <a:endParaRPr lang="zh-CN" altLang="en-US"/>
          </a:p>
          <a:p>
            <a:pPr marL="981075" lvl="1" indent="-351155">
              <a:spcBef>
                <a:spcPct val="10000"/>
              </a:spcBef>
            </a:pPr>
            <a:r>
              <a:rPr lang="zh-CN" altLang="en-US"/>
              <a:t>指令混合发生变化</a:t>
            </a:r>
            <a:endParaRPr lang="zh-CN" altLang="en-US"/>
          </a:p>
          <a:p>
            <a:pPr marL="981075" lvl="1" indent="-351155">
              <a:spcBef>
                <a:spcPct val="10000"/>
              </a:spcBef>
            </a:pPr>
            <a:r>
              <a:rPr lang="zh-CN" altLang="en-US"/>
              <a:t>分支预测发生变化</a:t>
            </a:r>
            <a:endParaRPr lang="en-US" altLang="zh-CN"/>
          </a:p>
          <a:p>
            <a:pPr marL="981075" lvl="1" indent="-351155">
              <a:spcBef>
                <a:spcPct val="10000"/>
              </a:spcBef>
            </a:pPr>
            <a:endParaRPr lang="en-US" altLang="zh-CN"/>
          </a:p>
          <a:p>
            <a:pPr marL="981075" lvl="1" indent="-351155">
              <a:spcBef>
                <a:spcPct val="10000"/>
              </a:spcBef>
            </a:pPr>
            <a:endParaRPr lang="en-US" altLang="zh-CN"/>
          </a:p>
          <a:p>
            <a:pPr marL="622300" indent="-622300">
              <a:spcBef>
                <a:spcPct val="30000"/>
              </a:spcBef>
              <a:buClr>
                <a:srgbClr val="0000FF"/>
              </a:buClr>
              <a:buSzPct val="130000"/>
              <a:buFont typeface="Wingdings" panose="05000000000000000000" pitchFamily="2" charset="2"/>
              <a:buChar char="!"/>
            </a:pPr>
            <a:r>
              <a:rPr lang="en-US" altLang="zh-CN"/>
              <a:t>MIPS</a:t>
            </a:r>
            <a:r>
              <a:rPr lang="zh-CN" altLang="en-US"/>
              <a:t>：可能与性能反向变化</a:t>
            </a:r>
            <a:endParaRPr lang="en-US" altLang="zh-CN"/>
          </a:p>
          <a:p>
            <a:pPr marL="622300" indent="-622300">
              <a:spcBef>
                <a:spcPct val="30000"/>
              </a:spcBef>
              <a:buClr>
                <a:srgbClr val="0000FF"/>
              </a:buClr>
              <a:buSzPct val="130000"/>
              <a:buFont typeface="Wingdings" panose="05000000000000000000" pitchFamily="2" charset="2"/>
              <a:buChar char="!"/>
            </a:pPr>
            <a:r>
              <a:rPr lang="en-US" altLang="zh-CN"/>
              <a:t>FLOPS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18C6C0-B767-406C-B47F-6CEDD20A9255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宋体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 bwMode="auto">
          <a:xfrm>
            <a:off x="590550" y="784349"/>
            <a:ext cx="8229600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90204" pitchFamily="34" charset="0"/>
                <a:ea typeface="黑体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90204" pitchFamily="34" charset="0"/>
                <a:ea typeface="黑体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90204" pitchFamily="34" charset="0"/>
                <a:ea typeface="黑体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90204" pitchFamily="34" charset="0"/>
                <a:ea typeface="黑体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90204" pitchFamily="34" charset="0"/>
                <a:ea typeface="黑体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90204" pitchFamily="34" charset="0"/>
                <a:ea typeface="黑体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90204" pitchFamily="34" charset="0"/>
                <a:ea typeface="黑体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/>
                </a:solidFill>
                <a:latin typeface="Arial" panose="020B0604020202090204" pitchFamily="34" charset="0"/>
                <a:ea typeface="黑体" pitchFamily="2" charset="-122"/>
              </a:defRPr>
            </a:lvl9pPr>
          </a:lstStyle>
          <a:p>
            <a:r>
              <a:rPr lang="en-US" altLang="zh-CN">
                <a:solidFill>
                  <a:srgbClr val="FF6600"/>
                </a:solidFill>
              </a:rPr>
              <a:t>CPU</a:t>
            </a:r>
            <a:r>
              <a:rPr lang="zh-CN" altLang="en-US">
                <a:solidFill>
                  <a:srgbClr val="FF6600"/>
                </a:solidFill>
              </a:rPr>
              <a:t>性能测量：</a:t>
            </a:r>
            <a:endParaRPr lang="zh-CN" altLang="en-US" kern="0">
              <a:solidFill>
                <a:srgbClr val="FF66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926307" y="3789040"/>
                <a:ext cx="8217693" cy="1103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3200" b="0" smtClean="0">
                          <a:solidFill>
                            <a:srgbClr val="C00000"/>
                          </a:solidFill>
                          <a:latin typeface="+mn-lt"/>
                        </a:rPr>
                        <m:t>CPU</m:t>
                      </m:r>
                      <m:r>
                        <a:rPr lang="zh-CN" alt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时间</m:t>
                      </m:r>
                      <m:r>
                        <a:rPr lang="zh-CN" alt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𝐶𝑃𝑈</m:t>
                          </m:r>
                        </m:sub>
                      </m:sSub>
                      <m:r>
                        <a:rPr lang="zh-CN" alt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zh-CN" alt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𝐶𝐿𝐾</m:t>
                          </m:r>
                        </m:sub>
                      </m:sSub>
                      <m:r>
                        <a:rPr lang="zh-CN" alt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3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𝐶𝑃𝐼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𝐶𝐿𝐾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3200">
                  <a:solidFill>
                    <a:srgbClr val="C00000"/>
                  </a:solidFill>
                  <a:latin typeface="+mn-lt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7" y="3789040"/>
                <a:ext cx="8217693" cy="1103828"/>
              </a:xfrm>
              <a:prstGeom prst="rect">
                <a:avLst/>
              </a:prstGeom>
              <a:blipFill rotWithShape="1">
                <a:blip r:embed="rId1"/>
                <a:stretch>
                  <a:fillRect l="-6" t="-57" r="8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 控制器设计、</a:t>
            </a:r>
            <a:r>
              <a:rPr lang="en-US" altLang="zh-CN"/>
              <a:t>CPU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68761"/>
            <a:ext cx="8445946" cy="498121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多核技术</a:t>
            </a:r>
            <a:endParaRPr lang="en-US" altLang="zh-CN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硬件多线程技术</a:t>
            </a:r>
            <a:endParaRPr lang="en-US" altLang="zh-CN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/>
              <a:t>操作系统负责将</a:t>
            </a:r>
            <a:r>
              <a:rPr lang="zh-CN" altLang="en-US">
                <a:solidFill>
                  <a:srgbClr val="FF0000"/>
                </a:solidFill>
              </a:rPr>
              <a:t>进程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00"/>
                </a:solidFill>
              </a:rPr>
              <a:t>线程</a:t>
            </a:r>
            <a:r>
              <a:rPr lang="zh-CN" altLang="en-US">
                <a:latin typeface="黑体" pitchFamily="2" charset="-122"/>
                <a:ea typeface="黑体" pitchFamily="2" charset="-122"/>
              </a:rPr>
              <a:t>调度</a:t>
            </a:r>
            <a:r>
              <a:rPr lang="zh-CN" altLang="en-US"/>
              <a:t>到</a:t>
            </a:r>
            <a:r>
              <a:rPr lang="zh-CN" altLang="en-US">
                <a:solidFill>
                  <a:srgbClr val="0000FF"/>
                </a:solidFill>
              </a:rPr>
              <a:t>逻辑内核</a:t>
            </a:r>
            <a:r>
              <a:rPr lang="zh-CN" altLang="en-US"/>
              <a:t>去执行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进程：</a:t>
            </a:r>
            <a:br>
              <a:rPr lang="en-US" altLang="zh-CN"/>
            </a:br>
            <a:r>
              <a:rPr lang="zh-CN" altLang="en-US"/>
              <a:t>资源分配的最小单位。</a:t>
            </a:r>
            <a:br>
              <a:rPr lang="en-US" altLang="zh-CN"/>
            </a:br>
            <a:r>
              <a:rPr lang="zh-CN" altLang="en-US"/>
              <a:t>进程之间完全隔离。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线程：</a:t>
            </a:r>
            <a:br>
              <a:rPr lang="en-US" altLang="zh-CN"/>
            </a:br>
            <a:r>
              <a:rPr lang="zh-CN" altLang="en-US"/>
              <a:t>调度的最小单位，共享所属进程的资源。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515049"/>
            <a:ext cx="8362950" cy="6120758"/>
          </a:xfrm>
        </p:spPr>
        <p:txBody>
          <a:bodyPr/>
          <a:lstStyle/>
          <a:p>
            <a:pPr indent="-358775">
              <a:spcBef>
                <a:spcPts val="20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时空图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indent="-358775">
              <a:spcBef>
                <a:spcPts val="20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m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个段的流水线处理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n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个任务所需时间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lvl="1" indent="-355600">
              <a:buClr>
                <a:srgbClr val="33CC33"/>
              </a:buClr>
              <a:buFont typeface="Wingdings" panose="05000000000000000000" pitchFamily="2" charset="2"/>
              <a:buChar char="p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各段处理时间相等：</a:t>
            </a: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</a:b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+mn-cs"/>
              </a:rPr>
              <a:t>T</a:t>
            </a:r>
            <a:r>
              <a:rPr kumimoji="0" lang="en-US" altLang="zh-CN" b="1" i="1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+mn-cs"/>
              </a:rPr>
              <a:t>n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+mn-cs"/>
              </a:rPr>
              <a:t>(m)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+mn-cs"/>
              </a:rPr>
              <a:t> =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+mn-cs"/>
              </a:rPr>
              <a:t>m ·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</a:rPr>
              <a:t>τ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Times New Roman" panose="02020503050405090304" pitchFamily="18" charset="0"/>
              </a:rPr>
              <a:t>＋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(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+mn-cs"/>
              </a:rPr>
              <a:t>n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Times New Roman" panose="02020503050405090304" pitchFamily="18" charset="0"/>
              </a:rPr>
              <a:t>－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+mn-cs"/>
              </a:rPr>
              <a:t>1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/>
                <a:ea typeface="宋体"/>
                <a:cs typeface="+mn-cs"/>
              </a:rPr>
              <a:t>)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  <a:cs typeface="+mn-cs"/>
              </a:rPr>
              <a:t>·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_GB2312"/>
              </a:rPr>
              <a:t>τ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楷体" panose="02010609060101010101" pitchFamily="49" charset="-122"/>
            </a:endParaRPr>
          </a:p>
          <a:p>
            <a:pPr lvl="1" indent="-355600">
              <a:buClr>
                <a:srgbClr val="33CC33"/>
              </a:buClr>
              <a:buFont typeface="Wingdings" panose="05000000000000000000" pitchFamily="2" charset="2"/>
              <a:buChar char="p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各段处理时间不等：</a:t>
            </a: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</a:b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</a:b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楷体" panose="02010609060101010101" pitchFamily="49" charset="-122"/>
            </a:endParaRPr>
          </a:p>
          <a:p>
            <a:pPr indent="-358775">
              <a:lnSpc>
                <a:spcPct val="120000"/>
              </a:lnSpc>
              <a:spcBef>
                <a:spcPts val="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实际吞吐率：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TP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 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＝ 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n /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 T</a:t>
            </a:r>
            <a:r>
              <a:rPr kumimoji="0" lang="en-US" altLang="zh-CN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n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(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m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)</a:t>
            </a: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</a:b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最大吞吐率：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TP</a:t>
            </a:r>
            <a:r>
              <a:rPr kumimoji="0" lang="en-US" altLang="zh-CN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max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＝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1/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流水线周期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indent="-358775">
              <a:lnSpc>
                <a:spcPct val="120000"/>
              </a:lnSpc>
              <a:spcBef>
                <a:spcPts val="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实际加速比：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S 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＝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T</a:t>
            </a:r>
            <a:r>
              <a:rPr kumimoji="0" lang="en-US" altLang="zh-CN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n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(1) / 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T</a:t>
            </a:r>
            <a:r>
              <a:rPr kumimoji="0" lang="en-US" altLang="zh-CN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n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(</a:t>
            </a:r>
            <a:r>
              <a:rPr kumimoji="0" lang="en-US" altLang="zh-CN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m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)</a:t>
            </a:r>
            <a:b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</a:b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最大加速比：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S</a:t>
            </a:r>
            <a:r>
              <a:rPr kumimoji="0" lang="en-US" altLang="zh-CN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max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＝各段时间之和</a:t>
            </a:r>
            <a:r>
              <a:rPr kumimoji="0" lang="en-US" altLang="zh-CN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/</a:t>
            </a: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流水线周期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indent="-358775">
              <a:spcBef>
                <a:spcPts val="0"/>
              </a:spcBef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>
                <a:solidFill>
                  <a:srgbClr val="000000"/>
                </a:solidFill>
                <a:latin typeface="Times New Roman" panose="02020503050405090304"/>
                <a:ea typeface="宋体"/>
              </a:rPr>
              <a:t>流水线效率</a:t>
            </a:r>
            <a:endParaRPr kumimoji="0" lang="en-US" altLang="zh-CN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indent="-358775">
              <a:buClr>
                <a:srgbClr val="FF00FF"/>
              </a:buClr>
              <a:buFont typeface="Wingdings" panose="05000000000000000000" pitchFamily="2" charset="2"/>
              <a:buChar char="u"/>
              <a:defRPr/>
            </a:pPr>
            <a:r>
              <a:rPr kumimoji="0" lang="zh-CN" altLang="en-US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改进瓶颈段</a:t>
            </a:r>
            <a:endParaRPr kumimoji="0" lang="zh-CN" altLang="en-US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259632" y="2675289"/>
          <a:ext cx="4899819" cy="1047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公式" r:id="rId1" imgW="2006600" imgH="431800" progId="Equation.3">
                  <p:embed/>
                </p:oleObj>
              </mc:Choice>
              <mc:Fallback>
                <p:oleObj name="公式" r:id="rId1" imgW="20066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675289"/>
                        <a:ext cx="4899819" cy="1047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 bwMode="auto">
          <a:xfrm>
            <a:off x="3461276" y="28245"/>
            <a:ext cx="2698175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流水线性能度量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10598" y="3135152"/>
            <a:ext cx="1988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流水线周期</a:t>
            </a:r>
            <a:endParaRPr lang="zh-CN" altLang="en-US" dirty="0">
              <a:solidFill>
                <a:srgbClr val="FF6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 bwMode="auto">
          <a:xfrm>
            <a:off x="4899463" y="3438730"/>
            <a:ext cx="1227411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/>
          <p:cNvCxnSpPr/>
          <p:nvPr/>
        </p:nvCxnSpPr>
        <p:spPr bwMode="auto">
          <a:xfrm>
            <a:off x="3028211" y="2317886"/>
            <a:ext cx="219299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 bwMode="auto">
          <a:xfrm>
            <a:off x="4846167" y="2317886"/>
            <a:ext cx="219299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矩形 13"/>
          <p:cNvSpPr/>
          <p:nvPr/>
        </p:nvSpPr>
        <p:spPr>
          <a:xfrm>
            <a:off x="5967861" y="2028446"/>
            <a:ext cx="1988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FF66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流水线周期</a:t>
            </a:r>
            <a:endParaRPr lang="zh-CN" altLang="en-US" dirty="0">
              <a:solidFill>
                <a:srgbClr val="FF66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14588" y="2304068"/>
            <a:ext cx="2743200" cy="453559"/>
            <a:chOff x="3666478" y="2893370"/>
            <a:chExt cx="2787588" cy="453559"/>
          </a:xfrm>
        </p:grpSpPr>
        <p:sp>
          <p:nvSpPr>
            <p:cNvPr id="16" name="任意多边形: 形状 15"/>
            <p:cNvSpPr/>
            <p:nvPr/>
          </p:nvSpPr>
          <p:spPr bwMode="auto">
            <a:xfrm>
              <a:off x="3666478" y="2893370"/>
              <a:ext cx="2787588" cy="453559"/>
            </a:xfrm>
            <a:custGeom>
              <a:avLst/>
              <a:gdLst>
                <a:gd name="connsiteX0" fmla="*/ 2787588 w 2787588"/>
                <a:gd name="connsiteY0" fmla="*/ 45139 h 453559"/>
                <a:gd name="connsiteX1" fmla="*/ 1704512 w 2787588"/>
                <a:gd name="connsiteY1" fmla="*/ 453512 h 453559"/>
                <a:gd name="connsiteX2" fmla="*/ 1154097 w 2787588"/>
                <a:gd name="connsiteY2" fmla="*/ 71772 h 453559"/>
                <a:gd name="connsiteX3" fmla="*/ 0 w 2787588"/>
                <a:gd name="connsiteY3" fmla="*/ 750 h 453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7588" h="453559">
                  <a:moveTo>
                    <a:pt x="2787588" y="45139"/>
                  </a:moveTo>
                  <a:cubicBezTo>
                    <a:pt x="2382174" y="247106"/>
                    <a:pt x="1976760" y="449073"/>
                    <a:pt x="1704512" y="453512"/>
                  </a:cubicBezTo>
                  <a:cubicBezTo>
                    <a:pt x="1432264" y="457951"/>
                    <a:pt x="1438182" y="147232"/>
                    <a:pt x="1154097" y="71772"/>
                  </a:cubicBezTo>
                  <a:cubicBezTo>
                    <a:pt x="870012" y="-3688"/>
                    <a:pt x="435006" y="-1469"/>
                    <a:pt x="0" y="750"/>
                  </a:cubicBezTo>
                </a:path>
              </a:pathLst>
            </a:custGeom>
            <a:noFill/>
            <a:ln w="1905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17" name="任意多边形: 形状 16"/>
            <p:cNvSpPr/>
            <p:nvPr/>
          </p:nvSpPr>
          <p:spPr bwMode="auto">
            <a:xfrm>
              <a:off x="5344357" y="2938509"/>
              <a:ext cx="1109709" cy="275257"/>
            </a:xfrm>
            <a:custGeom>
              <a:avLst/>
              <a:gdLst>
                <a:gd name="connsiteX0" fmla="*/ 1109709 w 1109709"/>
                <a:gd name="connsiteY0" fmla="*/ 0 h 275257"/>
                <a:gd name="connsiteX1" fmla="*/ 310719 w 1109709"/>
                <a:gd name="connsiteY1" fmla="*/ 275208 h 275257"/>
                <a:gd name="connsiteX2" fmla="*/ 0 w 1109709"/>
                <a:gd name="connsiteY2" fmla="*/ 17755 h 275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09709" h="275257">
                  <a:moveTo>
                    <a:pt x="1109709" y="0"/>
                  </a:moveTo>
                  <a:cubicBezTo>
                    <a:pt x="802689" y="136124"/>
                    <a:pt x="495670" y="272249"/>
                    <a:pt x="310719" y="275208"/>
                  </a:cubicBezTo>
                  <a:cubicBezTo>
                    <a:pt x="125768" y="278167"/>
                    <a:pt x="62884" y="147961"/>
                    <a:pt x="0" y="17755"/>
                  </a:cubicBezTo>
                </a:path>
              </a:pathLst>
            </a:custGeom>
            <a:noFill/>
            <a:ln w="1905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</p:grpSp>
      <p:cxnSp>
        <p:nvCxnSpPr>
          <p:cNvPr id="18" name="直接连接符 17"/>
          <p:cNvCxnSpPr/>
          <p:nvPr/>
        </p:nvCxnSpPr>
        <p:spPr bwMode="auto">
          <a:xfrm>
            <a:off x="4580388" y="4636281"/>
            <a:ext cx="1712566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/>
          <p:cNvCxnSpPr/>
          <p:nvPr/>
        </p:nvCxnSpPr>
        <p:spPr bwMode="auto">
          <a:xfrm>
            <a:off x="6335748" y="5649297"/>
            <a:ext cx="1712566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组合 2"/>
          <p:cNvGrpSpPr/>
          <p:nvPr/>
        </p:nvGrpSpPr>
        <p:grpSpPr>
          <a:xfrm>
            <a:off x="2948434" y="5692214"/>
            <a:ext cx="5329683" cy="863600"/>
            <a:chOff x="2948434" y="5742621"/>
            <a:chExt cx="5329683" cy="863600"/>
          </a:xfrm>
        </p:grpSpPr>
        <p:sp>
          <p:nvSpPr>
            <p:cNvPr id="20" name="Rectangle 292"/>
            <p:cNvSpPr>
              <a:spLocks noChangeArrowheads="1"/>
            </p:cNvSpPr>
            <p:nvPr/>
          </p:nvSpPr>
          <p:spPr bwMode="auto">
            <a:xfrm>
              <a:off x="3235623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Line 293"/>
            <p:cNvSpPr>
              <a:spLocks noChangeShapeType="1"/>
            </p:cNvSpPr>
            <p:nvPr/>
          </p:nvSpPr>
          <p:spPr bwMode="auto">
            <a:xfrm>
              <a:off x="2948434" y="6391908"/>
              <a:ext cx="28718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294"/>
            <p:cNvSpPr>
              <a:spLocks noChangeArrowheads="1"/>
            </p:cNvSpPr>
            <p:nvPr/>
          </p:nvSpPr>
          <p:spPr bwMode="auto">
            <a:xfrm>
              <a:off x="4245024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Line 295"/>
            <p:cNvSpPr>
              <a:spLocks noChangeShapeType="1"/>
            </p:cNvSpPr>
            <p:nvPr/>
          </p:nvSpPr>
          <p:spPr bwMode="auto">
            <a:xfrm>
              <a:off x="3956348" y="6391908"/>
              <a:ext cx="288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Rectangle 296"/>
            <p:cNvSpPr>
              <a:spLocks noChangeArrowheads="1"/>
            </p:cNvSpPr>
            <p:nvPr/>
          </p:nvSpPr>
          <p:spPr bwMode="auto">
            <a:xfrm>
              <a:off x="5253136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Rectangle 298"/>
            <p:cNvSpPr>
              <a:spLocks noChangeArrowheads="1"/>
            </p:cNvSpPr>
            <p:nvPr/>
          </p:nvSpPr>
          <p:spPr bwMode="auto">
            <a:xfrm>
              <a:off x="6261249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Rectangle 300"/>
            <p:cNvSpPr>
              <a:spLocks noChangeArrowheads="1"/>
            </p:cNvSpPr>
            <p:nvPr/>
          </p:nvSpPr>
          <p:spPr bwMode="auto">
            <a:xfrm>
              <a:off x="7269361" y="6174421"/>
              <a:ext cx="720725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Line 302"/>
            <p:cNvSpPr>
              <a:spLocks noChangeShapeType="1"/>
            </p:cNvSpPr>
            <p:nvPr/>
          </p:nvSpPr>
          <p:spPr bwMode="auto">
            <a:xfrm>
              <a:off x="7988498" y="6391908"/>
              <a:ext cx="28961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Rectangle 303"/>
            <p:cNvSpPr>
              <a:spLocks noChangeArrowheads="1"/>
            </p:cNvSpPr>
            <p:nvPr/>
          </p:nvSpPr>
          <p:spPr bwMode="auto">
            <a:xfrm>
              <a:off x="3091160" y="5742621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Rectangle 304"/>
            <p:cNvSpPr>
              <a:spLocks noChangeArrowheads="1"/>
            </p:cNvSpPr>
            <p:nvPr/>
          </p:nvSpPr>
          <p:spPr bwMode="auto">
            <a:xfrm>
              <a:off x="4100562" y="5742621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Rectangle 305"/>
            <p:cNvSpPr>
              <a:spLocks noChangeArrowheads="1"/>
            </p:cNvSpPr>
            <p:nvPr/>
          </p:nvSpPr>
          <p:spPr bwMode="auto">
            <a:xfrm>
              <a:off x="5108674" y="5742621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Rectangle 306"/>
            <p:cNvSpPr>
              <a:spLocks noChangeArrowheads="1"/>
            </p:cNvSpPr>
            <p:nvPr/>
          </p:nvSpPr>
          <p:spPr bwMode="auto">
            <a:xfrm>
              <a:off x="6116786" y="5742621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Rectangle 307"/>
            <p:cNvSpPr>
              <a:spLocks noChangeArrowheads="1"/>
            </p:cNvSpPr>
            <p:nvPr/>
          </p:nvSpPr>
          <p:spPr bwMode="auto">
            <a:xfrm>
              <a:off x="7124898" y="5742621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CLK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Line 295"/>
            <p:cNvSpPr>
              <a:spLocks noChangeShapeType="1"/>
            </p:cNvSpPr>
            <p:nvPr/>
          </p:nvSpPr>
          <p:spPr bwMode="auto">
            <a:xfrm>
              <a:off x="4964509" y="6391908"/>
              <a:ext cx="288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Line 295"/>
            <p:cNvSpPr>
              <a:spLocks noChangeShapeType="1"/>
            </p:cNvSpPr>
            <p:nvPr/>
          </p:nvSpPr>
          <p:spPr bwMode="auto">
            <a:xfrm>
              <a:off x="5972621" y="6391908"/>
              <a:ext cx="288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Line 295"/>
            <p:cNvSpPr>
              <a:spLocks noChangeShapeType="1"/>
            </p:cNvSpPr>
            <p:nvPr/>
          </p:nvSpPr>
          <p:spPr bwMode="auto">
            <a:xfrm>
              <a:off x="6979479" y="6391908"/>
              <a:ext cx="28823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 bwMode="auto">
          <a:xfrm>
            <a:off x="2645718" y="106660"/>
            <a:ext cx="6174432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指令流水线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：处理的指令之间存在</a:t>
            </a: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相关</a:t>
            </a:r>
            <a:endParaRPr lang="zh-CN" altLang="en-US" sz="2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内容占位符 2"/>
          <p:cNvSpPr txBox="1"/>
          <p:nvPr/>
        </p:nvSpPr>
        <p:spPr bwMode="auto">
          <a:xfrm>
            <a:off x="179512" y="568325"/>
            <a:ext cx="8788602" cy="6137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455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823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结构相关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  <a:cs typeface="+mn-cs"/>
              </a:rPr>
              <a:t>增加资源副本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  <a:cs typeface="+mn-cs"/>
            </a:endParaRPr>
          </a:p>
          <a:p>
            <a:pPr marL="719455" marR="0" lvl="1" indent="-36068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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主存访问冲突：哈佛结构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marL="719455" marR="0" lvl="1" indent="-36068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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两个加法器：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ALU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、地址加法器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数据相关</a:t>
            </a:r>
            <a:endParaRPr kumimoji="0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19455" marR="0" lvl="1" indent="-36068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</a:rPr>
              <a:t>先写后读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R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ead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fter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W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rite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）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marL="1250950" marR="0" lvl="2" indent="-2698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增加专用硬件（推后法） 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楷体" panose="02010609060101010101" pitchFamily="49" charset="-122"/>
            </a:endParaRPr>
          </a:p>
          <a:p>
            <a:pPr marL="1250950" marR="0" lvl="2" indent="-2698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采用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转发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Forwarding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）技术</a:t>
            </a:r>
            <a:b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</a:b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（此技术的其它名称：</a:t>
            </a:r>
            <a:r>
              <a:rPr lang="zh-CN" altLang="en-US" sz="2400">
                <a:solidFill>
                  <a:srgbClr val="D60093"/>
                </a:solidFill>
              </a:rPr>
              <a:t>直通</a:t>
            </a:r>
            <a:r>
              <a:rPr lang="en-US" altLang="zh-CN" sz="2400"/>
              <a:t>/</a:t>
            </a:r>
            <a:r>
              <a:rPr lang="zh-CN" altLang="en-US" sz="2400">
                <a:solidFill>
                  <a:srgbClr val="009900"/>
                </a:solidFill>
                <a:highlight>
                  <a:srgbClr val="FFFF00"/>
                </a:highlight>
              </a:rPr>
              <a:t>前递</a:t>
            </a:r>
            <a:r>
              <a:rPr lang="en-US" altLang="zh-CN" sz="2400"/>
              <a:t>/</a:t>
            </a:r>
            <a:r>
              <a:rPr lang="zh-CN" altLang="en-US" sz="2400">
                <a:solidFill>
                  <a:srgbClr val="C00000"/>
                </a:solidFill>
                <a:highlight>
                  <a:srgbClr val="FFFF00"/>
                </a:highlight>
              </a:rPr>
              <a:t>旁路</a:t>
            </a:r>
            <a:r>
              <a:rPr lang="en-US" altLang="zh-CN" sz="2400"/>
              <a:t>/</a:t>
            </a:r>
            <a:r>
              <a:rPr lang="zh-CN" altLang="en-US" sz="2400">
                <a:solidFill>
                  <a:srgbClr val="0000FF"/>
                </a:solidFill>
              </a:rPr>
              <a:t>相关直接通路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楷体" panose="02010609060101010101" pitchFamily="49" charset="-122"/>
            </a:endParaRPr>
          </a:p>
          <a:p>
            <a:pPr marL="1250950" marR="0" lvl="2" indent="-26987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乱序：利用编译器（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RISC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）、利用硬件（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CISC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楷体" panose="02010609060101010101" pitchFamily="49" charset="-122"/>
              </a:rPr>
              <a:t>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楷体" panose="02010609060101010101" pitchFamily="49" charset="-122"/>
            </a:endParaRPr>
          </a:p>
          <a:p>
            <a:pPr marL="719455" marR="0" lvl="1" indent="-36068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</a:rPr>
              <a:t>先读后写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W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rite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fter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R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ead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）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marL="719455" marR="0" lvl="1" indent="-36068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</a:rPr>
              <a:t>写－写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（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W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rite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A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fter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W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rite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）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控制相关</a:t>
            </a:r>
            <a:endParaRPr kumimoji="0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19455" marR="0" lvl="1" indent="-36068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分支预测：静态（软件、硬件）、动态（硬件）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  <a:p>
            <a:pPr marL="719455" marR="0" lvl="1" indent="-36068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延迟转移技术（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RISC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/>
              </a:rPr>
              <a:t>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13444" y="4507548"/>
            <a:ext cx="30963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spcBef>
                <a:spcPts val="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</a:pP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寄存器重命名技术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  <a:p>
            <a:pPr marL="342900" indent="-342900" algn="l">
              <a:spcBef>
                <a:spcPts val="0"/>
              </a:spcBef>
              <a:buClr>
                <a:srgbClr val="FF0066"/>
              </a:buClr>
              <a:buSzPct val="75000"/>
              <a:buFont typeface="Wingdings" panose="05000000000000000000" pitchFamily="2" charset="2"/>
              <a:buChar char="þ"/>
            </a:pPr>
            <a:r>
              <a:rPr lang="zh-CN" altLang="en-US" sz="2400">
                <a:solidFill>
                  <a:srgbClr val="000000"/>
                </a:solidFill>
                <a:ea typeface="宋体" pitchFamily="2" charset="-122"/>
              </a:rPr>
              <a:t>数据重定向技术</a:t>
            </a:r>
            <a:endParaRPr lang="zh-CN" altLang="en-US" sz="240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8" name="右大括号 17"/>
          <p:cNvSpPr/>
          <p:nvPr/>
        </p:nvSpPr>
        <p:spPr bwMode="auto">
          <a:xfrm>
            <a:off x="5709135" y="4442260"/>
            <a:ext cx="216024" cy="830997"/>
          </a:xfrm>
          <a:prstGeom prst="rightBrace">
            <a:avLst>
              <a:gd name="adj1" fmla="val 36442"/>
              <a:gd name="adj2" fmla="val 50000"/>
            </a:avLst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endParaRPr lang="zh-CN" altLang="en-US">
              <a:solidFill>
                <a:srgbClr val="000000"/>
              </a:solidFill>
              <a:ea typeface="宋体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 bwMode="auto">
          <a:xfrm>
            <a:off x="6012160" y="4647561"/>
            <a:ext cx="0" cy="686981"/>
          </a:xfrm>
          <a:prstGeom prst="line">
            <a:avLst/>
          </a:prstGeom>
          <a:solidFill>
            <a:srgbClr val="FFFF99"/>
          </a:solidFill>
          <a:ln w="76200" cap="rnd" cmpd="tri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直接连接符 21"/>
          <p:cNvCxnSpPr/>
          <p:nvPr/>
        </p:nvCxnSpPr>
        <p:spPr bwMode="auto">
          <a:xfrm>
            <a:off x="6012160" y="5334542"/>
            <a:ext cx="2807990" cy="0"/>
          </a:xfrm>
          <a:prstGeom prst="line">
            <a:avLst/>
          </a:prstGeom>
          <a:solidFill>
            <a:srgbClr val="FFFF99"/>
          </a:solidFill>
          <a:ln w="76200" cap="rnd" cmpd="tri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组合 2"/>
          <p:cNvGrpSpPr/>
          <p:nvPr/>
        </p:nvGrpSpPr>
        <p:grpSpPr>
          <a:xfrm>
            <a:off x="4582345" y="836712"/>
            <a:ext cx="4454151" cy="504056"/>
            <a:chOff x="4582345" y="620688"/>
            <a:chExt cx="4454151" cy="504056"/>
          </a:xfrm>
        </p:grpSpPr>
        <p:sp>
          <p:nvSpPr>
            <p:cNvPr id="39" name="矩形 38"/>
            <p:cNvSpPr/>
            <p:nvPr/>
          </p:nvSpPr>
          <p:spPr bwMode="auto">
            <a:xfrm>
              <a:off x="4870377" y="620688"/>
              <a:ext cx="504055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000">
                  <a:ea typeface="宋体" pitchFamily="2" charset="-122"/>
                </a:rPr>
                <a:t>IF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cxnSp>
          <p:nvCxnSpPr>
            <p:cNvPr id="40" name="直接箭头连接符 39"/>
            <p:cNvCxnSpPr/>
            <p:nvPr/>
          </p:nvCxnSpPr>
          <p:spPr bwMode="auto">
            <a:xfrm>
              <a:off x="4582345" y="883611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41" name="矩形 40"/>
            <p:cNvSpPr/>
            <p:nvPr/>
          </p:nvSpPr>
          <p:spPr bwMode="auto">
            <a:xfrm>
              <a:off x="5652120" y="620688"/>
              <a:ext cx="493712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000">
                  <a:ea typeface="宋体" pitchFamily="2" charset="-122"/>
                </a:rPr>
                <a:t>ID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cxnSp>
          <p:nvCxnSpPr>
            <p:cNvPr id="42" name="直接箭头连接符 41"/>
            <p:cNvCxnSpPr/>
            <p:nvPr/>
          </p:nvCxnSpPr>
          <p:spPr bwMode="auto">
            <a:xfrm>
              <a:off x="5364088" y="883611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43" name="矩形 42"/>
            <p:cNvSpPr/>
            <p:nvPr/>
          </p:nvSpPr>
          <p:spPr bwMode="auto">
            <a:xfrm>
              <a:off x="6444209" y="620688"/>
              <a:ext cx="504055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000">
                  <a:ea typeface="宋体" pitchFamily="2" charset="-122"/>
                </a:rPr>
                <a:t>EX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cxnSp>
          <p:nvCxnSpPr>
            <p:cNvPr id="44" name="直接箭头连接符 43"/>
            <p:cNvCxnSpPr/>
            <p:nvPr/>
          </p:nvCxnSpPr>
          <p:spPr bwMode="auto">
            <a:xfrm>
              <a:off x="6156177" y="883611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45" name="矩形 44"/>
            <p:cNvSpPr/>
            <p:nvPr/>
          </p:nvSpPr>
          <p:spPr bwMode="auto">
            <a:xfrm>
              <a:off x="7225952" y="620688"/>
              <a:ext cx="720080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000">
                  <a:ea typeface="宋体" pitchFamily="2" charset="-122"/>
                </a:rPr>
                <a:t>MEM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 bwMode="auto">
            <a:xfrm>
              <a:off x="6937920" y="883611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47" name="矩形 46"/>
            <p:cNvSpPr/>
            <p:nvPr/>
          </p:nvSpPr>
          <p:spPr bwMode="auto">
            <a:xfrm>
              <a:off x="8234064" y="620688"/>
              <a:ext cx="514400" cy="504056"/>
            </a:xfrm>
            <a:prstGeom prst="rect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000">
                  <a:ea typeface="宋体" pitchFamily="2" charset="-122"/>
                </a:rPr>
                <a:t>WB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 bwMode="auto">
            <a:xfrm>
              <a:off x="7946032" y="883611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49" name="直接箭头连接符 48"/>
            <p:cNvCxnSpPr/>
            <p:nvPr/>
          </p:nvCxnSpPr>
          <p:spPr bwMode="auto">
            <a:xfrm>
              <a:off x="8748464" y="883611"/>
              <a:ext cx="288032" cy="0"/>
            </a:xfrm>
            <a:prstGeom prst="straightConnector1">
              <a:avLst/>
            </a:prstGeom>
            <a:solidFill>
              <a:srgbClr val="FFFF99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69168" y="836712"/>
            <a:ext cx="6779096" cy="58323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823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7.5】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某指令流水线由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级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构成，每级处理时间为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100ps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。现要执行一段程序，该程序由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50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个结构相同、顺序执行的小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程序段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组成，每个小程序段由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15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条指令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构成，其中第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条指令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0" cap="none" spc="0" normalizeH="0" baseline="-30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条件跳转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指令，当条件为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真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时程序跳转到指令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0" cap="none" spc="0" normalizeH="0" baseline="-30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，当条件为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时程序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顺序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执行。请计算：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）当所有条件跳转指令均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未发生条件跳转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时，执行这段程序时流水线的实际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吞吐率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加速比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效率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各是多少？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）当所有条件跳转指令均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发生条件跳转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时，执行这段程序时流水线的实际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吞吐率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加速比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效率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Times New Roman" panose="02020503050405090304" pitchFamily="18" charset="0"/>
              </a:rPr>
              <a:t>又是多少？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128676" y="639452"/>
            <a:ext cx="1979828" cy="5957900"/>
            <a:chOff x="7128676" y="297656"/>
            <a:chExt cx="1979828" cy="5957900"/>
          </a:xfrm>
        </p:grpSpPr>
        <p:sp>
          <p:nvSpPr>
            <p:cNvPr id="12" name="矩形 11"/>
            <p:cNvSpPr/>
            <p:nvPr/>
          </p:nvSpPr>
          <p:spPr bwMode="auto">
            <a:xfrm>
              <a:off x="7128676" y="297656"/>
              <a:ext cx="936104" cy="4499496"/>
            </a:xfrm>
            <a:prstGeom prst="rect">
              <a:avLst/>
            </a:prstGeom>
            <a:solidFill>
              <a:srgbClr val="FFFFCC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4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</a:rPr>
                <a:t>5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10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11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12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13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14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26670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</a:t>
              </a:r>
              <a:r>
                <a:rPr kumimoji="0" lang="en-US" altLang="zh-CN" sz="240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15</a:t>
              </a:r>
              <a:endPara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416408" y="2170360"/>
              <a:ext cx="553998" cy="50418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7132952" y="4941168"/>
              <a:ext cx="936104" cy="449796"/>
            </a:xfrm>
            <a:prstGeom prst="rect">
              <a:avLst/>
            </a:prstGeom>
            <a:solidFill>
              <a:srgbClr val="FFFFCC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7128676" y="5805760"/>
              <a:ext cx="936104" cy="449796"/>
            </a:xfrm>
            <a:prstGeom prst="rect">
              <a:avLst/>
            </a:prstGeom>
            <a:solidFill>
              <a:srgbClr val="FFFFCC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426035" y="5354612"/>
              <a:ext cx="553998" cy="50418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7222347" y="1628800"/>
              <a:ext cx="250166" cy="1117624"/>
              <a:chOff x="7359872" y="1628800"/>
              <a:chExt cx="313286" cy="1117624"/>
            </a:xfrm>
          </p:grpSpPr>
          <p:cxnSp>
            <p:nvCxnSpPr>
              <p:cNvPr id="21" name="直接连接符 20"/>
              <p:cNvCxnSpPr/>
              <p:nvPr/>
            </p:nvCxnSpPr>
            <p:spPr bwMode="auto">
              <a:xfrm flipH="1">
                <a:off x="7359872" y="1628800"/>
                <a:ext cx="313286" cy="0"/>
              </a:xfrm>
              <a:prstGeom prst="lin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2" name="直接箭头连接符 21"/>
              <p:cNvCxnSpPr/>
              <p:nvPr/>
            </p:nvCxnSpPr>
            <p:spPr bwMode="auto">
              <a:xfrm>
                <a:off x="7359872" y="2746424"/>
                <a:ext cx="313286" cy="0"/>
              </a:xfrm>
              <a:prstGeom prst="straightConnector1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lg"/>
              </a:ln>
              <a:effectLst/>
            </p:spPr>
          </p:cxnSp>
          <p:cxnSp>
            <p:nvCxnSpPr>
              <p:cNvPr id="23" name="直接连接符 22"/>
              <p:cNvCxnSpPr/>
              <p:nvPr/>
            </p:nvCxnSpPr>
            <p:spPr bwMode="auto">
              <a:xfrm>
                <a:off x="7359872" y="1628800"/>
                <a:ext cx="0" cy="1117624"/>
              </a:xfrm>
              <a:prstGeom prst="lin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8" name="右大括号 17"/>
            <p:cNvSpPr/>
            <p:nvPr/>
          </p:nvSpPr>
          <p:spPr bwMode="auto">
            <a:xfrm>
              <a:off x="8136788" y="297656"/>
              <a:ext cx="216024" cy="5957900"/>
            </a:xfrm>
            <a:prstGeom prst="rightBrace">
              <a:avLst>
                <a:gd name="adj1" fmla="val 48265"/>
                <a:gd name="adj2" fmla="val 50000"/>
              </a:avLst>
            </a:prstGeom>
            <a:solidFill>
              <a:srgbClr val="FFFFFF"/>
            </a:solidFill>
            <a:ln w="1905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8306682" y="3014204"/>
              <a:ext cx="8018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50</a:t>
              </a:r>
              <a:r>
                <a:rPr kumimoji="0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个</a:t>
              </a:r>
              <a:endPara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任意多边形 20"/>
            <p:cNvSpPr/>
            <p:nvPr/>
          </p:nvSpPr>
          <p:spPr bwMode="auto">
            <a:xfrm>
              <a:off x="7712015" y="1656272"/>
              <a:ext cx="215912" cy="345056"/>
            </a:xfrm>
            <a:custGeom>
              <a:avLst/>
              <a:gdLst>
                <a:gd name="connsiteX0" fmla="*/ 34506 w 215912"/>
                <a:gd name="connsiteY0" fmla="*/ 0 h 345056"/>
                <a:gd name="connsiteX1" fmla="*/ 215660 w 215912"/>
                <a:gd name="connsiteY1" fmla="*/ 146649 h 345056"/>
                <a:gd name="connsiteX2" fmla="*/ 0 w 215912"/>
                <a:gd name="connsiteY2" fmla="*/ 345056 h 345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912" h="345056">
                  <a:moveTo>
                    <a:pt x="34506" y="0"/>
                  </a:moveTo>
                  <a:cubicBezTo>
                    <a:pt x="127958" y="44570"/>
                    <a:pt x="221411" y="89140"/>
                    <a:pt x="215660" y="146649"/>
                  </a:cubicBezTo>
                  <a:cubicBezTo>
                    <a:pt x="209909" y="204158"/>
                    <a:pt x="104954" y="274607"/>
                    <a:pt x="0" y="345056"/>
                  </a:cubicBezTo>
                </a:path>
              </a:pathLst>
            </a:custGeom>
            <a:noFill/>
            <a:ln w="1905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4" name="动作按钮: 上一张 23">
            <a:hlinkClick r:id="" action="ppaction://hlinkshowjump?jump=lastslideviewed" highlightClick="1"/>
          </p:cNvPr>
          <p:cNvSpPr/>
          <p:nvPr/>
        </p:nvSpPr>
        <p:spPr bwMode="auto">
          <a:xfrm>
            <a:off x="8484068" y="5877272"/>
            <a:ext cx="503519" cy="503519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4"/>
          <p:cNvSpPr>
            <a:spLocks noChangeAspect="1" noChangeArrowheads="1"/>
          </p:cNvSpPr>
          <p:nvPr/>
        </p:nvSpPr>
        <p:spPr bwMode="auto">
          <a:xfrm>
            <a:off x="517525" y="4980012"/>
            <a:ext cx="336550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Rectangle 5"/>
          <p:cNvSpPr>
            <a:spLocks noChangeAspect="1" noChangeArrowheads="1"/>
          </p:cNvSpPr>
          <p:nvPr/>
        </p:nvSpPr>
        <p:spPr bwMode="auto">
          <a:xfrm>
            <a:off x="855663" y="4980012"/>
            <a:ext cx="338137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Rectangle 6"/>
          <p:cNvSpPr>
            <a:spLocks noChangeAspect="1" noChangeArrowheads="1"/>
          </p:cNvSpPr>
          <p:nvPr/>
        </p:nvSpPr>
        <p:spPr bwMode="auto">
          <a:xfrm>
            <a:off x="1531938" y="4980012"/>
            <a:ext cx="336550" cy="338138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Rectangle 7"/>
          <p:cNvSpPr>
            <a:spLocks noChangeAspect="1" noChangeArrowheads="1"/>
          </p:cNvSpPr>
          <p:nvPr/>
        </p:nvSpPr>
        <p:spPr bwMode="auto">
          <a:xfrm>
            <a:off x="1193800" y="4980012"/>
            <a:ext cx="338138" cy="338138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Rectangle 8"/>
          <p:cNvSpPr>
            <a:spLocks noChangeAspect="1" noChangeArrowheads="1"/>
          </p:cNvSpPr>
          <p:nvPr/>
        </p:nvSpPr>
        <p:spPr bwMode="auto">
          <a:xfrm>
            <a:off x="855663" y="4640287"/>
            <a:ext cx="338137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Rectangle 9"/>
          <p:cNvSpPr>
            <a:spLocks noChangeAspect="1" noChangeArrowheads="1"/>
          </p:cNvSpPr>
          <p:nvPr/>
        </p:nvSpPr>
        <p:spPr bwMode="auto">
          <a:xfrm>
            <a:off x="1195388" y="4640287"/>
            <a:ext cx="336550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Rectangle 10"/>
          <p:cNvSpPr>
            <a:spLocks noChangeAspect="1" noChangeArrowheads="1"/>
          </p:cNvSpPr>
          <p:nvPr/>
        </p:nvSpPr>
        <p:spPr bwMode="auto">
          <a:xfrm>
            <a:off x="1870075" y="4640287"/>
            <a:ext cx="338138" cy="338138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Rectangle 11"/>
          <p:cNvSpPr>
            <a:spLocks noChangeAspect="1" noChangeArrowheads="1"/>
          </p:cNvSpPr>
          <p:nvPr/>
        </p:nvSpPr>
        <p:spPr bwMode="auto">
          <a:xfrm>
            <a:off x="1531938" y="4640287"/>
            <a:ext cx="338137" cy="338138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Rectangle 12"/>
          <p:cNvSpPr>
            <a:spLocks noChangeAspect="1" noChangeArrowheads="1"/>
          </p:cNvSpPr>
          <p:nvPr/>
        </p:nvSpPr>
        <p:spPr bwMode="auto">
          <a:xfrm>
            <a:off x="1193800" y="4302150"/>
            <a:ext cx="338138" cy="338137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Rectangle 13"/>
          <p:cNvSpPr>
            <a:spLocks noChangeAspect="1" noChangeArrowheads="1"/>
          </p:cNvSpPr>
          <p:nvPr/>
        </p:nvSpPr>
        <p:spPr bwMode="auto">
          <a:xfrm>
            <a:off x="1531938" y="4302150"/>
            <a:ext cx="338137" cy="338137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Rectangle 14"/>
          <p:cNvSpPr>
            <a:spLocks noChangeAspect="1" noChangeArrowheads="1"/>
          </p:cNvSpPr>
          <p:nvPr/>
        </p:nvSpPr>
        <p:spPr bwMode="auto">
          <a:xfrm>
            <a:off x="2208213" y="4302150"/>
            <a:ext cx="338137" cy="33813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Rectangle 15"/>
          <p:cNvSpPr>
            <a:spLocks noChangeAspect="1" noChangeArrowheads="1"/>
          </p:cNvSpPr>
          <p:nvPr/>
        </p:nvSpPr>
        <p:spPr bwMode="auto">
          <a:xfrm>
            <a:off x="1870075" y="4302150"/>
            <a:ext cx="338138" cy="338137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Rectangle 16"/>
          <p:cNvSpPr>
            <a:spLocks noChangeAspect="1" noChangeArrowheads="1"/>
          </p:cNvSpPr>
          <p:nvPr/>
        </p:nvSpPr>
        <p:spPr bwMode="auto">
          <a:xfrm>
            <a:off x="1530350" y="3965600"/>
            <a:ext cx="338138" cy="3365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Rectangle 17"/>
          <p:cNvSpPr>
            <a:spLocks noChangeAspect="1" noChangeArrowheads="1"/>
          </p:cNvSpPr>
          <p:nvPr/>
        </p:nvSpPr>
        <p:spPr bwMode="auto">
          <a:xfrm>
            <a:off x="1868488" y="3965600"/>
            <a:ext cx="338137" cy="3365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Rectangle 18"/>
          <p:cNvSpPr>
            <a:spLocks noChangeAspect="1" noChangeArrowheads="1"/>
          </p:cNvSpPr>
          <p:nvPr/>
        </p:nvSpPr>
        <p:spPr bwMode="auto">
          <a:xfrm>
            <a:off x="2544763" y="3965600"/>
            <a:ext cx="338137" cy="3365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" name="Rectangle 19"/>
          <p:cNvSpPr>
            <a:spLocks noChangeAspect="1" noChangeArrowheads="1"/>
          </p:cNvSpPr>
          <p:nvPr/>
        </p:nvSpPr>
        <p:spPr bwMode="auto">
          <a:xfrm>
            <a:off x="2206625" y="3965600"/>
            <a:ext cx="338138" cy="3365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Rectangle 20"/>
          <p:cNvSpPr>
            <a:spLocks noChangeAspect="1" noChangeArrowheads="1"/>
          </p:cNvSpPr>
          <p:nvPr/>
        </p:nvSpPr>
        <p:spPr bwMode="auto">
          <a:xfrm>
            <a:off x="1868488" y="4981600"/>
            <a:ext cx="336550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" name="Rectangle 21"/>
          <p:cNvSpPr>
            <a:spLocks noChangeAspect="1" noChangeArrowheads="1"/>
          </p:cNvSpPr>
          <p:nvPr/>
        </p:nvSpPr>
        <p:spPr bwMode="auto">
          <a:xfrm>
            <a:off x="2881313" y="4981600"/>
            <a:ext cx="338137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Rectangle 22"/>
          <p:cNvSpPr>
            <a:spLocks noChangeAspect="1" noChangeArrowheads="1"/>
          </p:cNvSpPr>
          <p:nvPr/>
        </p:nvSpPr>
        <p:spPr bwMode="auto">
          <a:xfrm>
            <a:off x="2205038" y="4981600"/>
            <a:ext cx="338137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" name="Rectangle 23"/>
          <p:cNvSpPr>
            <a:spLocks noChangeAspect="1" noChangeArrowheads="1"/>
          </p:cNvSpPr>
          <p:nvPr/>
        </p:nvSpPr>
        <p:spPr bwMode="auto">
          <a:xfrm>
            <a:off x="2543175" y="4981600"/>
            <a:ext cx="338138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" name="Rectangle 24"/>
          <p:cNvSpPr>
            <a:spLocks noChangeAspect="1" noChangeArrowheads="1"/>
          </p:cNvSpPr>
          <p:nvPr/>
        </p:nvSpPr>
        <p:spPr bwMode="auto">
          <a:xfrm>
            <a:off x="2206625" y="4641875"/>
            <a:ext cx="338138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Rectangle 25"/>
          <p:cNvSpPr>
            <a:spLocks noChangeAspect="1" noChangeArrowheads="1"/>
          </p:cNvSpPr>
          <p:nvPr/>
        </p:nvSpPr>
        <p:spPr bwMode="auto">
          <a:xfrm>
            <a:off x="3219450" y="4641875"/>
            <a:ext cx="338138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9" name="Rectangle 26"/>
          <p:cNvSpPr>
            <a:spLocks noChangeAspect="1" noChangeArrowheads="1"/>
          </p:cNvSpPr>
          <p:nvPr/>
        </p:nvSpPr>
        <p:spPr bwMode="auto">
          <a:xfrm>
            <a:off x="2544763" y="4641875"/>
            <a:ext cx="338137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Rectangle 27"/>
          <p:cNvSpPr>
            <a:spLocks noChangeAspect="1" noChangeArrowheads="1"/>
          </p:cNvSpPr>
          <p:nvPr/>
        </p:nvSpPr>
        <p:spPr bwMode="auto">
          <a:xfrm>
            <a:off x="2882900" y="4641875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Rectangle 28"/>
          <p:cNvSpPr>
            <a:spLocks noChangeAspect="1" noChangeArrowheads="1"/>
          </p:cNvSpPr>
          <p:nvPr/>
        </p:nvSpPr>
        <p:spPr bwMode="auto">
          <a:xfrm>
            <a:off x="2544763" y="4303737"/>
            <a:ext cx="338137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2" name="Rectangle 29"/>
          <p:cNvSpPr>
            <a:spLocks noChangeAspect="1" noChangeArrowheads="1"/>
          </p:cNvSpPr>
          <p:nvPr/>
        </p:nvSpPr>
        <p:spPr bwMode="auto">
          <a:xfrm>
            <a:off x="3557588" y="4303737"/>
            <a:ext cx="338137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Rectangle 30"/>
          <p:cNvSpPr>
            <a:spLocks noChangeAspect="1" noChangeArrowheads="1"/>
          </p:cNvSpPr>
          <p:nvPr/>
        </p:nvSpPr>
        <p:spPr bwMode="auto">
          <a:xfrm>
            <a:off x="2882900" y="4303737"/>
            <a:ext cx="336550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Rectangle 31"/>
          <p:cNvSpPr>
            <a:spLocks noChangeAspect="1" noChangeArrowheads="1"/>
          </p:cNvSpPr>
          <p:nvPr/>
        </p:nvSpPr>
        <p:spPr bwMode="auto">
          <a:xfrm>
            <a:off x="3219450" y="4303737"/>
            <a:ext cx="338138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Rectangle 32"/>
          <p:cNvSpPr>
            <a:spLocks noChangeAspect="1" noChangeArrowheads="1"/>
          </p:cNvSpPr>
          <p:nvPr/>
        </p:nvSpPr>
        <p:spPr bwMode="auto">
          <a:xfrm>
            <a:off x="2881313" y="3965600"/>
            <a:ext cx="338137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" name="Rectangle 33"/>
          <p:cNvSpPr>
            <a:spLocks noChangeAspect="1" noChangeArrowheads="1"/>
          </p:cNvSpPr>
          <p:nvPr/>
        </p:nvSpPr>
        <p:spPr bwMode="auto">
          <a:xfrm>
            <a:off x="3894138" y="3965600"/>
            <a:ext cx="338137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Rectangle 34"/>
          <p:cNvSpPr>
            <a:spLocks noChangeAspect="1" noChangeArrowheads="1"/>
          </p:cNvSpPr>
          <p:nvPr/>
        </p:nvSpPr>
        <p:spPr bwMode="auto">
          <a:xfrm>
            <a:off x="3219450" y="3965600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8" name="Rectangle 35"/>
          <p:cNvSpPr>
            <a:spLocks noChangeAspect="1" noChangeArrowheads="1"/>
          </p:cNvSpPr>
          <p:nvPr/>
        </p:nvSpPr>
        <p:spPr bwMode="auto">
          <a:xfrm>
            <a:off x="3556000" y="3965600"/>
            <a:ext cx="338138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9" name="Line 36"/>
          <p:cNvSpPr>
            <a:spLocks noChangeAspect="1" noChangeShapeType="1"/>
          </p:cNvSpPr>
          <p:nvPr/>
        </p:nvSpPr>
        <p:spPr bwMode="auto">
          <a:xfrm>
            <a:off x="517525" y="5318150"/>
            <a:ext cx="84470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0" name="Line 37"/>
          <p:cNvSpPr>
            <a:spLocks noChangeAspect="1" noChangeShapeType="1"/>
          </p:cNvSpPr>
          <p:nvPr/>
        </p:nvSpPr>
        <p:spPr bwMode="auto">
          <a:xfrm flipV="1">
            <a:off x="517525" y="1600225"/>
            <a:ext cx="0" cy="37179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38"/>
          <p:cNvSpPr>
            <a:spLocks noChangeAspect="1" noChangeArrowheads="1"/>
          </p:cNvSpPr>
          <p:nvPr/>
        </p:nvSpPr>
        <p:spPr bwMode="auto">
          <a:xfrm>
            <a:off x="517525" y="5261000"/>
            <a:ext cx="336550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2" name="Rectangle 39"/>
          <p:cNvSpPr>
            <a:spLocks noChangeAspect="1" noChangeArrowheads="1"/>
          </p:cNvSpPr>
          <p:nvPr/>
        </p:nvSpPr>
        <p:spPr bwMode="auto">
          <a:xfrm>
            <a:off x="855663" y="5261000"/>
            <a:ext cx="338137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3" name="Rectangle 40"/>
          <p:cNvSpPr>
            <a:spLocks noChangeAspect="1" noChangeArrowheads="1"/>
          </p:cNvSpPr>
          <p:nvPr/>
        </p:nvSpPr>
        <p:spPr bwMode="auto">
          <a:xfrm>
            <a:off x="1531938" y="5261000"/>
            <a:ext cx="336550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4" name="Rectangle 41"/>
          <p:cNvSpPr>
            <a:spLocks noChangeAspect="1" noChangeArrowheads="1"/>
          </p:cNvSpPr>
          <p:nvPr/>
        </p:nvSpPr>
        <p:spPr bwMode="auto">
          <a:xfrm>
            <a:off x="1193800" y="5261000"/>
            <a:ext cx="338138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5" name="Rectangle 42"/>
          <p:cNvSpPr>
            <a:spLocks noChangeAspect="1" noChangeArrowheads="1"/>
          </p:cNvSpPr>
          <p:nvPr/>
        </p:nvSpPr>
        <p:spPr bwMode="auto">
          <a:xfrm>
            <a:off x="1868488" y="5261000"/>
            <a:ext cx="338137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6" name="Rectangle 43"/>
          <p:cNvSpPr>
            <a:spLocks noChangeAspect="1" noChangeArrowheads="1"/>
          </p:cNvSpPr>
          <p:nvPr/>
        </p:nvSpPr>
        <p:spPr bwMode="auto">
          <a:xfrm>
            <a:off x="2882900" y="5261000"/>
            <a:ext cx="336550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7" name="Rectangle 44"/>
          <p:cNvSpPr>
            <a:spLocks noChangeAspect="1" noChangeArrowheads="1"/>
          </p:cNvSpPr>
          <p:nvPr/>
        </p:nvSpPr>
        <p:spPr bwMode="auto">
          <a:xfrm>
            <a:off x="2206625" y="5261000"/>
            <a:ext cx="338138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8" name="Rectangle 45"/>
          <p:cNvSpPr>
            <a:spLocks noChangeAspect="1" noChangeArrowheads="1"/>
          </p:cNvSpPr>
          <p:nvPr/>
        </p:nvSpPr>
        <p:spPr bwMode="auto">
          <a:xfrm>
            <a:off x="2544763" y="5261000"/>
            <a:ext cx="338137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9" name="Rectangle 46"/>
          <p:cNvSpPr>
            <a:spLocks noChangeAspect="1" noChangeArrowheads="1"/>
          </p:cNvSpPr>
          <p:nvPr/>
        </p:nvSpPr>
        <p:spPr bwMode="auto">
          <a:xfrm>
            <a:off x="3221038" y="5261000"/>
            <a:ext cx="338137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0" name="Rectangle 47"/>
          <p:cNvSpPr>
            <a:spLocks noChangeAspect="1" noChangeArrowheads="1"/>
          </p:cNvSpPr>
          <p:nvPr/>
        </p:nvSpPr>
        <p:spPr bwMode="auto">
          <a:xfrm>
            <a:off x="3559175" y="5261000"/>
            <a:ext cx="338138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1" name="Rectangle 48"/>
          <p:cNvSpPr>
            <a:spLocks noChangeAspect="1" noChangeArrowheads="1"/>
          </p:cNvSpPr>
          <p:nvPr/>
        </p:nvSpPr>
        <p:spPr bwMode="auto">
          <a:xfrm>
            <a:off x="5248275" y="5261000"/>
            <a:ext cx="338138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2" name="Rectangle 49"/>
          <p:cNvSpPr>
            <a:spLocks noChangeAspect="1" noChangeArrowheads="1"/>
          </p:cNvSpPr>
          <p:nvPr/>
        </p:nvSpPr>
        <p:spPr bwMode="auto">
          <a:xfrm>
            <a:off x="179388" y="4980012"/>
            <a:ext cx="338137" cy="338138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3" name="Rectangle 50"/>
          <p:cNvSpPr>
            <a:spLocks noChangeAspect="1" noChangeArrowheads="1"/>
          </p:cNvSpPr>
          <p:nvPr/>
        </p:nvSpPr>
        <p:spPr bwMode="auto">
          <a:xfrm>
            <a:off x="179388" y="4640287"/>
            <a:ext cx="338137" cy="338138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4" name="Rectangle 51"/>
          <p:cNvSpPr>
            <a:spLocks noChangeAspect="1" noChangeArrowheads="1"/>
          </p:cNvSpPr>
          <p:nvPr/>
        </p:nvSpPr>
        <p:spPr bwMode="auto">
          <a:xfrm>
            <a:off x="179388" y="4302150"/>
            <a:ext cx="338137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5" name="Rectangle 52"/>
          <p:cNvSpPr>
            <a:spLocks noChangeAspect="1" noChangeArrowheads="1"/>
          </p:cNvSpPr>
          <p:nvPr/>
        </p:nvSpPr>
        <p:spPr bwMode="auto">
          <a:xfrm>
            <a:off x="179388" y="3965600"/>
            <a:ext cx="338137" cy="3365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6" name="Line 54"/>
          <p:cNvSpPr>
            <a:spLocks noChangeAspect="1" noChangeShapeType="1"/>
          </p:cNvSpPr>
          <p:nvPr/>
        </p:nvSpPr>
        <p:spPr bwMode="auto">
          <a:xfrm flipH="1">
            <a:off x="517525" y="4640287"/>
            <a:ext cx="33813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7" name="Line 55"/>
          <p:cNvSpPr>
            <a:spLocks noChangeAspect="1" noChangeShapeType="1"/>
          </p:cNvSpPr>
          <p:nvPr/>
        </p:nvSpPr>
        <p:spPr bwMode="auto">
          <a:xfrm flipH="1">
            <a:off x="517525" y="4302150"/>
            <a:ext cx="676275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8" name="Line 56"/>
          <p:cNvSpPr>
            <a:spLocks noChangeAspect="1" noChangeShapeType="1"/>
          </p:cNvSpPr>
          <p:nvPr/>
        </p:nvSpPr>
        <p:spPr bwMode="auto">
          <a:xfrm flipH="1">
            <a:off x="517525" y="3965600"/>
            <a:ext cx="1014413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9" name="Rectangle 57"/>
          <p:cNvSpPr>
            <a:spLocks noChangeAspect="1" noChangeArrowheads="1"/>
          </p:cNvSpPr>
          <p:nvPr/>
        </p:nvSpPr>
        <p:spPr bwMode="auto">
          <a:xfrm>
            <a:off x="7105650" y="5319737"/>
            <a:ext cx="1603375" cy="641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时间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（时钟周期）</a:t>
            </a:r>
            <a:endParaRPr kumimoji="0" lang="zh-CN" altLang="en-US" sz="1800" i="0" u="none" strike="noStrike" kern="0" cap="none" spc="0" normalizeH="0" baseline="-25000" noProof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60" name="Rectangle 58"/>
          <p:cNvSpPr>
            <a:spLocks noChangeAspect="1" noChangeArrowheads="1"/>
          </p:cNvSpPr>
          <p:nvPr/>
        </p:nvSpPr>
        <p:spPr bwMode="auto">
          <a:xfrm>
            <a:off x="517525" y="1484337"/>
            <a:ext cx="1408113" cy="36830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空间（段）</a:t>
            </a:r>
            <a:endParaRPr kumimoji="0" lang="zh-CN" altLang="en-US" sz="1800" i="0" u="none" strike="noStrike" kern="0" cap="none" spc="0" normalizeH="0" baseline="-25000" noProof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61" name="Rectangle 60"/>
          <p:cNvSpPr>
            <a:spLocks noChangeAspect="1" noChangeArrowheads="1"/>
          </p:cNvSpPr>
          <p:nvPr/>
        </p:nvSpPr>
        <p:spPr bwMode="auto">
          <a:xfrm>
            <a:off x="1868488" y="3627462"/>
            <a:ext cx="336550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2" name="Rectangle 61"/>
          <p:cNvSpPr>
            <a:spLocks noChangeAspect="1" noChangeArrowheads="1"/>
          </p:cNvSpPr>
          <p:nvPr/>
        </p:nvSpPr>
        <p:spPr bwMode="auto">
          <a:xfrm>
            <a:off x="2206625" y="3627462"/>
            <a:ext cx="338138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3" name="Rectangle 62"/>
          <p:cNvSpPr>
            <a:spLocks noChangeAspect="1" noChangeArrowheads="1"/>
          </p:cNvSpPr>
          <p:nvPr/>
        </p:nvSpPr>
        <p:spPr bwMode="auto">
          <a:xfrm>
            <a:off x="2206625" y="3287737"/>
            <a:ext cx="338138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4" name="Rectangle 63"/>
          <p:cNvSpPr>
            <a:spLocks noChangeAspect="1" noChangeArrowheads="1"/>
          </p:cNvSpPr>
          <p:nvPr/>
        </p:nvSpPr>
        <p:spPr bwMode="auto">
          <a:xfrm>
            <a:off x="2544763" y="2949600"/>
            <a:ext cx="338137" cy="338137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5" name="Rectangle 64"/>
          <p:cNvSpPr>
            <a:spLocks noChangeAspect="1" noChangeArrowheads="1"/>
          </p:cNvSpPr>
          <p:nvPr/>
        </p:nvSpPr>
        <p:spPr bwMode="auto">
          <a:xfrm>
            <a:off x="2881313" y="2611462"/>
            <a:ext cx="338137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6" name="Line 65"/>
          <p:cNvSpPr>
            <a:spLocks noChangeAspect="1" noChangeShapeType="1"/>
          </p:cNvSpPr>
          <p:nvPr/>
        </p:nvSpPr>
        <p:spPr bwMode="auto">
          <a:xfrm flipH="1">
            <a:off x="517525" y="3627462"/>
            <a:ext cx="1350963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7" name="Line 66"/>
          <p:cNvSpPr>
            <a:spLocks noChangeAspect="1" noChangeShapeType="1"/>
          </p:cNvSpPr>
          <p:nvPr/>
        </p:nvSpPr>
        <p:spPr bwMode="auto">
          <a:xfrm flipH="1">
            <a:off x="517525" y="3289325"/>
            <a:ext cx="168910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8" name="Line 67"/>
          <p:cNvSpPr>
            <a:spLocks noChangeAspect="1" noChangeShapeType="1"/>
          </p:cNvSpPr>
          <p:nvPr/>
        </p:nvSpPr>
        <p:spPr bwMode="auto">
          <a:xfrm flipH="1">
            <a:off x="517525" y="2951187"/>
            <a:ext cx="202723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9" name="Line 68"/>
          <p:cNvSpPr>
            <a:spLocks noChangeAspect="1" noChangeShapeType="1"/>
          </p:cNvSpPr>
          <p:nvPr/>
        </p:nvSpPr>
        <p:spPr bwMode="auto">
          <a:xfrm flipH="1">
            <a:off x="517525" y="2611462"/>
            <a:ext cx="2365375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0" name="Rectangle 69"/>
          <p:cNvSpPr>
            <a:spLocks noChangeAspect="1" noChangeArrowheads="1"/>
          </p:cNvSpPr>
          <p:nvPr/>
        </p:nvSpPr>
        <p:spPr bwMode="auto">
          <a:xfrm>
            <a:off x="179388" y="3627462"/>
            <a:ext cx="338137" cy="338138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71" name="Rectangle 70"/>
          <p:cNvSpPr>
            <a:spLocks noChangeAspect="1" noChangeArrowheads="1"/>
          </p:cNvSpPr>
          <p:nvPr/>
        </p:nvSpPr>
        <p:spPr bwMode="auto">
          <a:xfrm>
            <a:off x="179388" y="3287737"/>
            <a:ext cx="338137" cy="338138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72" name="Rectangle 71"/>
          <p:cNvSpPr>
            <a:spLocks noChangeAspect="1" noChangeArrowheads="1"/>
          </p:cNvSpPr>
          <p:nvPr/>
        </p:nvSpPr>
        <p:spPr bwMode="auto">
          <a:xfrm>
            <a:off x="179388" y="2949600"/>
            <a:ext cx="338137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73" name="Rectangle 72"/>
          <p:cNvSpPr>
            <a:spLocks noChangeAspect="1" noChangeArrowheads="1"/>
          </p:cNvSpPr>
          <p:nvPr/>
        </p:nvSpPr>
        <p:spPr bwMode="auto">
          <a:xfrm>
            <a:off x="179388" y="2611462"/>
            <a:ext cx="338137" cy="338138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74" name="Rectangle 73"/>
          <p:cNvSpPr>
            <a:spLocks noChangeAspect="1" noChangeArrowheads="1"/>
          </p:cNvSpPr>
          <p:nvPr/>
        </p:nvSpPr>
        <p:spPr bwMode="auto">
          <a:xfrm>
            <a:off x="3222625" y="2274912"/>
            <a:ext cx="338138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5" name="Rectangle 74"/>
          <p:cNvSpPr>
            <a:spLocks noChangeAspect="1" noChangeArrowheads="1"/>
          </p:cNvSpPr>
          <p:nvPr/>
        </p:nvSpPr>
        <p:spPr bwMode="auto">
          <a:xfrm>
            <a:off x="3559175" y="1938362"/>
            <a:ext cx="338138" cy="3365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6" name="Line 75"/>
          <p:cNvSpPr>
            <a:spLocks noChangeAspect="1" noChangeShapeType="1"/>
          </p:cNvSpPr>
          <p:nvPr/>
        </p:nvSpPr>
        <p:spPr bwMode="auto">
          <a:xfrm flipH="1">
            <a:off x="517525" y="2274912"/>
            <a:ext cx="2701925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7" name="Line 76"/>
          <p:cNvSpPr>
            <a:spLocks noChangeAspect="1" noChangeShapeType="1"/>
          </p:cNvSpPr>
          <p:nvPr/>
        </p:nvSpPr>
        <p:spPr bwMode="auto">
          <a:xfrm flipH="1">
            <a:off x="517525" y="1938362"/>
            <a:ext cx="304165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8" name="Rectangle 77"/>
          <p:cNvSpPr>
            <a:spLocks noChangeAspect="1" noChangeArrowheads="1"/>
          </p:cNvSpPr>
          <p:nvPr/>
        </p:nvSpPr>
        <p:spPr bwMode="auto">
          <a:xfrm>
            <a:off x="179388" y="2274912"/>
            <a:ext cx="338137" cy="338138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79" name="Rectangle 78"/>
          <p:cNvSpPr>
            <a:spLocks noChangeAspect="1" noChangeArrowheads="1"/>
          </p:cNvSpPr>
          <p:nvPr/>
        </p:nvSpPr>
        <p:spPr bwMode="auto">
          <a:xfrm>
            <a:off x="179388" y="1938362"/>
            <a:ext cx="338137" cy="3365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80" name="Rectangle 79"/>
          <p:cNvSpPr>
            <a:spLocks noChangeAspect="1" noChangeArrowheads="1"/>
          </p:cNvSpPr>
          <p:nvPr/>
        </p:nvSpPr>
        <p:spPr bwMode="auto">
          <a:xfrm>
            <a:off x="2546350" y="3290912"/>
            <a:ext cx="336550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1" name="Rectangle 80"/>
          <p:cNvSpPr>
            <a:spLocks noChangeAspect="1" noChangeArrowheads="1"/>
          </p:cNvSpPr>
          <p:nvPr/>
        </p:nvSpPr>
        <p:spPr bwMode="auto">
          <a:xfrm>
            <a:off x="2884488" y="2951187"/>
            <a:ext cx="338137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2" name="Rectangle 81"/>
          <p:cNvSpPr>
            <a:spLocks noChangeAspect="1" noChangeArrowheads="1"/>
          </p:cNvSpPr>
          <p:nvPr/>
        </p:nvSpPr>
        <p:spPr bwMode="auto">
          <a:xfrm>
            <a:off x="3222625" y="2613050"/>
            <a:ext cx="338138" cy="338137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3" name="Rectangle 82"/>
          <p:cNvSpPr>
            <a:spLocks noChangeAspect="1" noChangeArrowheads="1"/>
          </p:cNvSpPr>
          <p:nvPr/>
        </p:nvSpPr>
        <p:spPr bwMode="auto">
          <a:xfrm>
            <a:off x="3559175" y="2274912"/>
            <a:ext cx="338138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4" name="Rectangle 83"/>
          <p:cNvSpPr>
            <a:spLocks noChangeAspect="1" noChangeArrowheads="1"/>
          </p:cNvSpPr>
          <p:nvPr/>
        </p:nvSpPr>
        <p:spPr bwMode="auto">
          <a:xfrm>
            <a:off x="3897313" y="1938362"/>
            <a:ext cx="336550" cy="3365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5" name="Rectangle 84"/>
          <p:cNvSpPr>
            <a:spLocks noChangeAspect="1" noChangeArrowheads="1"/>
          </p:cNvSpPr>
          <p:nvPr/>
        </p:nvSpPr>
        <p:spPr bwMode="auto">
          <a:xfrm>
            <a:off x="2546350" y="3629050"/>
            <a:ext cx="336550" cy="3365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6" name="Rectangle 85"/>
          <p:cNvSpPr>
            <a:spLocks noChangeAspect="1" noChangeArrowheads="1"/>
          </p:cNvSpPr>
          <p:nvPr/>
        </p:nvSpPr>
        <p:spPr bwMode="auto">
          <a:xfrm>
            <a:off x="2884488" y="3289325"/>
            <a:ext cx="338137" cy="338137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7" name="Rectangle 86"/>
          <p:cNvSpPr>
            <a:spLocks noChangeAspect="1" noChangeArrowheads="1"/>
          </p:cNvSpPr>
          <p:nvPr/>
        </p:nvSpPr>
        <p:spPr bwMode="auto">
          <a:xfrm>
            <a:off x="3222625" y="2951187"/>
            <a:ext cx="338138" cy="338138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8" name="Rectangle 87"/>
          <p:cNvSpPr>
            <a:spLocks noChangeAspect="1" noChangeArrowheads="1"/>
          </p:cNvSpPr>
          <p:nvPr/>
        </p:nvSpPr>
        <p:spPr bwMode="auto">
          <a:xfrm>
            <a:off x="3559175" y="2613050"/>
            <a:ext cx="338138" cy="338137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9" name="Rectangle 88"/>
          <p:cNvSpPr>
            <a:spLocks noChangeAspect="1" noChangeArrowheads="1"/>
          </p:cNvSpPr>
          <p:nvPr/>
        </p:nvSpPr>
        <p:spPr bwMode="auto">
          <a:xfrm>
            <a:off x="3897313" y="2274912"/>
            <a:ext cx="336550" cy="338138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0" name="Rectangle 89"/>
          <p:cNvSpPr>
            <a:spLocks noChangeAspect="1" noChangeArrowheads="1"/>
          </p:cNvSpPr>
          <p:nvPr/>
        </p:nvSpPr>
        <p:spPr bwMode="auto">
          <a:xfrm>
            <a:off x="4232275" y="1938362"/>
            <a:ext cx="338138" cy="3365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1" name="Rectangle 90"/>
          <p:cNvSpPr>
            <a:spLocks noChangeAspect="1" noChangeArrowheads="1"/>
          </p:cNvSpPr>
          <p:nvPr/>
        </p:nvSpPr>
        <p:spPr bwMode="auto">
          <a:xfrm>
            <a:off x="2882900" y="3629050"/>
            <a:ext cx="338138" cy="3365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2" name="Rectangle 91"/>
          <p:cNvSpPr>
            <a:spLocks noChangeAspect="1" noChangeArrowheads="1"/>
          </p:cNvSpPr>
          <p:nvPr/>
        </p:nvSpPr>
        <p:spPr bwMode="auto">
          <a:xfrm>
            <a:off x="3222625" y="3289325"/>
            <a:ext cx="338138" cy="33813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3" name="Rectangle 92"/>
          <p:cNvSpPr>
            <a:spLocks noChangeAspect="1" noChangeArrowheads="1"/>
          </p:cNvSpPr>
          <p:nvPr/>
        </p:nvSpPr>
        <p:spPr bwMode="auto">
          <a:xfrm>
            <a:off x="3560763" y="2951187"/>
            <a:ext cx="336550" cy="338138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4" name="Rectangle 93"/>
          <p:cNvSpPr>
            <a:spLocks noChangeAspect="1" noChangeArrowheads="1"/>
          </p:cNvSpPr>
          <p:nvPr/>
        </p:nvSpPr>
        <p:spPr bwMode="auto">
          <a:xfrm>
            <a:off x="3897313" y="2613050"/>
            <a:ext cx="336550" cy="33813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5" name="Rectangle 94"/>
          <p:cNvSpPr>
            <a:spLocks noChangeAspect="1" noChangeArrowheads="1"/>
          </p:cNvSpPr>
          <p:nvPr/>
        </p:nvSpPr>
        <p:spPr bwMode="auto">
          <a:xfrm>
            <a:off x="4233863" y="2274912"/>
            <a:ext cx="338137" cy="338138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6" name="Rectangle 95"/>
          <p:cNvSpPr>
            <a:spLocks noChangeAspect="1" noChangeArrowheads="1"/>
          </p:cNvSpPr>
          <p:nvPr/>
        </p:nvSpPr>
        <p:spPr bwMode="auto">
          <a:xfrm>
            <a:off x="4570413" y="1938362"/>
            <a:ext cx="338137" cy="3365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7" name="Rectangle 96"/>
          <p:cNvSpPr>
            <a:spLocks noChangeAspect="1" noChangeArrowheads="1"/>
          </p:cNvSpPr>
          <p:nvPr/>
        </p:nvSpPr>
        <p:spPr bwMode="auto">
          <a:xfrm>
            <a:off x="3559175" y="4980012"/>
            <a:ext cx="338138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8" name="Rectangle 97"/>
          <p:cNvSpPr>
            <a:spLocks noChangeAspect="1" noChangeArrowheads="1"/>
          </p:cNvSpPr>
          <p:nvPr/>
        </p:nvSpPr>
        <p:spPr bwMode="auto">
          <a:xfrm>
            <a:off x="3897313" y="4980012"/>
            <a:ext cx="338137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9" name="Rectangle 98"/>
          <p:cNvSpPr>
            <a:spLocks noChangeAspect="1" noChangeArrowheads="1"/>
          </p:cNvSpPr>
          <p:nvPr/>
        </p:nvSpPr>
        <p:spPr bwMode="auto">
          <a:xfrm>
            <a:off x="4573588" y="4980012"/>
            <a:ext cx="338137" cy="338138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0" name="Rectangle 99"/>
          <p:cNvSpPr>
            <a:spLocks noChangeAspect="1" noChangeArrowheads="1"/>
          </p:cNvSpPr>
          <p:nvPr/>
        </p:nvSpPr>
        <p:spPr bwMode="auto">
          <a:xfrm>
            <a:off x="4235450" y="4980012"/>
            <a:ext cx="338138" cy="338138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1" name="Rectangle 100"/>
          <p:cNvSpPr>
            <a:spLocks noChangeAspect="1" noChangeArrowheads="1"/>
          </p:cNvSpPr>
          <p:nvPr/>
        </p:nvSpPr>
        <p:spPr bwMode="auto">
          <a:xfrm>
            <a:off x="3897313" y="4640287"/>
            <a:ext cx="338137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2" name="Rectangle 101"/>
          <p:cNvSpPr>
            <a:spLocks noChangeAspect="1" noChangeArrowheads="1"/>
          </p:cNvSpPr>
          <p:nvPr/>
        </p:nvSpPr>
        <p:spPr bwMode="auto">
          <a:xfrm>
            <a:off x="4237038" y="4640287"/>
            <a:ext cx="338137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3" name="Rectangle 102"/>
          <p:cNvSpPr>
            <a:spLocks noChangeAspect="1" noChangeArrowheads="1"/>
          </p:cNvSpPr>
          <p:nvPr/>
        </p:nvSpPr>
        <p:spPr bwMode="auto">
          <a:xfrm>
            <a:off x="4911725" y="4640287"/>
            <a:ext cx="338138" cy="338138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4" name="Rectangle 103"/>
          <p:cNvSpPr>
            <a:spLocks noChangeAspect="1" noChangeArrowheads="1"/>
          </p:cNvSpPr>
          <p:nvPr/>
        </p:nvSpPr>
        <p:spPr bwMode="auto">
          <a:xfrm>
            <a:off x="4575175" y="4640287"/>
            <a:ext cx="336550" cy="338138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5" name="Rectangle 104"/>
          <p:cNvSpPr>
            <a:spLocks noChangeAspect="1" noChangeArrowheads="1"/>
          </p:cNvSpPr>
          <p:nvPr/>
        </p:nvSpPr>
        <p:spPr bwMode="auto">
          <a:xfrm>
            <a:off x="4235450" y="4302150"/>
            <a:ext cx="338138" cy="338137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6" name="Rectangle 105"/>
          <p:cNvSpPr>
            <a:spLocks noChangeAspect="1" noChangeArrowheads="1"/>
          </p:cNvSpPr>
          <p:nvPr/>
        </p:nvSpPr>
        <p:spPr bwMode="auto">
          <a:xfrm>
            <a:off x="4575175" y="4302150"/>
            <a:ext cx="336550" cy="338137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7" name="Rectangle 106"/>
          <p:cNvSpPr>
            <a:spLocks noChangeAspect="1" noChangeArrowheads="1"/>
          </p:cNvSpPr>
          <p:nvPr/>
        </p:nvSpPr>
        <p:spPr bwMode="auto">
          <a:xfrm>
            <a:off x="5249863" y="4302150"/>
            <a:ext cx="338137" cy="33813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8" name="Rectangle 107"/>
          <p:cNvSpPr>
            <a:spLocks noChangeAspect="1" noChangeArrowheads="1"/>
          </p:cNvSpPr>
          <p:nvPr/>
        </p:nvSpPr>
        <p:spPr bwMode="auto">
          <a:xfrm>
            <a:off x="4911725" y="4302150"/>
            <a:ext cx="338138" cy="338137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9" name="Rectangle 108"/>
          <p:cNvSpPr>
            <a:spLocks noChangeAspect="1" noChangeArrowheads="1"/>
          </p:cNvSpPr>
          <p:nvPr/>
        </p:nvSpPr>
        <p:spPr bwMode="auto">
          <a:xfrm>
            <a:off x="4572000" y="3965600"/>
            <a:ext cx="338138" cy="3365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0" name="Rectangle 109"/>
          <p:cNvSpPr>
            <a:spLocks noChangeAspect="1" noChangeArrowheads="1"/>
          </p:cNvSpPr>
          <p:nvPr/>
        </p:nvSpPr>
        <p:spPr bwMode="auto">
          <a:xfrm>
            <a:off x="4911725" y="3965600"/>
            <a:ext cx="336550" cy="3365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1" name="Rectangle 110"/>
          <p:cNvSpPr>
            <a:spLocks noChangeAspect="1" noChangeArrowheads="1"/>
          </p:cNvSpPr>
          <p:nvPr/>
        </p:nvSpPr>
        <p:spPr bwMode="auto">
          <a:xfrm>
            <a:off x="5586413" y="3965600"/>
            <a:ext cx="338137" cy="3365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2" name="Rectangle 111"/>
          <p:cNvSpPr>
            <a:spLocks noChangeAspect="1" noChangeArrowheads="1"/>
          </p:cNvSpPr>
          <p:nvPr/>
        </p:nvSpPr>
        <p:spPr bwMode="auto">
          <a:xfrm>
            <a:off x="5248275" y="3965600"/>
            <a:ext cx="338138" cy="3365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3" name="Rectangle 112"/>
          <p:cNvSpPr>
            <a:spLocks noChangeAspect="1" noChangeArrowheads="1"/>
          </p:cNvSpPr>
          <p:nvPr/>
        </p:nvSpPr>
        <p:spPr bwMode="auto">
          <a:xfrm>
            <a:off x="4910138" y="3627462"/>
            <a:ext cx="336550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4" name="Rectangle 113"/>
          <p:cNvSpPr>
            <a:spLocks noChangeAspect="1" noChangeArrowheads="1"/>
          </p:cNvSpPr>
          <p:nvPr/>
        </p:nvSpPr>
        <p:spPr bwMode="auto">
          <a:xfrm>
            <a:off x="5248275" y="3627462"/>
            <a:ext cx="338138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5" name="Rectangle 114"/>
          <p:cNvSpPr>
            <a:spLocks noChangeAspect="1" noChangeArrowheads="1"/>
          </p:cNvSpPr>
          <p:nvPr/>
        </p:nvSpPr>
        <p:spPr bwMode="auto">
          <a:xfrm>
            <a:off x="5248275" y="3287737"/>
            <a:ext cx="338138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6" name="Rectangle 115"/>
          <p:cNvSpPr>
            <a:spLocks noChangeAspect="1" noChangeArrowheads="1"/>
          </p:cNvSpPr>
          <p:nvPr/>
        </p:nvSpPr>
        <p:spPr bwMode="auto">
          <a:xfrm>
            <a:off x="5586413" y="2949600"/>
            <a:ext cx="338137" cy="338137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7" name="Rectangle 116"/>
          <p:cNvSpPr>
            <a:spLocks noChangeAspect="1" noChangeArrowheads="1"/>
          </p:cNvSpPr>
          <p:nvPr/>
        </p:nvSpPr>
        <p:spPr bwMode="auto">
          <a:xfrm>
            <a:off x="5922963" y="2611462"/>
            <a:ext cx="338137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8" name="Rectangle 117"/>
          <p:cNvSpPr>
            <a:spLocks noChangeAspect="1" noChangeArrowheads="1"/>
          </p:cNvSpPr>
          <p:nvPr/>
        </p:nvSpPr>
        <p:spPr bwMode="auto">
          <a:xfrm>
            <a:off x="6264275" y="2274912"/>
            <a:ext cx="338138" cy="338138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9" name="Rectangle 118"/>
          <p:cNvSpPr>
            <a:spLocks noChangeAspect="1" noChangeArrowheads="1"/>
          </p:cNvSpPr>
          <p:nvPr/>
        </p:nvSpPr>
        <p:spPr bwMode="auto">
          <a:xfrm>
            <a:off x="6600825" y="1938362"/>
            <a:ext cx="338138" cy="3365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Rectangle 119"/>
          <p:cNvSpPr>
            <a:spLocks noChangeAspect="1" noChangeArrowheads="1"/>
          </p:cNvSpPr>
          <p:nvPr/>
        </p:nvSpPr>
        <p:spPr bwMode="auto">
          <a:xfrm>
            <a:off x="5588000" y="3290912"/>
            <a:ext cx="336550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1" name="Rectangle 120"/>
          <p:cNvSpPr>
            <a:spLocks noChangeAspect="1" noChangeArrowheads="1"/>
          </p:cNvSpPr>
          <p:nvPr/>
        </p:nvSpPr>
        <p:spPr bwMode="auto">
          <a:xfrm>
            <a:off x="5926138" y="2951187"/>
            <a:ext cx="338137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2" name="Rectangle 121"/>
          <p:cNvSpPr>
            <a:spLocks noChangeAspect="1" noChangeArrowheads="1"/>
          </p:cNvSpPr>
          <p:nvPr/>
        </p:nvSpPr>
        <p:spPr bwMode="auto">
          <a:xfrm>
            <a:off x="6264275" y="2613050"/>
            <a:ext cx="338138" cy="338137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3" name="Rectangle 122"/>
          <p:cNvSpPr>
            <a:spLocks noChangeAspect="1" noChangeArrowheads="1"/>
          </p:cNvSpPr>
          <p:nvPr/>
        </p:nvSpPr>
        <p:spPr bwMode="auto">
          <a:xfrm>
            <a:off x="6600825" y="2274912"/>
            <a:ext cx="338138" cy="338138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4" name="Rectangle 123"/>
          <p:cNvSpPr>
            <a:spLocks noChangeAspect="1" noChangeArrowheads="1"/>
          </p:cNvSpPr>
          <p:nvPr/>
        </p:nvSpPr>
        <p:spPr bwMode="auto">
          <a:xfrm>
            <a:off x="6938963" y="1938362"/>
            <a:ext cx="336550" cy="3365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5" name="Rectangle 124"/>
          <p:cNvSpPr>
            <a:spLocks noChangeAspect="1" noChangeArrowheads="1"/>
          </p:cNvSpPr>
          <p:nvPr/>
        </p:nvSpPr>
        <p:spPr bwMode="auto">
          <a:xfrm>
            <a:off x="5588000" y="3629050"/>
            <a:ext cx="336550" cy="3365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6" name="Rectangle 125"/>
          <p:cNvSpPr>
            <a:spLocks noChangeAspect="1" noChangeArrowheads="1"/>
          </p:cNvSpPr>
          <p:nvPr/>
        </p:nvSpPr>
        <p:spPr bwMode="auto">
          <a:xfrm>
            <a:off x="5926138" y="3289325"/>
            <a:ext cx="338137" cy="338137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7" name="Rectangle 126"/>
          <p:cNvSpPr>
            <a:spLocks noChangeAspect="1" noChangeArrowheads="1"/>
          </p:cNvSpPr>
          <p:nvPr/>
        </p:nvSpPr>
        <p:spPr bwMode="auto">
          <a:xfrm>
            <a:off x="6264275" y="2951187"/>
            <a:ext cx="338138" cy="338138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8" name="Rectangle 127"/>
          <p:cNvSpPr>
            <a:spLocks noChangeAspect="1" noChangeArrowheads="1"/>
          </p:cNvSpPr>
          <p:nvPr/>
        </p:nvSpPr>
        <p:spPr bwMode="auto">
          <a:xfrm>
            <a:off x="6600825" y="2613050"/>
            <a:ext cx="338138" cy="338137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9" name="Rectangle 128"/>
          <p:cNvSpPr>
            <a:spLocks noChangeAspect="1" noChangeArrowheads="1"/>
          </p:cNvSpPr>
          <p:nvPr/>
        </p:nvSpPr>
        <p:spPr bwMode="auto">
          <a:xfrm>
            <a:off x="6938963" y="2274912"/>
            <a:ext cx="336550" cy="338138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0" name="Rectangle 129"/>
          <p:cNvSpPr>
            <a:spLocks noChangeAspect="1" noChangeArrowheads="1"/>
          </p:cNvSpPr>
          <p:nvPr/>
        </p:nvSpPr>
        <p:spPr bwMode="auto">
          <a:xfrm>
            <a:off x="7275513" y="1938362"/>
            <a:ext cx="336550" cy="3365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1" name="Rectangle 130"/>
          <p:cNvSpPr>
            <a:spLocks noChangeAspect="1" noChangeArrowheads="1"/>
          </p:cNvSpPr>
          <p:nvPr/>
        </p:nvSpPr>
        <p:spPr bwMode="auto">
          <a:xfrm>
            <a:off x="5924550" y="3629050"/>
            <a:ext cx="338138" cy="3365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2" name="Rectangle 131"/>
          <p:cNvSpPr>
            <a:spLocks noChangeAspect="1" noChangeArrowheads="1"/>
          </p:cNvSpPr>
          <p:nvPr/>
        </p:nvSpPr>
        <p:spPr bwMode="auto">
          <a:xfrm>
            <a:off x="6264275" y="3289325"/>
            <a:ext cx="338138" cy="33813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3" name="Rectangle 132"/>
          <p:cNvSpPr>
            <a:spLocks noChangeAspect="1" noChangeArrowheads="1"/>
          </p:cNvSpPr>
          <p:nvPr/>
        </p:nvSpPr>
        <p:spPr bwMode="auto">
          <a:xfrm>
            <a:off x="6602413" y="2951187"/>
            <a:ext cx="336550" cy="338138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4" name="Rectangle 133"/>
          <p:cNvSpPr>
            <a:spLocks noChangeAspect="1" noChangeArrowheads="1"/>
          </p:cNvSpPr>
          <p:nvPr/>
        </p:nvSpPr>
        <p:spPr bwMode="auto">
          <a:xfrm>
            <a:off x="6938963" y="2613050"/>
            <a:ext cx="336550" cy="338137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5" name="Rectangle 134"/>
          <p:cNvSpPr>
            <a:spLocks noChangeAspect="1" noChangeArrowheads="1"/>
          </p:cNvSpPr>
          <p:nvPr/>
        </p:nvSpPr>
        <p:spPr bwMode="auto">
          <a:xfrm>
            <a:off x="7275513" y="2274912"/>
            <a:ext cx="338137" cy="338138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6" name="Rectangle 135"/>
          <p:cNvSpPr>
            <a:spLocks noChangeAspect="1" noChangeArrowheads="1"/>
          </p:cNvSpPr>
          <p:nvPr/>
        </p:nvSpPr>
        <p:spPr bwMode="auto">
          <a:xfrm>
            <a:off x="7612063" y="1938362"/>
            <a:ext cx="338137" cy="3365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7" name="Rectangle 136"/>
          <p:cNvSpPr>
            <a:spLocks noChangeAspect="1" noChangeArrowheads="1"/>
          </p:cNvSpPr>
          <p:nvPr/>
        </p:nvSpPr>
        <p:spPr bwMode="auto">
          <a:xfrm>
            <a:off x="5248275" y="4980012"/>
            <a:ext cx="338138" cy="338138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8" name="Rectangle 137"/>
          <p:cNvSpPr>
            <a:spLocks noChangeAspect="1" noChangeArrowheads="1"/>
          </p:cNvSpPr>
          <p:nvPr/>
        </p:nvSpPr>
        <p:spPr bwMode="auto">
          <a:xfrm>
            <a:off x="4911725" y="4980012"/>
            <a:ext cx="336550" cy="338138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9" name="Rectangle 138"/>
          <p:cNvSpPr>
            <a:spLocks noChangeAspect="1" noChangeArrowheads="1"/>
          </p:cNvSpPr>
          <p:nvPr/>
        </p:nvSpPr>
        <p:spPr bwMode="auto">
          <a:xfrm>
            <a:off x="5588000" y="4640287"/>
            <a:ext cx="336550" cy="338138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0" name="Rectangle 139"/>
          <p:cNvSpPr>
            <a:spLocks noChangeAspect="1" noChangeArrowheads="1"/>
          </p:cNvSpPr>
          <p:nvPr/>
        </p:nvSpPr>
        <p:spPr bwMode="auto">
          <a:xfrm>
            <a:off x="5249863" y="4640287"/>
            <a:ext cx="338137" cy="338138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1" name="Rectangle 140"/>
          <p:cNvSpPr>
            <a:spLocks noChangeAspect="1" noChangeArrowheads="1"/>
          </p:cNvSpPr>
          <p:nvPr/>
        </p:nvSpPr>
        <p:spPr bwMode="auto">
          <a:xfrm>
            <a:off x="5924550" y="4302150"/>
            <a:ext cx="338138" cy="338137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2" name="Rectangle 141"/>
          <p:cNvSpPr>
            <a:spLocks noChangeAspect="1" noChangeArrowheads="1"/>
          </p:cNvSpPr>
          <p:nvPr/>
        </p:nvSpPr>
        <p:spPr bwMode="auto">
          <a:xfrm>
            <a:off x="5588000" y="4302150"/>
            <a:ext cx="336550" cy="338137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3" name="Rectangle 142"/>
          <p:cNvSpPr>
            <a:spLocks noChangeAspect="1" noChangeArrowheads="1"/>
          </p:cNvSpPr>
          <p:nvPr/>
        </p:nvSpPr>
        <p:spPr bwMode="auto">
          <a:xfrm>
            <a:off x="6261100" y="3965600"/>
            <a:ext cx="338138" cy="3365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4" name="Rectangle 143"/>
          <p:cNvSpPr>
            <a:spLocks noChangeAspect="1" noChangeArrowheads="1"/>
          </p:cNvSpPr>
          <p:nvPr/>
        </p:nvSpPr>
        <p:spPr bwMode="auto">
          <a:xfrm>
            <a:off x="5924550" y="3965600"/>
            <a:ext cx="336550" cy="3365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5" name="Rectangle 144"/>
          <p:cNvSpPr>
            <a:spLocks noChangeAspect="1" noChangeArrowheads="1"/>
          </p:cNvSpPr>
          <p:nvPr/>
        </p:nvSpPr>
        <p:spPr bwMode="auto">
          <a:xfrm>
            <a:off x="6262688" y="3629050"/>
            <a:ext cx="338137" cy="3365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6" name="Rectangle 145"/>
          <p:cNvSpPr>
            <a:spLocks noChangeAspect="1" noChangeArrowheads="1"/>
          </p:cNvSpPr>
          <p:nvPr/>
        </p:nvSpPr>
        <p:spPr bwMode="auto">
          <a:xfrm>
            <a:off x="6602413" y="3289325"/>
            <a:ext cx="336550" cy="338137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7" name="Rectangle 146"/>
          <p:cNvSpPr>
            <a:spLocks noChangeAspect="1" noChangeArrowheads="1"/>
          </p:cNvSpPr>
          <p:nvPr/>
        </p:nvSpPr>
        <p:spPr bwMode="auto">
          <a:xfrm>
            <a:off x="6938963" y="2951187"/>
            <a:ext cx="338137" cy="338138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8" name="Rectangle 147"/>
          <p:cNvSpPr>
            <a:spLocks noChangeAspect="1" noChangeArrowheads="1"/>
          </p:cNvSpPr>
          <p:nvPr/>
        </p:nvSpPr>
        <p:spPr bwMode="auto">
          <a:xfrm>
            <a:off x="7275513" y="2613050"/>
            <a:ext cx="338137" cy="338137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9" name="Rectangle 148"/>
          <p:cNvSpPr>
            <a:spLocks noChangeAspect="1" noChangeArrowheads="1"/>
          </p:cNvSpPr>
          <p:nvPr/>
        </p:nvSpPr>
        <p:spPr bwMode="auto">
          <a:xfrm>
            <a:off x="7613650" y="2274912"/>
            <a:ext cx="338138" cy="338138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0" name="Rectangle 149"/>
          <p:cNvSpPr>
            <a:spLocks noChangeAspect="1" noChangeArrowheads="1"/>
          </p:cNvSpPr>
          <p:nvPr/>
        </p:nvSpPr>
        <p:spPr bwMode="auto">
          <a:xfrm>
            <a:off x="7950200" y="1938362"/>
            <a:ext cx="338138" cy="3365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1" name="Rectangle 150"/>
          <p:cNvSpPr>
            <a:spLocks noChangeAspect="1" noChangeArrowheads="1"/>
          </p:cNvSpPr>
          <p:nvPr/>
        </p:nvSpPr>
        <p:spPr bwMode="auto">
          <a:xfrm>
            <a:off x="6600825" y="3629050"/>
            <a:ext cx="338138" cy="3365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2" name="Rectangle 151"/>
          <p:cNvSpPr>
            <a:spLocks noChangeAspect="1" noChangeArrowheads="1"/>
          </p:cNvSpPr>
          <p:nvPr/>
        </p:nvSpPr>
        <p:spPr bwMode="auto">
          <a:xfrm>
            <a:off x="6938963" y="3289325"/>
            <a:ext cx="338137" cy="338137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3" name="Rectangle 152"/>
          <p:cNvSpPr>
            <a:spLocks noChangeAspect="1" noChangeArrowheads="1"/>
          </p:cNvSpPr>
          <p:nvPr/>
        </p:nvSpPr>
        <p:spPr bwMode="auto">
          <a:xfrm>
            <a:off x="7277100" y="2951187"/>
            <a:ext cx="338138" cy="338138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4" name="Rectangle 153"/>
          <p:cNvSpPr>
            <a:spLocks noChangeAspect="1" noChangeArrowheads="1"/>
          </p:cNvSpPr>
          <p:nvPr/>
        </p:nvSpPr>
        <p:spPr bwMode="auto">
          <a:xfrm>
            <a:off x="7613650" y="2613050"/>
            <a:ext cx="338138" cy="338137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5" name="Rectangle 154"/>
          <p:cNvSpPr>
            <a:spLocks noChangeAspect="1" noChangeArrowheads="1"/>
          </p:cNvSpPr>
          <p:nvPr/>
        </p:nvSpPr>
        <p:spPr bwMode="auto">
          <a:xfrm>
            <a:off x="7951788" y="2274912"/>
            <a:ext cx="338137" cy="338138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6" name="Rectangle 155"/>
          <p:cNvSpPr>
            <a:spLocks noChangeAspect="1" noChangeArrowheads="1"/>
          </p:cNvSpPr>
          <p:nvPr/>
        </p:nvSpPr>
        <p:spPr bwMode="auto">
          <a:xfrm>
            <a:off x="8288338" y="1938362"/>
            <a:ext cx="336550" cy="3365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7" name="Rectangle 156"/>
          <p:cNvSpPr>
            <a:spLocks noChangeAspect="1" noChangeArrowheads="1"/>
          </p:cNvSpPr>
          <p:nvPr/>
        </p:nvSpPr>
        <p:spPr bwMode="auto">
          <a:xfrm>
            <a:off x="3219450" y="3629050"/>
            <a:ext cx="338138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8" name="Rectangle 157"/>
          <p:cNvSpPr>
            <a:spLocks noChangeAspect="1" noChangeArrowheads="1"/>
          </p:cNvSpPr>
          <p:nvPr/>
        </p:nvSpPr>
        <p:spPr bwMode="auto">
          <a:xfrm>
            <a:off x="3559175" y="3289325"/>
            <a:ext cx="338138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9" name="Rectangle 158"/>
          <p:cNvSpPr>
            <a:spLocks noChangeAspect="1" noChangeArrowheads="1"/>
          </p:cNvSpPr>
          <p:nvPr/>
        </p:nvSpPr>
        <p:spPr bwMode="auto">
          <a:xfrm>
            <a:off x="3897313" y="2951187"/>
            <a:ext cx="336550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0" name="Rectangle 159"/>
          <p:cNvSpPr>
            <a:spLocks noChangeAspect="1" noChangeArrowheads="1"/>
          </p:cNvSpPr>
          <p:nvPr/>
        </p:nvSpPr>
        <p:spPr bwMode="auto">
          <a:xfrm>
            <a:off x="4232275" y="2613050"/>
            <a:ext cx="338138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1" name="Rectangle 160"/>
          <p:cNvSpPr>
            <a:spLocks noChangeAspect="1" noChangeArrowheads="1"/>
          </p:cNvSpPr>
          <p:nvPr/>
        </p:nvSpPr>
        <p:spPr bwMode="auto">
          <a:xfrm>
            <a:off x="4572000" y="2274912"/>
            <a:ext cx="338138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2" name="Rectangle 161"/>
          <p:cNvSpPr>
            <a:spLocks noChangeAspect="1" noChangeArrowheads="1"/>
          </p:cNvSpPr>
          <p:nvPr/>
        </p:nvSpPr>
        <p:spPr bwMode="auto">
          <a:xfrm>
            <a:off x="3557588" y="3629050"/>
            <a:ext cx="338137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3" name="Rectangle 162"/>
          <p:cNvSpPr>
            <a:spLocks noChangeAspect="1" noChangeArrowheads="1"/>
          </p:cNvSpPr>
          <p:nvPr/>
        </p:nvSpPr>
        <p:spPr bwMode="auto">
          <a:xfrm>
            <a:off x="3897313" y="3289325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4" name="Rectangle 163"/>
          <p:cNvSpPr>
            <a:spLocks noChangeAspect="1" noChangeArrowheads="1"/>
          </p:cNvSpPr>
          <p:nvPr/>
        </p:nvSpPr>
        <p:spPr bwMode="auto">
          <a:xfrm>
            <a:off x="4233863" y="2951187"/>
            <a:ext cx="338137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5" name="Rectangle 164"/>
          <p:cNvSpPr>
            <a:spLocks noChangeAspect="1" noChangeArrowheads="1"/>
          </p:cNvSpPr>
          <p:nvPr/>
        </p:nvSpPr>
        <p:spPr bwMode="auto">
          <a:xfrm>
            <a:off x="4570413" y="2613050"/>
            <a:ext cx="338137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6" name="Rectangle 165"/>
          <p:cNvSpPr>
            <a:spLocks noChangeAspect="1" noChangeArrowheads="1"/>
          </p:cNvSpPr>
          <p:nvPr/>
        </p:nvSpPr>
        <p:spPr bwMode="auto">
          <a:xfrm>
            <a:off x="3897313" y="3627462"/>
            <a:ext cx="336550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7" name="Rectangle 166"/>
          <p:cNvSpPr>
            <a:spLocks noChangeAspect="1" noChangeArrowheads="1"/>
          </p:cNvSpPr>
          <p:nvPr/>
        </p:nvSpPr>
        <p:spPr bwMode="auto">
          <a:xfrm>
            <a:off x="4235450" y="3287737"/>
            <a:ext cx="338138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8" name="Rectangle 167"/>
          <p:cNvSpPr>
            <a:spLocks noChangeAspect="1" noChangeArrowheads="1"/>
          </p:cNvSpPr>
          <p:nvPr/>
        </p:nvSpPr>
        <p:spPr bwMode="auto">
          <a:xfrm>
            <a:off x="4573588" y="2949600"/>
            <a:ext cx="338137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9" name="Rectangle 168"/>
          <p:cNvSpPr>
            <a:spLocks noChangeAspect="1" noChangeArrowheads="1"/>
          </p:cNvSpPr>
          <p:nvPr/>
        </p:nvSpPr>
        <p:spPr bwMode="auto">
          <a:xfrm>
            <a:off x="4235450" y="3627462"/>
            <a:ext cx="338138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0" name="Rectangle 169"/>
          <p:cNvSpPr>
            <a:spLocks noChangeAspect="1" noChangeArrowheads="1"/>
          </p:cNvSpPr>
          <p:nvPr/>
        </p:nvSpPr>
        <p:spPr bwMode="auto">
          <a:xfrm>
            <a:off x="4572000" y="3289325"/>
            <a:ext cx="338138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1" name="Rectangle 170"/>
          <p:cNvSpPr>
            <a:spLocks noChangeAspect="1" noChangeArrowheads="1"/>
          </p:cNvSpPr>
          <p:nvPr/>
        </p:nvSpPr>
        <p:spPr bwMode="auto">
          <a:xfrm>
            <a:off x="3219450" y="4980012"/>
            <a:ext cx="338138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2" name="Rectangle 171"/>
          <p:cNvSpPr>
            <a:spLocks noChangeAspect="1" noChangeArrowheads="1"/>
          </p:cNvSpPr>
          <p:nvPr/>
        </p:nvSpPr>
        <p:spPr bwMode="auto">
          <a:xfrm>
            <a:off x="3559175" y="4640287"/>
            <a:ext cx="338138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3" name="Rectangle 172"/>
          <p:cNvSpPr>
            <a:spLocks noChangeAspect="1" noChangeArrowheads="1"/>
          </p:cNvSpPr>
          <p:nvPr/>
        </p:nvSpPr>
        <p:spPr bwMode="auto">
          <a:xfrm>
            <a:off x="3897313" y="4302150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4" name="Rectangle 173"/>
          <p:cNvSpPr>
            <a:spLocks noChangeAspect="1" noChangeArrowheads="1"/>
          </p:cNvSpPr>
          <p:nvPr/>
        </p:nvSpPr>
        <p:spPr bwMode="auto">
          <a:xfrm>
            <a:off x="4232275" y="3965600"/>
            <a:ext cx="338138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5" name="Rectangle 174"/>
          <p:cNvSpPr>
            <a:spLocks noChangeAspect="1" noChangeArrowheads="1"/>
          </p:cNvSpPr>
          <p:nvPr/>
        </p:nvSpPr>
        <p:spPr bwMode="auto">
          <a:xfrm>
            <a:off x="4575175" y="3625875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6" name="Rectangle 271"/>
          <p:cNvSpPr>
            <a:spLocks noChangeAspect="1" noChangeArrowheads="1"/>
          </p:cNvSpPr>
          <p:nvPr/>
        </p:nvSpPr>
        <p:spPr bwMode="auto">
          <a:xfrm>
            <a:off x="4910138" y="1938362"/>
            <a:ext cx="336550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7" name="Rectangle 272"/>
          <p:cNvSpPr>
            <a:spLocks noChangeAspect="1" noChangeArrowheads="1"/>
          </p:cNvSpPr>
          <p:nvPr/>
        </p:nvSpPr>
        <p:spPr bwMode="auto">
          <a:xfrm>
            <a:off x="4911725" y="2274912"/>
            <a:ext cx="336550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8" name="Rectangle 273"/>
          <p:cNvSpPr>
            <a:spLocks noChangeAspect="1" noChangeArrowheads="1"/>
          </p:cNvSpPr>
          <p:nvPr/>
        </p:nvSpPr>
        <p:spPr bwMode="auto">
          <a:xfrm>
            <a:off x="5246688" y="1938362"/>
            <a:ext cx="338137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9" name="Rectangle 274"/>
          <p:cNvSpPr>
            <a:spLocks noChangeAspect="1" noChangeArrowheads="1"/>
          </p:cNvSpPr>
          <p:nvPr/>
        </p:nvSpPr>
        <p:spPr bwMode="auto">
          <a:xfrm>
            <a:off x="4910138" y="2613050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0" name="Rectangle 275"/>
          <p:cNvSpPr>
            <a:spLocks noChangeAspect="1" noChangeArrowheads="1"/>
          </p:cNvSpPr>
          <p:nvPr/>
        </p:nvSpPr>
        <p:spPr bwMode="auto">
          <a:xfrm>
            <a:off x="5248275" y="2274912"/>
            <a:ext cx="338138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1" name="Rectangle 276"/>
          <p:cNvSpPr>
            <a:spLocks noChangeAspect="1" noChangeArrowheads="1"/>
          </p:cNvSpPr>
          <p:nvPr/>
        </p:nvSpPr>
        <p:spPr bwMode="auto">
          <a:xfrm>
            <a:off x="5586413" y="1936775"/>
            <a:ext cx="338137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2" name="Rectangle 277"/>
          <p:cNvSpPr>
            <a:spLocks noChangeAspect="1" noChangeArrowheads="1"/>
          </p:cNvSpPr>
          <p:nvPr/>
        </p:nvSpPr>
        <p:spPr bwMode="auto">
          <a:xfrm>
            <a:off x="4910138" y="2951187"/>
            <a:ext cx="336550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3" name="Rectangle 278"/>
          <p:cNvSpPr>
            <a:spLocks noChangeAspect="1" noChangeArrowheads="1"/>
          </p:cNvSpPr>
          <p:nvPr/>
        </p:nvSpPr>
        <p:spPr bwMode="auto">
          <a:xfrm>
            <a:off x="5246688" y="2613050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4" name="Rectangle 279"/>
          <p:cNvSpPr>
            <a:spLocks noChangeAspect="1" noChangeArrowheads="1"/>
          </p:cNvSpPr>
          <p:nvPr/>
        </p:nvSpPr>
        <p:spPr bwMode="auto">
          <a:xfrm>
            <a:off x="5588000" y="2274912"/>
            <a:ext cx="336550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5" name="Rectangle 280"/>
          <p:cNvSpPr>
            <a:spLocks noChangeAspect="1" noChangeArrowheads="1"/>
          </p:cNvSpPr>
          <p:nvPr/>
        </p:nvSpPr>
        <p:spPr bwMode="auto">
          <a:xfrm>
            <a:off x="5924550" y="1936775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6" name="Rectangle 281"/>
          <p:cNvSpPr>
            <a:spLocks noChangeAspect="1" noChangeArrowheads="1"/>
          </p:cNvSpPr>
          <p:nvPr/>
        </p:nvSpPr>
        <p:spPr bwMode="auto">
          <a:xfrm>
            <a:off x="4910138" y="3289325"/>
            <a:ext cx="336550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7" name="Rectangle 282"/>
          <p:cNvSpPr>
            <a:spLocks noChangeAspect="1" noChangeArrowheads="1"/>
          </p:cNvSpPr>
          <p:nvPr/>
        </p:nvSpPr>
        <p:spPr bwMode="auto">
          <a:xfrm>
            <a:off x="5248275" y="2949600"/>
            <a:ext cx="338138" cy="338137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8" name="Rectangle 283"/>
          <p:cNvSpPr>
            <a:spLocks noChangeAspect="1" noChangeArrowheads="1"/>
          </p:cNvSpPr>
          <p:nvPr/>
        </p:nvSpPr>
        <p:spPr bwMode="auto">
          <a:xfrm>
            <a:off x="5586413" y="2611462"/>
            <a:ext cx="338137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9" name="Rectangle 284"/>
          <p:cNvSpPr>
            <a:spLocks noChangeAspect="1" noChangeArrowheads="1"/>
          </p:cNvSpPr>
          <p:nvPr/>
        </p:nvSpPr>
        <p:spPr bwMode="auto">
          <a:xfrm>
            <a:off x="5922963" y="2274912"/>
            <a:ext cx="338137" cy="336550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0" name="Rectangle 285"/>
          <p:cNvSpPr>
            <a:spLocks noChangeAspect="1" noChangeArrowheads="1"/>
          </p:cNvSpPr>
          <p:nvPr/>
        </p:nvSpPr>
        <p:spPr bwMode="auto">
          <a:xfrm>
            <a:off x="6264275" y="1935187"/>
            <a:ext cx="338138" cy="338138"/>
          </a:xfrm>
          <a:prstGeom prst="rect">
            <a:avLst/>
          </a:prstGeom>
          <a:solidFill>
            <a:srgbClr val="DDDDDD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8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1" name="Line 286"/>
          <p:cNvSpPr>
            <a:spLocks noChangeAspect="1" noChangeShapeType="1"/>
          </p:cNvSpPr>
          <p:nvPr/>
        </p:nvSpPr>
        <p:spPr bwMode="auto">
          <a:xfrm rot="5400000" flipH="1">
            <a:off x="6768306" y="4134669"/>
            <a:ext cx="2366963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2" name="Line 287"/>
          <p:cNvSpPr>
            <a:spLocks noChangeAspect="1" noChangeShapeType="1"/>
          </p:cNvSpPr>
          <p:nvPr/>
        </p:nvSpPr>
        <p:spPr bwMode="auto">
          <a:xfrm rot="5400000" flipH="1">
            <a:off x="6937375" y="3965600"/>
            <a:ext cx="270510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3" name="Line 288"/>
          <p:cNvSpPr>
            <a:spLocks noChangeAspect="1" noChangeShapeType="1"/>
          </p:cNvSpPr>
          <p:nvPr/>
        </p:nvSpPr>
        <p:spPr bwMode="auto">
          <a:xfrm rot="5400000" flipH="1">
            <a:off x="7104856" y="3796531"/>
            <a:ext cx="304323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4" name="Line 289"/>
          <p:cNvSpPr>
            <a:spLocks noChangeAspect="1" noChangeShapeType="1"/>
          </p:cNvSpPr>
          <p:nvPr/>
        </p:nvSpPr>
        <p:spPr bwMode="auto">
          <a:xfrm rot="5400000" flipH="1">
            <a:off x="6599237" y="4303738"/>
            <a:ext cx="2028825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5" name="Line 290"/>
          <p:cNvSpPr>
            <a:spLocks noChangeAspect="1" noChangeShapeType="1"/>
          </p:cNvSpPr>
          <p:nvPr/>
        </p:nvSpPr>
        <p:spPr bwMode="auto">
          <a:xfrm rot="5400000" flipH="1">
            <a:off x="6430963" y="4473600"/>
            <a:ext cx="168910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6" name="Line 291"/>
          <p:cNvSpPr>
            <a:spLocks noChangeAspect="1" noChangeShapeType="1"/>
          </p:cNvSpPr>
          <p:nvPr/>
        </p:nvSpPr>
        <p:spPr bwMode="auto">
          <a:xfrm rot="5400000" flipH="1">
            <a:off x="6261100" y="4641875"/>
            <a:ext cx="1352550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7" name="Line 292"/>
          <p:cNvSpPr>
            <a:spLocks noChangeAspect="1" noChangeShapeType="1"/>
          </p:cNvSpPr>
          <p:nvPr/>
        </p:nvSpPr>
        <p:spPr bwMode="auto">
          <a:xfrm rot="5400000" flipH="1">
            <a:off x="6092031" y="4810944"/>
            <a:ext cx="1014413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8" name="Line 293"/>
          <p:cNvSpPr>
            <a:spLocks noChangeAspect="1" noChangeShapeType="1"/>
          </p:cNvSpPr>
          <p:nvPr/>
        </p:nvSpPr>
        <p:spPr bwMode="auto">
          <a:xfrm rot="5400000" flipH="1">
            <a:off x="5922962" y="4980013"/>
            <a:ext cx="676275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9" name="Line 294"/>
          <p:cNvSpPr>
            <a:spLocks noChangeAspect="1" noChangeShapeType="1"/>
          </p:cNvSpPr>
          <p:nvPr/>
        </p:nvSpPr>
        <p:spPr bwMode="auto">
          <a:xfrm rot="5400000" flipH="1">
            <a:off x="5755481" y="5149081"/>
            <a:ext cx="33813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0" name="Rectangle 295"/>
          <p:cNvSpPr>
            <a:spLocks noChangeAspect="1" noChangeArrowheads="1"/>
          </p:cNvSpPr>
          <p:nvPr/>
        </p:nvSpPr>
        <p:spPr bwMode="auto">
          <a:xfrm>
            <a:off x="6937375" y="5261000"/>
            <a:ext cx="338138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20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201" name="Rectangle 296"/>
          <p:cNvSpPr>
            <a:spLocks noChangeAspect="1" noChangeArrowheads="1"/>
          </p:cNvSpPr>
          <p:nvPr/>
        </p:nvSpPr>
        <p:spPr bwMode="auto">
          <a:xfrm>
            <a:off x="8289925" y="5261000"/>
            <a:ext cx="336550" cy="33813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24</a:t>
            </a:r>
            <a:endParaRPr kumimoji="0" lang="en-US" altLang="zh-CN" sz="18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202" name="Rectangle 298"/>
          <p:cNvSpPr>
            <a:spLocks noChangeArrowheads="1"/>
          </p:cNvSpPr>
          <p:nvPr/>
        </p:nvSpPr>
        <p:spPr bwMode="auto">
          <a:xfrm>
            <a:off x="2197100" y="5780112"/>
            <a:ext cx="4895850" cy="45720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400">
                <a:solidFill>
                  <a:srgbClr val="00007D"/>
                </a:solidFill>
                <a:latin typeface="Times New Roman" panose="02020503050405090304"/>
                <a:ea typeface="楷体" panose="02010609060101010101" pitchFamily="49" charset="-122"/>
              </a:rPr>
              <a:t>流水线时</a:t>
            </a:r>
            <a:r>
              <a:rPr kumimoji="1" lang="en-US" altLang="zh-CN" sz="2400">
                <a:solidFill>
                  <a:srgbClr val="00007D"/>
                </a:solidFill>
                <a:latin typeface="Times New Roman" panose="02020503050405090304"/>
                <a:ea typeface="楷体" panose="02010609060101010101" pitchFamily="49" charset="-122"/>
              </a:rPr>
              <a:t>-</a:t>
            </a:r>
            <a:r>
              <a:rPr kumimoji="1" lang="zh-CN" altLang="en-US" sz="2400">
                <a:solidFill>
                  <a:srgbClr val="00007D"/>
                </a:solidFill>
                <a:latin typeface="Times New Roman" panose="02020503050405090304"/>
                <a:ea typeface="楷体" panose="02010609060101010101" pitchFamily="49" charset="-122"/>
              </a:rPr>
              <a:t>空图：不发生条件跳转</a:t>
            </a:r>
            <a:endParaRPr kumimoji="1" lang="zh-CN" altLang="en-US" sz="2400">
              <a:solidFill>
                <a:srgbClr val="00007D"/>
              </a:solidFill>
              <a:latin typeface="Times New Roman" panose="02020503050405090304"/>
              <a:ea typeface="楷体" panose="02010609060101010101" pitchFamily="49" charset="-122"/>
            </a:endParaRPr>
          </a:p>
        </p:txBody>
      </p:sp>
      <p:sp>
        <p:nvSpPr>
          <p:cNvPr id="203" name="Rectangle 3"/>
          <p:cNvSpPr txBox="1">
            <a:spLocks noChangeArrowheads="1"/>
          </p:cNvSpPr>
          <p:nvPr/>
        </p:nvSpPr>
        <p:spPr bwMode="auto">
          <a:xfrm>
            <a:off x="179388" y="740049"/>
            <a:ext cx="1497526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823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【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例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7.5】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sp>
        <p:nvSpPr>
          <p:cNvPr id="204" name="动作按钮: 前进或下一项 203">
            <a:hlinkClick r:id="" action="ppaction://hlinkshowjump?jump=nextslide" highlightClick="1"/>
          </p:cNvPr>
          <p:cNvSpPr/>
          <p:nvPr/>
        </p:nvSpPr>
        <p:spPr bwMode="auto">
          <a:xfrm>
            <a:off x="8561556" y="6029286"/>
            <a:ext cx="431603" cy="358268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2259624" y="3082534"/>
            <a:ext cx="2096354" cy="838302"/>
          </a:xfrm>
          <a:prstGeom prst="rect">
            <a:avLst/>
          </a:prstGeom>
          <a:solidFill>
            <a:srgbClr val="FFCC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644163" y="4756087"/>
            <a:ext cx="2022230" cy="838302"/>
          </a:xfrm>
          <a:prstGeom prst="rect">
            <a:avLst/>
          </a:prstGeom>
          <a:solidFill>
            <a:srgbClr val="FFCC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345223" y="5653941"/>
            <a:ext cx="2954215" cy="838302"/>
          </a:xfrm>
          <a:prstGeom prst="rect">
            <a:avLst/>
          </a:prstGeom>
          <a:solidFill>
            <a:srgbClr val="FFCC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23850" y="549275"/>
            <a:ext cx="8578850" cy="12235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823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解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】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）此时流水线的工作状况可参考图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7.16(a)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，因条件跳转未发生，所以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50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个小程序段中的所有指令顺序地在流水线上不断流地执行。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2248876" y="2997200"/>
          <a:ext cx="6423025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公式" r:id="rId1" imgW="80772000" imgH="21031200" progId="Equation.3">
                  <p:embed/>
                </p:oleObj>
              </mc:Choice>
              <mc:Fallback>
                <p:oleObj name="公式" r:id="rId1" imgW="80772000" imgH="2103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876" y="2997200"/>
                        <a:ext cx="6423025" cy="1687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21154" y="3151777"/>
            <a:ext cx="2664296" cy="31327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000000"/>
                </a:solidFill>
                <a:ea typeface="楷体" panose="02010609060101010101" pitchFamily="49" charset="-122"/>
              </a:rPr>
              <a:t>实际吞吐率为</a:t>
            </a:r>
            <a:endParaRPr lang="zh-CN" altLang="en-US" sz="24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sz="20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sz="20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sz="20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sz="20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000000"/>
                </a:solidFill>
                <a:ea typeface="楷体" panose="02010609060101010101" pitchFamily="49" charset="-122"/>
              </a:rPr>
              <a:t>加速比为</a:t>
            </a:r>
            <a:endParaRPr lang="zh-CN" altLang="en-US" sz="24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sz="14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sz="14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000000"/>
                </a:solidFill>
                <a:ea typeface="楷体" panose="02010609060101010101" pitchFamily="49" charset="-122"/>
              </a:rPr>
              <a:t>效率为</a:t>
            </a:r>
            <a:endParaRPr lang="zh-CN" altLang="en-US" sz="2400" kern="0" dirty="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21154" y="2132856"/>
            <a:ext cx="8578850" cy="577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T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</a:rPr>
              <a:t>50</a:t>
            </a:r>
            <a:r>
              <a:rPr lang="en-US" altLang="zh-CN" sz="2400" b="0" kern="0" baseline="-30000" dirty="0">
                <a:solidFill>
                  <a:srgbClr val="000000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  <a:cs typeface="Arial" panose="020B0604020202090204" pitchFamily="34" charset="0"/>
              </a:rPr>
              <a:t>1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</a:rPr>
              <a:t>5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1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 = </a:t>
            </a:r>
            <a:r>
              <a:rPr lang="en-US" altLang="zh-CN" sz="2400" kern="0" dirty="0">
                <a:solidFill>
                  <a:srgbClr val="FF0000"/>
                </a:solidFill>
                <a:ea typeface="楷体_GB2312"/>
              </a:rPr>
              <a:t>10×100ps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×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50×15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= 750000ps</a:t>
            </a:r>
            <a:endParaRPr lang="en-US" altLang="zh-CN" sz="2400" kern="0" dirty="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21154" y="1700808"/>
            <a:ext cx="8578850" cy="577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段数</a:t>
            </a:r>
            <a:r>
              <a:rPr lang="en-US" altLang="zh-CN" sz="2400" i="1" kern="0" dirty="0">
                <a:solidFill>
                  <a:srgbClr val="FF6600"/>
                </a:solidFill>
                <a:ea typeface="楷体" panose="02010609060101010101" pitchFamily="49" charset="-122"/>
              </a:rPr>
              <a:t>m</a:t>
            </a:r>
            <a:r>
              <a:rPr lang="en-US" altLang="zh-CN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=10</a:t>
            </a:r>
            <a:r>
              <a:rPr lang="zh-CN" altLang="en-US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；流水线周期</a:t>
            </a:r>
            <a:r>
              <a:rPr lang="en-US" altLang="zh-CN" sz="2400" i="1" kern="0" dirty="0">
                <a:solidFill>
                  <a:srgbClr val="FF6600"/>
                </a:solidFill>
                <a:ea typeface="楷体" panose="02010609060101010101" pitchFamily="49" charset="-122"/>
              </a:rPr>
              <a:t>T</a:t>
            </a:r>
            <a:r>
              <a:rPr lang="en-US" altLang="zh-CN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=100ps</a:t>
            </a:r>
            <a:r>
              <a:rPr lang="zh-CN" altLang="en-US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；</a:t>
            </a:r>
            <a:r>
              <a:rPr lang="zh-CN" altLang="en-US" sz="2400" kern="0" dirty="0">
                <a:solidFill>
                  <a:srgbClr val="CC0099"/>
                </a:solidFill>
                <a:ea typeface="楷体" panose="02010609060101010101" pitchFamily="49" charset="-122"/>
              </a:rPr>
              <a:t>任务数</a:t>
            </a:r>
            <a:r>
              <a:rPr lang="en-US" altLang="zh-CN" sz="2400" i="1" kern="0" dirty="0">
                <a:solidFill>
                  <a:srgbClr val="CC0099"/>
                </a:solidFill>
                <a:ea typeface="楷体" panose="02010609060101010101" pitchFamily="49" charset="-122"/>
              </a:rPr>
              <a:t>n</a:t>
            </a:r>
            <a:r>
              <a:rPr lang="en-US" altLang="zh-CN" sz="2400" kern="0" dirty="0">
                <a:solidFill>
                  <a:srgbClr val="CC0099"/>
                </a:solidFill>
                <a:ea typeface="楷体" panose="02010609060101010101" pitchFamily="49" charset="-122"/>
              </a:rPr>
              <a:t>=50</a:t>
            </a:r>
            <a:r>
              <a:rPr lang="en-US" altLang="zh-CN" sz="2400" b="0" kern="0" dirty="0">
                <a:solidFill>
                  <a:srgbClr val="CC0099"/>
                </a:solidFill>
                <a:latin typeface="Arial" panose="020B0604020202090204"/>
                <a:ea typeface="楷体" panose="02010609060101010101" pitchFamily="49" charset="-122"/>
                <a:cs typeface="Arial" panose="020B0604020202090204" pitchFamily="34" charset="0"/>
              </a:rPr>
              <a:t>x</a:t>
            </a:r>
            <a:r>
              <a:rPr lang="en-US" altLang="zh-CN" sz="2400" kern="0" dirty="0">
                <a:solidFill>
                  <a:srgbClr val="CC0099"/>
                </a:solidFill>
                <a:ea typeface="楷体" panose="02010609060101010101" pitchFamily="49" charset="-122"/>
              </a:rPr>
              <a:t>15</a:t>
            </a:r>
            <a:r>
              <a:rPr lang="zh-CN" altLang="en-US" sz="2400" kern="0" dirty="0">
                <a:solidFill>
                  <a:srgbClr val="CC0099"/>
                </a:solidFill>
                <a:ea typeface="楷体" panose="02010609060101010101" pitchFamily="49" charset="-122"/>
              </a:rPr>
              <a:t>。</a:t>
            </a:r>
            <a:endParaRPr lang="en-US" altLang="zh-CN" sz="2400" kern="0" dirty="0">
              <a:solidFill>
                <a:srgbClr val="CC0099"/>
              </a:solidFill>
              <a:ea typeface="楷体" panose="02010609060101010101" pitchFamily="49" charset="-122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321154" y="2574468"/>
            <a:ext cx="8578850" cy="577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T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</a:rPr>
              <a:t>50</a:t>
            </a:r>
            <a:r>
              <a:rPr lang="en-US" altLang="zh-CN" sz="2400" b="0" kern="0" baseline="-30000" dirty="0">
                <a:solidFill>
                  <a:srgbClr val="000000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  <a:cs typeface="Arial" panose="020B0604020202090204" pitchFamily="34" charset="0"/>
              </a:rPr>
              <a:t>1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</a:rPr>
              <a:t>5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10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 = </a:t>
            </a:r>
            <a:r>
              <a:rPr lang="en-US" altLang="zh-CN" sz="2400" kern="0" dirty="0">
                <a:solidFill>
                  <a:srgbClr val="FF0000"/>
                </a:solidFill>
                <a:ea typeface="楷体_GB2312"/>
              </a:rPr>
              <a:t>10×100ps</a:t>
            </a:r>
            <a:r>
              <a:rPr lang="zh-CN" altLang="en-US" sz="2400" kern="0" dirty="0">
                <a:solidFill>
                  <a:srgbClr val="000000"/>
                </a:solidFill>
                <a:ea typeface="楷体_GB2312"/>
              </a:rPr>
              <a:t>＋</a:t>
            </a:r>
            <a:r>
              <a:rPr lang="en-US" altLang="zh-CN" sz="2400" kern="0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00FF"/>
                </a:solidFill>
                <a:ea typeface="楷体_GB2312"/>
              </a:rPr>
              <a:t>50×15</a:t>
            </a:r>
            <a:r>
              <a:rPr lang="zh-CN" altLang="en-US" sz="2400" kern="0" dirty="0">
                <a:solidFill>
                  <a:srgbClr val="0000FF"/>
                </a:solidFill>
                <a:ea typeface="楷体_GB2312"/>
              </a:rPr>
              <a:t>－</a:t>
            </a:r>
            <a:r>
              <a:rPr lang="en-US" altLang="zh-CN" sz="2400" kern="0" dirty="0">
                <a:solidFill>
                  <a:srgbClr val="0000FF"/>
                </a:solidFill>
                <a:ea typeface="楷体_GB2312"/>
              </a:rPr>
              <a:t>1</a:t>
            </a:r>
            <a:r>
              <a:rPr lang="en-US" altLang="zh-CN" sz="2400" kern="0" dirty="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sz="2400" kern="0" dirty="0">
                <a:solidFill>
                  <a:srgbClr val="0000FF"/>
                </a:solidFill>
                <a:ea typeface="楷体_GB2312"/>
              </a:rPr>
              <a:t>×100ps 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= 75900ps</a:t>
            </a:r>
            <a:endParaRPr lang="en-US" altLang="zh-CN" sz="2400" kern="0" dirty="0">
              <a:solidFill>
                <a:srgbClr val="000000"/>
              </a:solidFill>
              <a:ea typeface="楷体_GB2312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1682888" y="4701282"/>
          <a:ext cx="49212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公式" r:id="rId3" imgW="58521600" imgH="10972800" progId="Equation.3">
                  <p:embed/>
                </p:oleObj>
              </mc:Choice>
              <mc:Fallback>
                <p:oleObj name="公式" r:id="rId3" imgW="58521600" imgH="1097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888" y="4701282"/>
                        <a:ext cx="4921250" cy="9318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1343433" y="5577919"/>
          <a:ext cx="6756959" cy="92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公式" r:id="rId5" imgW="81076800" imgH="10972800" progId="Equation.3">
                  <p:embed/>
                </p:oleObj>
              </mc:Choice>
              <mc:Fallback>
                <p:oleObj name="公式" r:id="rId5" imgW="81076800" imgH="1097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33" y="5577919"/>
                        <a:ext cx="6756959" cy="922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 bwMode="auto">
          <a:xfrm>
            <a:off x="321154" y="2180492"/>
            <a:ext cx="7672453" cy="846121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321154" y="3075028"/>
            <a:ext cx="8365646" cy="1626253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321154" y="4753748"/>
            <a:ext cx="6411086" cy="849623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321153" y="5650958"/>
            <a:ext cx="7874063" cy="849623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动作按钮: 后退或前一项 20">
            <a:hlinkClick r:id="" action="ppaction://hlinkshowjump?jump=previousslide" highlightClick="1"/>
          </p:cNvPr>
          <p:cNvSpPr/>
          <p:nvPr/>
        </p:nvSpPr>
        <p:spPr bwMode="auto">
          <a:xfrm>
            <a:off x="8561558" y="6021288"/>
            <a:ext cx="431602" cy="344587"/>
          </a:xfrm>
          <a:prstGeom prst="actionButtonBackPrevious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" name="动作按钮: 转到主页 2">
            <a:hlinkClick r:id="rId7" action="ppaction://hlinksldjump" highlightClick="1"/>
          </p:cNvPr>
          <p:cNvSpPr>
            <a:spLocks noChangeAspect="1"/>
          </p:cNvSpPr>
          <p:nvPr/>
        </p:nvSpPr>
        <p:spPr bwMode="auto">
          <a:xfrm>
            <a:off x="8546498" y="5499003"/>
            <a:ext cx="446662" cy="446662"/>
          </a:xfrm>
          <a:prstGeom prst="actionButtonHom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/>
      <p:bldP spid="12" grpId="0"/>
      <p:bldP spid="13" grpId="0"/>
      <p:bldP spid="14" grpId="0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79388" y="740049"/>
            <a:ext cx="1497526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t" anchorCtr="0" compatLnSpc="1">
            <a:sp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823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【</a:t>
            </a:r>
            <a:r>
              <a: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例</a:t>
            </a:r>
            <a:r>
              <a:rPr kumimoji="0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7.5】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sp>
        <p:nvSpPr>
          <p:cNvPr id="7" name="Rectangle 126"/>
          <p:cNvSpPr>
            <a:spLocks noChangeArrowheads="1"/>
          </p:cNvSpPr>
          <p:nvPr/>
        </p:nvSpPr>
        <p:spPr bwMode="auto">
          <a:xfrm>
            <a:off x="2197100" y="5809729"/>
            <a:ext cx="4895850" cy="45720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</a:pPr>
            <a:r>
              <a:rPr kumimoji="1" lang="zh-CN" altLang="en-US" sz="2400">
                <a:solidFill>
                  <a:srgbClr val="00007D"/>
                </a:solidFill>
                <a:latin typeface="Times New Roman" panose="02020503050405090304"/>
                <a:ea typeface="楷体" panose="02010609060101010101" pitchFamily="49" charset="-122"/>
              </a:rPr>
              <a:t>流水线时</a:t>
            </a:r>
            <a:r>
              <a:rPr kumimoji="1" lang="en-US" altLang="zh-CN" sz="2400">
                <a:solidFill>
                  <a:srgbClr val="00007D"/>
                </a:solidFill>
                <a:latin typeface="Times New Roman" panose="02020503050405090304"/>
                <a:ea typeface="楷体" panose="02010609060101010101" pitchFamily="49" charset="-122"/>
              </a:rPr>
              <a:t>-</a:t>
            </a:r>
            <a:r>
              <a:rPr kumimoji="1" lang="zh-CN" altLang="en-US" sz="2400">
                <a:solidFill>
                  <a:srgbClr val="00007D"/>
                </a:solidFill>
                <a:latin typeface="Times New Roman" panose="02020503050405090304"/>
                <a:ea typeface="楷体" panose="02010609060101010101" pitchFamily="49" charset="-122"/>
              </a:rPr>
              <a:t>空图：发生条件跳转</a:t>
            </a:r>
            <a:endParaRPr kumimoji="1" lang="zh-CN" altLang="en-US" sz="2400">
              <a:solidFill>
                <a:srgbClr val="00007D"/>
              </a:solidFill>
              <a:latin typeface="Times New Roman" panose="02020503050405090304"/>
              <a:ea typeface="楷体" panose="02010609060101010101" pitchFamily="49" charset="-122"/>
            </a:endParaRPr>
          </a:p>
        </p:txBody>
      </p:sp>
      <p:sp>
        <p:nvSpPr>
          <p:cNvPr id="8" name="Rectangle 70"/>
          <p:cNvSpPr>
            <a:spLocks noChangeAspect="1" noChangeArrowheads="1"/>
          </p:cNvSpPr>
          <p:nvPr/>
        </p:nvSpPr>
        <p:spPr bwMode="auto">
          <a:xfrm>
            <a:off x="701675" y="4303167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Rectangle 71"/>
          <p:cNvSpPr>
            <a:spLocks noChangeAspect="1" noChangeArrowheads="1"/>
          </p:cNvSpPr>
          <p:nvPr/>
        </p:nvSpPr>
        <p:spPr bwMode="auto">
          <a:xfrm>
            <a:off x="1222375" y="4303167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Rectangle 72"/>
          <p:cNvSpPr>
            <a:spLocks noChangeAspect="1" noChangeArrowheads="1"/>
          </p:cNvSpPr>
          <p:nvPr/>
        </p:nvSpPr>
        <p:spPr bwMode="auto">
          <a:xfrm>
            <a:off x="962025" y="4303167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Rectangle 78"/>
          <p:cNvSpPr>
            <a:spLocks noChangeAspect="1" noChangeArrowheads="1"/>
          </p:cNvSpPr>
          <p:nvPr/>
        </p:nvSpPr>
        <p:spPr bwMode="auto">
          <a:xfrm>
            <a:off x="962025" y="40412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Rectangle 79"/>
          <p:cNvSpPr>
            <a:spLocks noChangeAspect="1" noChangeArrowheads="1"/>
          </p:cNvSpPr>
          <p:nvPr/>
        </p:nvSpPr>
        <p:spPr bwMode="auto">
          <a:xfrm>
            <a:off x="1482725" y="40412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Rectangle 80"/>
          <p:cNvSpPr>
            <a:spLocks noChangeAspect="1" noChangeArrowheads="1"/>
          </p:cNvSpPr>
          <p:nvPr/>
        </p:nvSpPr>
        <p:spPr bwMode="auto">
          <a:xfrm>
            <a:off x="1222375" y="40412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" name="Rectangle 86"/>
          <p:cNvSpPr>
            <a:spLocks noChangeAspect="1" noChangeArrowheads="1"/>
          </p:cNvSpPr>
          <p:nvPr/>
        </p:nvSpPr>
        <p:spPr bwMode="auto">
          <a:xfrm>
            <a:off x="1222375" y="37808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Rectangle 87"/>
          <p:cNvSpPr>
            <a:spLocks noChangeAspect="1" noChangeArrowheads="1"/>
          </p:cNvSpPr>
          <p:nvPr/>
        </p:nvSpPr>
        <p:spPr bwMode="auto">
          <a:xfrm>
            <a:off x="1743075" y="378088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" name="Rectangle 88"/>
          <p:cNvSpPr>
            <a:spLocks noChangeAspect="1" noChangeArrowheads="1"/>
          </p:cNvSpPr>
          <p:nvPr/>
        </p:nvSpPr>
        <p:spPr bwMode="auto">
          <a:xfrm>
            <a:off x="1482725" y="378088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" name="Rectangle 94"/>
          <p:cNvSpPr>
            <a:spLocks noChangeAspect="1" noChangeArrowheads="1"/>
          </p:cNvSpPr>
          <p:nvPr/>
        </p:nvSpPr>
        <p:spPr bwMode="auto">
          <a:xfrm>
            <a:off x="1482725" y="35205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Rectangle 95"/>
          <p:cNvSpPr>
            <a:spLocks noChangeAspect="1" noChangeArrowheads="1"/>
          </p:cNvSpPr>
          <p:nvPr/>
        </p:nvSpPr>
        <p:spPr bwMode="auto">
          <a:xfrm>
            <a:off x="2003425" y="35205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Rectangle 96"/>
          <p:cNvSpPr>
            <a:spLocks noChangeAspect="1" noChangeArrowheads="1"/>
          </p:cNvSpPr>
          <p:nvPr/>
        </p:nvSpPr>
        <p:spPr bwMode="auto">
          <a:xfrm>
            <a:off x="1743075" y="35205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Rectangle 73"/>
          <p:cNvSpPr>
            <a:spLocks noChangeAspect="1" noChangeArrowheads="1"/>
          </p:cNvSpPr>
          <p:nvPr/>
        </p:nvSpPr>
        <p:spPr bwMode="auto">
          <a:xfrm>
            <a:off x="1481138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" name="Rectangle 74"/>
          <p:cNvSpPr>
            <a:spLocks noChangeAspect="1" noChangeArrowheads="1"/>
          </p:cNvSpPr>
          <p:nvPr/>
        </p:nvSpPr>
        <p:spPr bwMode="auto">
          <a:xfrm>
            <a:off x="2262188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" name="Rectangle 75"/>
          <p:cNvSpPr>
            <a:spLocks noChangeAspect="1" noChangeArrowheads="1"/>
          </p:cNvSpPr>
          <p:nvPr/>
        </p:nvSpPr>
        <p:spPr bwMode="auto">
          <a:xfrm>
            <a:off x="1741488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Rectangle 76"/>
          <p:cNvSpPr>
            <a:spLocks noChangeAspect="1" noChangeArrowheads="1"/>
          </p:cNvSpPr>
          <p:nvPr/>
        </p:nvSpPr>
        <p:spPr bwMode="auto">
          <a:xfrm>
            <a:off x="2001838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" name="Rectangle 81"/>
          <p:cNvSpPr>
            <a:spLocks noChangeAspect="1" noChangeArrowheads="1"/>
          </p:cNvSpPr>
          <p:nvPr/>
        </p:nvSpPr>
        <p:spPr bwMode="auto">
          <a:xfrm>
            <a:off x="1743075" y="40428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Rectangle 82"/>
          <p:cNvSpPr>
            <a:spLocks noChangeAspect="1" noChangeArrowheads="1"/>
          </p:cNvSpPr>
          <p:nvPr/>
        </p:nvSpPr>
        <p:spPr bwMode="auto">
          <a:xfrm>
            <a:off x="2524125" y="40428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" name="Rectangle 83"/>
          <p:cNvSpPr>
            <a:spLocks noChangeAspect="1" noChangeArrowheads="1"/>
          </p:cNvSpPr>
          <p:nvPr/>
        </p:nvSpPr>
        <p:spPr bwMode="auto">
          <a:xfrm>
            <a:off x="2003425" y="40428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" name="Rectangle 84"/>
          <p:cNvSpPr>
            <a:spLocks noChangeAspect="1" noChangeArrowheads="1"/>
          </p:cNvSpPr>
          <p:nvPr/>
        </p:nvSpPr>
        <p:spPr bwMode="auto">
          <a:xfrm>
            <a:off x="2263775" y="40428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Rectangle 89"/>
          <p:cNvSpPr>
            <a:spLocks noChangeAspect="1" noChangeArrowheads="1"/>
          </p:cNvSpPr>
          <p:nvPr/>
        </p:nvSpPr>
        <p:spPr bwMode="auto">
          <a:xfrm>
            <a:off x="2003425" y="37824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9" name="Rectangle 90"/>
          <p:cNvSpPr>
            <a:spLocks noChangeAspect="1" noChangeArrowheads="1"/>
          </p:cNvSpPr>
          <p:nvPr/>
        </p:nvSpPr>
        <p:spPr bwMode="auto">
          <a:xfrm>
            <a:off x="2784475" y="37824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Rectangle 91"/>
          <p:cNvSpPr>
            <a:spLocks noChangeAspect="1" noChangeArrowheads="1"/>
          </p:cNvSpPr>
          <p:nvPr/>
        </p:nvSpPr>
        <p:spPr bwMode="auto">
          <a:xfrm>
            <a:off x="2263775" y="37824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Rectangle 92"/>
          <p:cNvSpPr>
            <a:spLocks noChangeAspect="1" noChangeArrowheads="1"/>
          </p:cNvSpPr>
          <p:nvPr/>
        </p:nvSpPr>
        <p:spPr bwMode="auto">
          <a:xfrm>
            <a:off x="2524125" y="37824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2" name="Rectangle 97"/>
          <p:cNvSpPr>
            <a:spLocks noChangeAspect="1" noChangeArrowheads="1"/>
          </p:cNvSpPr>
          <p:nvPr/>
        </p:nvSpPr>
        <p:spPr bwMode="auto">
          <a:xfrm>
            <a:off x="2262188" y="35221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Rectangle 98"/>
          <p:cNvSpPr>
            <a:spLocks noChangeAspect="1" noChangeArrowheads="1"/>
          </p:cNvSpPr>
          <p:nvPr/>
        </p:nvSpPr>
        <p:spPr bwMode="auto">
          <a:xfrm>
            <a:off x="3043238" y="35221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Rectangle 99"/>
          <p:cNvSpPr>
            <a:spLocks noChangeAspect="1" noChangeArrowheads="1"/>
          </p:cNvSpPr>
          <p:nvPr/>
        </p:nvSpPr>
        <p:spPr bwMode="auto">
          <a:xfrm>
            <a:off x="2522538" y="35221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Rectangle 100"/>
          <p:cNvSpPr>
            <a:spLocks noChangeAspect="1" noChangeArrowheads="1"/>
          </p:cNvSpPr>
          <p:nvPr/>
        </p:nvSpPr>
        <p:spPr bwMode="auto">
          <a:xfrm>
            <a:off x="2782888" y="35221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" name="Line 101"/>
          <p:cNvSpPr>
            <a:spLocks noChangeAspect="1" noChangeShapeType="1"/>
          </p:cNvSpPr>
          <p:nvPr/>
        </p:nvSpPr>
        <p:spPr bwMode="auto">
          <a:xfrm>
            <a:off x="439738" y="4563517"/>
            <a:ext cx="859631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Line 102"/>
          <p:cNvSpPr>
            <a:spLocks noChangeAspect="1" noChangeShapeType="1"/>
          </p:cNvSpPr>
          <p:nvPr/>
        </p:nvSpPr>
        <p:spPr bwMode="auto">
          <a:xfrm flipV="1">
            <a:off x="439738" y="1698080"/>
            <a:ext cx="0" cy="28654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8" name="Rectangle 103"/>
          <p:cNvSpPr>
            <a:spLocks noChangeAspect="1" noChangeArrowheads="1"/>
          </p:cNvSpPr>
          <p:nvPr/>
        </p:nvSpPr>
        <p:spPr bwMode="auto">
          <a:xfrm>
            <a:off x="439738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9" name="Rectangle 104"/>
          <p:cNvSpPr>
            <a:spLocks noChangeAspect="1" noChangeArrowheads="1"/>
          </p:cNvSpPr>
          <p:nvPr/>
        </p:nvSpPr>
        <p:spPr bwMode="auto">
          <a:xfrm>
            <a:off x="70167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0" name="Rectangle 105"/>
          <p:cNvSpPr>
            <a:spLocks noChangeAspect="1" noChangeArrowheads="1"/>
          </p:cNvSpPr>
          <p:nvPr/>
        </p:nvSpPr>
        <p:spPr bwMode="auto">
          <a:xfrm>
            <a:off x="122237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1" name="Rectangle 106"/>
          <p:cNvSpPr>
            <a:spLocks noChangeAspect="1" noChangeArrowheads="1"/>
          </p:cNvSpPr>
          <p:nvPr/>
        </p:nvSpPr>
        <p:spPr bwMode="auto">
          <a:xfrm>
            <a:off x="96202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2" name="Rectangle 107"/>
          <p:cNvSpPr>
            <a:spLocks noChangeAspect="1" noChangeArrowheads="1"/>
          </p:cNvSpPr>
          <p:nvPr/>
        </p:nvSpPr>
        <p:spPr bwMode="auto">
          <a:xfrm>
            <a:off x="148272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3" name="Rectangle 108"/>
          <p:cNvSpPr>
            <a:spLocks noChangeAspect="1" noChangeArrowheads="1"/>
          </p:cNvSpPr>
          <p:nvPr/>
        </p:nvSpPr>
        <p:spPr bwMode="auto">
          <a:xfrm>
            <a:off x="226377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4" name="Rectangle 109"/>
          <p:cNvSpPr>
            <a:spLocks noChangeAspect="1" noChangeArrowheads="1"/>
          </p:cNvSpPr>
          <p:nvPr/>
        </p:nvSpPr>
        <p:spPr bwMode="auto">
          <a:xfrm>
            <a:off x="174307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5" name="Rectangle 110"/>
          <p:cNvSpPr>
            <a:spLocks noChangeAspect="1" noChangeArrowheads="1"/>
          </p:cNvSpPr>
          <p:nvPr/>
        </p:nvSpPr>
        <p:spPr bwMode="auto">
          <a:xfrm>
            <a:off x="200342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6" name="Rectangle 111"/>
          <p:cNvSpPr>
            <a:spLocks noChangeAspect="1" noChangeArrowheads="1"/>
          </p:cNvSpPr>
          <p:nvPr/>
        </p:nvSpPr>
        <p:spPr bwMode="auto">
          <a:xfrm>
            <a:off x="252412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7" name="Rectangle 112"/>
          <p:cNvSpPr>
            <a:spLocks noChangeAspect="1" noChangeArrowheads="1"/>
          </p:cNvSpPr>
          <p:nvPr/>
        </p:nvSpPr>
        <p:spPr bwMode="auto">
          <a:xfrm>
            <a:off x="2784475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8" name="Rectangle 113"/>
          <p:cNvSpPr>
            <a:spLocks noChangeAspect="1" noChangeArrowheads="1"/>
          </p:cNvSpPr>
          <p:nvPr/>
        </p:nvSpPr>
        <p:spPr bwMode="auto">
          <a:xfrm>
            <a:off x="4095750" y="4540496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49" name="Rectangle 114"/>
          <p:cNvSpPr>
            <a:spLocks noChangeAspect="1" noChangeArrowheads="1"/>
          </p:cNvSpPr>
          <p:nvPr/>
        </p:nvSpPr>
        <p:spPr bwMode="auto">
          <a:xfrm>
            <a:off x="179388" y="4303167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0" name="Rectangle 115"/>
          <p:cNvSpPr>
            <a:spLocks noChangeAspect="1" noChangeArrowheads="1"/>
          </p:cNvSpPr>
          <p:nvPr/>
        </p:nvSpPr>
        <p:spPr bwMode="auto">
          <a:xfrm>
            <a:off x="179388" y="4041230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1" name="Rectangle 116"/>
          <p:cNvSpPr>
            <a:spLocks noChangeAspect="1" noChangeArrowheads="1"/>
          </p:cNvSpPr>
          <p:nvPr/>
        </p:nvSpPr>
        <p:spPr bwMode="auto">
          <a:xfrm>
            <a:off x="179388" y="3780880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2" name="Rectangle 117"/>
          <p:cNvSpPr>
            <a:spLocks noChangeAspect="1" noChangeArrowheads="1"/>
          </p:cNvSpPr>
          <p:nvPr/>
        </p:nvSpPr>
        <p:spPr bwMode="auto">
          <a:xfrm>
            <a:off x="179388" y="3520530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53" name="Line 120"/>
          <p:cNvSpPr>
            <a:spLocks noChangeAspect="1" noChangeShapeType="1"/>
          </p:cNvSpPr>
          <p:nvPr/>
        </p:nvSpPr>
        <p:spPr bwMode="auto">
          <a:xfrm>
            <a:off x="3825875" y="2218780"/>
            <a:ext cx="0" cy="2344737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4" name="Line 121"/>
          <p:cNvSpPr>
            <a:spLocks noChangeAspect="1" noChangeShapeType="1"/>
          </p:cNvSpPr>
          <p:nvPr/>
        </p:nvSpPr>
        <p:spPr bwMode="auto">
          <a:xfrm flipH="1">
            <a:off x="439738" y="4041230"/>
            <a:ext cx="26193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5" name="Line 122"/>
          <p:cNvSpPr>
            <a:spLocks noChangeAspect="1" noChangeShapeType="1"/>
          </p:cNvSpPr>
          <p:nvPr/>
        </p:nvSpPr>
        <p:spPr bwMode="auto">
          <a:xfrm flipH="1">
            <a:off x="439738" y="3780880"/>
            <a:ext cx="52228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6" name="Line 123"/>
          <p:cNvSpPr>
            <a:spLocks noChangeAspect="1" noChangeShapeType="1"/>
          </p:cNvSpPr>
          <p:nvPr/>
        </p:nvSpPr>
        <p:spPr bwMode="auto">
          <a:xfrm flipH="1">
            <a:off x="439738" y="3520530"/>
            <a:ext cx="78263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7" name="Rectangle 124"/>
          <p:cNvSpPr>
            <a:spLocks noChangeAspect="1" noChangeArrowheads="1"/>
          </p:cNvSpPr>
          <p:nvPr/>
        </p:nvSpPr>
        <p:spPr bwMode="auto">
          <a:xfrm>
            <a:off x="7378700" y="4761955"/>
            <a:ext cx="1657350" cy="641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时间</a:t>
            </a:r>
            <a:endParaRPr kumimoji="0" lang="zh-CN" altLang="en-US" sz="180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（时钟周期）</a:t>
            </a:r>
            <a:endParaRPr kumimoji="0" lang="zh-CN" altLang="en-US" sz="1800" i="0" u="none" strike="noStrike" kern="0" cap="none" spc="0" normalizeH="0" baseline="-25000" noProof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58" name="Rectangle 125"/>
          <p:cNvSpPr>
            <a:spLocks noChangeAspect="1" noChangeArrowheads="1"/>
          </p:cNvSpPr>
          <p:nvPr/>
        </p:nvSpPr>
        <p:spPr bwMode="auto">
          <a:xfrm>
            <a:off x="395288" y="1513930"/>
            <a:ext cx="1468437" cy="366712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空间（段）</a:t>
            </a:r>
            <a:endParaRPr kumimoji="0" lang="zh-CN" altLang="en-US" sz="1800" i="0" u="none" strike="noStrike" kern="0" cap="none" spc="0" normalizeH="0" baseline="-25000" noProof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59" name="Rectangle 128"/>
          <p:cNvSpPr>
            <a:spLocks noChangeAspect="1" noChangeArrowheads="1"/>
          </p:cNvSpPr>
          <p:nvPr/>
        </p:nvSpPr>
        <p:spPr bwMode="auto">
          <a:xfrm>
            <a:off x="1743075" y="32601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0" name="Line 132"/>
          <p:cNvSpPr>
            <a:spLocks noChangeAspect="1" noChangeShapeType="1"/>
          </p:cNvSpPr>
          <p:nvPr/>
        </p:nvSpPr>
        <p:spPr bwMode="auto">
          <a:xfrm flipH="1">
            <a:off x="439738" y="3260180"/>
            <a:ext cx="104298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Line 133"/>
          <p:cNvSpPr>
            <a:spLocks noChangeAspect="1" noChangeShapeType="1"/>
          </p:cNvSpPr>
          <p:nvPr/>
        </p:nvSpPr>
        <p:spPr bwMode="auto">
          <a:xfrm flipH="1">
            <a:off x="439738" y="2999830"/>
            <a:ext cx="130333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2" name="Line 134"/>
          <p:cNvSpPr>
            <a:spLocks noChangeAspect="1" noChangeShapeType="1"/>
          </p:cNvSpPr>
          <p:nvPr/>
        </p:nvSpPr>
        <p:spPr bwMode="auto">
          <a:xfrm flipH="1">
            <a:off x="439738" y="2739480"/>
            <a:ext cx="156368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3" name="Line 135"/>
          <p:cNvSpPr>
            <a:spLocks noChangeAspect="1" noChangeShapeType="1"/>
          </p:cNvSpPr>
          <p:nvPr/>
        </p:nvSpPr>
        <p:spPr bwMode="auto">
          <a:xfrm flipH="1">
            <a:off x="439738" y="2477542"/>
            <a:ext cx="182403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4" name="Rectangle 136"/>
          <p:cNvSpPr>
            <a:spLocks noChangeAspect="1" noChangeArrowheads="1"/>
          </p:cNvSpPr>
          <p:nvPr/>
        </p:nvSpPr>
        <p:spPr bwMode="auto">
          <a:xfrm>
            <a:off x="179388" y="3260180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65" name="Rectangle 137"/>
          <p:cNvSpPr>
            <a:spLocks noChangeAspect="1" noChangeArrowheads="1"/>
          </p:cNvSpPr>
          <p:nvPr/>
        </p:nvSpPr>
        <p:spPr bwMode="auto">
          <a:xfrm>
            <a:off x="179388" y="2998242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66" name="Rectangle 138"/>
          <p:cNvSpPr>
            <a:spLocks noChangeAspect="1" noChangeArrowheads="1"/>
          </p:cNvSpPr>
          <p:nvPr/>
        </p:nvSpPr>
        <p:spPr bwMode="auto">
          <a:xfrm>
            <a:off x="179388" y="2737892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67" name="Rectangle 139"/>
          <p:cNvSpPr>
            <a:spLocks noChangeAspect="1" noChangeArrowheads="1"/>
          </p:cNvSpPr>
          <p:nvPr/>
        </p:nvSpPr>
        <p:spPr bwMode="auto">
          <a:xfrm>
            <a:off x="179388" y="2477542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68" name="Line 142"/>
          <p:cNvSpPr>
            <a:spLocks noChangeAspect="1" noChangeShapeType="1"/>
          </p:cNvSpPr>
          <p:nvPr/>
        </p:nvSpPr>
        <p:spPr bwMode="auto">
          <a:xfrm flipH="1">
            <a:off x="439738" y="2218780"/>
            <a:ext cx="208438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9" name="Line 143"/>
          <p:cNvSpPr>
            <a:spLocks noChangeAspect="1" noChangeShapeType="1"/>
          </p:cNvSpPr>
          <p:nvPr/>
        </p:nvSpPr>
        <p:spPr bwMode="auto">
          <a:xfrm flipH="1">
            <a:off x="439738" y="1958430"/>
            <a:ext cx="2344737" cy="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0" name="Rectangle 144"/>
          <p:cNvSpPr>
            <a:spLocks noChangeAspect="1" noChangeArrowheads="1"/>
          </p:cNvSpPr>
          <p:nvPr/>
        </p:nvSpPr>
        <p:spPr bwMode="auto">
          <a:xfrm>
            <a:off x="179388" y="2218780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71" name="Rectangle 145"/>
          <p:cNvSpPr>
            <a:spLocks noChangeAspect="1" noChangeArrowheads="1"/>
          </p:cNvSpPr>
          <p:nvPr/>
        </p:nvSpPr>
        <p:spPr bwMode="auto">
          <a:xfrm>
            <a:off x="179388" y="1958430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S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72" name="Rectangle 146"/>
          <p:cNvSpPr>
            <a:spLocks noChangeAspect="1" noChangeArrowheads="1"/>
          </p:cNvSpPr>
          <p:nvPr/>
        </p:nvSpPr>
        <p:spPr bwMode="auto">
          <a:xfrm>
            <a:off x="2003425" y="3001417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3" name="Rectangle 147"/>
          <p:cNvSpPr>
            <a:spLocks noChangeAspect="1" noChangeArrowheads="1"/>
          </p:cNvSpPr>
          <p:nvPr/>
        </p:nvSpPr>
        <p:spPr bwMode="auto">
          <a:xfrm>
            <a:off x="2265363" y="27394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4" name="Rectangle 148"/>
          <p:cNvSpPr>
            <a:spLocks noChangeAspect="1" noChangeArrowheads="1"/>
          </p:cNvSpPr>
          <p:nvPr/>
        </p:nvSpPr>
        <p:spPr bwMode="auto">
          <a:xfrm>
            <a:off x="2525713" y="24791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5" name="Rectangle 149"/>
          <p:cNvSpPr>
            <a:spLocks noChangeAspect="1" noChangeArrowheads="1"/>
          </p:cNvSpPr>
          <p:nvPr/>
        </p:nvSpPr>
        <p:spPr bwMode="auto">
          <a:xfrm>
            <a:off x="2784475" y="22187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6" name="Rectangle 150"/>
          <p:cNvSpPr>
            <a:spLocks noChangeAspect="1" noChangeArrowheads="1"/>
          </p:cNvSpPr>
          <p:nvPr/>
        </p:nvSpPr>
        <p:spPr bwMode="auto">
          <a:xfrm>
            <a:off x="3044825" y="19584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7" name="Rectangle 151"/>
          <p:cNvSpPr>
            <a:spLocks noChangeAspect="1" noChangeArrowheads="1"/>
          </p:cNvSpPr>
          <p:nvPr/>
        </p:nvSpPr>
        <p:spPr bwMode="auto">
          <a:xfrm>
            <a:off x="2003425" y="3261767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8" name="Rectangle 152"/>
          <p:cNvSpPr>
            <a:spLocks noChangeAspect="1" noChangeArrowheads="1"/>
          </p:cNvSpPr>
          <p:nvPr/>
        </p:nvSpPr>
        <p:spPr bwMode="auto">
          <a:xfrm>
            <a:off x="2265363" y="29998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9" name="Rectangle 153"/>
          <p:cNvSpPr>
            <a:spLocks noChangeAspect="1" noChangeArrowheads="1"/>
          </p:cNvSpPr>
          <p:nvPr/>
        </p:nvSpPr>
        <p:spPr bwMode="auto">
          <a:xfrm>
            <a:off x="2525713" y="273948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0" name="Rectangle 154"/>
          <p:cNvSpPr>
            <a:spLocks noChangeAspect="1" noChangeArrowheads="1"/>
          </p:cNvSpPr>
          <p:nvPr/>
        </p:nvSpPr>
        <p:spPr bwMode="auto">
          <a:xfrm>
            <a:off x="2784475" y="24791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1" name="Rectangle 155"/>
          <p:cNvSpPr>
            <a:spLocks noChangeAspect="1" noChangeArrowheads="1"/>
          </p:cNvSpPr>
          <p:nvPr/>
        </p:nvSpPr>
        <p:spPr bwMode="auto">
          <a:xfrm>
            <a:off x="3044825" y="221878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2" name="Rectangle 156"/>
          <p:cNvSpPr>
            <a:spLocks noChangeAspect="1" noChangeArrowheads="1"/>
          </p:cNvSpPr>
          <p:nvPr/>
        </p:nvSpPr>
        <p:spPr bwMode="auto">
          <a:xfrm>
            <a:off x="3305175" y="19584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3" name="Rectangle 157"/>
          <p:cNvSpPr>
            <a:spLocks noChangeAspect="1" noChangeArrowheads="1"/>
          </p:cNvSpPr>
          <p:nvPr/>
        </p:nvSpPr>
        <p:spPr bwMode="auto">
          <a:xfrm>
            <a:off x="2263775" y="3261767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4" name="Rectangle 158"/>
          <p:cNvSpPr>
            <a:spLocks noChangeAspect="1" noChangeArrowheads="1"/>
          </p:cNvSpPr>
          <p:nvPr/>
        </p:nvSpPr>
        <p:spPr bwMode="auto">
          <a:xfrm>
            <a:off x="2525713" y="29998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5" name="Rectangle 159"/>
          <p:cNvSpPr>
            <a:spLocks noChangeAspect="1" noChangeArrowheads="1"/>
          </p:cNvSpPr>
          <p:nvPr/>
        </p:nvSpPr>
        <p:spPr bwMode="auto">
          <a:xfrm>
            <a:off x="2786063" y="273948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6" name="Rectangle 160"/>
          <p:cNvSpPr>
            <a:spLocks noChangeAspect="1" noChangeArrowheads="1"/>
          </p:cNvSpPr>
          <p:nvPr/>
        </p:nvSpPr>
        <p:spPr bwMode="auto">
          <a:xfrm>
            <a:off x="3044825" y="24791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7" name="Rectangle 162"/>
          <p:cNvSpPr>
            <a:spLocks noChangeAspect="1" noChangeArrowheads="1"/>
          </p:cNvSpPr>
          <p:nvPr/>
        </p:nvSpPr>
        <p:spPr bwMode="auto">
          <a:xfrm>
            <a:off x="3305175" y="221878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8" name="Rectangle 163"/>
          <p:cNvSpPr>
            <a:spLocks noChangeAspect="1" noChangeArrowheads="1"/>
          </p:cNvSpPr>
          <p:nvPr/>
        </p:nvSpPr>
        <p:spPr bwMode="auto">
          <a:xfrm>
            <a:off x="3565525" y="19584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9" name="Rectangle 165"/>
          <p:cNvSpPr>
            <a:spLocks noChangeAspect="1" noChangeArrowheads="1"/>
          </p:cNvSpPr>
          <p:nvPr/>
        </p:nvSpPr>
        <p:spPr bwMode="auto">
          <a:xfrm>
            <a:off x="3825875" y="4303167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0" name="Rectangle 166"/>
          <p:cNvSpPr>
            <a:spLocks noChangeAspect="1" noChangeArrowheads="1"/>
          </p:cNvSpPr>
          <p:nvPr/>
        </p:nvSpPr>
        <p:spPr bwMode="auto">
          <a:xfrm>
            <a:off x="4087813" y="4303167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1" name="Rectangle 167"/>
          <p:cNvSpPr>
            <a:spLocks noChangeAspect="1" noChangeArrowheads="1"/>
          </p:cNvSpPr>
          <p:nvPr/>
        </p:nvSpPr>
        <p:spPr bwMode="auto">
          <a:xfrm>
            <a:off x="4608513" y="4303167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2" name="Rectangle 168"/>
          <p:cNvSpPr>
            <a:spLocks noChangeAspect="1" noChangeArrowheads="1"/>
          </p:cNvSpPr>
          <p:nvPr/>
        </p:nvSpPr>
        <p:spPr bwMode="auto">
          <a:xfrm>
            <a:off x="4348163" y="4303167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3" name="Rectangle 169"/>
          <p:cNvSpPr>
            <a:spLocks noChangeAspect="1" noChangeArrowheads="1"/>
          </p:cNvSpPr>
          <p:nvPr/>
        </p:nvSpPr>
        <p:spPr bwMode="auto">
          <a:xfrm>
            <a:off x="4087813" y="4041230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4" name="Rectangle 170"/>
          <p:cNvSpPr>
            <a:spLocks noChangeAspect="1" noChangeArrowheads="1"/>
          </p:cNvSpPr>
          <p:nvPr/>
        </p:nvSpPr>
        <p:spPr bwMode="auto">
          <a:xfrm>
            <a:off x="4348163" y="40412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5" name="Rectangle 171"/>
          <p:cNvSpPr>
            <a:spLocks noChangeAspect="1" noChangeArrowheads="1"/>
          </p:cNvSpPr>
          <p:nvPr/>
        </p:nvSpPr>
        <p:spPr bwMode="auto">
          <a:xfrm>
            <a:off x="4868863" y="40412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6" name="Rectangle 172"/>
          <p:cNvSpPr>
            <a:spLocks noChangeAspect="1" noChangeArrowheads="1"/>
          </p:cNvSpPr>
          <p:nvPr/>
        </p:nvSpPr>
        <p:spPr bwMode="auto">
          <a:xfrm>
            <a:off x="4608513" y="40412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7" name="Rectangle 173"/>
          <p:cNvSpPr>
            <a:spLocks noChangeAspect="1" noChangeArrowheads="1"/>
          </p:cNvSpPr>
          <p:nvPr/>
        </p:nvSpPr>
        <p:spPr bwMode="auto">
          <a:xfrm>
            <a:off x="4348163" y="3780880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8" name="Rectangle 174"/>
          <p:cNvSpPr>
            <a:spLocks noChangeAspect="1" noChangeArrowheads="1"/>
          </p:cNvSpPr>
          <p:nvPr/>
        </p:nvSpPr>
        <p:spPr bwMode="auto">
          <a:xfrm>
            <a:off x="4608513" y="37808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9" name="Rectangle 175"/>
          <p:cNvSpPr>
            <a:spLocks noChangeAspect="1" noChangeArrowheads="1"/>
          </p:cNvSpPr>
          <p:nvPr/>
        </p:nvSpPr>
        <p:spPr bwMode="auto">
          <a:xfrm>
            <a:off x="5129213" y="378088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0" name="Rectangle 176"/>
          <p:cNvSpPr>
            <a:spLocks noChangeAspect="1" noChangeArrowheads="1"/>
          </p:cNvSpPr>
          <p:nvPr/>
        </p:nvSpPr>
        <p:spPr bwMode="auto">
          <a:xfrm>
            <a:off x="4868863" y="378088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1" name="Rectangle 177"/>
          <p:cNvSpPr>
            <a:spLocks noChangeAspect="1" noChangeArrowheads="1"/>
          </p:cNvSpPr>
          <p:nvPr/>
        </p:nvSpPr>
        <p:spPr bwMode="auto">
          <a:xfrm>
            <a:off x="4606925" y="3520530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2" name="Rectangle 178"/>
          <p:cNvSpPr>
            <a:spLocks noChangeAspect="1" noChangeArrowheads="1"/>
          </p:cNvSpPr>
          <p:nvPr/>
        </p:nvSpPr>
        <p:spPr bwMode="auto">
          <a:xfrm>
            <a:off x="4868863" y="35205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3" name="Rectangle 179"/>
          <p:cNvSpPr>
            <a:spLocks noChangeAspect="1" noChangeArrowheads="1"/>
          </p:cNvSpPr>
          <p:nvPr/>
        </p:nvSpPr>
        <p:spPr bwMode="auto">
          <a:xfrm>
            <a:off x="5389563" y="35205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4" name="Rectangle 180"/>
          <p:cNvSpPr>
            <a:spLocks noChangeAspect="1" noChangeArrowheads="1"/>
          </p:cNvSpPr>
          <p:nvPr/>
        </p:nvSpPr>
        <p:spPr bwMode="auto">
          <a:xfrm>
            <a:off x="5129213" y="35205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5" name="Rectangle 181"/>
          <p:cNvSpPr>
            <a:spLocks noChangeAspect="1" noChangeArrowheads="1"/>
          </p:cNvSpPr>
          <p:nvPr/>
        </p:nvSpPr>
        <p:spPr bwMode="auto">
          <a:xfrm>
            <a:off x="4867275" y="3260180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6" name="Rectangle 182"/>
          <p:cNvSpPr>
            <a:spLocks noChangeAspect="1" noChangeArrowheads="1"/>
          </p:cNvSpPr>
          <p:nvPr/>
        </p:nvSpPr>
        <p:spPr bwMode="auto">
          <a:xfrm>
            <a:off x="5129213" y="32601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7" name="Rectangle 183"/>
          <p:cNvSpPr>
            <a:spLocks noChangeAspect="1" noChangeArrowheads="1"/>
          </p:cNvSpPr>
          <p:nvPr/>
        </p:nvSpPr>
        <p:spPr bwMode="auto">
          <a:xfrm>
            <a:off x="5129213" y="2998242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8" name="Rectangle 184"/>
          <p:cNvSpPr>
            <a:spLocks noChangeAspect="1" noChangeArrowheads="1"/>
          </p:cNvSpPr>
          <p:nvPr/>
        </p:nvSpPr>
        <p:spPr bwMode="auto">
          <a:xfrm>
            <a:off x="5389563" y="2737892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9" name="Rectangle 185"/>
          <p:cNvSpPr>
            <a:spLocks noChangeAspect="1" noChangeArrowheads="1"/>
          </p:cNvSpPr>
          <p:nvPr/>
        </p:nvSpPr>
        <p:spPr bwMode="auto">
          <a:xfrm>
            <a:off x="5648325" y="2477542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0" name="Rectangle 186"/>
          <p:cNvSpPr>
            <a:spLocks noChangeAspect="1" noChangeArrowheads="1"/>
          </p:cNvSpPr>
          <p:nvPr/>
        </p:nvSpPr>
        <p:spPr bwMode="auto">
          <a:xfrm>
            <a:off x="5911850" y="2218780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1" name="Rectangle 187"/>
          <p:cNvSpPr>
            <a:spLocks noChangeAspect="1" noChangeArrowheads="1"/>
          </p:cNvSpPr>
          <p:nvPr/>
        </p:nvSpPr>
        <p:spPr bwMode="auto">
          <a:xfrm>
            <a:off x="6170613" y="1958430"/>
            <a:ext cx="260350" cy="260350"/>
          </a:xfrm>
          <a:prstGeom prst="rect">
            <a:avLst/>
          </a:prstGeom>
          <a:solidFill>
            <a:srgbClr val="00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2" name="Rectangle 188"/>
          <p:cNvSpPr>
            <a:spLocks noChangeAspect="1" noChangeArrowheads="1"/>
          </p:cNvSpPr>
          <p:nvPr/>
        </p:nvSpPr>
        <p:spPr bwMode="auto">
          <a:xfrm>
            <a:off x="5389563" y="3001417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3" name="Rectangle 189"/>
          <p:cNvSpPr>
            <a:spLocks noChangeAspect="1" noChangeArrowheads="1"/>
          </p:cNvSpPr>
          <p:nvPr/>
        </p:nvSpPr>
        <p:spPr bwMode="auto">
          <a:xfrm>
            <a:off x="5651500" y="27394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4" name="Rectangle 190"/>
          <p:cNvSpPr>
            <a:spLocks noChangeAspect="1" noChangeArrowheads="1"/>
          </p:cNvSpPr>
          <p:nvPr/>
        </p:nvSpPr>
        <p:spPr bwMode="auto">
          <a:xfrm>
            <a:off x="5911850" y="24791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5" name="Rectangle 191"/>
          <p:cNvSpPr>
            <a:spLocks noChangeAspect="1" noChangeArrowheads="1"/>
          </p:cNvSpPr>
          <p:nvPr/>
        </p:nvSpPr>
        <p:spPr bwMode="auto">
          <a:xfrm>
            <a:off x="6170613" y="22187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6" name="Rectangle 192"/>
          <p:cNvSpPr>
            <a:spLocks noChangeAspect="1" noChangeArrowheads="1"/>
          </p:cNvSpPr>
          <p:nvPr/>
        </p:nvSpPr>
        <p:spPr bwMode="auto">
          <a:xfrm>
            <a:off x="6430963" y="19584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7" name="Rectangle 193"/>
          <p:cNvSpPr>
            <a:spLocks noChangeAspect="1" noChangeArrowheads="1"/>
          </p:cNvSpPr>
          <p:nvPr/>
        </p:nvSpPr>
        <p:spPr bwMode="auto">
          <a:xfrm>
            <a:off x="5389563" y="3261767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8" name="Rectangle 194"/>
          <p:cNvSpPr>
            <a:spLocks noChangeAspect="1" noChangeArrowheads="1"/>
          </p:cNvSpPr>
          <p:nvPr/>
        </p:nvSpPr>
        <p:spPr bwMode="auto">
          <a:xfrm>
            <a:off x="5651500" y="29998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9" name="Rectangle 195"/>
          <p:cNvSpPr>
            <a:spLocks noChangeAspect="1" noChangeArrowheads="1"/>
          </p:cNvSpPr>
          <p:nvPr/>
        </p:nvSpPr>
        <p:spPr bwMode="auto">
          <a:xfrm>
            <a:off x="5911850" y="273948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Rectangle 196"/>
          <p:cNvSpPr>
            <a:spLocks noChangeAspect="1" noChangeArrowheads="1"/>
          </p:cNvSpPr>
          <p:nvPr/>
        </p:nvSpPr>
        <p:spPr bwMode="auto">
          <a:xfrm>
            <a:off x="6170613" y="24791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1" name="Rectangle 197"/>
          <p:cNvSpPr>
            <a:spLocks noChangeAspect="1" noChangeArrowheads="1"/>
          </p:cNvSpPr>
          <p:nvPr/>
        </p:nvSpPr>
        <p:spPr bwMode="auto">
          <a:xfrm>
            <a:off x="6430963" y="221878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2" name="Rectangle 198"/>
          <p:cNvSpPr>
            <a:spLocks noChangeAspect="1" noChangeArrowheads="1"/>
          </p:cNvSpPr>
          <p:nvPr/>
        </p:nvSpPr>
        <p:spPr bwMode="auto">
          <a:xfrm>
            <a:off x="6691313" y="195843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3" name="Rectangle 199"/>
          <p:cNvSpPr>
            <a:spLocks noChangeAspect="1" noChangeArrowheads="1"/>
          </p:cNvSpPr>
          <p:nvPr/>
        </p:nvSpPr>
        <p:spPr bwMode="auto">
          <a:xfrm>
            <a:off x="5649913" y="3261767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4" name="Rectangle 200"/>
          <p:cNvSpPr>
            <a:spLocks noChangeAspect="1" noChangeArrowheads="1"/>
          </p:cNvSpPr>
          <p:nvPr/>
        </p:nvSpPr>
        <p:spPr bwMode="auto">
          <a:xfrm>
            <a:off x="5911850" y="29998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5" name="Rectangle 201"/>
          <p:cNvSpPr>
            <a:spLocks noChangeAspect="1" noChangeArrowheads="1"/>
          </p:cNvSpPr>
          <p:nvPr/>
        </p:nvSpPr>
        <p:spPr bwMode="auto">
          <a:xfrm>
            <a:off x="6172200" y="273948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6" name="Rectangle 202"/>
          <p:cNvSpPr>
            <a:spLocks noChangeAspect="1" noChangeArrowheads="1"/>
          </p:cNvSpPr>
          <p:nvPr/>
        </p:nvSpPr>
        <p:spPr bwMode="auto">
          <a:xfrm>
            <a:off x="6430963" y="24791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7" name="Rectangle 203"/>
          <p:cNvSpPr>
            <a:spLocks noChangeAspect="1" noChangeArrowheads="1"/>
          </p:cNvSpPr>
          <p:nvPr/>
        </p:nvSpPr>
        <p:spPr bwMode="auto">
          <a:xfrm>
            <a:off x="6691313" y="221878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8" name="Rectangle 204"/>
          <p:cNvSpPr>
            <a:spLocks noChangeAspect="1" noChangeArrowheads="1"/>
          </p:cNvSpPr>
          <p:nvPr/>
        </p:nvSpPr>
        <p:spPr bwMode="auto">
          <a:xfrm>
            <a:off x="6951663" y="195843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9" name="Rectangle 205"/>
          <p:cNvSpPr>
            <a:spLocks noChangeAspect="1" noChangeArrowheads="1"/>
          </p:cNvSpPr>
          <p:nvPr/>
        </p:nvSpPr>
        <p:spPr bwMode="auto">
          <a:xfrm>
            <a:off x="5129213" y="4303167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0" name="Rectangle 206"/>
          <p:cNvSpPr>
            <a:spLocks noChangeAspect="1" noChangeArrowheads="1"/>
          </p:cNvSpPr>
          <p:nvPr/>
        </p:nvSpPr>
        <p:spPr bwMode="auto">
          <a:xfrm>
            <a:off x="4868863" y="4303167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1" name="Rectangle 207"/>
          <p:cNvSpPr>
            <a:spLocks noChangeAspect="1" noChangeArrowheads="1"/>
          </p:cNvSpPr>
          <p:nvPr/>
        </p:nvSpPr>
        <p:spPr bwMode="auto">
          <a:xfrm>
            <a:off x="5389563" y="4041230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2" name="Rectangle 208"/>
          <p:cNvSpPr>
            <a:spLocks noChangeAspect="1" noChangeArrowheads="1"/>
          </p:cNvSpPr>
          <p:nvPr/>
        </p:nvSpPr>
        <p:spPr bwMode="auto">
          <a:xfrm>
            <a:off x="5129213" y="4041230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3" name="Rectangle 209"/>
          <p:cNvSpPr>
            <a:spLocks noChangeAspect="1" noChangeArrowheads="1"/>
          </p:cNvSpPr>
          <p:nvPr/>
        </p:nvSpPr>
        <p:spPr bwMode="auto">
          <a:xfrm>
            <a:off x="5649913" y="3780880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4" name="Rectangle 210"/>
          <p:cNvSpPr>
            <a:spLocks noChangeAspect="1" noChangeArrowheads="1"/>
          </p:cNvSpPr>
          <p:nvPr/>
        </p:nvSpPr>
        <p:spPr bwMode="auto">
          <a:xfrm>
            <a:off x="5389563" y="3780880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5" name="Rectangle 211"/>
          <p:cNvSpPr>
            <a:spLocks noChangeAspect="1" noChangeArrowheads="1"/>
          </p:cNvSpPr>
          <p:nvPr/>
        </p:nvSpPr>
        <p:spPr bwMode="auto">
          <a:xfrm>
            <a:off x="5910263" y="3520530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6" name="Rectangle 212"/>
          <p:cNvSpPr>
            <a:spLocks noChangeAspect="1" noChangeArrowheads="1"/>
          </p:cNvSpPr>
          <p:nvPr/>
        </p:nvSpPr>
        <p:spPr bwMode="auto">
          <a:xfrm>
            <a:off x="5649913" y="3520530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7" name="Rectangle 213"/>
          <p:cNvSpPr>
            <a:spLocks noChangeAspect="1" noChangeArrowheads="1"/>
          </p:cNvSpPr>
          <p:nvPr/>
        </p:nvSpPr>
        <p:spPr bwMode="auto">
          <a:xfrm>
            <a:off x="5910263" y="3261767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8" name="Rectangle 214"/>
          <p:cNvSpPr>
            <a:spLocks noChangeAspect="1" noChangeArrowheads="1"/>
          </p:cNvSpPr>
          <p:nvPr/>
        </p:nvSpPr>
        <p:spPr bwMode="auto">
          <a:xfrm>
            <a:off x="6172200" y="2999830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9" name="Rectangle 215"/>
          <p:cNvSpPr>
            <a:spLocks noChangeAspect="1" noChangeArrowheads="1"/>
          </p:cNvSpPr>
          <p:nvPr/>
        </p:nvSpPr>
        <p:spPr bwMode="auto">
          <a:xfrm>
            <a:off x="6432550" y="2739480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0" name="Rectangle 216"/>
          <p:cNvSpPr>
            <a:spLocks noChangeAspect="1" noChangeArrowheads="1"/>
          </p:cNvSpPr>
          <p:nvPr/>
        </p:nvSpPr>
        <p:spPr bwMode="auto">
          <a:xfrm>
            <a:off x="6691313" y="2479130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1" name="Rectangle 217"/>
          <p:cNvSpPr>
            <a:spLocks noChangeAspect="1" noChangeArrowheads="1"/>
          </p:cNvSpPr>
          <p:nvPr/>
        </p:nvSpPr>
        <p:spPr bwMode="auto">
          <a:xfrm>
            <a:off x="6951663" y="2218780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2" name="Rectangle 218"/>
          <p:cNvSpPr>
            <a:spLocks noChangeAspect="1" noChangeArrowheads="1"/>
          </p:cNvSpPr>
          <p:nvPr/>
        </p:nvSpPr>
        <p:spPr bwMode="auto">
          <a:xfrm>
            <a:off x="7212013" y="1958430"/>
            <a:ext cx="260350" cy="260350"/>
          </a:xfrm>
          <a:prstGeom prst="rect">
            <a:avLst/>
          </a:prstGeom>
          <a:solidFill>
            <a:srgbClr val="CCFF66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3" name="Rectangle 219"/>
          <p:cNvSpPr>
            <a:spLocks noChangeAspect="1" noChangeArrowheads="1"/>
          </p:cNvSpPr>
          <p:nvPr/>
        </p:nvSpPr>
        <p:spPr bwMode="auto">
          <a:xfrm>
            <a:off x="6170613" y="3261767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4" name="Rectangle 220"/>
          <p:cNvSpPr>
            <a:spLocks noChangeAspect="1" noChangeArrowheads="1"/>
          </p:cNvSpPr>
          <p:nvPr/>
        </p:nvSpPr>
        <p:spPr bwMode="auto">
          <a:xfrm>
            <a:off x="6432550" y="2999830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5" name="Rectangle 221"/>
          <p:cNvSpPr>
            <a:spLocks noChangeAspect="1" noChangeArrowheads="1"/>
          </p:cNvSpPr>
          <p:nvPr/>
        </p:nvSpPr>
        <p:spPr bwMode="auto">
          <a:xfrm>
            <a:off x="6692900" y="2739480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6" name="Rectangle 222"/>
          <p:cNvSpPr>
            <a:spLocks noChangeAspect="1" noChangeArrowheads="1"/>
          </p:cNvSpPr>
          <p:nvPr/>
        </p:nvSpPr>
        <p:spPr bwMode="auto">
          <a:xfrm>
            <a:off x="6951663" y="2479130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7" name="Rectangle 223"/>
          <p:cNvSpPr>
            <a:spLocks noChangeAspect="1" noChangeArrowheads="1"/>
          </p:cNvSpPr>
          <p:nvPr/>
        </p:nvSpPr>
        <p:spPr bwMode="auto">
          <a:xfrm>
            <a:off x="7212013" y="2218780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8" name="Rectangle 224"/>
          <p:cNvSpPr>
            <a:spLocks noChangeAspect="1" noChangeArrowheads="1"/>
          </p:cNvSpPr>
          <p:nvPr/>
        </p:nvSpPr>
        <p:spPr bwMode="auto">
          <a:xfrm>
            <a:off x="7472363" y="1958430"/>
            <a:ext cx="260350" cy="260350"/>
          </a:xfrm>
          <a:prstGeom prst="rect">
            <a:avLst/>
          </a:prstGeom>
          <a:solidFill>
            <a:srgbClr val="CC99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9" name="Rectangle 225"/>
          <p:cNvSpPr>
            <a:spLocks noChangeAspect="1" noChangeArrowheads="1"/>
          </p:cNvSpPr>
          <p:nvPr/>
        </p:nvSpPr>
        <p:spPr bwMode="auto">
          <a:xfrm>
            <a:off x="2524125" y="32617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0" name="Rectangle 226"/>
          <p:cNvSpPr>
            <a:spLocks noChangeAspect="1" noChangeArrowheads="1"/>
          </p:cNvSpPr>
          <p:nvPr/>
        </p:nvSpPr>
        <p:spPr bwMode="auto">
          <a:xfrm>
            <a:off x="2784475" y="29998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1" name="Rectangle 227"/>
          <p:cNvSpPr>
            <a:spLocks noChangeAspect="1" noChangeArrowheads="1"/>
          </p:cNvSpPr>
          <p:nvPr/>
        </p:nvSpPr>
        <p:spPr bwMode="auto">
          <a:xfrm>
            <a:off x="3044825" y="27394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2" name="Rectangle 228"/>
          <p:cNvSpPr>
            <a:spLocks noChangeAspect="1" noChangeArrowheads="1"/>
          </p:cNvSpPr>
          <p:nvPr/>
        </p:nvSpPr>
        <p:spPr bwMode="auto">
          <a:xfrm>
            <a:off x="3305175" y="24791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3" name="Rectangle 229"/>
          <p:cNvSpPr>
            <a:spLocks noChangeAspect="1" noChangeArrowheads="1"/>
          </p:cNvSpPr>
          <p:nvPr/>
        </p:nvSpPr>
        <p:spPr bwMode="auto">
          <a:xfrm>
            <a:off x="3565525" y="22187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4" name="Rectangle 230"/>
          <p:cNvSpPr>
            <a:spLocks noChangeAspect="1" noChangeArrowheads="1"/>
          </p:cNvSpPr>
          <p:nvPr/>
        </p:nvSpPr>
        <p:spPr bwMode="auto">
          <a:xfrm>
            <a:off x="2784475" y="32617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5" name="Rectangle 231"/>
          <p:cNvSpPr>
            <a:spLocks noChangeAspect="1" noChangeArrowheads="1"/>
          </p:cNvSpPr>
          <p:nvPr/>
        </p:nvSpPr>
        <p:spPr bwMode="auto">
          <a:xfrm>
            <a:off x="3044825" y="29998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6" name="Rectangle 232"/>
          <p:cNvSpPr>
            <a:spLocks noChangeAspect="1" noChangeArrowheads="1"/>
          </p:cNvSpPr>
          <p:nvPr/>
        </p:nvSpPr>
        <p:spPr bwMode="auto">
          <a:xfrm>
            <a:off x="3305175" y="27394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7" name="Rectangle 233"/>
          <p:cNvSpPr>
            <a:spLocks noChangeAspect="1" noChangeArrowheads="1"/>
          </p:cNvSpPr>
          <p:nvPr/>
        </p:nvSpPr>
        <p:spPr bwMode="auto">
          <a:xfrm>
            <a:off x="3565525" y="24791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8" name="Rectangle 234"/>
          <p:cNvSpPr>
            <a:spLocks noChangeAspect="1" noChangeArrowheads="1"/>
          </p:cNvSpPr>
          <p:nvPr/>
        </p:nvSpPr>
        <p:spPr bwMode="auto">
          <a:xfrm>
            <a:off x="3044825" y="32601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9" name="Rectangle 235"/>
          <p:cNvSpPr>
            <a:spLocks noChangeAspect="1" noChangeArrowheads="1"/>
          </p:cNvSpPr>
          <p:nvPr/>
        </p:nvSpPr>
        <p:spPr bwMode="auto">
          <a:xfrm>
            <a:off x="3306763" y="29982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0" name="Rectangle 236"/>
          <p:cNvSpPr>
            <a:spLocks noChangeAspect="1" noChangeArrowheads="1"/>
          </p:cNvSpPr>
          <p:nvPr/>
        </p:nvSpPr>
        <p:spPr bwMode="auto">
          <a:xfrm>
            <a:off x="3567113" y="27378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1" name="Rectangle 237"/>
          <p:cNvSpPr>
            <a:spLocks noChangeAspect="1" noChangeArrowheads="1"/>
          </p:cNvSpPr>
          <p:nvPr/>
        </p:nvSpPr>
        <p:spPr bwMode="auto">
          <a:xfrm>
            <a:off x="3306763" y="32601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2" name="Rectangle 238"/>
          <p:cNvSpPr>
            <a:spLocks noChangeAspect="1" noChangeArrowheads="1"/>
          </p:cNvSpPr>
          <p:nvPr/>
        </p:nvSpPr>
        <p:spPr bwMode="auto">
          <a:xfrm>
            <a:off x="3565525" y="29998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3" name="Rectangle 239"/>
          <p:cNvSpPr>
            <a:spLocks noChangeAspect="1" noChangeArrowheads="1"/>
          </p:cNvSpPr>
          <p:nvPr/>
        </p:nvSpPr>
        <p:spPr bwMode="auto">
          <a:xfrm>
            <a:off x="2524125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4" name="Rectangle 240"/>
          <p:cNvSpPr>
            <a:spLocks noChangeAspect="1" noChangeArrowheads="1"/>
          </p:cNvSpPr>
          <p:nvPr/>
        </p:nvSpPr>
        <p:spPr bwMode="auto">
          <a:xfrm>
            <a:off x="2784475" y="40412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5" name="Rectangle 241"/>
          <p:cNvSpPr>
            <a:spLocks noChangeAspect="1" noChangeArrowheads="1"/>
          </p:cNvSpPr>
          <p:nvPr/>
        </p:nvSpPr>
        <p:spPr bwMode="auto">
          <a:xfrm>
            <a:off x="3044825" y="37808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6" name="Rectangle 242"/>
          <p:cNvSpPr>
            <a:spLocks noChangeAspect="1" noChangeArrowheads="1"/>
          </p:cNvSpPr>
          <p:nvPr/>
        </p:nvSpPr>
        <p:spPr bwMode="auto">
          <a:xfrm>
            <a:off x="3305175" y="35205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7" name="Rectangle 243"/>
          <p:cNvSpPr>
            <a:spLocks noChangeAspect="1" noChangeArrowheads="1"/>
          </p:cNvSpPr>
          <p:nvPr/>
        </p:nvSpPr>
        <p:spPr bwMode="auto">
          <a:xfrm>
            <a:off x="3567113" y="32585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8" name="Rectangle 244"/>
          <p:cNvSpPr>
            <a:spLocks noChangeAspect="1" noChangeArrowheads="1"/>
          </p:cNvSpPr>
          <p:nvPr/>
        </p:nvSpPr>
        <p:spPr bwMode="auto">
          <a:xfrm>
            <a:off x="2784475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69" name="Rectangle 245"/>
          <p:cNvSpPr>
            <a:spLocks noChangeAspect="1" noChangeArrowheads="1"/>
          </p:cNvSpPr>
          <p:nvPr/>
        </p:nvSpPr>
        <p:spPr bwMode="auto">
          <a:xfrm>
            <a:off x="3046413" y="40412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0" name="Rectangle 246"/>
          <p:cNvSpPr>
            <a:spLocks noChangeAspect="1" noChangeArrowheads="1"/>
          </p:cNvSpPr>
          <p:nvPr/>
        </p:nvSpPr>
        <p:spPr bwMode="auto">
          <a:xfrm>
            <a:off x="3306763" y="37808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1" name="Rectangle 247"/>
          <p:cNvSpPr>
            <a:spLocks noChangeAspect="1" noChangeArrowheads="1"/>
          </p:cNvSpPr>
          <p:nvPr/>
        </p:nvSpPr>
        <p:spPr bwMode="auto">
          <a:xfrm>
            <a:off x="3565525" y="35205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2" name="Rectangle 248"/>
          <p:cNvSpPr>
            <a:spLocks noChangeAspect="1" noChangeArrowheads="1"/>
          </p:cNvSpPr>
          <p:nvPr/>
        </p:nvSpPr>
        <p:spPr bwMode="auto">
          <a:xfrm>
            <a:off x="3044825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3" name="Rectangle 249"/>
          <p:cNvSpPr>
            <a:spLocks noChangeAspect="1" noChangeArrowheads="1"/>
          </p:cNvSpPr>
          <p:nvPr/>
        </p:nvSpPr>
        <p:spPr bwMode="auto">
          <a:xfrm>
            <a:off x="3305175" y="40428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4" name="Rectangle 250"/>
          <p:cNvSpPr>
            <a:spLocks noChangeAspect="1" noChangeArrowheads="1"/>
          </p:cNvSpPr>
          <p:nvPr/>
        </p:nvSpPr>
        <p:spPr bwMode="auto">
          <a:xfrm>
            <a:off x="3565525" y="37824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5" name="Rectangle 251"/>
          <p:cNvSpPr>
            <a:spLocks noChangeAspect="1" noChangeArrowheads="1"/>
          </p:cNvSpPr>
          <p:nvPr/>
        </p:nvSpPr>
        <p:spPr bwMode="auto">
          <a:xfrm>
            <a:off x="3306763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6" name="Rectangle 252"/>
          <p:cNvSpPr>
            <a:spLocks noChangeAspect="1" noChangeArrowheads="1"/>
          </p:cNvSpPr>
          <p:nvPr/>
        </p:nvSpPr>
        <p:spPr bwMode="auto">
          <a:xfrm>
            <a:off x="3565525" y="404281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7" name="Rectangle 253"/>
          <p:cNvSpPr>
            <a:spLocks noChangeAspect="1" noChangeArrowheads="1"/>
          </p:cNvSpPr>
          <p:nvPr/>
        </p:nvSpPr>
        <p:spPr bwMode="auto">
          <a:xfrm>
            <a:off x="3565525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8" name="Rectangle 255"/>
          <p:cNvSpPr>
            <a:spLocks noChangeAspect="1" noChangeArrowheads="1"/>
          </p:cNvSpPr>
          <p:nvPr/>
        </p:nvSpPr>
        <p:spPr bwMode="auto">
          <a:xfrm>
            <a:off x="5649913" y="430158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79" name="Rectangle 256"/>
          <p:cNvSpPr>
            <a:spLocks noChangeAspect="1" noChangeArrowheads="1"/>
          </p:cNvSpPr>
          <p:nvPr/>
        </p:nvSpPr>
        <p:spPr bwMode="auto">
          <a:xfrm>
            <a:off x="6170613" y="430158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0" name="Rectangle 257"/>
          <p:cNvSpPr>
            <a:spLocks noChangeAspect="1" noChangeArrowheads="1"/>
          </p:cNvSpPr>
          <p:nvPr/>
        </p:nvSpPr>
        <p:spPr bwMode="auto">
          <a:xfrm>
            <a:off x="5910263" y="430158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1" name="Rectangle 259"/>
          <p:cNvSpPr>
            <a:spLocks noChangeAspect="1" noChangeArrowheads="1"/>
          </p:cNvSpPr>
          <p:nvPr/>
        </p:nvSpPr>
        <p:spPr bwMode="auto">
          <a:xfrm>
            <a:off x="5911850" y="4039642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2" name="Rectangle 260"/>
          <p:cNvSpPr>
            <a:spLocks noChangeAspect="1" noChangeArrowheads="1"/>
          </p:cNvSpPr>
          <p:nvPr/>
        </p:nvSpPr>
        <p:spPr bwMode="auto">
          <a:xfrm>
            <a:off x="6432550" y="4039642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3" name="Rectangle 261"/>
          <p:cNvSpPr>
            <a:spLocks noChangeAspect="1" noChangeArrowheads="1"/>
          </p:cNvSpPr>
          <p:nvPr/>
        </p:nvSpPr>
        <p:spPr bwMode="auto">
          <a:xfrm>
            <a:off x="6172200" y="4039642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4" name="Rectangle 263"/>
          <p:cNvSpPr>
            <a:spLocks noChangeAspect="1" noChangeArrowheads="1"/>
          </p:cNvSpPr>
          <p:nvPr/>
        </p:nvSpPr>
        <p:spPr bwMode="auto">
          <a:xfrm>
            <a:off x="6172200" y="3779292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5" name="Rectangle 264"/>
          <p:cNvSpPr>
            <a:spLocks noChangeAspect="1" noChangeArrowheads="1"/>
          </p:cNvSpPr>
          <p:nvPr/>
        </p:nvSpPr>
        <p:spPr bwMode="auto">
          <a:xfrm>
            <a:off x="6692900" y="3779292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6" name="Rectangle 265"/>
          <p:cNvSpPr>
            <a:spLocks noChangeAspect="1" noChangeArrowheads="1"/>
          </p:cNvSpPr>
          <p:nvPr/>
        </p:nvSpPr>
        <p:spPr bwMode="auto">
          <a:xfrm>
            <a:off x="6432550" y="3779292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7" name="Rectangle 267"/>
          <p:cNvSpPr>
            <a:spLocks noChangeAspect="1" noChangeArrowheads="1"/>
          </p:cNvSpPr>
          <p:nvPr/>
        </p:nvSpPr>
        <p:spPr bwMode="auto">
          <a:xfrm>
            <a:off x="6430963" y="3518942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8" name="Rectangle 268"/>
          <p:cNvSpPr>
            <a:spLocks noChangeAspect="1" noChangeArrowheads="1"/>
          </p:cNvSpPr>
          <p:nvPr/>
        </p:nvSpPr>
        <p:spPr bwMode="auto">
          <a:xfrm>
            <a:off x="6951663" y="3518942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9" name="Rectangle 269"/>
          <p:cNvSpPr>
            <a:spLocks noChangeAspect="1" noChangeArrowheads="1"/>
          </p:cNvSpPr>
          <p:nvPr/>
        </p:nvSpPr>
        <p:spPr bwMode="auto">
          <a:xfrm>
            <a:off x="6691313" y="3518942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0" name="Rectangle 270"/>
          <p:cNvSpPr>
            <a:spLocks noChangeAspect="1" noChangeArrowheads="1"/>
          </p:cNvSpPr>
          <p:nvPr/>
        </p:nvSpPr>
        <p:spPr bwMode="auto">
          <a:xfrm>
            <a:off x="6430963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1" name="Rectangle 271"/>
          <p:cNvSpPr>
            <a:spLocks noChangeAspect="1" noChangeArrowheads="1"/>
          </p:cNvSpPr>
          <p:nvPr/>
        </p:nvSpPr>
        <p:spPr bwMode="auto">
          <a:xfrm>
            <a:off x="7212013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2" name="Rectangle 272"/>
          <p:cNvSpPr>
            <a:spLocks noChangeAspect="1" noChangeArrowheads="1"/>
          </p:cNvSpPr>
          <p:nvPr/>
        </p:nvSpPr>
        <p:spPr bwMode="auto">
          <a:xfrm>
            <a:off x="6691313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3" name="Rectangle 273"/>
          <p:cNvSpPr>
            <a:spLocks noChangeAspect="1" noChangeArrowheads="1"/>
          </p:cNvSpPr>
          <p:nvPr/>
        </p:nvSpPr>
        <p:spPr bwMode="auto">
          <a:xfrm>
            <a:off x="6951663" y="4303167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4" name="Rectangle 274"/>
          <p:cNvSpPr>
            <a:spLocks noChangeAspect="1" noChangeArrowheads="1"/>
          </p:cNvSpPr>
          <p:nvPr/>
        </p:nvSpPr>
        <p:spPr bwMode="auto">
          <a:xfrm>
            <a:off x="6691313" y="40412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5" name="Rectangle 275"/>
          <p:cNvSpPr>
            <a:spLocks noChangeAspect="1" noChangeArrowheads="1"/>
          </p:cNvSpPr>
          <p:nvPr/>
        </p:nvSpPr>
        <p:spPr bwMode="auto">
          <a:xfrm>
            <a:off x="7472363" y="40412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6" name="Rectangle 276"/>
          <p:cNvSpPr>
            <a:spLocks noChangeAspect="1" noChangeArrowheads="1"/>
          </p:cNvSpPr>
          <p:nvPr/>
        </p:nvSpPr>
        <p:spPr bwMode="auto">
          <a:xfrm>
            <a:off x="6951663" y="40412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7" name="Rectangle 277"/>
          <p:cNvSpPr>
            <a:spLocks noChangeAspect="1" noChangeArrowheads="1"/>
          </p:cNvSpPr>
          <p:nvPr/>
        </p:nvSpPr>
        <p:spPr bwMode="auto">
          <a:xfrm>
            <a:off x="7212013" y="40412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8" name="Rectangle 278"/>
          <p:cNvSpPr>
            <a:spLocks noChangeAspect="1" noChangeArrowheads="1"/>
          </p:cNvSpPr>
          <p:nvPr/>
        </p:nvSpPr>
        <p:spPr bwMode="auto">
          <a:xfrm>
            <a:off x="6951663" y="37808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9" name="Rectangle 279"/>
          <p:cNvSpPr>
            <a:spLocks noChangeAspect="1" noChangeArrowheads="1"/>
          </p:cNvSpPr>
          <p:nvPr/>
        </p:nvSpPr>
        <p:spPr bwMode="auto">
          <a:xfrm>
            <a:off x="7732713" y="37808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0" name="Rectangle 280"/>
          <p:cNvSpPr>
            <a:spLocks noChangeAspect="1" noChangeArrowheads="1"/>
          </p:cNvSpPr>
          <p:nvPr/>
        </p:nvSpPr>
        <p:spPr bwMode="auto">
          <a:xfrm>
            <a:off x="7212013" y="37808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1" name="Rectangle 281"/>
          <p:cNvSpPr>
            <a:spLocks noChangeAspect="1" noChangeArrowheads="1"/>
          </p:cNvSpPr>
          <p:nvPr/>
        </p:nvSpPr>
        <p:spPr bwMode="auto">
          <a:xfrm>
            <a:off x="7472363" y="37808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2" name="Rectangle 282"/>
          <p:cNvSpPr>
            <a:spLocks noChangeAspect="1" noChangeArrowheads="1"/>
          </p:cNvSpPr>
          <p:nvPr/>
        </p:nvSpPr>
        <p:spPr bwMode="auto">
          <a:xfrm>
            <a:off x="7212013" y="35205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3" name="Rectangle 283"/>
          <p:cNvSpPr>
            <a:spLocks noChangeAspect="1" noChangeArrowheads="1"/>
          </p:cNvSpPr>
          <p:nvPr/>
        </p:nvSpPr>
        <p:spPr bwMode="auto">
          <a:xfrm>
            <a:off x="7993063" y="35205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4" name="Rectangle 284"/>
          <p:cNvSpPr>
            <a:spLocks noChangeAspect="1" noChangeArrowheads="1"/>
          </p:cNvSpPr>
          <p:nvPr/>
        </p:nvSpPr>
        <p:spPr bwMode="auto">
          <a:xfrm>
            <a:off x="7472363" y="35205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5" name="Rectangle 285"/>
          <p:cNvSpPr>
            <a:spLocks noChangeAspect="1" noChangeArrowheads="1"/>
          </p:cNvSpPr>
          <p:nvPr/>
        </p:nvSpPr>
        <p:spPr bwMode="auto">
          <a:xfrm>
            <a:off x="7732713" y="35205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6" name="Line 286"/>
          <p:cNvSpPr>
            <a:spLocks noChangeAspect="1" noChangeShapeType="1"/>
          </p:cNvSpPr>
          <p:nvPr/>
        </p:nvSpPr>
        <p:spPr bwMode="auto">
          <a:xfrm>
            <a:off x="8775700" y="2217192"/>
            <a:ext cx="0" cy="2344738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7" name="Rectangle 288"/>
          <p:cNvSpPr>
            <a:spLocks noChangeAspect="1" noChangeArrowheads="1"/>
          </p:cNvSpPr>
          <p:nvPr/>
        </p:nvSpPr>
        <p:spPr bwMode="auto">
          <a:xfrm>
            <a:off x="6691313" y="3258592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8" name="Rectangle 294"/>
          <p:cNvSpPr>
            <a:spLocks noChangeAspect="1" noChangeArrowheads="1"/>
          </p:cNvSpPr>
          <p:nvPr/>
        </p:nvSpPr>
        <p:spPr bwMode="auto">
          <a:xfrm>
            <a:off x="6953250" y="2999830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9" name="Rectangle 295"/>
          <p:cNvSpPr>
            <a:spLocks noChangeAspect="1" noChangeArrowheads="1"/>
          </p:cNvSpPr>
          <p:nvPr/>
        </p:nvSpPr>
        <p:spPr bwMode="auto">
          <a:xfrm>
            <a:off x="7215188" y="2737892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0" name="Rectangle 296"/>
          <p:cNvSpPr>
            <a:spLocks noChangeAspect="1" noChangeArrowheads="1"/>
          </p:cNvSpPr>
          <p:nvPr/>
        </p:nvSpPr>
        <p:spPr bwMode="auto">
          <a:xfrm>
            <a:off x="7475538" y="2477542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1" name="Rectangle 297"/>
          <p:cNvSpPr>
            <a:spLocks noChangeAspect="1" noChangeArrowheads="1"/>
          </p:cNvSpPr>
          <p:nvPr/>
        </p:nvSpPr>
        <p:spPr bwMode="auto">
          <a:xfrm>
            <a:off x="7734300" y="2217192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2" name="Rectangle 298"/>
          <p:cNvSpPr>
            <a:spLocks noChangeAspect="1" noChangeArrowheads="1"/>
          </p:cNvSpPr>
          <p:nvPr/>
        </p:nvSpPr>
        <p:spPr bwMode="auto">
          <a:xfrm>
            <a:off x="7994650" y="1956842"/>
            <a:ext cx="260350" cy="260350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3" name="Rectangle 299"/>
          <p:cNvSpPr>
            <a:spLocks noChangeAspect="1" noChangeArrowheads="1"/>
          </p:cNvSpPr>
          <p:nvPr/>
        </p:nvSpPr>
        <p:spPr bwMode="auto">
          <a:xfrm>
            <a:off x="6953250" y="3260180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4" name="Rectangle 300"/>
          <p:cNvSpPr>
            <a:spLocks noChangeAspect="1" noChangeArrowheads="1"/>
          </p:cNvSpPr>
          <p:nvPr/>
        </p:nvSpPr>
        <p:spPr bwMode="auto">
          <a:xfrm>
            <a:off x="7215188" y="2998242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5" name="Rectangle 301"/>
          <p:cNvSpPr>
            <a:spLocks noChangeAspect="1" noChangeArrowheads="1"/>
          </p:cNvSpPr>
          <p:nvPr/>
        </p:nvSpPr>
        <p:spPr bwMode="auto">
          <a:xfrm>
            <a:off x="7475538" y="2737892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6" name="Rectangle 302"/>
          <p:cNvSpPr>
            <a:spLocks noChangeAspect="1" noChangeArrowheads="1"/>
          </p:cNvSpPr>
          <p:nvPr/>
        </p:nvSpPr>
        <p:spPr bwMode="auto">
          <a:xfrm>
            <a:off x="7734300" y="2477542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7" name="Rectangle 303"/>
          <p:cNvSpPr>
            <a:spLocks noChangeAspect="1" noChangeArrowheads="1"/>
          </p:cNvSpPr>
          <p:nvPr/>
        </p:nvSpPr>
        <p:spPr bwMode="auto">
          <a:xfrm>
            <a:off x="7994650" y="2217192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8" name="Rectangle 304"/>
          <p:cNvSpPr>
            <a:spLocks noChangeAspect="1" noChangeArrowheads="1"/>
          </p:cNvSpPr>
          <p:nvPr/>
        </p:nvSpPr>
        <p:spPr bwMode="auto">
          <a:xfrm>
            <a:off x="8253413" y="1956842"/>
            <a:ext cx="260350" cy="260350"/>
          </a:xfrm>
          <a:prstGeom prst="rect">
            <a:avLst/>
          </a:prstGeom>
          <a:solidFill>
            <a:srgbClr val="FF66CC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19" name="Rectangle 305"/>
          <p:cNvSpPr>
            <a:spLocks noChangeAspect="1" noChangeArrowheads="1"/>
          </p:cNvSpPr>
          <p:nvPr/>
        </p:nvSpPr>
        <p:spPr bwMode="auto">
          <a:xfrm>
            <a:off x="7213600" y="3260180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0" name="Rectangle 306"/>
          <p:cNvSpPr>
            <a:spLocks noChangeAspect="1" noChangeArrowheads="1"/>
          </p:cNvSpPr>
          <p:nvPr/>
        </p:nvSpPr>
        <p:spPr bwMode="auto">
          <a:xfrm>
            <a:off x="7475538" y="2998242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1" name="Rectangle 307"/>
          <p:cNvSpPr>
            <a:spLocks noChangeAspect="1" noChangeArrowheads="1"/>
          </p:cNvSpPr>
          <p:nvPr/>
        </p:nvSpPr>
        <p:spPr bwMode="auto">
          <a:xfrm>
            <a:off x="7735888" y="2737892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2" name="Rectangle 308"/>
          <p:cNvSpPr>
            <a:spLocks noChangeAspect="1" noChangeArrowheads="1"/>
          </p:cNvSpPr>
          <p:nvPr/>
        </p:nvSpPr>
        <p:spPr bwMode="auto">
          <a:xfrm>
            <a:off x="7994650" y="2477542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3" name="Rectangle 309"/>
          <p:cNvSpPr>
            <a:spLocks noChangeAspect="1" noChangeArrowheads="1"/>
          </p:cNvSpPr>
          <p:nvPr/>
        </p:nvSpPr>
        <p:spPr bwMode="auto">
          <a:xfrm>
            <a:off x="8255000" y="2217192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4" name="Rectangle 310"/>
          <p:cNvSpPr>
            <a:spLocks noChangeAspect="1" noChangeArrowheads="1"/>
          </p:cNvSpPr>
          <p:nvPr/>
        </p:nvSpPr>
        <p:spPr bwMode="auto">
          <a:xfrm>
            <a:off x="8513763" y="1956842"/>
            <a:ext cx="260350" cy="26035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5" name="Rectangle 311"/>
          <p:cNvSpPr>
            <a:spLocks noChangeAspect="1" noChangeArrowheads="1"/>
          </p:cNvSpPr>
          <p:nvPr/>
        </p:nvSpPr>
        <p:spPr bwMode="auto">
          <a:xfrm>
            <a:off x="7472363" y="32601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6" name="Rectangle 312"/>
          <p:cNvSpPr>
            <a:spLocks noChangeAspect="1" noChangeArrowheads="1"/>
          </p:cNvSpPr>
          <p:nvPr/>
        </p:nvSpPr>
        <p:spPr bwMode="auto">
          <a:xfrm>
            <a:off x="7734300" y="29982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7" name="Rectangle 313"/>
          <p:cNvSpPr>
            <a:spLocks noChangeAspect="1" noChangeArrowheads="1"/>
          </p:cNvSpPr>
          <p:nvPr/>
        </p:nvSpPr>
        <p:spPr bwMode="auto">
          <a:xfrm>
            <a:off x="7994650" y="27378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8" name="Rectangle 314"/>
          <p:cNvSpPr>
            <a:spLocks noChangeAspect="1" noChangeArrowheads="1"/>
          </p:cNvSpPr>
          <p:nvPr/>
        </p:nvSpPr>
        <p:spPr bwMode="auto">
          <a:xfrm>
            <a:off x="8253413" y="24775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29" name="Rectangle 315"/>
          <p:cNvSpPr>
            <a:spLocks noChangeAspect="1" noChangeArrowheads="1"/>
          </p:cNvSpPr>
          <p:nvPr/>
        </p:nvSpPr>
        <p:spPr bwMode="auto">
          <a:xfrm>
            <a:off x="8515350" y="22171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0" name="Rectangle 316"/>
          <p:cNvSpPr>
            <a:spLocks noChangeAspect="1" noChangeArrowheads="1"/>
          </p:cNvSpPr>
          <p:nvPr/>
        </p:nvSpPr>
        <p:spPr bwMode="auto">
          <a:xfrm>
            <a:off x="7732713" y="32601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1" name="Rectangle 317"/>
          <p:cNvSpPr>
            <a:spLocks noChangeAspect="1" noChangeArrowheads="1"/>
          </p:cNvSpPr>
          <p:nvPr/>
        </p:nvSpPr>
        <p:spPr bwMode="auto">
          <a:xfrm>
            <a:off x="7994650" y="29982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2" name="Rectangle 318"/>
          <p:cNvSpPr>
            <a:spLocks noChangeAspect="1" noChangeArrowheads="1"/>
          </p:cNvSpPr>
          <p:nvPr/>
        </p:nvSpPr>
        <p:spPr bwMode="auto">
          <a:xfrm>
            <a:off x="8255000" y="27378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3" name="Rectangle 319"/>
          <p:cNvSpPr>
            <a:spLocks noChangeAspect="1" noChangeArrowheads="1"/>
          </p:cNvSpPr>
          <p:nvPr/>
        </p:nvSpPr>
        <p:spPr bwMode="auto">
          <a:xfrm>
            <a:off x="8513763" y="24775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6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4" name="Rectangle 320"/>
          <p:cNvSpPr>
            <a:spLocks noChangeAspect="1" noChangeArrowheads="1"/>
          </p:cNvSpPr>
          <p:nvPr/>
        </p:nvSpPr>
        <p:spPr bwMode="auto">
          <a:xfrm>
            <a:off x="7994650" y="32585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5" name="Rectangle 321"/>
          <p:cNvSpPr>
            <a:spLocks noChangeAspect="1" noChangeArrowheads="1"/>
          </p:cNvSpPr>
          <p:nvPr/>
        </p:nvSpPr>
        <p:spPr bwMode="auto">
          <a:xfrm>
            <a:off x="8256588" y="29982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6" name="Rectangle 322"/>
          <p:cNvSpPr>
            <a:spLocks noChangeAspect="1" noChangeArrowheads="1"/>
          </p:cNvSpPr>
          <p:nvPr/>
        </p:nvSpPr>
        <p:spPr bwMode="auto">
          <a:xfrm>
            <a:off x="8516938" y="27378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7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7" name="Rectangle 323"/>
          <p:cNvSpPr>
            <a:spLocks noChangeAspect="1" noChangeArrowheads="1"/>
          </p:cNvSpPr>
          <p:nvPr/>
        </p:nvSpPr>
        <p:spPr bwMode="auto">
          <a:xfrm>
            <a:off x="8256588" y="32585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8" name="Rectangle 324"/>
          <p:cNvSpPr>
            <a:spLocks noChangeAspect="1" noChangeArrowheads="1"/>
          </p:cNvSpPr>
          <p:nvPr/>
        </p:nvSpPr>
        <p:spPr bwMode="auto">
          <a:xfrm>
            <a:off x="8515350" y="29982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8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9" name="Rectangle 325"/>
          <p:cNvSpPr>
            <a:spLocks noChangeAspect="1" noChangeArrowheads="1"/>
          </p:cNvSpPr>
          <p:nvPr/>
        </p:nvSpPr>
        <p:spPr bwMode="auto">
          <a:xfrm>
            <a:off x="7472363" y="43015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0" name="Rectangle 326"/>
          <p:cNvSpPr>
            <a:spLocks noChangeAspect="1" noChangeArrowheads="1"/>
          </p:cNvSpPr>
          <p:nvPr/>
        </p:nvSpPr>
        <p:spPr bwMode="auto">
          <a:xfrm>
            <a:off x="7734300" y="40396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1" name="Rectangle 327"/>
          <p:cNvSpPr>
            <a:spLocks noChangeAspect="1" noChangeArrowheads="1"/>
          </p:cNvSpPr>
          <p:nvPr/>
        </p:nvSpPr>
        <p:spPr bwMode="auto">
          <a:xfrm>
            <a:off x="7994650" y="37792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2" name="Rectangle 328"/>
          <p:cNvSpPr>
            <a:spLocks noChangeAspect="1" noChangeArrowheads="1"/>
          </p:cNvSpPr>
          <p:nvPr/>
        </p:nvSpPr>
        <p:spPr bwMode="auto">
          <a:xfrm>
            <a:off x="8253413" y="35189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3" name="Rectangle 329"/>
          <p:cNvSpPr>
            <a:spLocks noChangeAspect="1" noChangeArrowheads="1"/>
          </p:cNvSpPr>
          <p:nvPr/>
        </p:nvSpPr>
        <p:spPr bwMode="auto">
          <a:xfrm>
            <a:off x="8516938" y="32585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9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4" name="Rectangle 330"/>
          <p:cNvSpPr>
            <a:spLocks noChangeAspect="1" noChangeArrowheads="1"/>
          </p:cNvSpPr>
          <p:nvPr/>
        </p:nvSpPr>
        <p:spPr bwMode="auto">
          <a:xfrm>
            <a:off x="7734300" y="43015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5" name="Rectangle 331"/>
          <p:cNvSpPr>
            <a:spLocks noChangeAspect="1" noChangeArrowheads="1"/>
          </p:cNvSpPr>
          <p:nvPr/>
        </p:nvSpPr>
        <p:spPr bwMode="auto">
          <a:xfrm>
            <a:off x="7996238" y="40396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6" name="Rectangle 332"/>
          <p:cNvSpPr>
            <a:spLocks noChangeAspect="1" noChangeArrowheads="1"/>
          </p:cNvSpPr>
          <p:nvPr/>
        </p:nvSpPr>
        <p:spPr bwMode="auto">
          <a:xfrm>
            <a:off x="8256588" y="377929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7" name="Rectangle 333"/>
          <p:cNvSpPr>
            <a:spLocks noChangeAspect="1" noChangeArrowheads="1"/>
          </p:cNvSpPr>
          <p:nvPr/>
        </p:nvSpPr>
        <p:spPr bwMode="auto">
          <a:xfrm>
            <a:off x="8515350" y="3518942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8" name="Rectangle 334"/>
          <p:cNvSpPr>
            <a:spLocks noChangeAspect="1" noChangeArrowheads="1"/>
          </p:cNvSpPr>
          <p:nvPr/>
        </p:nvSpPr>
        <p:spPr bwMode="auto">
          <a:xfrm>
            <a:off x="7994650" y="43015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9" name="Rectangle 335"/>
          <p:cNvSpPr>
            <a:spLocks noChangeAspect="1" noChangeArrowheads="1"/>
          </p:cNvSpPr>
          <p:nvPr/>
        </p:nvSpPr>
        <p:spPr bwMode="auto">
          <a:xfrm>
            <a:off x="8255000" y="40412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0" name="Rectangle 336"/>
          <p:cNvSpPr>
            <a:spLocks noChangeAspect="1" noChangeArrowheads="1"/>
          </p:cNvSpPr>
          <p:nvPr/>
        </p:nvSpPr>
        <p:spPr bwMode="auto">
          <a:xfrm>
            <a:off x="8513763" y="37808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1" name="Rectangle 337"/>
          <p:cNvSpPr>
            <a:spLocks noChangeAspect="1" noChangeArrowheads="1"/>
          </p:cNvSpPr>
          <p:nvPr/>
        </p:nvSpPr>
        <p:spPr bwMode="auto">
          <a:xfrm>
            <a:off x="8256588" y="43015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2" name="Rectangle 338"/>
          <p:cNvSpPr>
            <a:spLocks noChangeAspect="1" noChangeArrowheads="1"/>
          </p:cNvSpPr>
          <p:nvPr/>
        </p:nvSpPr>
        <p:spPr bwMode="auto">
          <a:xfrm>
            <a:off x="8515350" y="404123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3" name="Rectangle 339"/>
          <p:cNvSpPr>
            <a:spLocks noChangeAspect="1" noChangeArrowheads="1"/>
          </p:cNvSpPr>
          <p:nvPr/>
        </p:nvSpPr>
        <p:spPr bwMode="auto">
          <a:xfrm>
            <a:off x="8515350" y="4301580"/>
            <a:ext cx="260350" cy="2603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DDDDDD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4" name="Rectangle 69"/>
          <p:cNvSpPr>
            <a:spLocks noChangeAspect="1" noChangeArrowheads="1"/>
          </p:cNvSpPr>
          <p:nvPr/>
        </p:nvSpPr>
        <p:spPr bwMode="auto">
          <a:xfrm>
            <a:off x="439738" y="4303167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5" name="Rectangle 77"/>
          <p:cNvSpPr>
            <a:spLocks noChangeAspect="1" noChangeArrowheads="1"/>
          </p:cNvSpPr>
          <p:nvPr/>
        </p:nvSpPr>
        <p:spPr bwMode="auto">
          <a:xfrm>
            <a:off x="701675" y="4041230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6" name="Rectangle 85"/>
          <p:cNvSpPr>
            <a:spLocks noChangeAspect="1" noChangeArrowheads="1"/>
          </p:cNvSpPr>
          <p:nvPr/>
        </p:nvSpPr>
        <p:spPr bwMode="auto">
          <a:xfrm>
            <a:off x="962025" y="3780880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7" name="Rectangle 93"/>
          <p:cNvSpPr>
            <a:spLocks noChangeAspect="1" noChangeArrowheads="1"/>
          </p:cNvSpPr>
          <p:nvPr/>
        </p:nvSpPr>
        <p:spPr bwMode="auto">
          <a:xfrm>
            <a:off x="1220788" y="3520530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8" name="Rectangle 127"/>
          <p:cNvSpPr>
            <a:spLocks noChangeAspect="1" noChangeArrowheads="1"/>
          </p:cNvSpPr>
          <p:nvPr/>
        </p:nvSpPr>
        <p:spPr bwMode="auto">
          <a:xfrm>
            <a:off x="1481138" y="3260180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9" name="Rectangle 129"/>
          <p:cNvSpPr>
            <a:spLocks noChangeAspect="1" noChangeArrowheads="1"/>
          </p:cNvSpPr>
          <p:nvPr/>
        </p:nvSpPr>
        <p:spPr bwMode="auto">
          <a:xfrm>
            <a:off x="1743075" y="299824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0" name="Rectangle 130"/>
          <p:cNvSpPr>
            <a:spLocks noChangeAspect="1" noChangeArrowheads="1"/>
          </p:cNvSpPr>
          <p:nvPr/>
        </p:nvSpPr>
        <p:spPr bwMode="auto">
          <a:xfrm>
            <a:off x="2003425" y="273789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1" name="Rectangle 131"/>
          <p:cNvSpPr>
            <a:spLocks noChangeAspect="1" noChangeArrowheads="1"/>
          </p:cNvSpPr>
          <p:nvPr/>
        </p:nvSpPr>
        <p:spPr bwMode="auto">
          <a:xfrm>
            <a:off x="2262188" y="247754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2" name="Rectangle 140"/>
          <p:cNvSpPr>
            <a:spLocks noChangeAspect="1" noChangeArrowheads="1"/>
          </p:cNvSpPr>
          <p:nvPr/>
        </p:nvSpPr>
        <p:spPr bwMode="auto">
          <a:xfrm>
            <a:off x="2525713" y="2218780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3" name="Rectangle 141"/>
          <p:cNvSpPr>
            <a:spLocks noChangeAspect="1" noChangeArrowheads="1"/>
          </p:cNvSpPr>
          <p:nvPr/>
        </p:nvSpPr>
        <p:spPr bwMode="auto">
          <a:xfrm>
            <a:off x="2784475" y="1958430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4" name="Rectangle 254"/>
          <p:cNvSpPr>
            <a:spLocks noChangeAspect="1" noChangeArrowheads="1"/>
          </p:cNvSpPr>
          <p:nvPr/>
        </p:nvSpPr>
        <p:spPr bwMode="auto">
          <a:xfrm>
            <a:off x="5389563" y="4301580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5" name="Rectangle 258"/>
          <p:cNvSpPr>
            <a:spLocks noChangeAspect="1" noChangeArrowheads="1"/>
          </p:cNvSpPr>
          <p:nvPr/>
        </p:nvSpPr>
        <p:spPr bwMode="auto">
          <a:xfrm>
            <a:off x="5649913" y="403964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6" name="Rectangle 262"/>
          <p:cNvSpPr>
            <a:spLocks noChangeAspect="1" noChangeArrowheads="1"/>
          </p:cNvSpPr>
          <p:nvPr/>
        </p:nvSpPr>
        <p:spPr bwMode="auto">
          <a:xfrm>
            <a:off x="5910263" y="377929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7" name="Rectangle 266"/>
          <p:cNvSpPr>
            <a:spLocks noChangeAspect="1" noChangeArrowheads="1"/>
          </p:cNvSpPr>
          <p:nvPr/>
        </p:nvSpPr>
        <p:spPr bwMode="auto">
          <a:xfrm>
            <a:off x="6170613" y="351894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8" name="Rectangle 287"/>
          <p:cNvSpPr>
            <a:spLocks noChangeAspect="1" noChangeArrowheads="1"/>
          </p:cNvSpPr>
          <p:nvPr/>
        </p:nvSpPr>
        <p:spPr bwMode="auto">
          <a:xfrm>
            <a:off x="6430963" y="325859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9" name="Rectangle 289"/>
          <p:cNvSpPr>
            <a:spLocks noChangeAspect="1" noChangeArrowheads="1"/>
          </p:cNvSpPr>
          <p:nvPr/>
        </p:nvSpPr>
        <p:spPr bwMode="auto">
          <a:xfrm>
            <a:off x="6691313" y="299824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0" name="Rectangle 290"/>
          <p:cNvSpPr>
            <a:spLocks noChangeAspect="1" noChangeArrowheads="1"/>
          </p:cNvSpPr>
          <p:nvPr/>
        </p:nvSpPr>
        <p:spPr bwMode="auto">
          <a:xfrm>
            <a:off x="6951663" y="273789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1" name="Rectangle 291"/>
          <p:cNvSpPr>
            <a:spLocks noChangeAspect="1" noChangeArrowheads="1"/>
          </p:cNvSpPr>
          <p:nvPr/>
        </p:nvSpPr>
        <p:spPr bwMode="auto">
          <a:xfrm>
            <a:off x="7212013" y="247754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2" name="Rectangle 292"/>
          <p:cNvSpPr>
            <a:spLocks noChangeAspect="1" noChangeArrowheads="1"/>
          </p:cNvSpPr>
          <p:nvPr/>
        </p:nvSpPr>
        <p:spPr bwMode="auto">
          <a:xfrm>
            <a:off x="7475538" y="221719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3" name="Rectangle 293"/>
          <p:cNvSpPr>
            <a:spLocks noChangeAspect="1" noChangeArrowheads="1"/>
          </p:cNvSpPr>
          <p:nvPr/>
        </p:nvSpPr>
        <p:spPr bwMode="auto">
          <a:xfrm>
            <a:off x="7734300" y="1956842"/>
            <a:ext cx="260350" cy="26035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</a:t>
            </a:r>
            <a:r>
              <a:rPr kumimoji="0" lang="en-US" altLang="zh-CN" sz="1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4" name="Rectangle 341"/>
          <p:cNvSpPr>
            <a:spLocks noChangeAspect="1" noChangeArrowheads="1"/>
          </p:cNvSpPr>
          <p:nvPr/>
        </p:nvSpPr>
        <p:spPr bwMode="auto">
          <a:xfrm>
            <a:off x="5391150" y="4538117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20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275" name="Rectangle 342"/>
          <p:cNvSpPr>
            <a:spLocks noChangeAspect="1" noChangeArrowheads="1"/>
          </p:cNvSpPr>
          <p:nvPr/>
        </p:nvSpPr>
        <p:spPr bwMode="auto">
          <a:xfrm>
            <a:off x="6659563" y="4538117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25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276" name="Rectangle 343"/>
          <p:cNvSpPr>
            <a:spLocks noChangeAspect="1" noChangeArrowheads="1"/>
          </p:cNvSpPr>
          <p:nvPr/>
        </p:nvSpPr>
        <p:spPr bwMode="auto">
          <a:xfrm>
            <a:off x="7983538" y="4538117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30</a:t>
            </a:r>
            <a:endParaRPr kumimoji="0" lang="en-US" altLang="zh-CN" sz="1400" i="0" u="none" strike="noStrike" kern="0" cap="none" spc="0" normalizeH="0" baseline="-25000" noProof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277" name="Line 346"/>
          <p:cNvSpPr>
            <a:spLocks noChangeShapeType="1"/>
          </p:cNvSpPr>
          <p:nvPr/>
        </p:nvSpPr>
        <p:spPr bwMode="auto">
          <a:xfrm flipV="1">
            <a:off x="427466" y="4650949"/>
            <a:ext cx="0" cy="745798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8" name="Line 347"/>
          <p:cNvSpPr>
            <a:spLocks noChangeShapeType="1"/>
          </p:cNvSpPr>
          <p:nvPr/>
        </p:nvSpPr>
        <p:spPr bwMode="auto">
          <a:xfrm flipV="1">
            <a:off x="5396341" y="4650949"/>
            <a:ext cx="0" cy="729896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9" name="Line 348"/>
          <p:cNvSpPr>
            <a:spLocks noChangeShapeType="1"/>
          </p:cNvSpPr>
          <p:nvPr/>
        </p:nvSpPr>
        <p:spPr bwMode="auto">
          <a:xfrm flipH="1">
            <a:off x="427466" y="5226691"/>
            <a:ext cx="1512888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tailEnd type="triangl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0" name="Line 349"/>
          <p:cNvSpPr>
            <a:spLocks noChangeShapeType="1"/>
          </p:cNvSpPr>
          <p:nvPr/>
        </p:nvSpPr>
        <p:spPr bwMode="auto">
          <a:xfrm>
            <a:off x="3883454" y="5226691"/>
            <a:ext cx="1512887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tailEnd type="triangl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1" name="Text Box 350"/>
          <p:cNvSpPr txBox="1">
            <a:spLocks noChangeArrowheads="1"/>
          </p:cNvSpPr>
          <p:nvPr/>
        </p:nvSpPr>
        <p:spPr bwMode="auto">
          <a:xfrm>
            <a:off x="1795891" y="4804483"/>
            <a:ext cx="2160588" cy="830997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  <a:ea typeface="楷体_GB2312" pitchFamily="49" charset="-122"/>
              </a:rPr>
              <a:t>一个程序段</a:t>
            </a:r>
            <a:endParaRPr lang="zh-CN" altLang="en-US" sz="2400">
              <a:solidFill>
                <a:srgbClr val="0000FF"/>
              </a:solidFill>
              <a:ea typeface="楷体_GB2312" pitchFamily="49" charset="-122"/>
            </a:endParaRPr>
          </a:p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  <a:ea typeface="楷体_GB2312" pitchFamily="49" charset="-122"/>
              </a:rPr>
              <a:t>（</a:t>
            </a:r>
            <a:r>
              <a:rPr lang="en-US" altLang="zh-CN" sz="2400">
                <a:solidFill>
                  <a:srgbClr val="0000FF"/>
                </a:solidFill>
                <a:ea typeface="楷体_GB2312" pitchFamily="49" charset="-122"/>
              </a:rPr>
              <a:t>10</a:t>
            </a:r>
            <a:r>
              <a:rPr lang="zh-CN" altLang="en-US" sz="2400">
                <a:solidFill>
                  <a:srgbClr val="0000FF"/>
                </a:solidFill>
                <a:ea typeface="楷体_GB2312" pitchFamily="49" charset="-122"/>
              </a:rPr>
              <a:t>条指令）</a:t>
            </a:r>
            <a:endParaRPr lang="zh-CN" altLang="en-US" sz="2400">
              <a:solidFill>
                <a:srgbClr val="0000FF"/>
              </a:solidFill>
              <a:ea typeface="楷体_GB2312" pitchFamily="49" charset="-122"/>
            </a:endParaRPr>
          </a:p>
        </p:txBody>
      </p:sp>
      <p:grpSp>
        <p:nvGrpSpPr>
          <p:cNvPr id="282" name="Group 384"/>
          <p:cNvGrpSpPr/>
          <p:nvPr/>
        </p:nvGrpSpPr>
        <p:grpSpPr bwMode="auto">
          <a:xfrm>
            <a:off x="1476375" y="2214017"/>
            <a:ext cx="2349500" cy="2349500"/>
            <a:chOff x="930" y="1376"/>
            <a:chExt cx="1480" cy="1480"/>
          </a:xfrm>
        </p:grpSpPr>
        <p:grpSp>
          <p:nvGrpSpPr>
            <p:cNvPr id="283" name="Group 357"/>
            <p:cNvGrpSpPr/>
            <p:nvPr/>
          </p:nvGrpSpPr>
          <p:grpSpPr bwMode="auto">
            <a:xfrm>
              <a:off x="2246" y="1376"/>
              <a:ext cx="164" cy="164"/>
              <a:chOff x="2570" y="1248"/>
              <a:chExt cx="164" cy="164"/>
            </a:xfrm>
          </p:grpSpPr>
          <p:sp>
            <p:nvSpPr>
              <p:cNvPr id="310" name="Line 355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1" name="Line 356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84" name="Group 358"/>
            <p:cNvGrpSpPr/>
            <p:nvPr/>
          </p:nvGrpSpPr>
          <p:grpSpPr bwMode="auto">
            <a:xfrm>
              <a:off x="2082" y="1540"/>
              <a:ext cx="164" cy="164"/>
              <a:chOff x="2570" y="1248"/>
              <a:chExt cx="164" cy="164"/>
            </a:xfrm>
          </p:grpSpPr>
          <p:sp>
            <p:nvSpPr>
              <p:cNvPr id="308" name="Line 359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9" name="Line 360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85" name="Group 361"/>
            <p:cNvGrpSpPr/>
            <p:nvPr/>
          </p:nvGrpSpPr>
          <p:grpSpPr bwMode="auto">
            <a:xfrm>
              <a:off x="1918" y="1706"/>
              <a:ext cx="164" cy="164"/>
              <a:chOff x="2570" y="1248"/>
              <a:chExt cx="164" cy="164"/>
            </a:xfrm>
          </p:grpSpPr>
          <p:sp>
            <p:nvSpPr>
              <p:cNvPr id="306" name="Line 362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7" name="Line 363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86" name="Group 364"/>
            <p:cNvGrpSpPr/>
            <p:nvPr/>
          </p:nvGrpSpPr>
          <p:grpSpPr bwMode="auto">
            <a:xfrm>
              <a:off x="1754" y="1870"/>
              <a:ext cx="164" cy="164"/>
              <a:chOff x="2570" y="1248"/>
              <a:chExt cx="164" cy="164"/>
            </a:xfrm>
          </p:grpSpPr>
          <p:sp>
            <p:nvSpPr>
              <p:cNvPr id="304" name="Line 365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5" name="Line 366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87" name="Group 367"/>
            <p:cNvGrpSpPr/>
            <p:nvPr/>
          </p:nvGrpSpPr>
          <p:grpSpPr bwMode="auto">
            <a:xfrm>
              <a:off x="1588" y="2034"/>
              <a:ext cx="164" cy="164"/>
              <a:chOff x="2570" y="1248"/>
              <a:chExt cx="164" cy="164"/>
            </a:xfrm>
          </p:grpSpPr>
          <p:sp>
            <p:nvSpPr>
              <p:cNvPr id="302" name="Line 368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3" name="Line 369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88" name="Group 370"/>
            <p:cNvGrpSpPr/>
            <p:nvPr/>
          </p:nvGrpSpPr>
          <p:grpSpPr bwMode="auto">
            <a:xfrm>
              <a:off x="1424" y="2198"/>
              <a:ext cx="164" cy="164"/>
              <a:chOff x="2570" y="1248"/>
              <a:chExt cx="164" cy="164"/>
            </a:xfrm>
          </p:grpSpPr>
          <p:sp>
            <p:nvSpPr>
              <p:cNvPr id="300" name="Line 371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1" name="Line 372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89" name="Group 373"/>
            <p:cNvGrpSpPr/>
            <p:nvPr/>
          </p:nvGrpSpPr>
          <p:grpSpPr bwMode="auto">
            <a:xfrm>
              <a:off x="1260" y="2364"/>
              <a:ext cx="164" cy="164"/>
              <a:chOff x="2570" y="1248"/>
              <a:chExt cx="164" cy="164"/>
            </a:xfrm>
          </p:grpSpPr>
          <p:sp>
            <p:nvSpPr>
              <p:cNvPr id="298" name="Line 374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9" name="Line 375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90" name="Group 376"/>
            <p:cNvGrpSpPr/>
            <p:nvPr/>
          </p:nvGrpSpPr>
          <p:grpSpPr bwMode="auto">
            <a:xfrm>
              <a:off x="1096" y="2528"/>
              <a:ext cx="164" cy="164"/>
              <a:chOff x="2570" y="1248"/>
              <a:chExt cx="164" cy="164"/>
            </a:xfrm>
          </p:grpSpPr>
          <p:sp>
            <p:nvSpPr>
              <p:cNvPr id="296" name="Line 377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7" name="Line 378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91" name="Group 379"/>
            <p:cNvGrpSpPr/>
            <p:nvPr/>
          </p:nvGrpSpPr>
          <p:grpSpPr bwMode="auto">
            <a:xfrm>
              <a:off x="934" y="2688"/>
              <a:ext cx="164" cy="164"/>
              <a:chOff x="2570" y="1248"/>
              <a:chExt cx="164" cy="164"/>
            </a:xfrm>
          </p:grpSpPr>
          <p:sp>
            <p:nvSpPr>
              <p:cNvPr id="294" name="Line 380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5" name="Line 381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92" name="Line 382"/>
            <p:cNvSpPr>
              <a:spLocks noChangeShapeType="1"/>
            </p:cNvSpPr>
            <p:nvPr/>
          </p:nvSpPr>
          <p:spPr bwMode="auto">
            <a:xfrm>
              <a:off x="2409" y="1380"/>
              <a:ext cx="0" cy="1476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3" name="Line 383"/>
            <p:cNvSpPr>
              <a:spLocks noChangeShapeType="1"/>
            </p:cNvSpPr>
            <p:nvPr/>
          </p:nvSpPr>
          <p:spPr bwMode="auto">
            <a:xfrm flipH="1">
              <a:off x="930" y="2856"/>
              <a:ext cx="1479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12" name="Group 385"/>
          <p:cNvGrpSpPr/>
          <p:nvPr/>
        </p:nvGrpSpPr>
        <p:grpSpPr bwMode="auto">
          <a:xfrm>
            <a:off x="6429375" y="2214017"/>
            <a:ext cx="2349500" cy="2349500"/>
            <a:chOff x="930" y="1376"/>
            <a:chExt cx="1480" cy="1480"/>
          </a:xfrm>
        </p:grpSpPr>
        <p:grpSp>
          <p:nvGrpSpPr>
            <p:cNvPr id="313" name="Group 386"/>
            <p:cNvGrpSpPr/>
            <p:nvPr/>
          </p:nvGrpSpPr>
          <p:grpSpPr bwMode="auto">
            <a:xfrm>
              <a:off x="2246" y="1376"/>
              <a:ext cx="164" cy="164"/>
              <a:chOff x="2570" y="1248"/>
              <a:chExt cx="164" cy="164"/>
            </a:xfrm>
          </p:grpSpPr>
          <p:sp>
            <p:nvSpPr>
              <p:cNvPr id="340" name="Line 387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1" name="Line 388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4" name="Group 389"/>
            <p:cNvGrpSpPr/>
            <p:nvPr/>
          </p:nvGrpSpPr>
          <p:grpSpPr bwMode="auto">
            <a:xfrm>
              <a:off x="2082" y="1540"/>
              <a:ext cx="164" cy="164"/>
              <a:chOff x="2570" y="1248"/>
              <a:chExt cx="164" cy="164"/>
            </a:xfrm>
          </p:grpSpPr>
          <p:sp>
            <p:nvSpPr>
              <p:cNvPr id="338" name="Line 390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9" name="Line 391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5" name="Group 392"/>
            <p:cNvGrpSpPr/>
            <p:nvPr/>
          </p:nvGrpSpPr>
          <p:grpSpPr bwMode="auto">
            <a:xfrm>
              <a:off x="1918" y="1706"/>
              <a:ext cx="164" cy="164"/>
              <a:chOff x="2570" y="1248"/>
              <a:chExt cx="164" cy="164"/>
            </a:xfrm>
          </p:grpSpPr>
          <p:sp>
            <p:nvSpPr>
              <p:cNvPr id="336" name="Line 393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7" name="Line 394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6" name="Group 395"/>
            <p:cNvGrpSpPr/>
            <p:nvPr/>
          </p:nvGrpSpPr>
          <p:grpSpPr bwMode="auto">
            <a:xfrm>
              <a:off x="1754" y="1870"/>
              <a:ext cx="164" cy="164"/>
              <a:chOff x="2570" y="1248"/>
              <a:chExt cx="164" cy="164"/>
            </a:xfrm>
          </p:grpSpPr>
          <p:sp>
            <p:nvSpPr>
              <p:cNvPr id="334" name="Line 396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5" name="Line 397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7" name="Group 398"/>
            <p:cNvGrpSpPr/>
            <p:nvPr/>
          </p:nvGrpSpPr>
          <p:grpSpPr bwMode="auto">
            <a:xfrm>
              <a:off x="1588" y="2034"/>
              <a:ext cx="164" cy="164"/>
              <a:chOff x="2570" y="1248"/>
              <a:chExt cx="164" cy="164"/>
            </a:xfrm>
          </p:grpSpPr>
          <p:sp>
            <p:nvSpPr>
              <p:cNvPr id="332" name="Line 399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3" name="Line 400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8" name="Group 401"/>
            <p:cNvGrpSpPr/>
            <p:nvPr/>
          </p:nvGrpSpPr>
          <p:grpSpPr bwMode="auto">
            <a:xfrm>
              <a:off x="1424" y="2198"/>
              <a:ext cx="164" cy="164"/>
              <a:chOff x="2570" y="1248"/>
              <a:chExt cx="164" cy="164"/>
            </a:xfrm>
          </p:grpSpPr>
          <p:sp>
            <p:nvSpPr>
              <p:cNvPr id="330" name="Line 402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1" name="Line 403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9" name="Group 404"/>
            <p:cNvGrpSpPr/>
            <p:nvPr/>
          </p:nvGrpSpPr>
          <p:grpSpPr bwMode="auto">
            <a:xfrm>
              <a:off x="1260" y="2364"/>
              <a:ext cx="164" cy="164"/>
              <a:chOff x="2570" y="1248"/>
              <a:chExt cx="164" cy="164"/>
            </a:xfrm>
          </p:grpSpPr>
          <p:sp>
            <p:nvSpPr>
              <p:cNvPr id="328" name="Line 405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9" name="Line 406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20" name="Group 407"/>
            <p:cNvGrpSpPr/>
            <p:nvPr/>
          </p:nvGrpSpPr>
          <p:grpSpPr bwMode="auto">
            <a:xfrm>
              <a:off x="1096" y="2528"/>
              <a:ext cx="164" cy="164"/>
              <a:chOff x="2570" y="1248"/>
              <a:chExt cx="164" cy="164"/>
            </a:xfrm>
          </p:grpSpPr>
          <p:sp>
            <p:nvSpPr>
              <p:cNvPr id="326" name="Line 408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7" name="Line 409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21" name="Group 410"/>
            <p:cNvGrpSpPr/>
            <p:nvPr/>
          </p:nvGrpSpPr>
          <p:grpSpPr bwMode="auto">
            <a:xfrm>
              <a:off x="934" y="2688"/>
              <a:ext cx="164" cy="164"/>
              <a:chOff x="2570" y="1248"/>
              <a:chExt cx="164" cy="164"/>
            </a:xfrm>
          </p:grpSpPr>
          <p:sp>
            <p:nvSpPr>
              <p:cNvPr id="324" name="Line 411"/>
              <p:cNvSpPr>
                <a:spLocks noChangeShapeType="1"/>
              </p:cNvSpPr>
              <p:nvPr/>
            </p:nvSpPr>
            <p:spPr bwMode="auto">
              <a:xfrm>
                <a:off x="2570" y="125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5" name="Line 412"/>
              <p:cNvSpPr>
                <a:spLocks noChangeShapeType="1"/>
              </p:cNvSpPr>
              <p:nvPr/>
            </p:nvSpPr>
            <p:spPr bwMode="auto">
              <a:xfrm rot="-5400000">
                <a:off x="2488" y="1330"/>
                <a:ext cx="164" cy="0"/>
              </a:xfrm>
              <a:prstGeom prst="line">
                <a:avLst/>
              </a:prstGeom>
              <a:noFill/>
              <a:ln w="12700">
                <a:solidFill>
                  <a:srgbClr val="FF66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22" name="Line 413"/>
            <p:cNvSpPr>
              <a:spLocks noChangeShapeType="1"/>
            </p:cNvSpPr>
            <p:nvPr/>
          </p:nvSpPr>
          <p:spPr bwMode="auto">
            <a:xfrm>
              <a:off x="2409" y="1380"/>
              <a:ext cx="0" cy="1476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3" name="Line 414"/>
            <p:cNvSpPr>
              <a:spLocks noChangeShapeType="1"/>
            </p:cNvSpPr>
            <p:nvPr/>
          </p:nvSpPr>
          <p:spPr bwMode="auto">
            <a:xfrm flipH="1">
              <a:off x="930" y="2856"/>
              <a:ext cx="1479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42" name="任意多边形 342"/>
          <p:cNvSpPr/>
          <p:nvPr/>
        </p:nvSpPr>
        <p:spPr bwMode="auto">
          <a:xfrm>
            <a:off x="437322" y="1953833"/>
            <a:ext cx="7299297" cy="2608027"/>
          </a:xfrm>
          <a:custGeom>
            <a:avLst/>
            <a:gdLst>
              <a:gd name="connsiteX0" fmla="*/ 2329732 w 7299297"/>
              <a:gd name="connsiteY0" fmla="*/ 0 h 2608027"/>
              <a:gd name="connsiteX1" fmla="*/ 7291346 w 7299297"/>
              <a:gd name="connsiteY1" fmla="*/ 0 h 2608027"/>
              <a:gd name="connsiteX2" fmla="*/ 7299297 w 7299297"/>
              <a:gd name="connsiteY2" fmla="*/ 262393 h 2608027"/>
              <a:gd name="connsiteX3" fmla="*/ 7036904 w 7299297"/>
              <a:gd name="connsiteY3" fmla="*/ 262393 h 2608027"/>
              <a:gd name="connsiteX4" fmla="*/ 7036904 w 7299297"/>
              <a:gd name="connsiteY4" fmla="*/ 524786 h 2608027"/>
              <a:gd name="connsiteX5" fmla="*/ 6774511 w 7299297"/>
              <a:gd name="connsiteY5" fmla="*/ 524786 h 2608027"/>
              <a:gd name="connsiteX6" fmla="*/ 6774511 w 7299297"/>
              <a:gd name="connsiteY6" fmla="*/ 779227 h 2608027"/>
              <a:gd name="connsiteX7" fmla="*/ 6512118 w 7299297"/>
              <a:gd name="connsiteY7" fmla="*/ 787179 h 2608027"/>
              <a:gd name="connsiteX8" fmla="*/ 6512118 w 7299297"/>
              <a:gd name="connsiteY8" fmla="*/ 1041621 h 2608027"/>
              <a:gd name="connsiteX9" fmla="*/ 6257676 w 7299297"/>
              <a:gd name="connsiteY9" fmla="*/ 1033669 h 2608027"/>
              <a:gd name="connsiteX10" fmla="*/ 6257676 w 7299297"/>
              <a:gd name="connsiteY10" fmla="*/ 1304014 h 2608027"/>
              <a:gd name="connsiteX11" fmla="*/ 5995283 w 7299297"/>
              <a:gd name="connsiteY11" fmla="*/ 1304014 h 2608027"/>
              <a:gd name="connsiteX12" fmla="*/ 5987332 w 7299297"/>
              <a:gd name="connsiteY12" fmla="*/ 1566407 h 2608027"/>
              <a:gd name="connsiteX13" fmla="*/ 5724939 w 7299297"/>
              <a:gd name="connsiteY13" fmla="*/ 1566407 h 2608027"/>
              <a:gd name="connsiteX14" fmla="*/ 5724939 w 7299297"/>
              <a:gd name="connsiteY14" fmla="*/ 1812897 h 2608027"/>
              <a:gd name="connsiteX15" fmla="*/ 5462546 w 7299297"/>
              <a:gd name="connsiteY15" fmla="*/ 1812897 h 2608027"/>
              <a:gd name="connsiteX16" fmla="*/ 5470497 w 7299297"/>
              <a:gd name="connsiteY16" fmla="*/ 2075290 h 2608027"/>
              <a:gd name="connsiteX17" fmla="*/ 5208104 w 7299297"/>
              <a:gd name="connsiteY17" fmla="*/ 2083241 h 2608027"/>
              <a:gd name="connsiteX18" fmla="*/ 5208104 w 7299297"/>
              <a:gd name="connsiteY18" fmla="*/ 2337683 h 2608027"/>
              <a:gd name="connsiteX19" fmla="*/ 4945711 w 7299297"/>
              <a:gd name="connsiteY19" fmla="*/ 2337683 h 2608027"/>
              <a:gd name="connsiteX20" fmla="*/ 4945711 w 7299297"/>
              <a:gd name="connsiteY20" fmla="*/ 2608027 h 2608027"/>
              <a:gd name="connsiteX21" fmla="*/ 0 w 7299297"/>
              <a:gd name="connsiteY21" fmla="*/ 2608027 h 2608027"/>
              <a:gd name="connsiteX22" fmla="*/ 0 w 7299297"/>
              <a:gd name="connsiteY22" fmla="*/ 2337683 h 2608027"/>
              <a:gd name="connsiteX23" fmla="*/ 262393 w 7299297"/>
              <a:gd name="connsiteY23" fmla="*/ 2337683 h 2608027"/>
              <a:gd name="connsiteX24" fmla="*/ 262393 w 7299297"/>
              <a:gd name="connsiteY24" fmla="*/ 2091193 h 2608027"/>
              <a:gd name="connsiteX25" fmla="*/ 524786 w 7299297"/>
              <a:gd name="connsiteY25" fmla="*/ 2091193 h 2608027"/>
              <a:gd name="connsiteX26" fmla="*/ 524786 w 7299297"/>
              <a:gd name="connsiteY26" fmla="*/ 1828800 h 2608027"/>
              <a:gd name="connsiteX27" fmla="*/ 787179 w 7299297"/>
              <a:gd name="connsiteY27" fmla="*/ 1828800 h 2608027"/>
              <a:gd name="connsiteX28" fmla="*/ 787179 w 7299297"/>
              <a:gd name="connsiteY28" fmla="*/ 1558455 h 2608027"/>
              <a:gd name="connsiteX29" fmla="*/ 1033669 w 7299297"/>
              <a:gd name="connsiteY29" fmla="*/ 1566407 h 2608027"/>
              <a:gd name="connsiteX30" fmla="*/ 1033669 w 7299297"/>
              <a:gd name="connsiteY30" fmla="*/ 1304014 h 2608027"/>
              <a:gd name="connsiteX31" fmla="*/ 1304014 w 7299297"/>
              <a:gd name="connsiteY31" fmla="*/ 1304014 h 2608027"/>
              <a:gd name="connsiteX32" fmla="*/ 1304014 w 7299297"/>
              <a:gd name="connsiteY32" fmla="*/ 1041621 h 2608027"/>
              <a:gd name="connsiteX33" fmla="*/ 1566407 w 7299297"/>
              <a:gd name="connsiteY33" fmla="*/ 1041621 h 2608027"/>
              <a:gd name="connsiteX34" fmla="*/ 1566407 w 7299297"/>
              <a:gd name="connsiteY34" fmla="*/ 787179 h 2608027"/>
              <a:gd name="connsiteX35" fmla="*/ 1828800 w 7299297"/>
              <a:gd name="connsiteY35" fmla="*/ 779227 h 2608027"/>
              <a:gd name="connsiteX36" fmla="*/ 1828800 w 7299297"/>
              <a:gd name="connsiteY36" fmla="*/ 524786 h 2608027"/>
              <a:gd name="connsiteX37" fmla="*/ 2091193 w 7299297"/>
              <a:gd name="connsiteY37" fmla="*/ 524786 h 2608027"/>
              <a:gd name="connsiteX38" fmla="*/ 2091193 w 7299297"/>
              <a:gd name="connsiteY38" fmla="*/ 254441 h 2608027"/>
              <a:gd name="connsiteX39" fmla="*/ 2345635 w 7299297"/>
              <a:gd name="connsiteY39" fmla="*/ 254441 h 2608027"/>
              <a:gd name="connsiteX40" fmla="*/ 2329732 w 7299297"/>
              <a:gd name="connsiteY40" fmla="*/ 0 h 260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299297" h="2608027">
                <a:moveTo>
                  <a:pt x="2329732" y="0"/>
                </a:moveTo>
                <a:lnTo>
                  <a:pt x="7291346" y="0"/>
                </a:lnTo>
                <a:lnTo>
                  <a:pt x="7299297" y="262393"/>
                </a:lnTo>
                <a:lnTo>
                  <a:pt x="7036904" y="262393"/>
                </a:lnTo>
                <a:lnTo>
                  <a:pt x="7036904" y="524786"/>
                </a:lnTo>
                <a:lnTo>
                  <a:pt x="6774511" y="524786"/>
                </a:lnTo>
                <a:lnTo>
                  <a:pt x="6774511" y="779227"/>
                </a:lnTo>
                <a:lnTo>
                  <a:pt x="6512118" y="787179"/>
                </a:lnTo>
                <a:lnTo>
                  <a:pt x="6512118" y="1041621"/>
                </a:lnTo>
                <a:lnTo>
                  <a:pt x="6257676" y="1033669"/>
                </a:lnTo>
                <a:lnTo>
                  <a:pt x="6257676" y="1304014"/>
                </a:lnTo>
                <a:lnTo>
                  <a:pt x="5995283" y="1304014"/>
                </a:lnTo>
                <a:lnTo>
                  <a:pt x="5987332" y="1566407"/>
                </a:lnTo>
                <a:lnTo>
                  <a:pt x="5724939" y="1566407"/>
                </a:lnTo>
                <a:lnTo>
                  <a:pt x="5724939" y="1812897"/>
                </a:lnTo>
                <a:lnTo>
                  <a:pt x="5462546" y="1812897"/>
                </a:lnTo>
                <a:lnTo>
                  <a:pt x="5470497" y="2075290"/>
                </a:lnTo>
                <a:lnTo>
                  <a:pt x="5208104" y="2083241"/>
                </a:lnTo>
                <a:lnTo>
                  <a:pt x="5208104" y="2337683"/>
                </a:lnTo>
                <a:lnTo>
                  <a:pt x="4945711" y="2337683"/>
                </a:lnTo>
                <a:lnTo>
                  <a:pt x="4945711" y="2608027"/>
                </a:lnTo>
                <a:lnTo>
                  <a:pt x="0" y="2608027"/>
                </a:lnTo>
                <a:lnTo>
                  <a:pt x="0" y="2337683"/>
                </a:lnTo>
                <a:lnTo>
                  <a:pt x="262393" y="2337683"/>
                </a:lnTo>
                <a:lnTo>
                  <a:pt x="262393" y="2091193"/>
                </a:lnTo>
                <a:lnTo>
                  <a:pt x="524786" y="2091193"/>
                </a:lnTo>
                <a:lnTo>
                  <a:pt x="524786" y="1828800"/>
                </a:lnTo>
                <a:lnTo>
                  <a:pt x="787179" y="1828800"/>
                </a:lnTo>
                <a:lnTo>
                  <a:pt x="787179" y="1558455"/>
                </a:lnTo>
                <a:lnTo>
                  <a:pt x="1033669" y="1566407"/>
                </a:lnTo>
                <a:lnTo>
                  <a:pt x="1033669" y="1304014"/>
                </a:lnTo>
                <a:lnTo>
                  <a:pt x="1304014" y="1304014"/>
                </a:lnTo>
                <a:lnTo>
                  <a:pt x="1304014" y="1041621"/>
                </a:lnTo>
                <a:lnTo>
                  <a:pt x="1566407" y="1041621"/>
                </a:lnTo>
                <a:lnTo>
                  <a:pt x="1566407" y="787179"/>
                </a:lnTo>
                <a:lnTo>
                  <a:pt x="1828800" y="779227"/>
                </a:lnTo>
                <a:lnTo>
                  <a:pt x="1828800" y="524786"/>
                </a:lnTo>
                <a:lnTo>
                  <a:pt x="2091193" y="524786"/>
                </a:lnTo>
                <a:lnTo>
                  <a:pt x="2091193" y="254441"/>
                </a:lnTo>
                <a:lnTo>
                  <a:pt x="2345635" y="254441"/>
                </a:lnTo>
                <a:lnTo>
                  <a:pt x="2329732" y="0"/>
                </a:lnTo>
                <a:close/>
              </a:path>
            </a:pathLst>
          </a:custGeom>
          <a:solidFill>
            <a:srgbClr val="0000FF">
              <a:alpha val="40000"/>
            </a:srgb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3" name="Line 346"/>
          <p:cNvSpPr>
            <a:spLocks noChangeShapeType="1"/>
          </p:cNvSpPr>
          <p:nvPr/>
        </p:nvSpPr>
        <p:spPr bwMode="auto">
          <a:xfrm flipV="1">
            <a:off x="3851920" y="1298377"/>
            <a:ext cx="0" cy="601782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4" name="Line 347"/>
          <p:cNvSpPr>
            <a:spLocks noChangeShapeType="1"/>
          </p:cNvSpPr>
          <p:nvPr/>
        </p:nvSpPr>
        <p:spPr bwMode="auto">
          <a:xfrm flipV="1">
            <a:off x="6156176" y="1298377"/>
            <a:ext cx="0" cy="58588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5" name="Line 348"/>
          <p:cNvSpPr>
            <a:spLocks noChangeShapeType="1"/>
          </p:cNvSpPr>
          <p:nvPr/>
        </p:nvSpPr>
        <p:spPr bwMode="auto">
          <a:xfrm flipH="1">
            <a:off x="3851920" y="1442393"/>
            <a:ext cx="288752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tailEnd type="triangl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6" name="Line 349"/>
          <p:cNvSpPr>
            <a:spLocks noChangeShapeType="1"/>
          </p:cNvSpPr>
          <p:nvPr/>
        </p:nvSpPr>
        <p:spPr bwMode="auto">
          <a:xfrm>
            <a:off x="5796137" y="1442393"/>
            <a:ext cx="360040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tailEnd type="triangle" w="med" len="lg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7" name="Text Box 350"/>
          <p:cNvSpPr txBox="1">
            <a:spLocks noChangeArrowheads="1"/>
          </p:cNvSpPr>
          <p:nvPr/>
        </p:nvSpPr>
        <p:spPr bwMode="auto">
          <a:xfrm>
            <a:off x="3923928" y="1196752"/>
            <a:ext cx="2160588" cy="461665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FF0000"/>
                </a:solidFill>
                <a:ea typeface="楷体_GB2312" pitchFamily="49" charset="-122"/>
              </a:rPr>
              <a:t>流水线气泡</a:t>
            </a:r>
            <a:endParaRPr lang="zh-CN" altLang="en-US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48" name="任意多边形 354"/>
          <p:cNvSpPr/>
          <p:nvPr/>
        </p:nvSpPr>
        <p:spPr bwMode="auto">
          <a:xfrm>
            <a:off x="1485239" y="1953557"/>
            <a:ext cx="4682997" cy="2605776"/>
          </a:xfrm>
          <a:custGeom>
            <a:avLst/>
            <a:gdLst>
              <a:gd name="connsiteX0" fmla="*/ 4682997 w 4682997"/>
              <a:gd name="connsiteY0" fmla="*/ 0 h 2605776"/>
              <a:gd name="connsiteX1" fmla="*/ 4682997 w 4682997"/>
              <a:gd name="connsiteY1" fmla="*/ 264277 h 2605776"/>
              <a:gd name="connsiteX2" fmla="*/ 4424005 w 4682997"/>
              <a:gd name="connsiteY2" fmla="*/ 264277 h 2605776"/>
              <a:gd name="connsiteX3" fmla="*/ 4424005 w 4682997"/>
              <a:gd name="connsiteY3" fmla="*/ 523269 h 2605776"/>
              <a:gd name="connsiteX4" fmla="*/ 4165013 w 4682997"/>
              <a:gd name="connsiteY4" fmla="*/ 523269 h 2605776"/>
              <a:gd name="connsiteX5" fmla="*/ 4165013 w 4682997"/>
              <a:gd name="connsiteY5" fmla="*/ 782261 h 2605776"/>
              <a:gd name="connsiteX6" fmla="*/ 3906021 w 4682997"/>
              <a:gd name="connsiteY6" fmla="*/ 782261 h 2605776"/>
              <a:gd name="connsiteX7" fmla="*/ 3906021 w 4682997"/>
              <a:gd name="connsiteY7" fmla="*/ 1046539 h 2605776"/>
              <a:gd name="connsiteX8" fmla="*/ 3636458 w 4682997"/>
              <a:gd name="connsiteY8" fmla="*/ 1041253 h 2605776"/>
              <a:gd name="connsiteX9" fmla="*/ 3641744 w 4682997"/>
              <a:gd name="connsiteY9" fmla="*/ 1305531 h 2605776"/>
              <a:gd name="connsiteX10" fmla="*/ 3382752 w 4682997"/>
              <a:gd name="connsiteY10" fmla="*/ 1300245 h 2605776"/>
              <a:gd name="connsiteX11" fmla="*/ 3377466 w 4682997"/>
              <a:gd name="connsiteY11" fmla="*/ 1564522 h 2605776"/>
              <a:gd name="connsiteX12" fmla="*/ 3118474 w 4682997"/>
              <a:gd name="connsiteY12" fmla="*/ 1553951 h 2605776"/>
              <a:gd name="connsiteX13" fmla="*/ 3113189 w 4682997"/>
              <a:gd name="connsiteY13" fmla="*/ 1828800 h 2605776"/>
              <a:gd name="connsiteX14" fmla="*/ 2859482 w 4682997"/>
              <a:gd name="connsiteY14" fmla="*/ 1823514 h 2605776"/>
              <a:gd name="connsiteX15" fmla="*/ 2859482 w 4682997"/>
              <a:gd name="connsiteY15" fmla="*/ 2087792 h 2605776"/>
              <a:gd name="connsiteX16" fmla="*/ 2600490 w 4682997"/>
              <a:gd name="connsiteY16" fmla="*/ 2087792 h 2605776"/>
              <a:gd name="connsiteX17" fmla="*/ 2600490 w 4682997"/>
              <a:gd name="connsiteY17" fmla="*/ 2352069 h 2605776"/>
              <a:gd name="connsiteX18" fmla="*/ 2341499 w 4682997"/>
              <a:gd name="connsiteY18" fmla="*/ 2352069 h 2605776"/>
              <a:gd name="connsiteX19" fmla="*/ 2341499 w 4682997"/>
              <a:gd name="connsiteY19" fmla="*/ 2605776 h 2605776"/>
              <a:gd name="connsiteX20" fmla="*/ 0 w 4682997"/>
              <a:gd name="connsiteY20" fmla="*/ 2605776 h 2605776"/>
              <a:gd name="connsiteX21" fmla="*/ 0 w 4682997"/>
              <a:gd name="connsiteY21" fmla="*/ 2346784 h 2605776"/>
              <a:gd name="connsiteX22" fmla="*/ 253707 w 4682997"/>
              <a:gd name="connsiteY22" fmla="*/ 2352069 h 2605776"/>
              <a:gd name="connsiteX23" fmla="*/ 264278 w 4682997"/>
              <a:gd name="connsiteY23" fmla="*/ 2093077 h 2605776"/>
              <a:gd name="connsiteX24" fmla="*/ 528555 w 4682997"/>
              <a:gd name="connsiteY24" fmla="*/ 2087792 h 2605776"/>
              <a:gd name="connsiteX25" fmla="*/ 517984 w 4682997"/>
              <a:gd name="connsiteY25" fmla="*/ 1828800 h 2605776"/>
              <a:gd name="connsiteX26" fmla="*/ 776976 w 4682997"/>
              <a:gd name="connsiteY26" fmla="*/ 1834085 h 2605776"/>
              <a:gd name="connsiteX27" fmla="*/ 776976 w 4682997"/>
              <a:gd name="connsiteY27" fmla="*/ 1575094 h 2605776"/>
              <a:gd name="connsiteX28" fmla="*/ 1041253 w 4682997"/>
              <a:gd name="connsiteY28" fmla="*/ 1575094 h 2605776"/>
              <a:gd name="connsiteX29" fmla="*/ 1041253 w 4682997"/>
              <a:gd name="connsiteY29" fmla="*/ 1310816 h 2605776"/>
              <a:gd name="connsiteX30" fmla="*/ 1305531 w 4682997"/>
              <a:gd name="connsiteY30" fmla="*/ 1310816 h 2605776"/>
              <a:gd name="connsiteX31" fmla="*/ 1300245 w 4682997"/>
              <a:gd name="connsiteY31" fmla="*/ 1046539 h 2605776"/>
              <a:gd name="connsiteX32" fmla="*/ 1559237 w 4682997"/>
              <a:gd name="connsiteY32" fmla="*/ 1046539 h 2605776"/>
              <a:gd name="connsiteX33" fmla="*/ 1559237 w 4682997"/>
              <a:gd name="connsiteY33" fmla="*/ 782261 h 2605776"/>
              <a:gd name="connsiteX34" fmla="*/ 1823515 w 4682997"/>
              <a:gd name="connsiteY34" fmla="*/ 792832 h 2605776"/>
              <a:gd name="connsiteX35" fmla="*/ 1823515 w 4682997"/>
              <a:gd name="connsiteY35" fmla="*/ 528555 h 2605776"/>
              <a:gd name="connsiteX36" fmla="*/ 2082507 w 4682997"/>
              <a:gd name="connsiteY36" fmla="*/ 528555 h 2605776"/>
              <a:gd name="connsiteX37" fmla="*/ 2082507 w 4682997"/>
              <a:gd name="connsiteY37" fmla="*/ 264277 h 2605776"/>
              <a:gd name="connsiteX38" fmla="*/ 2346784 w 4682997"/>
              <a:gd name="connsiteY38" fmla="*/ 264277 h 2605776"/>
              <a:gd name="connsiteX39" fmla="*/ 2346784 w 4682997"/>
              <a:gd name="connsiteY39" fmla="*/ 0 h 2605776"/>
              <a:gd name="connsiteX0-1" fmla="*/ 4682997 w 4682997"/>
              <a:gd name="connsiteY0-2" fmla="*/ 0 h 2605776"/>
              <a:gd name="connsiteX1-3" fmla="*/ 4682997 w 4682997"/>
              <a:gd name="connsiteY1-4" fmla="*/ 264277 h 2605776"/>
              <a:gd name="connsiteX2-5" fmla="*/ 4424005 w 4682997"/>
              <a:gd name="connsiteY2-6" fmla="*/ 264277 h 2605776"/>
              <a:gd name="connsiteX3-7" fmla="*/ 4424005 w 4682997"/>
              <a:gd name="connsiteY3-8" fmla="*/ 523269 h 2605776"/>
              <a:gd name="connsiteX4-9" fmla="*/ 4165013 w 4682997"/>
              <a:gd name="connsiteY4-10" fmla="*/ 523269 h 2605776"/>
              <a:gd name="connsiteX5-11" fmla="*/ 4165013 w 4682997"/>
              <a:gd name="connsiteY5-12" fmla="*/ 782261 h 2605776"/>
              <a:gd name="connsiteX6-13" fmla="*/ 3906021 w 4682997"/>
              <a:gd name="connsiteY6-14" fmla="*/ 782261 h 2605776"/>
              <a:gd name="connsiteX7-15" fmla="*/ 3906021 w 4682997"/>
              <a:gd name="connsiteY7-16" fmla="*/ 1046539 h 2605776"/>
              <a:gd name="connsiteX8-17" fmla="*/ 3636458 w 4682997"/>
              <a:gd name="connsiteY8-18" fmla="*/ 1041253 h 2605776"/>
              <a:gd name="connsiteX9-19" fmla="*/ 3641744 w 4682997"/>
              <a:gd name="connsiteY9-20" fmla="*/ 1305531 h 2605776"/>
              <a:gd name="connsiteX10-21" fmla="*/ 3382752 w 4682997"/>
              <a:gd name="connsiteY10-22" fmla="*/ 1300245 h 2605776"/>
              <a:gd name="connsiteX11-23" fmla="*/ 3377466 w 4682997"/>
              <a:gd name="connsiteY11-24" fmla="*/ 1564522 h 2605776"/>
              <a:gd name="connsiteX12-25" fmla="*/ 3118474 w 4682997"/>
              <a:gd name="connsiteY12-26" fmla="*/ 1553951 h 2605776"/>
              <a:gd name="connsiteX13-27" fmla="*/ 3113189 w 4682997"/>
              <a:gd name="connsiteY13-28" fmla="*/ 1828800 h 2605776"/>
              <a:gd name="connsiteX14-29" fmla="*/ 2859482 w 4682997"/>
              <a:gd name="connsiteY14-30" fmla="*/ 1823514 h 2605776"/>
              <a:gd name="connsiteX15-31" fmla="*/ 2859482 w 4682997"/>
              <a:gd name="connsiteY15-32" fmla="*/ 2087792 h 2605776"/>
              <a:gd name="connsiteX16-33" fmla="*/ 2600490 w 4682997"/>
              <a:gd name="connsiteY16-34" fmla="*/ 2087792 h 2605776"/>
              <a:gd name="connsiteX17-35" fmla="*/ 2600490 w 4682997"/>
              <a:gd name="connsiteY17-36" fmla="*/ 2352069 h 2605776"/>
              <a:gd name="connsiteX18-37" fmla="*/ 2341499 w 4682997"/>
              <a:gd name="connsiteY18-38" fmla="*/ 2352069 h 2605776"/>
              <a:gd name="connsiteX19-39" fmla="*/ 2341499 w 4682997"/>
              <a:gd name="connsiteY19-40" fmla="*/ 2605776 h 2605776"/>
              <a:gd name="connsiteX20-41" fmla="*/ 0 w 4682997"/>
              <a:gd name="connsiteY20-42" fmla="*/ 2605776 h 2605776"/>
              <a:gd name="connsiteX21-43" fmla="*/ 0 w 4682997"/>
              <a:gd name="connsiteY21-44" fmla="*/ 2346784 h 2605776"/>
              <a:gd name="connsiteX22-45" fmla="*/ 253707 w 4682997"/>
              <a:gd name="connsiteY22-46" fmla="*/ 2352069 h 2605776"/>
              <a:gd name="connsiteX23-47" fmla="*/ 264278 w 4682997"/>
              <a:gd name="connsiteY23-48" fmla="*/ 2093077 h 2605776"/>
              <a:gd name="connsiteX24-49" fmla="*/ 528555 w 4682997"/>
              <a:gd name="connsiteY24-50" fmla="*/ 2087792 h 2605776"/>
              <a:gd name="connsiteX25-51" fmla="*/ 517984 w 4682997"/>
              <a:gd name="connsiteY25-52" fmla="*/ 1828800 h 2605776"/>
              <a:gd name="connsiteX26-53" fmla="*/ 776976 w 4682997"/>
              <a:gd name="connsiteY26-54" fmla="*/ 1834085 h 2605776"/>
              <a:gd name="connsiteX27-55" fmla="*/ 776976 w 4682997"/>
              <a:gd name="connsiteY27-56" fmla="*/ 1575094 h 2605776"/>
              <a:gd name="connsiteX28-57" fmla="*/ 1041253 w 4682997"/>
              <a:gd name="connsiteY28-58" fmla="*/ 1575094 h 2605776"/>
              <a:gd name="connsiteX29-59" fmla="*/ 1041253 w 4682997"/>
              <a:gd name="connsiteY29-60" fmla="*/ 1310816 h 2605776"/>
              <a:gd name="connsiteX30-61" fmla="*/ 1305531 w 4682997"/>
              <a:gd name="connsiteY30-62" fmla="*/ 1310816 h 2605776"/>
              <a:gd name="connsiteX31-63" fmla="*/ 1300245 w 4682997"/>
              <a:gd name="connsiteY31-64" fmla="*/ 1046539 h 2605776"/>
              <a:gd name="connsiteX32-65" fmla="*/ 1559237 w 4682997"/>
              <a:gd name="connsiteY32-66" fmla="*/ 1046539 h 2605776"/>
              <a:gd name="connsiteX33-67" fmla="*/ 1559237 w 4682997"/>
              <a:gd name="connsiteY33-68" fmla="*/ 782261 h 2605776"/>
              <a:gd name="connsiteX34-69" fmla="*/ 1823515 w 4682997"/>
              <a:gd name="connsiteY34-70" fmla="*/ 792832 h 2605776"/>
              <a:gd name="connsiteX35-71" fmla="*/ 1823515 w 4682997"/>
              <a:gd name="connsiteY35-72" fmla="*/ 528555 h 2605776"/>
              <a:gd name="connsiteX36-73" fmla="*/ 2082507 w 4682997"/>
              <a:gd name="connsiteY36-74" fmla="*/ 528555 h 2605776"/>
              <a:gd name="connsiteX37-75" fmla="*/ 2082507 w 4682997"/>
              <a:gd name="connsiteY37-76" fmla="*/ 264277 h 2605776"/>
              <a:gd name="connsiteX38-77" fmla="*/ 2346784 w 4682997"/>
              <a:gd name="connsiteY38-78" fmla="*/ 264277 h 2605776"/>
              <a:gd name="connsiteX39-79" fmla="*/ 2489494 w 4682997"/>
              <a:gd name="connsiteY39-80" fmla="*/ 47570 h 2605776"/>
              <a:gd name="connsiteX40" fmla="*/ 2346784 w 4682997"/>
              <a:gd name="connsiteY40" fmla="*/ 0 h 2605776"/>
              <a:gd name="connsiteX0-81" fmla="*/ 4682997 w 4682997"/>
              <a:gd name="connsiteY0-82" fmla="*/ 0 h 2605776"/>
              <a:gd name="connsiteX1-83" fmla="*/ 4682997 w 4682997"/>
              <a:gd name="connsiteY1-84" fmla="*/ 264277 h 2605776"/>
              <a:gd name="connsiteX2-85" fmla="*/ 4424005 w 4682997"/>
              <a:gd name="connsiteY2-86" fmla="*/ 264277 h 2605776"/>
              <a:gd name="connsiteX3-87" fmla="*/ 4424005 w 4682997"/>
              <a:gd name="connsiteY3-88" fmla="*/ 523269 h 2605776"/>
              <a:gd name="connsiteX4-89" fmla="*/ 4165013 w 4682997"/>
              <a:gd name="connsiteY4-90" fmla="*/ 523269 h 2605776"/>
              <a:gd name="connsiteX5-91" fmla="*/ 4165013 w 4682997"/>
              <a:gd name="connsiteY5-92" fmla="*/ 782261 h 2605776"/>
              <a:gd name="connsiteX6-93" fmla="*/ 3906021 w 4682997"/>
              <a:gd name="connsiteY6-94" fmla="*/ 782261 h 2605776"/>
              <a:gd name="connsiteX7-95" fmla="*/ 3906021 w 4682997"/>
              <a:gd name="connsiteY7-96" fmla="*/ 1046539 h 2605776"/>
              <a:gd name="connsiteX8-97" fmla="*/ 3636458 w 4682997"/>
              <a:gd name="connsiteY8-98" fmla="*/ 1041253 h 2605776"/>
              <a:gd name="connsiteX9-99" fmla="*/ 3641744 w 4682997"/>
              <a:gd name="connsiteY9-100" fmla="*/ 1305531 h 2605776"/>
              <a:gd name="connsiteX10-101" fmla="*/ 3382752 w 4682997"/>
              <a:gd name="connsiteY10-102" fmla="*/ 1300245 h 2605776"/>
              <a:gd name="connsiteX11-103" fmla="*/ 3377466 w 4682997"/>
              <a:gd name="connsiteY11-104" fmla="*/ 1564522 h 2605776"/>
              <a:gd name="connsiteX12-105" fmla="*/ 3118474 w 4682997"/>
              <a:gd name="connsiteY12-106" fmla="*/ 1553951 h 2605776"/>
              <a:gd name="connsiteX13-107" fmla="*/ 3113189 w 4682997"/>
              <a:gd name="connsiteY13-108" fmla="*/ 1828800 h 2605776"/>
              <a:gd name="connsiteX14-109" fmla="*/ 2859482 w 4682997"/>
              <a:gd name="connsiteY14-110" fmla="*/ 1823514 h 2605776"/>
              <a:gd name="connsiteX15-111" fmla="*/ 2859482 w 4682997"/>
              <a:gd name="connsiteY15-112" fmla="*/ 2087792 h 2605776"/>
              <a:gd name="connsiteX16-113" fmla="*/ 2600490 w 4682997"/>
              <a:gd name="connsiteY16-114" fmla="*/ 2087792 h 2605776"/>
              <a:gd name="connsiteX17-115" fmla="*/ 2600490 w 4682997"/>
              <a:gd name="connsiteY17-116" fmla="*/ 2352069 h 2605776"/>
              <a:gd name="connsiteX18-117" fmla="*/ 2341499 w 4682997"/>
              <a:gd name="connsiteY18-118" fmla="*/ 2352069 h 2605776"/>
              <a:gd name="connsiteX19-119" fmla="*/ 2341499 w 4682997"/>
              <a:gd name="connsiteY19-120" fmla="*/ 2605776 h 2605776"/>
              <a:gd name="connsiteX20-121" fmla="*/ 0 w 4682997"/>
              <a:gd name="connsiteY20-122" fmla="*/ 2605776 h 2605776"/>
              <a:gd name="connsiteX21-123" fmla="*/ 0 w 4682997"/>
              <a:gd name="connsiteY21-124" fmla="*/ 2346784 h 2605776"/>
              <a:gd name="connsiteX22-125" fmla="*/ 253707 w 4682997"/>
              <a:gd name="connsiteY22-126" fmla="*/ 2352069 h 2605776"/>
              <a:gd name="connsiteX23-127" fmla="*/ 264278 w 4682997"/>
              <a:gd name="connsiteY23-128" fmla="*/ 2093077 h 2605776"/>
              <a:gd name="connsiteX24-129" fmla="*/ 528555 w 4682997"/>
              <a:gd name="connsiteY24-130" fmla="*/ 2087792 h 2605776"/>
              <a:gd name="connsiteX25-131" fmla="*/ 517984 w 4682997"/>
              <a:gd name="connsiteY25-132" fmla="*/ 1828800 h 2605776"/>
              <a:gd name="connsiteX26-133" fmla="*/ 776976 w 4682997"/>
              <a:gd name="connsiteY26-134" fmla="*/ 1834085 h 2605776"/>
              <a:gd name="connsiteX27-135" fmla="*/ 776976 w 4682997"/>
              <a:gd name="connsiteY27-136" fmla="*/ 1575094 h 2605776"/>
              <a:gd name="connsiteX28-137" fmla="*/ 1041253 w 4682997"/>
              <a:gd name="connsiteY28-138" fmla="*/ 1575094 h 2605776"/>
              <a:gd name="connsiteX29-139" fmla="*/ 1041253 w 4682997"/>
              <a:gd name="connsiteY29-140" fmla="*/ 1310816 h 2605776"/>
              <a:gd name="connsiteX30-141" fmla="*/ 1305531 w 4682997"/>
              <a:gd name="connsiteY30-142" fmla="*/ 1310816 h 2605776"/>
              <a:gd name="connsiteX31-143" fmla="*/ 1300245 w 4682997"/>
              <a:gd name="connsiteY31-144" fmla="*/ 1046539 h 2605776"/>
              <a:gd name="connsiteX32-145" fmla="*/ 1559237 w 4682997"/>
              <a:gd name="connsiteY32-146" fmla="*/ 1046539 h 2605776"/>
              <a:gd name="connsiteX33-147" fmla="*/ 1559237 w 4682997"/>
              <a:gd name="connsiteY33-148" fmla="*/ 782261 h 2605776"/>
              <a:gd name="connsiteX34-149" fmla="*/ 1823515 w 4682997"/>
              <a:gd name="connsiteY34-150" fmla="*/ 792832 h 2605776"/>
              <a:gd name="connsiteX35-151" fmla="*/ 1823515 w 4682997"/>
              <a:gd name="connsiteY35-152" fmla="*/ 528555 h 2605776"/>
              <a:gd name="connsiteX36-153" fmla="*/ 2082507 w 4682997"/>
              <a:gd name="connsiteY36-154" fmla="*/ 528555 h 2605776"/>
              <a:gd name="connsiteX37-155" fmla="*/ 2082507 w 4682997"/>
              <a:gd name="connsiteY37-156" fmla="*/ 264277 h 2605776"/>
              <a:gd name="connsiteX38-157" fmla="*/ 2346784 w 4682997"/>
              <a:gd name="connsiteY38-158" fmla="*/ 264277 h 2605776"/>
              <a:gd name="connsiteX39-159" fmla="*/ 2489494 w 4682997"/>
              <a:gd name="connsiteY39-160" fmla="*/ 47570 h 2605776"/>
              <a:gd name="connsiteX40-161" fmla="*/ 4672425 w 4682997"/>
              <a:gd name="connsiteY40-162" fmla="*/ 0 h 2605776"/>
              <a:gd name="connsiteX0-163" fmla="*/ 4682997 w 4682997"/>
              <a:gd name="connsiteY0-164" fmla="*/ 5285 h 2611061"/>
              <a:gd name="connsiteX1-165" fmla="*/ 4682997 w 4682997"/>
              <a:gd name="connsiteY1-166" fmla="*/ 269562 h 2611061"/>
              <a:gd name="connsiteX2-167" fmla="*/ 4424005 w 4682997"/>
              <a:gd name="connsiteY2-168" fmla="*/ 269562 h 2611061"/>
              <a:gd name="connsiteX3-169" fmla="*/ 4424005 w 4682997"/>
              <a:gd name="connsiteY3-170" fmla="*/ 528554 h 2611061"/>
              <a:gd name="connsiteX4-171" fmla="*/ 4165013 w 4682997"/>
              <a:gd name="connsiteY4-172" fmla="*/ 528554 h 2611061"/>
              <a:gd name="connsiteX5-173" fmla="*/ 4165013 w 4682997"/>
              <a:gd name="connsiteY5-174" fmla="*/ 787546 h 2611061"/>
              <a:gd name="connsiteX6-175" fmla="*/ 3906021 w 4682997"/>
              <a:gd name="connsiteY6-176" fmla="*/ 787546 h 2611061"/>
              <a:gd name="connsiteX7-177" fmla="*/ 3906021 w 4682997"/>
              <a:gd name="connsiteY7-178" fmla="*/ 1051824 h 2611061"/>
              <a:gd name="connsiteX8-179" fmla="*/ 3636458 w 4682997"/>
              <a:gd name="connsiteY8-180" fmla="*/ 1046538 h 2611061"/>
              <a:gd name="connsiteX9-181" fmla="*/ 3641744 w 4682997"/>
              <a:gd name="connsiteY9-182" fmla="*/ 1310816 h 2611061"/>
              <a:gd name="connsiteX10-183" fmla="*/ 3382752 w 4682997"/>
              <a:gd name="connsiteY10-184" fmla="*/ 1305530 h 2611061"/>
              <a:gd name="connsiteX11-185" fmla="*/ 3377466 w 4682997"/>
              <a:gd name="connsiteY11-186" fmla="*/ 1569807 h 2611061"/>
              <a:gd name="connsiteX12-187" fmla="*/ 3118474 w 4682997"/>
              <a:gd name="connsiteY12-188" fmla="*/ 1559236 h 2611061"/>
              <a:gd name="connsiteX13-189" fmla="*/ 3113189 w 4682997"/>
              <a:gd name="connsiteY13-190" fmla="*/ 1834085 h 2611061"/>
              <a:gd name="connsiteX14-191" fmla="*/ 2859482 w 4682997"/>
              <a:gd name="connsiteY14-192" fmla="*/ 1828799 h 2611061"/>
              <a:gd name="connsiteX15-193" fmla="*/ 2859482 w 4682997"/>
              <a:gd name="connsiteY15-194" fmla="*/ 2093077 h 2611061"/>
              <a:gd name="connsiteX16-195" fmla="*/ 2600490 w 4682997"/>
              <a:gd name="connsiteY16-196" fmla="*/ 2093077 h 2611061"/>
              <a:gd name="connsiteX17-197" fmla="*/ 2600490 w 4682997"/>
              <a:gd name="connsiteY17-198" fmla="*/ 2357354 h 2611061"/>
              <a:gd name="connsiteX18-199" fmla="*/ 2341499 w 4682997"/>
              <a:gd name="connsiteY18-200" fmla="*/ 2357354 h 2611061"/>
              <a:gd name="connsiteX19-201" fmla="*/ 2341499 w 4682997"/>
              <a:gd name="connsiteY19-202" fmla="*/ 2611061 h 2611061"/>
              <a:gd name="connsiteX20-203" fmla="*/ 0 w 4682997"/>
              <a:gd name="connsiteY20-204" fmla="*/ 2611061 h 2611061"/>
              <a:gd name="connsiteX21-205" fmla="*/ 0 w 4682997"/>
              <a:gd name="connsiteY21-206" fmla="*/ 2352069 h 2611061"/>
              <a:gd name="connsiteX22-207" fmla="*/ 253707 w 4682997"/>
              <a:gd name="connsiteY22-208" fmla="*/ 2357354 h 2611061"/>
              <a:gd name="connsiteX23-209" fmla="*/ 264278 w 4682997"/>
              <a:gd name="connsiteY23-210" fmla="*/ 2098362 h 2611061"/>
              <a:gd name="connsiteX24-211" fmla="*/ 528555 w 4682997"/>
              <a:gd name="connsiteY24-212" fmla="*/ 2093077 h 2611061"/>
              <a:gd name="connsiteX25-213" fmla="*/ 517984 w 4682997"/>
              <a:gd name="connsiteY25-214" fmla="*/ 1834085 h 2611061"/>
              <a:gd name="connsiteX26-215" fmla="*/ 776976 w 4682997"/>
              <a:gd name="connsiteY26-216" fmla="*/ 1839370 h 2611061"/>
              <a:gd name="connsiteX27-217" fmla="*/ 776976 w 4682997"/>
              <a:gd name="connsiteY27-218" fmla="*/ 1580379 h 2611061"/>
              <a:gd name="connsiteX28-219" fmla="*/ 1041253 w 4682997"/>
              <a:gd name="connsiteY28-220" fmla="*/ 1580379 h 2611061"/>
              <a:gd name="connsiteX29-221" fmla="*/ 1041253 w 4682997"/>
              <a:gd name="connsiteY29-222" fmla="*/ 1316101 h 2611061"/>
              <a:gd name="connsiteX30-223" fmla="*/ 1305531 w 4682997"/>
              <a:gd name="connsiteY30-224" fmla="*/ 1316101 h 2611061"/>
              <a:gd name="connsiteX31-225" fmla="*/ 1300245 w 4682997"/>
              <a:gd name="connsiteY31-226" fmla="*/ 1051824 h 2611061"/>
              <a:gd name="connsiteX32-227" fmla="*/ 1559237 w 4682997"/>
              <a:gd name="connsiteY32-228" fmla="*/ 1051824 h 2611061"/>
              <a:gd name="connsiteX33-229" fmla="*/ 1559237 w 4682997"/>
              <a:gd name="connsiteY33-230" fmla="*/ 787546 h 2611061"/>
              <a:gd name="connsiteX34-231" fmla="*/ 1823515 w 4682997"/>
              <a:gd name="connsiteY34-232" fmla="*/ 798117 h 2611061"/>
              <a:gd name="connsiteX35-233" fmla="*/ 1823515 w 4682997"/>
              <a:gd name="connsiteY35-234" fmla="*/ 533840 h 2611061"/>
              <a:gd name="connsiteX36-235" fmla="*/ 2082507 w 4682997"/>
              <a:gd name="connsiteY36-236" fmla="*/ 533840 h 2611061"/>
              <a:gd name="connsiteX37-237" fmla="*/ 2082507 w 4682997"/>
              <a:gd name="connsiteY37-238" fmla="*/ 269562 h 2611061"/>
              <a:gd name="connsiteX38-239" fmla="*/ 2346784 w 4682997"/>
              <a:gd name="connsiteY38-240" fmla="*/ 269562 h 2611061"/>
              <a:gd name="connsiteX39-241" fmla="*/ 2341499 w 4682997"/>
              <a:gd name="connsiteY39-242" fmla="*/ 0 h 2611061"/>
              <a:gd name="connsiteX40-243" fmla="*/ 4672425 w 4682997"/>
              <a:gd name="connsiteY40-244" fmla="*/ 5285 h 2611061"/>
              <a:gd name="connsiteX0-245" fmla="*/ 4682997 w 4682997"/>
              <a:gd name="connsiteY0-246" fmla="*/ 0 h 2605776"/>
              <a:gd name="connsiteX1-247" fmla="*/ 4682997 w 4682997"/>
              <a:gd name="connsiteY1-248" fmla="*/ 264277 h 2605776"/>
              <a:gd name="connsiteX2-249" fmla="*/ 4424005 w 4682997"/>
              <a:gd name="connsiteY2-250" fmla="*/ 264277 h 2605776"/>
              <a:gd name="connsiteX3-251" fmla="*/ 4424005 w 4682997"/>
              <a:gd name="connsiteY3-252" fmla="*/ 523269 h 2605776"/>
              <a:gd name="connsiteX4-253" fmla="*/ 4165013 w 4682997"/>
              <a:gd name="connsiteY4-254" fmla="*/ 523269 h 2605776"/>
              <a:gd name="connsiteX5-255" fmla="*/ 4165013 w 4682997"/>
              <a:gd name="connsiteY5-256" fmla="*/ 782261 h 2605776"/>
              <a:gd name="connsiteX6-257" fmla="*/ 3906021 w 4682997"/>
              <a:gd name="connsiteY6-258" fmla="*/ 782261 h 2605776"/>
              <a:gd name="connsiteX7-259" fmla="*/ 3906021 w 4682997"/>
              <a:gd name="connsiteY7-260" fmla="*/ 1046539 h 2605776"/>
              <a:gd name="connsiteX8-261" fmla="*/ 3636458 w 4682997"/>
              <a:gd name="connsiteY8-262" fmla="*/ 1041253 h 2605776"/>
              <a:gd name="connsiteX9-263" fmla="*/ 3641744 w 4682997"/>
              <a:gd name="connsiteY9-264" fmla="*/ 1305531 h 2605776"/>
              <a:gd name="connsiteX10-265" fmla="*/ 3382752 w 4682997"/>
              <a:gd name="connsiteY10-266" fmla="*/ 1300245 h 2605776"/>
              <a:gd name="connsiteX11-267" fmla="*/ 3377466 w 4682997"/>
              <a:gd name="connsiteY11-268" fmla="*/ 1564522 h 2605776"/>
              <a:gd name="connsiteX12-269" fmla="*/ 3118474 w 4682997"/>
              <a:gd name="connsiteY12-270" fmla="*/ 1553951 h 2605776"/>
              <a:gd name="connsiteX13-271" fmla="*/ 3113189 w 4682997"/>
              <a:gd name="connsiteY13-272" fmla="*/ 1828800 h 2605776"/>
              <a:gd name="connsiteX14-273" fmla="*/ 2859482 w 4682997"/>
              <a:gd name="connsiteY14-274" fmla="*/ 1823514 h 2605776"/>
              <a:gd name="connsiteX15-275" fmla="*/ 2859482 w 4682997"/>
              <a:gd name="connsiteY15-276" fmla="*/ 2087792 h 2605776"/>
              <a:gd name="connsiteX16-277" fmla="*/ 2600490 w 4682997"/>
              <a:gd name="connsiteY16-278" fmla="*/ 2087792 h 2605776"/>
              <a:gd name="connsiteX17-279" fmla="*/ 2600490 w 4682997"/>
              <a:gd name="connsiteY17-280" fmla="*/ 2352069 h 2605776"/>
              <a:gd name="connsiteX18-281" fmla="*/ 2341499 w 4682997"/>
              <a:gd name="connsiteY18-282" fmla="*/ 2352069 h 2605776"/>
              <a:gd name="connsiteX19-283" fmla="*/ 2341499 w 4682997"/>
              <a:gd name="connsiteY19-284" fmla="*/ 2605776 h 2605776"/>
              <a:gd name="connsiteX20-285" fmla="*/ 0 w 4682997"/>
              <a:gd name="connsiteY20-286" fmla="*/ 2605776 h 2605776"/>
              <a:gd name="connsiteX21-287" fmla="*/ 0 w 4682997"/>
              <a:gd name="connsiteY21-288" fmla="*/ 2346784 h 2605776"/>
              <a:gd name="connsiteX22-289" fmla="*/ 253707 w 4682997"/>
              <a:gd name="connsiteY22-290" fmla="*/ 2352069 h 2605776"/>
              <a:gd name="connsiteX23-291" fmla="*/ 264278 w 4682997"/>
              <a:gd name="connsiteY23-292" fmla="*/ 2093077 h 2605776"/>
              <a:gd name="connsiteX24-293" fmla="*/ 528555 w 4682997"/>
              <a:gd name="connsiteY24-294" fmla="*/ 2087792 h 2605776"/>
              <a:gd name="connsiteX25-295" fmla="*/ 517984 w 4682997"/>
              <a:gd name="connsiteY25-296" fmla="*/ 1828800 h 2605776"/>
              <a:gd name="connsiteX26-297" fmla="*/ 776976 w 4682997"/>
              <a:gd name="connsiteY26-298" fmla="*/ 1834085 h 2605776"/>
              <a:gd name="connsiteX27-299" fmla="*/ 776976 w 4682997"/>
              <a:gd name="connsiteY27-300" fmla="*/ 1575094 h 2605776"/>
              <a:gd name="connsiteX28-301" fmla="*/ 1041253 w 4682997"/>
              <a:gd name="connsiteY28-302" fmla="*/ 1575094 h 2605776"/>
              <a:gd name="connsiteX29-303" fmla="*/ 1041253 w 4682997"/>
              <a:gd name="connsiteY29-304" fmla="*/ 1310816 h 2605776"/>
              <a:gd name="connsiteX30-305" fmla="*/ 1305531 w 4682997"/>
              <a:gd name="connsiteY30-306" fmla="*/ 1310816 h 2605776"/>
              <a:gd name="connsiteX31-307" fmla="*/ 1300245 w 4682997"/>
              <a:gd name="connsiteY31-308" fmla="*/ 1046539 h 2605776"/>
              <a:gd name="connsiteX32-309" fmla="*/ 1559237 w 4682997"/>
              <a:gd name="connsiteY32-310" fmla="*/ 1046539 h 2605776"/>
              <a:gd name="connsiteX33-311" fmla="*/ 1559237 w 4682997"/>
              <a:gd name="connsiteY33-312" fmla="*/ 782261 h 2605776"/>
              <a:gd name="connsiteX34-313" fmla="*/ 1823515 w 4682997"/>
              <a:gd name="connsiteY34-314" fmla="*/ 792832 h 2605776"/>
              <a:gd name="connsiteX35-315" fmla="*/ 1823515 w 4682997"/>
              <a:gd name="connsiteY35-316" fmla="*/ 528555 h 2605776"/>
              <a:gd name="connsiteX36-317" fmla="*/ 2082507 w 4682997"/>
              <a:gd name="connsiteY36-318" fmla="*/ 528555 h 2605776"/>
              <a:gd name="connsiteX37-319" fmla="*/ 2082507 w 4682997"/>
              <a:gd name="connsiteY37-320" fmla="*/ 264277 h 2605776"/>
              <a:gd name="connsiteX38-321" fmla="*/ 2346784 w 4682997"/>
              <a:gd name="connsiteY38-322" fmla="*/ 264277 h 2605776"/>
              <a:gd name="connsiteX39-323" fmla="*/ 2341499 w 4682997"/>
              <a:gd name="connsiteY39-324" fmla="*/ 5286 h 2605776"/>
              <a:gd name="connsiteX40-325" fmla="*/ 4672425 w 4682997"/>
              <a:gd name="connsiteY40-326" fmla="*/ 0 h 26057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161" y="connsiteY40-162"/>
              </a:cxn>
            </a:cxnLst>
            <a:rect l="l" t="t" r="r" b="b"/>
            <a:pathLst>
              <a:path w="4682997" h="2605776">
                <a:moveTo>
                  <a:pt x="4682997" y="0"/>
                </a:moveTo>
                <a:lnTo>
                  <a:pt x="4682997" y="264277"/>
                </a:lnTo>
                <a:lnTo>
                  <a:pt x="4424005" y="264277"/>
                </a:lnTo>
                <a:lnTo>
                  <a:pt x="4424005" y="523269"/>
                </a:lnTo>
                <a:lnTo>
                  <a:pt x="4165013" y="523269"/>
                </a:lnTo>
                <a:lnTo>
                  <a:pt x="4165013" y="782261"/>
                </a:lnTo>
                <a:lnTo>
                  <a:pt x="3906021" y="782261"/>
                </a:lnTo>
                <a:lnTo>
                  <a:pt x="3906021" y="1046539"/>
                </a:lnTo>
                <a:lnTo>
                  <a:pt x="3636458" y="1041253"/>
                </a:lnTo>
                <a:lnTo>
                  <a:pt x="3641744" y="1305531"/>
                </a:lnTo>
                <a:lnTo>
                  <a:pt x="3382752" y="1300245"/>
                </a:lnTo>
                <a:lnTo>
                  <a:pt x="3377466" y="1564522"/>
                </a:lnTo>
                <a:lnTo>
                  <a:pt x="3118474" y="1553951"/>
                </a:lnTo>
                <a:cubicBezTo>
                  <a:pt x="3116712" y="1645567"/>
                  <a:pt x="3114951" y="1737184"/>
                  <a:pt x="3113189" y="1828800"/>
                </a:cubicBezTo>
                <a:lnTo>
                  <a:pt x="2859482" y="1823514"/>
                </a:lnTo>
                <a:lnTo>
                  <a:pt x="2859482" y="2087792"/>
                </a:lnTo>
                <a:lnTo>
                  <a:pt x="2600490" y="2087792"/>
                </a:lnTo>
                <a:lnTo>
                  <a:pt x="2600490" y="2352069"/>
                </a:lnTo>
                <a:lnTo>
                  <a:pt x="2341499" y="2352069"/>
                </a:lnTo>
                <a:lnTo>
                  <a:pt x="2341499" y="2605776"/>
                </a:lnTo>
                <a:lnTo>
                  <a:pt x="0" y="2605776"/>
                </a:lnTo>
                <a:lnTo>
                  <a:pt x="0" y="2346784"/>
                </a:lnTo>
                <a:lnTo>
                  <a:pt x="253707" y="2352069"/>
                </a:lnTo>
                <a:lnTo>
                  <a:pt x="264278" y="2093077"/>
                </a:lnTo>
                <a:lnTo>
                  <a:pt x="528555" y="2087792"/>
                </a:lnTo>
                <a:lnTo>
                  <a:pt x="517984" y="1828800"/>
                </a:lnTo>
                <a:lnTo>
                  <a:pt x="776976" y="1834085"/>
                </a:lnTo>
                <a:lnTo>
                  <a:pt x="776976" y="1575094"/>
                </a:lnTo>
                <a:lnTo>
                  <a:pt x="1041253" y="1575094"/>
                </a:lnTo>
                <a:lnTo>
                  <a:pt x="1041253" y="1310816"/>
                </a:lnTo>
                <a:lnTo>
                  <a:pt x="1305531" y="1310816"/>
                </a:lnTo>
                <a:lnTo>
                  <a:pt x="1300245" y="1046539"/>
                </a:lnTo>
                <a:lnTo>
                  <a:pt x="1559237" y="1046539"/>
                </a:lnTo>
                <a:lnTo>
                  <a:pt x="1559237" y="782261"/>
                </a:lnTo>
                <a:lnTo>
                  <a:pt x="1823515" y="792832"/>
                </a:lnTo>
                <a:lnTo>
                  <a:pt x="1823515" y="528555"/>
                </a:lnTo>
                <a:lnTo>
                  <a:pt x="2082507" y="528555"/>
                </a:lnTo>
                <a:lnTo>
                  <a:pt x="2082507" y="264277"/>
                </a:lnTo>
                <a:lnTo>
                  <a:pt x="2346784" y="264277"/>
                </a:lnTo>
                <a:lnTo>
                  <a:pt x="2341499" y="5286"/>
                </a:lnTo>
                <a:lnTo>
                  <a:pt x="4672425" y="0"/>
                </a:lnTo>
              </a:path>
            </a:pathLst>
          </a:custGeom>
          <a:blipFill>
            <a:blip r:embed="rId1" cstate="print"/>
            <a:tile tx="0" ty="0" sx="100000" sy="100000" flip="none" algn="tl"/>
          </a:blip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9" name="任意多边形 355"/>
          <p:cNvSpPr/>
          <p:nvPr/>
        </p:nvSpPr>
        <p:spPr bwMode="auto">
          <a:xfrm>
            <a:off x="438247" y="1953835"/>
            <a:ext cx="7299297" cy="2608027"/>
          </a:xfrm>
          <a:custGeom>
            <a:avLst/>
            <a:gdLst>
              <a:gd name="connsiteX0" fmla="*/ 2329732 w 7299297"/>
              <a:gd name="connsiteY0" fmla="*/ 0 h 2608027"/>
              <a:gd name="connsiteX1" fmla="*/ 7291346 w 7299297"/>
              <a:gd name="connsiteY1" fmla="*/ 0 h 2608027"/>
              <a:gd name="connsiteX2" fmla="*/ 7299297 w 7299297"/>
              <a:gd name="connsiteY2" fmla="*/ 262393 h 2608027"/>
              <a:gd name="connsiteX3" fmla="*/ 7036904 w 7299297"/>
              <a:gd name="connsiteY3" fmla="*/ 262393 h 2608027"/>
              <a:gd name="connsiteX4" fmla="*/ 7036904 w 7299297"/>
              <a:gd name="connsiteY4" fmla="*/ 524786 h 2608027"/>
              <a:gd name="connsiteX5" fmla="*/ 6774511 w 7299297"/>
              <a:gd name="connsiteY5" fmla="*/ 524786 h 2608027"/>
              <a:gd name="connsiteX6" fmla="*/ 6774511 w 7299297"/>
              <a:gd name="connsiteY6" fmla="*/ 779227 h 2608027"/>
              <a:gd name="connsiteX7" fmla="*/ 6512118 w 7299297"/>
              <a:gd name="connsiteY7" fmla="*/ 787179 h 2608027"/>
              <a:gd name="connsiteX8" fmla="*/ 6512118 w 7299297"/>
              <a:gd name="connsiteY8" fmla="*/ 1041621 h 2608027"/>
              <a:gd name="connsiteX9" fmla="*/ 6257676 w 7299297"/>
              <a:gd name="connsiteY9" fmla="*/ 1033669 h 2608027"/>
              <a:gd name="connsiteX10" fmla="*/ 6257676 w 7299297"/>
              <a:gd name="connsiteY10" fmla="*/ 1304014 h 2608027"/>
              <a:gd name="connsiteX11" fmla="*/ 5995283 w 7299297"/>
              <a:gd name="connsiteY11" fmla="*/ 1304014 h 2608027"/>
              <a:gd name="connsiteX12" fmla="*/ 5987332 w 7299297"/>
              <a:gd name="connsiteY12" fmla="*/ 1566407 h 2608027"/>
              <a:gd name="connsiteX13" fmla="*/ 5724939 w 7299297"/>
              <a:gd name="connsiteY13" fmla="*/ 1566407 h 2608027"/>
              <a:gd name="connsiteX14" fmla="*/ 5724939 w 7299297"/>
              <a:gd name="connsiteY14" fmla="*/ 1812897 h 2608027"/>
              <a:gd name="connsiteX15" fmla="*/ 5462546 w 7299297"/>
              <a:gd name="connsiteY15" fmla="*/ 1812897 h 2608027"/>
              <a:gd name="connsiteX16" fmla="*/ 5470497 w 7299297"/>
              <a:gd name="connsiteY16" fmla="*/ 2075290 h 2608027"/>
              <a:gd name="connsiteX17" fmla="*/ 5208104 w 7299297"/>
              <a:gd name="connsiteY17" fmla="*/ 2083241 h 2608027"/>
              <a:gd name="connsiteX18" fmla="*/ 5208104 w 7299297"/>
              <a:gd name="connsiteY18" fmla="*/ 2337683 h 2608027"/>
              <a:gd name="connsiteX19" fmla="*/ 4945711 w 7299297"/>
              <a:gd name="connsiteY19" fmla="*/ 2337683 h 2608027"/>
              <a:gd name="connsiteX20" fmla="*/ 4945711 w 7299297"/>
              <a:gd name="connsiteY20" fmla="*/ 2608027 h 2608027"/>
              <a:gd name="connsiteX21" fmla="*/ 0 w 7299297"/>
              <a:gd name="connsiteY21" fmla="*/ 2608027 h 2608027"/>
              <a:gd name="connsiteX22" fmla="*/ 0 w 7299297"/>
              <a:gd name="connsiteY22" fmla="*/ 2337683 h 2608027"/>
              <a:gd name="connsiteX23" fmla="*/ 262393 w 7299297"/>
              <a:gd name="connsiteY23" fmla="*/ 2337683 h 2608027"/>
              <a:gd name="connsiteX24" fmla="*/ 262393 w 7299297"/>
              <a:gd name="connsiteY24" fmla="*/ 2091193 h 2608027"/>
              <a:gd name="connsiteX25" fmla="*/ 524786 w 7299297"/>
              <a:gd name="connsiteY25" fmla="*/ 2091193 h 2608027"/>
              <a:gd name="connsiteX26" fmla="*/ 524786 w 7299297"/>
              <a:gd name="connsiteY26" fmla="*/ 1828800 h 2608027"/>
              <a:gd name="connsiteX27" fmla="*/ 787179 w 7299297"/>
              <a:gd name="connsiteY27" fmla="*/ 1828800 h 2608027"/>
              <a:gd name="connsiteX28" fmla="*/ 787179 w 7299297"/>
              <a:gd name="connsiteY28" fmla="*/ 1558455 h 2608027"/>
              <a:gd name="connsiteX29" fmla="*/ 1033669 w 7299297"/>
              <a:gd name="connsiteY29" fmla="*/ 1566407 h 2608027"/>
              <a:gd name="connsiteX30" fmla="*/ 1033669 w 7299297"/>
              <a:gd name="connsiteY30" fmla="*/ 1304014 h 2608027"/>
              <a:gd name="connsiteX31" fmla="*/ 1304014 w 7299297"/>
              <a:gd name="connsiteY31" fmla="*/ 1304014 h 2608027"/>
              <a:gd name="connsiteX32" fmla="*/ 1304014 w 7299297"/>
              <a:gd name="connsiteY32" fmla="*/ 1041621 h 2608027"/>
              <a:gd name="connsiteX33" fmla="*/ 1566407 w 7299297"/>
              <a:gd name="connsiteY33" fmla="*/ 1041621 h 2608027"/>
              <a:gd name="connsiteX34" fmla="*/ 1566407 w 7299297"/>
              <a:gd name="connsiteY34" fmla="*/ 787179 h 2608027"/>
              <a:gd name="connsiteX35" fmla="*/ 1828800 w 7299297"/>
              <a:gd name="connsiteY35" fmla="*/ 779227 h 2608027"/>
              <a:gd name="connsiteX36" fmla="*/ 1828800 w 7299297"/>
              <a:gd name="connsiteY36" fmla="*/ 524786 h 2608027"/>
              <a:gd name="connsiteX37" fmla="*/ 2091193 w 7299297"/>
              <a:gd name="connsiteY37" fmla="*/ 524786 h 2608027"/>
              <a:gd name="connsiteX38" fmla="*/ 2091193 w 7299297"/>
              <a:gd name="connsiteY38" fmla="*/ 254441 h 2608027"/>
              <a:gd name="connsiteX39" fmla="*/ 2345635 w 7299297"/>
              <a:gd name="connsiteY39" fmla="*/ 254441 h 2608027"/>
              <a:gd name="connsiteX40" fmla="*/ 2329732 w 7299297"/>
              <a:gd name="connsiteY40" fmla="*/ 0 h 260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299297" h="2608027">
                <a:moveTo>
                  <a:pt x="2329732" y="0"/>
                </a:moveTo>
                <a:lnTo>
                  <a:pt x="7291346" y="0"/>
                </a:lnTo>
                <a:lnTo>
                  <a:pt x="7299297" y="262393"/>
                </a:lnTo>
                <a:lnTo>
                  <a:pt x="7036904" y="262393"/>
                </a:lnTo>
                <a:lnTo>
                  <a:pt x="7036904" y="524786"/>
                </a:lnTo>
                <a:lnTo>
                  <a:pt x="6774511" y="524786"/>
                </a:lnTo>
                <a:lnTo>
                  <a:pt x="6774511" y="779227"/>
                </a:lnTo>
                <a:lnTo>
                  <a:pt x="6512118" y="787179"/>
                </a:lnTo>
                <a:lnTo>
                  <a:pt x="6512118" y="1041621"/>
                </a:lnTo>
                <a:lnTo>
                  <a:pt x="6257676" y="1033669"/>
                </a:lnTo>
                <a:lnTo>
                  <a:pt x="6257676" y="1304014"/>
                </a:lnTo>
                <a:lnTo>
                  <a:pt x="5995283" y="1304014"/>
                </a:lnTo>
                <a:lnTo>
                  <a:pt x="5987332" y="1566407"/>
                </a:lnTo>
                <a:lnTo>
                  <a:pt x="5724939" y="1566407"/>
                </a:lnTo>
                <a:lnTo>
                  <a:pt x="5724939" y="1812897"/>
                </a:lnTo>
                <a:lnTo>
                  <a:pt x="5462546" y="1812897"/>
                </a:lnTo>
                <a:lnTo>
                  <a:pt x="5470497" y="2075290"/>
                </a:lnTo>
                <a:lnTo>
                  <a:pt x="5208104" y="2083241"/>
                </a:lnTo>
                <a:lnTo>
                  <a:pt x="5208104" y="2337683"/>
                </a:lnTo>
                <a:lnTo>
                  <a:pt x="4945711" y="2337683"/>
                </a:lnTo>
                <a:lnTo>
                  <a:pt x="4945711" y="2608027"/>
                </a:lnTo>
                <a:lnTo>
                  <a:pt x="0" y="2608027"/>
                </a:lnTo>
                <a:lnTo>
                  <a:pt x="0" y="2337683"/>
                </a:lnTo>
                <a:lnTo>
                  <a:pt x="262393" y="2337683"/>
                </a:lnTo>
                <a:lnTo>
                  <a:pt x="262393" y="2091193"/>
                </a:lnTo>
                <a:lnTo>
                  <a:pt x="524786" y="2091193"/>
                </a:lnTo>
                <a:lnTo>
                  <a:pt x="524786" y="1828800"/>
                </a:lnTo>
                <a:lnTo>
                  <a:pt x="787179" y="1828800"/>
                </a:lnTo>
                <a:lnTo>
                  <a:pt x="787179" y="1558455"/>
                </a:lnTo>
                <a:lnTo>
                  <a:pt x="1033669" y="1566407"/>
                </a:lnTo>
                <a:lnTo>
                  <a:pt x="1033669" y="1304014"/>
                </a:lnTo>
                <a:lnTo>
                  <a:pt x="1304014" y="1304014"/>
                </a:lnTo>
                <a:lnTo>
                  <a:pt x="1304014" y="1041621"/>
                </a:lnTo>
                <a:lnTo>
                  <a:pt x="1566407" y="1041621"/>
                </a:lnTo>
                <a:lnTo>
                  <a:pt x="1566407" y="787179"/>
                </a:lnTo>
                <a:lnTo>
                  <a:pt x="1828800" y="779227"/>
                </a:lnTo>
                <a:lnTo>
                  <a:pt x="1828800" y="524786"/>
                </a:lnTo>
                <a:lnTo>
                  <a:pt x="2091193" y="524786"/>
                </a:lnTo>
                <a:lnTo>
                  <a:pt x="2091193" y="254441"/>
                </a:lnTo>
                <a:lnTo>
                  <a:pt x="2345635" y="254441"/>
                </a:lnTo>
                <a:lnTo>
                  <a:pt x="2329732" y="0"/>
                </a:lnTo>
                <a:close/>
              </a:path>
            </a:pathLst>
          </a:custGeom>
          <a:noFill/>
          <a:ln w="57150" cap="flat" cmpd="sng" algn="ctr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0" name="Rectangle 112"/>
          <p:cNvSpPr>
            <a:spLocks noChangeAspect="1" noChangeArrowheads="1"/>
          </p:cNvSpPr>
          <p:nvPr/>
        </p:nvSpPr>
        <p:spPr bwMode="auto">
          <a:xfrm>
            <a:off x="3058939" y="4543671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11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51" name="Rectangle 112"/>
          <p:cNvSpPr>
            <a:spLocks noChangeAspect="1" noChangeArrowheads="1"/>
          </p:cNvSpPr>
          <p:nvPr/>
        </p:nvSpPr>
        <p:spPr bwMode="auto">
          <a:xfrm>
            <a:off x="3309764" y="4543057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12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52" name="Rectangle 112"/>
          <p:cNvSpPr>
            <a:spLocks noChangeAspect="1" noChangeArrowheads="1"/>
          </p:cNvSpPr>
          <p:nvPr/>
        </p:nvSpPr>
        <p:spPr bwMode="auto">
          <a:xfrm>
            <a:off x="3563888" y="4543671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13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53" name="Rectangle 112"/>
          <p:cNvSpPr>
            <a:spLocks noChangeAspect="1" noChangeArrowheads="1"/>
          </p:cNvSpPr>
          <p:nvPr/>
        </p:nvSpPr>
        <p:spPr bwMode="auto">
          <a:xfrm>
            <a:off x="3829079" y="4541584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14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54" name="Rectangle 113"/>
          <p:cNvSpPr>
            <a:spLocks noChangeAspect="1" noChangeArrowheads="1"/>
          </p:cNvSpPr>
          <p:nvPr/>
        </p:nvSpPr>
        <p:spPr bwMode="auto">
          <a:xfrm>
            <a:off x="5140374" y="4538933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19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55" name="Rectangle 112"/>
          <p:cNvSpPr>
            <a:spLocks noChangeAspect="1" noChangeArrowheads="1"/>
          </p:cNvSpPr>
          <p:nvPr/>
        </p:nvSpPr>
        <p:spPr bwMode="auto">
          <a:xfrm>
            <a:off x="4354388" y="4541494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16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56" name="Rectangle 112"/>
          <p:cNvSpPr>
            <a:spLocks noChangeAspect="1" noChangeArrowheads="1"/>
          </p:cNvSpPr>
          <p:nvPr/>
        </p:nvSpPr>
        <p:spPr bwMode="auto">
          <a:xfrm>
            <a:off x="4608512" y="4542108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17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57" name="Rectangle 112"/>
          <p:cNvSpPr>
            <a:spLocks noChangeAspect="1" noChangeArrowheads="1"/>
          </p:cNvSpPr>
          <p:nvPr/>
        </p:nvSpPr>
        <p:spPr bwMode="auto">
          <a:xfrm>
            <a:off x="4873703" y="4540021"/>
            <a:ext cx="260350" cy="26035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</a:rPr>
              <a:t>18</a:t>
            </a:r>
            <a:endParaRPr kumimoji="0" lang="en-US" altLang="zh-CN" sz="1400" i="0" u="none" strike="noStrike" kern="0" cap="none" spc="0" normalizeH="0" baseline="-25000" noProof="0" dirty="0">
              <a:ln>
                <a:noFill/>
              </a:ln>
              <a:solidFill>
                <a:srgbClr val="CC0099"/>
              </a:solidFill>
              <a:effectLst/>
              <a:uLnTx/>
              <a:uFillTx/>
            </a:endParaRPr>
          </a:p>
        </p:txBody>
      </p:sp>
      <p:sp>
        <p:nvSpPr>
          <p:cNvPr id="3" name="动作按钮: 前进或下一项 2">
            <a:hlinkClick r:id="" action="ppaction://hlinkshowjump?jump=nextslide" highlightClick="1"/>
          </p:cNvPr>
          <p:cNvSpPr/>
          <p:nvPr/>
        </p:nvSpPr>
        <p:spPr bwMode="auto">
          <a:xfrm>
            <a:off x="8561556" y="6029286"/>
            <a:ext cx="431603" cy="358268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animBg="1"/>
      <p:bldP spid="278" grpId="0" animBg="1"/>
      <p:bldP spid="279" grpId="0" animBg="1"/>
      <p:bldP spid="280" grpId="0" animBg="1"/>
      <p:bldP spid="281" grpId="0"/>
      <p:bldP spid="342" grpId="0" animBg="1"/>
      <p:bldP spid="343" grpId="0" animBg="1"/>
      <p:bldP spid="345" grpId="0" animBg="1"/>
      <p:bldP spid="346" grpId="0" animBg="1"/>
      <p:bldP spid="347" grpId="0"/>
      <p:bldP spid="348" grpId="0" animBg="1"/>
      <p:bldP spid="34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8" name="Rectangle 3"/>
          <p:cNvSpPr txBox="1">
            <a:spLocks noChangeArrowheads="1"/>
          </p:cNvSpPr>
          <p:nvPr/>
        </p:nvSpPr>
        <p:spPr bwMode="auto">
          <a:xfrm>
            <a:off x="179388" y="549275"/>
            <a:ext cx="8893175" cy="12235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719455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07823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7005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78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解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】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）因发生了条件跳转，所以在执行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50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个小程序段时，每个小程序段只执行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10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条指令，且流水线会出现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50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次断流，每次断流时，流水线要进行重新填充操作，填充时间为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-1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·</a:t>
            </a:r>
            <a:r>
              <a:rPr kumimoji="0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/>
                <a:ea typeface="宋体" pitchFamily="2" charset="-122"/>
                <a:cs typeface="+mn-cs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/>
              <a:ea typeface="宋体" pitchFamily="2" charset="-122"/>
              <a:cs typeface="+mn-cs"/>
            </a:endParaRPr>
          </a:p>
        </p:txBody>
      </p:sp>
      <p:sp>
        <p:nvSpPr>
          <p:cNvPr id="359" name="Rectangle 3"/>
          <p:cNvSpPr txBox="1">
            <a:spLocks noChangeArrowheads="1"/>
          </p:cNvSpPr>
          <p:nvPr/>
        </p:nvSpPr>
        <p:spPr bwMode="auto">
          <a:xfrm>
            <a:off x="321154" y="2132856"/>
            <a:ext cx="8578850" cy="577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T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</a:rPr>
              <a:t>50</a:t>
            </a:r>
            <a:r>
              <a:rPr lang="en-US" altLang="zh-CN" sz="2400" b="0" kern="0" baseline="-30000" dirty="0">
                <a:solidFill>
                  <a:srgbClr val="000000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  <a:cs typeface="Arial" panose="020B0604020202090204" pitchFamily="34" charset="0"/>
              </a:rPr>
              <a:t>10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1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 = </a:t>
            </a:r>
            <a:r>
              <a:rPr lang="en-US" altLang="zh-CN" sz="2400" kern="0" dirty="0">
                <a:solidFill>
                  <a:srgbClr val="FF0000"/>
                </a:solidFill>
                <a:ea typeface="楷体_GB2312"/>
              </a:rPr>
              <a:t>10×100ps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×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50×10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= 500000ps</a:t>
            </a:r>
            <a:endParaRPr lang="en-US" altLang="zh-CN" sz="2400" kern="0" dirty="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360" name="Rectangle 3"/>
          <p:cNvSpPr txBox="1">
            <a:spLocks noChangeArrowheads="1"/>
          </p:cNvSpPr>
          <p:nvPr/>
        </p:nvSpPr>
        <p:spPr bwMode="auto">
          <a:xfrm>
            <a:off x="321154" y="1700808"/>
            <a:ext cx="8578850" cy="577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段数</a:t>
            </a:r>
            <a:r>
              <a:rPr lang="en-US" altLang="zh-CN" sz="2400" i="1" kern="0" dirty="0">
                <a:solidFill>
                  <a:srgbClr val="FF6600"/>
                </a:solidFill>
                <a:ea typeface="楷体" panose="02010609060101010101" pitchFamily="49" charset="-122"/>
              </a:rPr>
              <a:t>m</a:t>
            </a:r>
            <a:r>
              <a:rPr lang="en-US" altLang="zh-CN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=10</a:t>
            </a:r>
            <a:r>
              <a:rPr lang="zh-CN" altLang="en-US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；流水线周期</a:t>
            </a:r>
            <a:r>
              <a:rPr lang="en-US" altLang="zh-CN" sz="2400" i="1" kern="0" dirty="0">
                <a:solidFill>
                  <a:srgbClr val="FF6600"/>
                </a:solidFill>
                <a:ea typeface="楷体" panose="02010609060101010101" pitchFamily="49" charset="-122"/>
              </a:rPr>
              <a:t>T</a:t>
            </a:r>
            <a:r>
              <a:rPr lang="en-US" altLang="zh-CN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=100ps</a:t>
            </a:r>
            <a:r>
              <a:rPr lang="zh-CN" altLang="en-US" sz="2400" kern="0" dirty="0">
                <a:solidFill>
                  <a:srgbClr val="FF6600"/>
                </a:solidFill>
                <a:ea typeface="楷体" panose="02010609060101010101" pitchFamily="49" charset="-122"/>
              </a:rPr>
              <a:t>；</a:t>
            </a:r>
            <a:r>
              <a:rPr lang="zh-CN" altLang="en-US" sz="2400" kern="0" dirty="0">
                <a:solidFill>
                  <a:srgbClr val="CC0099"/>
                </a:solidFill>
                <a:ea typeface="楷体" panose="02010609060101010101" pitchFamily="49" charset="-122"/>
              </a:rPr>
              <a:t>任务数</a:t>
            </a:r>
            <a:r>
              <a:rPr lang="en-US" altLang="zh-CN" sz="2400" i="1" kern="0" dirty="0">
                <a:solidFill>
                  <a:srgbClr val="CC0099"/>
                </a:solidFill>
                <a:ea typeface="楷体" panose="02010609060101010101" pitchFamily="49" charset="-122"/>
              </a:rPr>
              <a:t>n</a:t>
            </a:r>
            <a:r>
              <a:rPr lang="en-US" altLang="zh-CN" sz="2400" kern="0" dirty="0">
                <a:solidFill>
                  <a:srgbClr val="CC0099"/>
                </a:solidFill>
                <a:ea typeface="楷体" panose="02010609060101010101" pitchFamily="49" charset="-122"/>
              </a:rPr>
              <a:t>=50</a:t>
            </a:r>
            <a:r>
              <a:rPr lang="en-US" altLang="zh-CN" sz="2400" b="0" kern="0" dirty="0">
                <a:solidFill>
                  <a:srgbClr val="CC0099"/>
                </a:solidFill>
                <a:latin typeface="Arial" panose="020B0604020202090204"/>
                <a:ea typeface="楷体" panose="02010609060101010101" pitchFamily="49" charset="-122"/>
                <a:cs typeface="Arial" panose="020B0604020202090204" pitchFamily="34" charset="0"/>
              </a:rPr>
              <a:t>x</a:t>
            </a:r>
            <a:r>
              <a:rPr lang="en-US" altLang="zh-CN" sz="2400" kern="0" dirty="0">
                <a:solidFill>
                  <a:srgbClr val="CC0099"/>
                </a:solidFill>
                <a:ea typeface="楷体" panose="02010609060101010101" pitchFamily="49" charset="-122"/>
              </a:rPr>
              <a:t>10</a:t>
            </a:r>
            <a:r>
              <a:rPr lang="zh-CN" altLang="en-US" sz="2400" kern="0" dirty="0">
                <a:solidFill>
                  <a:srgbClr val="CC0099"/>
                </a:solidFill>
                <a:ea typeface="楷体" panose="02010609060101010101" pitchFamily="49" charset="-122"/>
              </a:rPr>
              <a:t>。</a:t>
            </a:r>
            <a:endParaRPr lang="en-US" altLang="zh-CN" sz="2400" kern="0" dirty="0">
              <a:solidFill>
                <a:srgbClr val="CC0099"/>
              </a:solidFill>
              <a:ea typeface="楷体" panose="02010609060101010101" pitchFamily="49" charset="-122"/>
            </a:endParaRPr>
          </a:p>
        </p:txBody>
      </p:sp>
      <p:sp>
        <p:nvSpPr>
          <p:cNvPr id="361" name="Rectangle 3"/>
          <p:cNvSpPr txBox="1">
            <a:spLocks noChangeArrowheads="1"/>
          </p:cNvSpPr>
          <p:nvPr/>
        </p:nvSpPr>
        <p:spPr bwMode="auto">
          <a:xfrm>
            <a:off x="321154" y="2574467"/>
            <a:ext cx="8714896" cy="8551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T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</a:rPr>
              <a:t>50</a:t>
            </a:r>
            <a:r>
              <a:rPr lang="en-US" altLang="zh-CN" sz="2400" b="0" kern="0" baseline="-30000" dirty="0">
                <a:solidFill>
                  <a:srgbClr val="000000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2400" kern="0" baseline="-30000" dirty="0">
                <a:solidFill>
                  <a:srgbClr val="000000"/>
                </a:solidFill>
                <a:ea typeface="楷体_GB2312"/>
                <a:cs typeface="Arial" panose="020B0604020202090204" pitchFamily="34" charset="0"/>
              </a:rPr>
              <a:t>10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10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 = 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[</a:t>
            </a:r>
            <a:r>
              <a:rPr lang="en-US" altLang="zh-CN" sz="2400" kern="0" dirty="0">
                <a:solidFill>
                  <a:srgbClr val="FF0000"/>
                </a:solidFill>
                <a:ea typeface="楷体_GB2312"/>
              </a:rPr>
              <a:t>10</a:t>
            </a:r>
            <a:r>
              <a:rPr lang="en-US" altLang="zh-CN" sz="2400" b="0" kern="0" dirty="0">
                <a:solidFill>
                  <a:srgbClr val="FF0000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2400" kern="0" dirty="0">
                <a:solidFill>
                  <a:srgbClr val="FF0000"/>
                </a:solidFill>
                <a:ea typeface="楷体_GB2312"/>
              </a:rPr>
              <a:t>100ps 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+</a:t>
            </a:r>
            <a:r>
              <a:rPr lang="en-US" altLang="zh-CN" sz="2400" kern="0" dirty="0">
                <a:solidFill>
                  <a:srgbClr val="0000FF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00FF"/>
                </a:solidFill>
                <a:ea typeface="楷体_GB2312"/>
              </a:rPr>
              <a:t>50</a:t>
            </a:r>
            <a:r>
              <a:rPr lang="en-US" altLang="zh-CN" sz="2400" b="0" kern="0" dirty="0">
                <a:solidFill>
                  <a:srgbClr val="0000FF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2400" kern="0" dirty="0">
                <a:solidFill>
                  <a:srgbClr val="0000FF"/>
                </a:solidFill>
                <a:ea typeface="楷体_GB2312"/>
              </a:rPr>
              <a:t>10-1</a:t>
            </a:r>
            <a:r>
              <a:rPr lang="en-US" altLang="zh-CN" sz="2400" kern="0" dirty="0">
                <a:solidFill>
                  <a:srgbClr val="0000FF"/>
                </a:solidFill>
                <a:latin typeface="宋体" pitchFamily="2" charset="-122"/>
              </a:rPr>
              <a:t>)</a:t>
            </a:r>
            <a:r>
              <a:rPr lang="en-US" altLang="zh-CN" sz="2400" b="0" kern="0" dirty="0">
                <a:solidFill>
                  <a:srgbClr val="0000FF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2400" kern="0" dirty="0">
                <a:solidFill>
                  <a:srgbClr val="0000FF"/>
                </a:solidFill>
                <a:ea typeface="楷体_GB2312"/>
              </a:rPr>
              <a:t>100ps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]</a:t>
            </a:r>
            <a:r>
              <a:rPr lang="en-US" altLang="zh-CN" sz="2400" kern="0" dirty="0">
                <a:solidFill>
                  <a:srgbClr val="0000FF"/>
                </a:solidFill>
                <a:ea typeface="楷体_GB2312"/>
              </a:rPr>
              <a:t>+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[</a:t>
            </a:r>
            <a:r>
              <a:rPr lang="en-US" altLang="zh-CN" sz="2400" kern="0" dirty="0">
                <a:solidFill>
                  <a:srgbClr val="008000"/>
                </a:solidFill>
                <a:latin typeface="宋体" pitchFamily="2" charset="-122"/>
              </a:rPr>
              <a:t>(</a:t>
            </a:r>
            <a:r>
              <a:rPr lang="en-US" altLang="zh-CN" sz="2400" kern="0" dirty="0">
                <a:solidFill>
                  <a:srgbClr val="008000"/>
                </a:solidFill>
                <a:ea typeface="楷体_GB2312"/>
              </a:rPr>
              <a:t>10-1</a:t>
            </a:r>
            <a:r>
              <a:rPr lang="en-US" altLang="zh-CN" sz="2400" kern="0" dirty="0">
                <a:solidFill>
                  <a:srgbClr val="008000"/>
                </a:solidFill>
                <a:latin typeface="宋体" pitchFamily="2" charset="-122"/>
              </a:rPr>
              <a:t>)</a:t>
            </a:r>
            <a:r>
              <a:rPr lang="en-US" altLang="zh-CN" sz="2400" b="0" kern="0" dirty="0">
                <a:solidFill>
                  <a:srgbClr val="008000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1400" b="0" kern="0" dirty="0">
                <a:solidFill>
                  <a:srgbClr val="008000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 </a:t>
            </a:r>
            <a:r>
              <a:rPr lang="en-US" altLang="zh-CN" sz="2400" kern="0" dirty="0">
                <a:solidFill>
                  <a:srgbClr val="008000"/>
                </a:solidFill>
                <a:ea typeface="楷体_GB2312"/>
              </a:rPr>
              <a:t>100ps</a:t>
            </a:r>
            <a:r>
              <a:rPr lang="en-US" altLang="zh-CN" sz="1400" b="0" kern="0" dirty="0">
                <a:solidFill>
                  <a:srgbClr val="008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b="0" kern="0" dirty="0">
                <a:solidFill>
                  <a:srgbClr val="008000"/>
                </a:solidFill>
                <a:latin typeface="Arial" panose="020B0604020202090204" pitchFamily="34" charset="0"/>
                <a:ea typeface="楷体_GB2312"/>
                <a:cs typeface="Arial" panose="020B0604020202090204" pitchFamily="34" charset="0"/>
              </a:rPr>
              <a:t>x</a:t>
            </a:r>
            <a:r>
              <a:rPr lang="en-US" altLang="zh-CN" sz="1400" b="0" kern="0" dirty="0">
                <a:solidFill>
                  <a:srgbClr val="008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kern="0" dirty="0">
                <a:solidFill>
                  <a:srgbClr val="008000"/>
                </a:solidFill>
                <a:ea typeface="楷体_GB2312"/>
              </a:rPr>
              <a:t>50</a:t>
            </a: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]</a:t>
            </a:r>
            <a:endParaRPr lang="en-US" altLang="zh-CN" sz="2400" kern="0" dirty="0">
              <a:solidFill>
                <a:srgbClr val="000000"/>
              </a:solidFill>
              <a:latin typeface="宋体" pitchFamily="2" charset="-122"/>
            </a:endParaRPr>
          </a:p>
          <a:p>
            <a:pPr marL="0" indent="0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rgbClr val="000000"/>
                </a:solidFill>
                <a:latin typeface="宋体" pitchFamily="2" charset="-122"/>
              </a:rPr>
              <a:t>         </a:t>
            </a:r>
            <a:r>
              <a:rPr lang="en-US" altLang="zh-CN" sz="2400" kern="0" dirty="0">
                <a:solidFill>
                  <a:srgbClr val="000000"/>
                </a:solidFill>
                <a:ea typeface="楷体_GB2312"/>
              </a:rPr>
              <a:t>= 50900ps + 45000ps = 95900ps</a:t>
            </a:r>
            <a:endParaRPr lang="en-US" altLang="zh-CN" sz="2400" kern="0" dirty="0">
              <a:solidFill>
                <a:srgbClr val="000000"/>
              </a:solidFill>
              <a:ea typeface="楷体_GB2312"/>
            </a:endParaRPr>
          </a:p>
        </p:txBody>
      </p:sp>
      <p:sp>
        <p:nvSpPr>
          <p:cNvPr id="362" name="矩形 361"/>
          <p:cNvSpPr/>
          <p:nvPr/>
        </p:nvSpPr>
        <p:spPr bwMode="auto">
          <a:xfrm>
            <a:off x="321154" y="2180492"/>
            <a:ext cx="8643334" cy="1371600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3" name="右大括号 362"/>
          <p:cNvSpPr/>
          <p:nvPr/>
        </p:nvSpPr>
        <p:spPr bwMode="auto">
          <a:xfrm rot="5400000">
            <a:off x="7194000" y="2208858"/>
            <a:ext cx="216024" cy="1802423"/>
          </a:xfrm>
          <a:prstGeom prst="rightBrace">
            <a:avLst>
              <a:gd name="adj1" fmla="val 41911"/>
              <a:gd name="adj2" fmla="val 50000"/>
            </a:avLst>
          </a:prstGeom>
          <a:solidFill>
            <a:srgbClr val="FFFFFF"/>
          </a:solidFill>
          <a:ln w="190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4" name="矩形 363"/>
          <p:cNvSpPr/>
          <p:nvPr/>
        </p:nvSpPr>
        <p:spPr>
          <a:xfrm>
            <a:off x="6586552" y="3125793"/>
            <a:ext cx="14221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</a:rPr>
              <a:t>气泡时间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</a:endParaRPr>
          </a:p>
        </p:txBody>
      </p:sp>
      <p:sp>
        <p:nvSpPr>
          <p:cNvPr id="365" name="矩形 364"/>
          <p:cNvSpPr/>
          <p:nvPr/>
        </p:nvSpPr>
        <p:spPr bwMode="auto">
          <a:xfrm>
            <a:off x="2259624" y="3656611"/>
            <a:ext cx="2096354" cy="838302"/>
          </a:xfrm>
          <a:prstGeom prst="rect">
            <a:avLst/>
          </a:prstGeom>
          <a:solidFill>
            <a:srgbClr val="FFCC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366" name="Object 4"/>
          <p:cNvGraphicFramePr>
            <a:graphicFrameLocks noChangeAspect="1"/>
          </p:cNvGraphicFramePr>
          <p:nvPr/>
        </p:nvGraphicFramePr>
        <p:xfrm>
          <a:off x="2250380" y="3571344"/>
          <a:ext cx="66421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8" name="公式" r:id="rId1" imgW="83515200" imgH="10972800" progId="Equation.3">
                  <p:embed/>
                </p:oleObj>
              </mc:Choice>
              <mc:Fallback>
                <p:oleObj name="公式" r:id="rId1" imgW="83515200" imgH="1097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380" y="3571344"/>
                        <a:ext cx="6642100" cy="881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" name="Rectangle 3"/>
          <p:cNvSpPr txBox="1">
            <a:spLocks noChangeArrowheads="1"/>
          </p:cNvSpPr>
          <p:nvPr/>
        </p:nvSpPr>
        <p:spPr bwMode="auto">
          <a:xfrm>
            <a:off x="321154" y="3725855"/>
            <a:ext cx="2664296" cy="23674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000000"/>
                </a:solidFill>
                <a:ea typeface="楷体" panose="02010609060101010101" pitchFamily="49" charset="-122"/>
              </a:rPr>
              <a:t>实际吞吐率为</a:t>
            </a:r>
            <a:endParaRPr lang="zh-CN" altLang="en-US" sz="24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sz="18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sz="18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000000"/>
                </a:solidFill>
                <a:ea typeface="楷体" panose="02010609060101010101" pitchFamily="49" charset="-122"/>
              </a:rPr>
              <a:t>加速比为</a:t>
            </a:r>
            <a:endParaRPr lang="zh-CN" altLang="en-US" sz="24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en-US" altLang="zh-CN" sz="15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sz="1500" kern="0" dirty="0">
              <a:solidFill>
                <a:srgbClr val="000000"/>
              </a:solidFill>
              <a:ea typeface="楷体" panose="02010609060101010101" pitchFamily="49" charset="-122"/>
            </a:endParaRPr>
          </a:p>
          <a:p>
            <a:pPr marL="0" indent="0" algn="just">
              <a:spcBef>
                <a:spcPct val="10000"/>
              </a:spcBef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400" kern="0" dirty="0">
                <a:solidFill>
                  <a:srgbClr val="000000"/>
                </a:solidFill>
                <a:ea typeface="楷体" panose="02010609060101010101" pitchFamily="49" charset="-122"/>
              </a:rPr>
              <a:t>效率为</a:t>
            </a:r>
            <a:endParaRPr lang="zh-CN" altLang="en-US" sz="2400" kern="0" dirty="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sp>
        <p:nvSpPr>
          <p:cNvPr id="368" name="矩形 367"/>
          <p:cNvSpPr/>
          <p:nvPr/>
        </p:nvSpPr>
        <p:spPr bwMode="auto">
          <a:xfrm>
            <a:off x="321154" y="3649106"/>
            <a:ext cx="8643334" cy="845808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69" name="矩形 368"/>
          <p:cNvSpPr/>
          <p:nvPr/>
        </p:nvSpPr>
        <p:spPr bwMode="auto">
          <a:xfrm>
            <a:off x="1644163" y="4586957"/>
            <a:ext cx="2022230" cy="838302"/>
          </a:xfrm>
          <a:prstGeom prst="rect">
            <a:avLst/>
          </a:prstGeom>
          <a:solidFill>
            <a:srgbClr val="FFCC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0" name="矩形 369"/>
          <p:cNvSpPr/>
          <p:nvPr/>
        </p:nvSpPr>
        <p:spPr bwMode="auto">
          <a:xfrm>
            <a:off x="1345223" y="5519574"/>
            <a:ext cx="2954215" cy="838302"/>
          </a:xfrm>
          <a:prstGeom prst="rect">
            <a:avLst/>
          </a:prstGeom>
          <a:solidFill>
            <a:srgbClr val="FFCCFF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aphicFrame>
        <p:nvGraphicFramePr>
          <p:cNvPr id="371" name="Object 4"/>
          <p:cNvGraphicFramePr>
            <a:graphicFrameLocks noChangeAspect="1"/>
          </p:cNvGraphicFramePr>
          <p:nvPr/>
        </p:nvGraphicFramePr>
        <p:xfrm>
          <a:off x="1682888" y="4532152"/>
          <a:ext cx="49212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" name="公式" r:id="rId3" imgW="58521600" imgH="10972800" progId="Equation.3">
                  <p:embed/>
                </p:oleObj>
              </mc:Choice>
              <mc:Fallback>
                <p:oleObj name="公式" r:id="rId3" imgW="58521600" imgH="1097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888" y="4532152"/>
                        <a:ext cx="4921250" cy="9318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2" name="Object 4"/>
          <p:cNvGraphicFramePr>
            <a:graphicFrameLocks noChangeAspect="1"/>
          </p:cNvGraphicFramePr>
          <p:nvPr/>
        </p:nvGraphicFramePr>
        <p:xfrm>
          <a:off x="1379652" y="5443538"/>
          <a:ext cx="691038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" name="公式" r:id="rId5" imgW="82905600" imgH="10972800" progId="Equation.3">
                  <p:embed/>
                </p:oleObj>
              </mc:Choice>
              <mc:Fallback>
                <p:oleObj name="公式" r:id="rId5" imgW="82905600" imgH="1097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652" y="5443538"/>
                        <a:ext cx="6910388" cy="922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3" name="矩形 372"/>
          <p:cNvSpPr/>
          <p:nvPr/>
        </p:nvSpPr>
        <p:spPr bwMode="auto">
          <a:xfrm>
            <a:off x="321154" y="4584618"/>
            <a:ext cx="6411086" cy="849623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4" name="矩形 373"/>
          <p:cNvSpPr/>
          <p:nvPr/>
        </p:nvSpPr>
        <p:spPr bwMode="auto">
          <a:xfrm>
            <a:off x="321153" y="5516591"/>
            <a:ext cx="8067271" cy="849623"/>
          </a:xfrm>
          <a:prstGeom prst="rect">
            <a:avLst/>
          </a:pr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动作按钮: 后退或前一项 2">
            <a:hlinkClick r:id="" action="ppaction://hlinkshowjump?jump=previousslide" highlightClick="1"/>
          </p:cNvPr>
          <p:cNvSpPr/>
          <p:nvPr/>
        </p:nvSpPr>
        <p:spPr bwMode="auto">
          <a:xfrm>
            <a:off x="8561558" y="6021288"/>
            <a:ext cx="431602" cy="344587"/>
          </a:xfrm>
          <a:prstGeom prst="actionButtonBackPrevious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375" name="动作按钮: 转到主页 374">
            <a:hlinkClick r:id="rId7" action="ppaction://hlinksldjump" highlightClick="1"/>
          </p:cNvPr>
          <p:cNvSpPr>
            <a:spLocks noChangeAspect="1"/>
          </p:cNvSpPr>
          <p:nvPr/>
        </p:nvSpPr>
        <p:spPr bwMode="auto">
          <a:xfrm>
            <a:off x="8546498" y="5499003"/>
            <a:ext cx="446662" cy="446662"/>
          </a:xfrm>
          <a:prstGeom prst="actionButtonHom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" grpId="0"/>
      <p:bldP spid="360" grpId="0"/>
      <p:bldP spid="361" grpId="0"/>
      <p:bldP spid="362" grpId="0" animBg="1"/>
      <p:bldP spid="363" grpId="0" animBg="1"/>
      <p:bldP spid="364" grpId="0"/>
      <p:bldP spid="365" grpId="0" animBg="1"/>
      <p:bldP spid="367" grpId="0"/>
      <p:bldP spid="368" grpId="0" animBg="1"/>
      <p:bldP spid="369" grpId="0" animBg="1"/>
      <p:bldP spid="370" grpId="0" animBg="1"/>
      <p:bldP spid="373" grpId="0" animBg="1"/>
      <p:bldP spid="37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r>
              <a:rPr lang="en-US" altLang="zh-CN"/>
              <a:t>		</a:t>
            </a:r>
            <a:r>
              <a:rPr lang="en-US" altLang="zh-CN">
                <a:ea typeface="黑体" pitchFamily="2" charset="-122"/>
              </a:rPr>
              <a:t> </a:t>
            </a:r>
            <a:r>
              <a:rPr lang="en-US" altLang="zh-CN">
                <a:solidFill>
                  <a:srgbClr val="FF6600"/>
                </a:solidFill>
                <a:ea typeface="黑体" pitchFamily="2" charset="-122"/>
              </a:rPr>
              <a:t>P321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ea typeface="黑体" pitchFamily="2" charset="-122"/>
              </a:rPr>
              <a:t>7.7</a:t>
            </a:r>
            <a:endParaRPr lang="zh-CN" altLang="en-US">
              <a:solidFill>
                <a:srgbClr val="FF66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323528" y="548928"/>
            <a:ext cx="8712968" cy="20882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kern="0">
                <a:ea typeface="宋体" pitchFamily="2" charset="-122"/>
              </a:rPr>
              <a:t>某</a:t>
            </a:r>
            <a:r>
              <a:rPr lang="en-US" altLang="zh-CN" kern="0">
                <a:ea typeface="宋体" pitchFamily="2" charset="-122"/>
              </a:rPr>
              <a:t>CPU</a:t>
            </a:r>
            <a:r>
              <a:rPr lang="zh-CN" altLang="en-US" kern="0">
                <a:ea typeface="宋体" pitchFamily="2" charset="-122"/>
              </a:rPr>
              <a:t>内有</a:t>
            </a:r>
            <a:r>
              <a:rPr lang="en-US" altLang="zh-CN" kern="0">
                <a:solidFill>
                  <a:srgbClr val="0000FF"/>
                </a:solidFill>
                <a:ea typeface="宋体" pitchFamily="2" charset="-122"/>
              </a:rPr>
              <a:t>5</a:t>
            </a:r>
            <a:r>
              <a:rPr lang="zh-CN" altLang="en-US" kern="0">
                <a:solidFill>
                  <a:srgbClr val="0000FF"/>
                </a:solidFill>
                <a:ea typeface="宋体" pitchFamily="2" charset="-122"/>
              </a:rPr>
              <a:t>级</a:t>
            </a:r>
            <a:r>
              <a:rPr lang="zh-CN" altLang="en-US" kern="0">
                <a:solidFill>
                  <a:srgbClr val="FF0066"/>
                </a:solidFill>
                <a:ea typeface="宋体" pitchFamily="2" charset="-122"/>
              </a:rPr>
              <a:t>指令流水线</a:t>
            </a:r>
            <a:r>
              <a:rPr lang="zh-CN" altLang="en-US" kern="0">
                <a:ea typeface="宋体" pitchFamily="2" charset="-122"/>
              </a:rPr>
              <a:t>，各级处理时间分别为</a:t>
            </a:r>
            <a:r>
              <a:rPr lang="en-US" altLang="zh-CN" kern="0">
                <a:ea typeface="宋体" pitchFamily="2" charset="-122"/>
              </a:rPr>
              <a:t>10ns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en-US" altLang="zh-CN" kern="0">
                <a:ea typeface="宋体" pitchFamily="2" charset="-122"/>
              </a:rPr>
              <a:t>5ns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en-US" altLang="zh-CN" kern="0">
                <a:ea typeface="宋体" pitchFamily="2" charset="-122"/>
              </a:rPr>
              <a:t>5ns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en-US" altLang="zh-CN" kern="0">
                <a:ea typeface="宋体" pitchFamily="2" charset="-122"/>
              </a:rPr>
              <a:t>10ns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en-US" altLang="zh-CN" kern="0">
                <a:ea typeface="宋体" pitchFamily="2" charset="-122"/>
              </a:rPr>
              <a:t>5ns</a:t>
            </a:r>
            <a:r>
              <a:rPr lang="zh-CN" altLang="en-US" kern="0">
                <a:ea typeface="宋体" pitchFamily="2" charset="-122"/>
              </a:rPr>
              <a:t>，采用</a:t>
            </a:r>
            <a:r>
              <a:rPr lang="zh-CN" altLang="en-US" kern="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异步时钟控制</a:t>
            </a:r>
            <a:r>
              <a:rPr lang="zh-CN" altLang="en-US" kern="0">
                <a:ea typeface="宋体" pitchFamily="2" charset="-122"/>
              </a:rPr>
              <a:t>。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① </a:t>
            </a:r>
            <a:r>
              <a:rPr lang="zh-CN" altLang="en-US" kern="0">
                <a:ea typeface="宋体" pitchFamily="2" charset="-122"/>
              </a:rPr>
              <a:t>执行</a:t>
            </a:r>
            <a:r>
              <a:rPr lang="en-US" altLang="zh-CN" kern="0">
                <a:solidFill>
                  <a:srgbClr val="0000FF"/>
                </a:solidFill>
                <a:ea typeface="宋体" pitchFamily="2" charset="-122"/>
              </a:rPr>
              <a:t>1000</a:t>
            </a:r>
            <a:r>
              <a:rPr lang="zh-CN" altLang="en-US" kern="0">
                <a:solidFill>
                  <a:srgbClr val="0000FF"/>
                </a:solidFill>
                <a:ea typeface="宋体" pitchFamily="2" charset="-122"/>
              </a:rPr>
              <a:t>条</a:t>
            </a:r>
            <a:r>
              <a:rPr lang="zh-CN" altLang="en-US" kern="0">
                <a:ea typeface="宋体" pitchFamily="2" charset="-122"/>
              </a:rPr>
              <a:t>指令，流水线的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吞吐率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加速比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效率</a:t>
            </a:r>
            <a:r>
              <a:rPr lang="zh-CN" altLang="en-US" kern="0">
                <a:ea typeface="宋体" pitchFamily="2" charset="-122"/>
              </a:rPr>
              <a:t>？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② </a:t>
            </a:r>
            <a:r>
              <a:rPr lang="zh-CN" altLang="en-US" kern="0">
                <a:ea typeface="宋体" pitchFamily="2" charset="-122"/>
              </a:rPr>
              <a:t>改进流水线的性能，如何改造？改造后的上述参数？</a:t>
            </a:r>
            <a:endParaRPr lang="zh-CN" altLang="zh-CN" kern="0"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67618" y="2493144"/>
            <a:ext cx="8064822" cy="863848"/>
            <a:chOff x="467618" y="2493144"/>
            <a:chExt cx="8064822" cy="863848"/>
          </a:xfrm>
        </p:grpSpPr>
        <p:sp>
          <p:nvSpPr>
            <p:cNvPr id="7" name="Rectangle 137"/>
            <p:cNvSpPr>
              <a:spLocks noChangeArrowheads="1"/>
            </p:cNvSpPr>
            <p:nvPr/>
          </p:nvSpPr>
          <p:spPr bwMode="auto">
            <a:xfrm>
              <a:off x="1187897" y="2924944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Line 138"/>
            <p:cNvSpPr>
              <a:spLocks noChangeShapeType="1"/>
            </p:cNvSpPr>
            <p:nvPr/>
          </p:nvSpPr>
          <p:spPr bwMode="auto">
            <a:xfrm>
              <a:off x="467618" y="3140968"/>
              <a:ext cx="72027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Rectangle 139"/>
            <p:cNvSpPr>
              <a:spLocks noChangeArrowheads="1"/>
            </p:cNvSpPr>
            <p:nvPr/>
          </p:nvSpPr>
          <p:spPr bwMode="auto">
            <a:xfrm>
              <a:off x="3061221" y="2925192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Line 140"/>
            <p:cNvSpPr>
              <a:spLocks noChangeShapeType="1"/>
            </p:cNvSpPr>
            <p:nvPr/>
          </p:nvSpPr>
          <p:spPr bwMode="auto">
            <a:xfrm>
              <a:off x="2340025" y="3140968"/>
              <a:ext cx="721195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141"/>
            <p:cNvSpPr>
              <a:spLocks noChangeArrowheads="1"/>
            </p:cNvSpPr>
            <p:nvPr/>
          </p:nvSpPr>
          <p:spPr bwMode="auto">
            <a:xfrm>
              <a:off x="4212605" y="2925192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Line 142"/>
            <p:cNvSpPr>
              <a:spLocks noChangeShapeType="1"/>
            </p:cNvSpPr>
            <p:nvPr/>
          </p:nvSpPr>
          <p:spPr bwMode="auto">
            <a:xfrm>
              <a:off x="3636342" y="3142679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Line 144"/>
            <p:cNvSpPr>
              <a:spLocks noChangeShapeType="1"/>
            </p:cNvSpPr>
            <p:nvPr/>
          </p:nvSpPr>
          <p:spPr bwMode="auto">
            <a:xfrm>
              <a:off x="4788298" y="3140968"/>
              <a:ext cx="720080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Rectangle 145"/>
            <p:cNvSpPr>
              <a:spLocks noChangeArrowheads="1"/>
            </p:cNvSpPr>
            <p:nvPr/>
          </p:nvSpPr>
          <p:spPr bwMode="auto">
            <a:xfrm>
              <a:off x="7380585" y="2924944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46"/>
            <p:cNvSpPr>
              <a:spLocks noChangeShapeType="1"/>
            </p:cNvSpPr>
            <p:nvPr/>
          </p:nvSpPr>
          <p:spPr bwMode="auto">
            <a:xfrm flipV="1">
              <a:off x="6660306" y="3140968"/>
              <a:ext cx="720279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Line 147"/>
            <p:cNvSpPr>
              <a:spLocks noChangeShapeType="1"/>
            </p:cNvSpPr>
            <p:nvPr/>
          </p:nvSpPr>
          <p:spPr bwMode="auto">
            <a:xfrm>
              <a:off x="7956177" y="3140720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48"/>
            <p:cNvSpPr>
              <a:spLocks noChangeArrowheads="1"/>
            </p:cNvSpPr>
            <p:nvPr/>
          </p:nvSpPr>
          <p:spPr bwMode="auto">
            <a:xfrm>
              <a:off x="1187897" y="2493392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49"/>
            <p:cNvSpPr>
              <a:spLocks noChangeArrowheads="1"/>
            </p:cNvSpPr>
            <p:nvPr/>
          </p:nvSpPr>
          <p:spPr bwMode="auto">
            <a:xfrm>
              <a:off x="2844131" y="2493392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50"/>
            <p:cNvSpPr>
              <a:spLocks noChangeArrowheads="1"/>
            </p:cNvSpPr>
            <p:nvPr/>
          </p:nvSpPr>
          <p:spPr bwMode="auto">
            <a:xfrm>
              <a:off x="3996259" y="2493392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51"/>
            <p:cNvSpPr>
              <a:spLocks noChangeArrowheads="1"/>
            </p:cNvSpPr>
            <p:nvPr/>
          </p:nvSpPr>
          <p:spPr bwMode="auto">
            <a:xfrm>
              <a:off x="5508674" y="2493392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52"/>
            <p:cNvSpPr>
              <a:spLocks noChangeArrowheads="1"/>
            </p:cNvSpPr>
            <p:nvPr/>
          </p:nvSpPr>
          <p:spPr bwMode="auto">
            <a:xfrm>
              <a:off x="7164561" y="2493144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37"/>
            <p:cNvSpPr>
              <a:spLocks noChangeArrowheads="1"/>
            </p:cNvSpPr>
            <p:nvPr/>
          </p:nvSpPr>
          <p:spPr bwMode="auto">
            <a:xfrm>
              <a:off x="5507905" y="2924944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39353" y="4653136"/>
            <a:ext cx="7992814" cy="1871712"/>
            <a:chOff x="539353" y="4653136"/>
            <a:chExt cx="7992814" cy="1871712"/>
          </a:xfrm>
        </p:grpSpPr>
        <p:sp>
          <p:nvSpPr>
            <p:cNvPr id="24" name="Rectangle 137"/>
            <p:cNvSpPr>
              <a:spLocks noChangeArrowheads="1"/>
            </p:cNvSpPr>
            <p:nvPr/>
          </p:nvSpPr>
          <p:spPr bwMode="auto">
            <a:xfrm>
              <a:off x="1187624" y="5012680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Line 138"/>
            <p:cNvSpPr>
              <a:spLocks noChangeShapeType="1"/>
            </p:cNvSpPr>
            <p:nvPr/>
          </p:nvSpPr>
          <p:spPr bwMode="auto">
            <a:xfrm>
              <a:off x="539353" y="5588992"/>
              <a:ext cx="3602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Rectangle 139"/>
            <p:cNvSpPr>
              <a:spLocks noChangeArrowheads="1"/>
            </p:cNvSpPr>
            <p:nvPr/>
          </p:nvSpPr>
          <p:spPr bwMode="auto">
            <a:xfrm>
              <a:off x="3060948" y="5373216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Rectangle 141"/>
            <p:cNvSpPr>
              <a:spLocks noChangeArrowheads="1"/>
            </p:cNvSpPr>
            <p:nvPr/>
          </p:nvSpPr>
          <p:spPr bwMode="auto">
            <a:xfrm>
              <a:off x="4212332" y="5373216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Line 142"/>
            <p:cNvSpPr>
              <a:spLocks noChangeShapeType="1"/>
            </p:cNvSpPr>
            <p:nvPr/>
          </p:nvSpPr>
          <p:spPr bwMode="auto">
            <a:xfrm>
              <a:off x="3636069" y="5590703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Rectangle 145"/>
            <p:cNvSpPr>
              <a:spLocks noChangeArrowheads="1"/>
            </p:cNvSpPr>
            <p:nvPr/>
          </p:nvSpPr>
          <p:spPr bwMode="auto">
            <a:xfrm>
              <a:off x="7380312" y="5373216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Line 147"/>
            <p:cNvSpPr>
              <a:spLocks noChangeShapeType="1"/>
            </p:cNvSpPr>
            <p:nvPr/>
          </p:nvSpPr>
          <p:spPr bwMode="auto">
            <a:xfrm>
              <a:off x="7955904" y="5588992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Rectangle 148"/>
            <p:cNvSpPr>
              <a:spLocks noChangeArrowheads="1"/>
            </p:cNvSpPr>
            <p:nvPr/>
          </p:nvSpPr>
          <p:spPr bwMode="auto">
            <a:xfrm>
              <a:off x="1187624" y="4653136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Rectangle 149"/>
            <p:cNvSpPr>
              <a:spLocks noChangeArrowheads="1"/>
            </p:cNvSpPr>
            <p:nvPr/>
          </p:nvSpPr>
          <p:spPr bwMode="auto">
            <a:xfrm>
              <a:off x="2843858" y="4941416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Rectangle 150"/>
            <p:cNvSpPr>
              <a:spLocks noChangeArrowheads="1"/>
            </p:cNvSpPr>
            <p:nvPr/>
          </p:nvSpPr>
          <p:spPr bwMode="auto">
            <a:xfrm>
              <a:off x="3995986" y="4941416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Rectangle 151"/>
            <p:cNvSpPr>
              <a:spLocks noChangeArrowheads="1"/>
            </p:cNvSpPr>
            <p:nvPr/>
          </p:nvSpPr>
          <p:spPr bwMode="auto">
            <a:xfrm>
              <a:off x="5580409" y="4653136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Rectangle 152"/>
            <p:cNvSpPr>
              <a:spLocks noChangeArrowheads="1"/>
            </p:cNvSpPr>
            <p:nvPr/>
          </p:nvSpPr>
          <p:spPr bwMode="auto">
            <a:xfrm>
              <a:off x="7164288" y="4941416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Rectangle 137"/>
            <p:cNvSpPr>
              <a:spLocks noChangeArrowheads="1"/>
            </p:cNvSpPr>
            <p:nvPr/>
          </p:nvSpPr>
          <p:spPr bwMode="auto">
            <a:xfrm>
              <a:off x="5508104" y="5012680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Rectangle 137"/>
            <p:cNvSpPr>
              <a:spLocks noChangeArrowheads="1"/>
            </p:cNvSpPr>
            <p:nvPr/>
          </p:nvSpPr>
          <p:spPr bwMode="auto">
            <a:xfrm>
              <a:off x="1187624" y="5733256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137"/>
            <p:cNvSpPr>
              <a:spLocks noChangeArrowheads="1"/>
            </p:cNvSpPr>
            <p:nvPr/>
          </p:nvSpPr>
          <p:spPr bwMode="auto">
            <a:xfrm>
              <a:off x="5508104" y="5733256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Line 138"/>
            <p:cNvSpPr>
              <a:spLocks noChangeShapeType="1"/>
            </p:cNvSpPr>
            <p:nvPr/>
          </p:nvSpPr>
          <p:spPr bwMode="auto">
            <a:xfrm>
              <a:off x="899592" y="5228952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Line 138"/>
            <p:cNvSpPr>
              <a:spLocks noChangeShapeType="1"/>
            </p:cNvSpPr>
            <p:nvPr/>
          </p:nvSpPr>
          <p:spPr bwMode="auto">
            <a:xfrm>
              <a:off x="899592" y="5949528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rot="5400000">
              <a:off x="539552" y="5588992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Line 138"/>
            <p:cNvSpPr>
              <a:spLocks noChangeShapeType="1"/>
            </p:cNvSpPr>
            <p:nvPr/>
          </p:nvSpPr>
          <p:spPr bwMode="auto">
            <a:xfrm>
              <a:off x="2339752" y="5228952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Line 138"/>
            <p:cNvSpPr>
              <a:spLocks noChangeShapeType="1"/>
            </p:cNvSpPr>
            <p:nvPr/>
          </p:nvSpPr>
          <p:spPr bwMode="auto">
            <a:xfrm>
              <a:off x="2339752" y="5949528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 bwMode="auto">
            <a:xfrm rot="5400000">
              <a:off x="2267744" y="5588992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Line 138"/>
            <p:cNvSpPr>
              <a:spLocks noChangeShapeType="1"/>
            </p:cNvSpPr>
            <p:nvPr/>
          </p:nvSpPr>
          <p:spPr bwMode="auto">
            <a:xfrm>
              <a:off x="2627784" y="5588992"/>
              <a:ext cx="4320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Line 138"/>
            <p:cNvSpPr>
              <a:spLocks noChangeShapeType="1"/>
            </p:cNvSpPr>
            <p:nvPr/>
          </p:nvSpPr>
          <p:spPr bwMode="auto">
            <a:xfrm>
              <a:off x="4787825" y="5588992"/>
              <a:ext cx="43224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Line 138"/>
            <p:cNvSpPr>
              <a:spLocks noChangeShapeType="1"/>
            </p:cNvSpPr>
            <p:nvPr/>
          </p:nvSpPr>
          <p:spPr bwMode="auto">
            <a:xfrm>
              <a:off x="5220072" y="5228952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Line 138"/>
            <p:cNvSpPr>
              <a:spLocks noChangeShapeType="1"/>
            </p:cNvSpPr>
            <p:nvPr/>
          </p:nvSpPr>
          <p:spPr bwMode="auto">
            <a:xfrm>
              <a:off x="5220072" y="5949528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 rot="5400000">
              <a:off x="4860032" y="5588992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0" name="Line 138"/>
            <p:cNvSpPr>
              <a:spLocks noChangeShapeType="1"/>
            </p:cNvSpPr>
            <p:nvPr/>
          </p:nvSpPr>
          <p:spPr bwMode="auto">
            <a:xfrm>
              <a:off x="6660232" y="5228952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Line 138"/>
            <p:cNvSpPr>
              <a:spLocks noChangeShapeType="1"/>
            </p:cNvSpPr>
            <p:nvPr/>
          </p:nvSpPr>
          <p:spPr bwMode="auto">
            <a:xfrm>
              <a:off x="6660232" y="5949528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52" name="直接连接符 51"/>
            <p:cNvCxnSpPr/>
            <p:nvPr/>
          </p:nvCxnSpPr>
          <p:spPr bwMode="auto">
            <a:xfrm rot="5400000">
              <a:off x="6588224" y="5588992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Line 138"/>
            <p:cNvSpPr>
              <a:spLocks noChangeShapeType="1"/>
            </p:cNvSpPr>
            <p:nvPr/>
          </p:nvSpPr>
          <p:spPr bwMode="auto">
            <a:xfrm>
              <a:off x="6948264" y="5588992"/>
              <a:ext cx="4320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Rectangle 148"/>
            <p:cNvSpPr>
              <a:spLocks noChangeArrowheads="1"/>
            </p:cNvSpPr>
            <p:nvPr/>
          </p:nvSpPr>
          <p:spPr bwMode="auto">
            <a:xfrm>
              <a:off x="1187624" y="6093048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Rectangle 151"/>
            <p:cNvSpPr>
              <a:spLocks noChangeArrowheads="1"/>
            </p:cNvSpPr>
            <p:nvPr/>
          </p:nvSpPr>
          <p:spPr bwMode="auto">
            <a:xfrm>
              <a:off x="5580409" y="6093048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67345" y="3573016"/>
            <a:ext cx="8065095" cy="1080120"/>
            <a:chOff x="467345" y="3573016"/>
            <a:chExt cx="8065095" cy="1080120"/>
          </a:xfrm>
        </p:grpSpPr>
        <p:sp>
          <p:nvSpPr>
            <p:cNvPr id="57" name="Rectangle 139"/>
            <p:cNvSpPr>
              <a:spLocks noChangeArrowheads="1"/>
            </p:cNvSpPr>
            <p:nvPr/>
          </p:nvSpPr>
          <p:spPr bwMode="auto">
            <a:xfrm>
              <a:off x="1043409" y="4005560"/>
              <a:ext cx="57494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Rectangle 139"/>
            <p:cNvSpPr>
              <a:spLocks noChangeArrowheads="1"/>
            </p:cNvSpPr>
            <p:nvPr/>
          </p:nvSpPr>
          <p:spPr bwMode="auto">
            <a:xfrm>
              <a:off x="1907505" y="4005560"/>
              <a:ext cx="57494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Line 138"/>
            <p:cNvSpPr>
              <a:spLocks noChangeShapeType="1"/>
            </p:cNvSpPr>
            <p:nvPr/>
          </p:nvSpPr>
          <p:spPr bwMode="auto">
            <a:xfrm>
              <a:off x="467345" y="422158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Line 138"/>
            <p:cNvSpPr>
              <a:spLocks noChangeShapeType="1"/>
            </p:cNvSpPr>
            <p:nvPr/>
          </p:nvSpPr>
          <p:spPr bwMode="auto">
            <a:xfrm>
              <a:off x="1619474" y="4221584"/>
              <a:ext cx="2880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Line 138"/>
            <p:cNvSpPr>
              <a:spLocks noChangeShapeType="1"/>
            </p:cNvSpPr>
            <p:nvPr/>
          </p:nvSpPr>
          <p:spPr bwMode="auto">
            <a:xfrm>
              <a:off x="2483569" y="422158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Rectangle 139"/>
            <p:cNvSpPr>
              <a:spLocks noChangeArrowheads="1"/>
            </p:cNvSpPr>
            <p:nvPr/>
          </p:nvSpPr>
          <p:spPr bwMode="auto">
            <a:xfrm>
              <a:off x="3059633" y="4005312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Rectangle 141"/>
            <p:cNvSpPr>
              <a:spLocks noChangeArrowheads="1"/>
            </p:cNvSpPr>
            <p:nvPr/>
          </p:nvSpPr>
          <p:spPr bwMode="auto">
            <a:xfrm>
              <a:off x="4211761" y="4005312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Line 142"/>
            <p:cNvSpPr>
              <a:spLocks noChangeShapeType="1"/>
            </p:cNvSpPr>
            <p:nvPr/>
          </p:nvSpPr>
          <p:spPr bwMode="auto">
            <a:xfrm>
              <a:off x="3635498" y="4222799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Line 142"/>
            <p:cNvSpPr>
              <a:spLocks noChangeShapeType="1"/>
            </p:cNvSpPr>
            <p:nvPr/>
          </p:nvSpPr>
          <p:spPr bwMode="auto">
            <a:xfrm>
              <a:off x="4787825" y="4221336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Rectangle 139"/>
            <p:cNvSpPr>
              <a:spLocks noChangeArrowheads="1"/>
            </p:cNvSpPr>
            <p:nvPr/>
          </p:nvSpPr>
          <p:spPr bwMode="auto">
            <a:xfrm>
              <a:off x="5363889" y="4005312"/>
              <a:ext cx="57494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Rectangle 139"/>
            <p:cNvSpPr>
              <a:spLocks noChangeArrowheads="1"/>
            </p:cNvSpPr>
            <p:nvPr/>
          </p:nvSpPr>
          <p:spPr bwMode="auto">
            <a:xfrm>
              <a:off x="6227985" y="4005312"/>
              <a:ext cx="57494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Line 138"/>
            <p:cNvSpPr>
              <a:spLocks noChangeShapeType="1"/>
            </p:cNvSpPr>
            <p:nvPr/>
          </p:nvSpPr>
          <p:spPr bwMode="auto">
            <a:xfrm>
              <a:off x="5939953" y="4221336"/>
              <a:ext cx="2880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Rectangle 145"/>
            <p:cNvSpPr>
              <a:spLocks noChangeArrowheads="1"/>
            </p:cNvSpPr>
            <p:nvPr/>
          </p:nvSpPr>
          <p:spPr bwMode="auto">
            <a:xfrm>
              <a:off x="7380113" y="4005312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Line 146"/>
            <p:cNvSpPr>
              <a:spLocks noChangeShapeType="1"/>
            </p:cNvSpPr>
            <p:nvPr/>
          </p:nvSpPr>
          <p:spPr bwMode="auto">
            <a:xfrm>
              <a:off x="6803850" y="4222799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Line 147"/>
            <p:cNvSpPr>
              <a:spLocks noChangeShapeType="1"/>
            </p:cNvSpPr>
            <p:nvPr/>
          </p:nvSpPr>
          <p:spPr bwMode="auto">
            <a:xfrm>
              <a:off x="7956177" y="4221336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Rectangle 152"/>
            <p:cNvSpPr>
              <a:spLocks noChangeArrowheads="1"/>
            </p:cNvSpPr>
            <p:nvPr/>
          </p:nvSpPr>
          <p:spPr bwMode="auto">
            <a:xfrm>
              <a:off x="899393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Rectangle 152"/>
            <p:cNvSpPr>
              <a:spLocks noChangeArrowheads="1"/>
            </p:cNvSpPr>
            <p:nvPr/>
          </p:nvSpPr>
          <p:spPr bwMode="auto">
            <a:xfrm>
              <a:off x="1763489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Rectangle 152"/>
            <p:cNvSpPr>
              <a:spLocks noChangeArrowheads="1"/>
            </p:cNvSpPr>
            <p:nvPr/>
          </p:nvSpPr>
          <p:spPr bwMode="auto">
            <a:xfrm>
              <a:off x="2915617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Rectangle 152"/>
            <p:cNvSpPr>
              <a:spLocks noChangeArrowheads="1"/>
            </p:cNvSpPr>
            <p:nvPr/>
          </p:nvSpPr>
          <p:spPr bwMode="auto">
            <a:xfrm>
              <a:off x="4067944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Rectangle 152"/>
            <p:cNvSpPr>
              <a:spLocks noChangeArrowheads="1"/>
            </p:cNvSpPr>
            <p:nvPr/>
          </p:nvSpPr>
          <p:spPr bwMode="auto">
            <a:xfrm>
              <a:off x="5220072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Rectangle 152"/>
            <p:cNvSpPr>
              <a:spLocks noChangeArrowheads="1"/>
            </p:cNvSpPr>
            <p:nvPr/>
          </p:nvSpPr>
          <p:spPr bwMode="auto">
            <a:xfrm>
              <a:off x="6084168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Rectangle 152"/>
            <p:cNvSpPr>
              <a:spLocks noChangeArrowheads="1"/>
            </p:cNvSpPr>
            <p:nvPr/>
          </p:nvSpPr>
          <p:spPr bwMode="auto">
            <a:xfrm>
              <a:off x="7236296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矩形 78"/>
            <p:cNvSpPr/>
            <p:nvPr/>
          </p:nvSpPr>
          <p:spPr bwMode="auto">
            <a:xfrm>
              <a:off x="827584" y="3573016"/>
              <a:ext cx="1800200" cy="1080120"/>
            </a:xfrm>
            <a:prstGeom prst="rect">
              <a:avLst/>
            </a:prstGeom>
            <a:noFill/>
            <a:ln w="19050" cap="flat" cmpd="sng" algn="ctr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矩形 79"/>
            <p:cNvSpPr/>
            <p:nvPr/>
          </p:nvSpPr>
          <p:spPr bwMode="auto">
            <a:xfrm>
              <a:off x="5148064" y="3573016"/>
              <a:ext cx="1800200" cy="1080120"/>
            </a:xfrm>
            <a:prstGeom prst="rect">
              <a:avLst/>
            </a:prstGeom>
            <a:noFill/>
            <a:ln w="19050" cap="flat" cmpd="sng" algn="ctr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1" name="文本框 80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r>
              <a:rPr lang="en-US" altLang="zh-CN"/>
              <a:t>		</a:t>
            </a:r>
            <a:r>
              <a:rPr lang="en-US" altLang="zh-CN">
                <a:ea typeface="黑体" pitchFamily="2" charset="-122"/>
              </a:rPr>
              <a:t> </a:t>
            </a:r>
            <a:r>
              <a:rPr lang="en-US" altLang="zh-CN">
                <a:solidFill>
                  <a:srgbClr val="FF6600"/>
                </a:solidFill>
                <a:ea typeface="黑体" pitchFamily="2" charset="-122"/>
              </a:rPr>
              <a:t>P321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ea typeface="黑体" pitchFamily="2" charset="-122"/>
              </a:rPr>
              <a:t>7.7</a:t>
            </a:r>
            <a:endParaRPr lang="zh-CN" altLang="en-US">
              <a:solidFill>
                <a:srgbClr val="FF66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323528" y="548928"/>
            <a:ext cx="8578850" cy="3240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① </a:t>
            </a:r>
            <a:r>
              <a:rPr lang="zh-CN" altLang="en-US" kern="0">
                <a:ea typeface="宋体" pitchFamily="2" charset="-122"/>
              </a:rPr>
              <a:t>执行</a:t>
            </a:r>
            <a:r>
              <a:rPr lang="en-US" altLang="zh-CN" kern="0">
                <a:solidFill>
                  <a:srgbClr val="0000FF"/>
                </a:solidFill>
                <a:ea typeface="宋体" pitchFamily="2" charset="-122"/>
              </a:rPr>
              <a:t>1000</a:t>
            </a:r>
            <a:r>
              <a:rPr lang="zh-CN" altLang="en-US" kern="0">
                <a:solidFill>
                  <a:srgbClr val="0000FF"/>
                </a:solidFill>
                <a:ea typeface="宋体" pitchFamily="2" charset="-122"/>
              </a:rPr>
              <a:t>条</a:t>
            </a:r>
            <a:r>
              <a:rPr lang="zh-CN" altLang="en-US" kern="0">
                <a:ea typeface="宋体" pitchFamily="2" charset="-122"/>
              </a:rPr>
              <a:t>指令，流水线的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吞吐率</a:t>
            </a:r>
            <a:r>
              <a:rPr lang="zh-CN" altLang="en-US" kern="0">
                <a:ea typeface="宋体" pitchFamily="2" charset="-122"/>
              </a:rPr>
              <a:t>、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加速比</a:t>
            </a:r>
            <a:r>
              <a:rPr lang="zh-CN" altLang="en-US" kern="0">
                <a:ea typeface="宋体" pitchFamily="2" charset="-122"/>
              </a:rPr>
              <a:t>？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【</a:t>
            </a:r>
            <a:r>
              <a:rPr lang="zh-CN" altLang="en-US" kern="0">
                <a:ea typeface="宋体" pitchFamily="2" charset="-122"/>
              </a:rPr>
              <a:t>解</a:t>
            </a:r>
            <a:r>
              <a:rPr lang="en-US" altLang="zh-CN" kern="0">
                <a:ea typeface="宋体" pitchFamily="2" charset="-122"/>
              </a:rPr>
              <a:t>】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T</a:t>
            </a:r>
            <a:r>
              <a:rPr lang="en-US" altLang="zh-CN" kern="0" baseline="-25000">
                <a:ea typeface="宋体" pitchFamily="2" charset="-122"/>
              </a:rPr>
              <a:t>1000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1</a:t>
            </a:r>
            <a:r>
              <a:rPr lang="en-US" altLang="zh-CN" kern="0">
                <a:latin typeface="+mn-ea"/>
              </a:rPr>
              <a:t>)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10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10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en-US" altLang="zh-CN" kern="0">
                <a:latin typeface="+mn-ea"/>
              </a:rPr>
              <a:t>)</a:t>
            </a:r>
            <a:r>
              <a:rPr lang="en-US" altLang="zh-CN" kern="0">
                <a:ea typeface="宋体" pitchFamily="2" charset="-122"/>
              </a:rPr>
              <a:t>ns×1000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ea typeface="宋体" pitchFamily="2" charset="-122"/>
              </a:rPr>
              <a:t>35000ns</a:t>
            </a:r>
            <a:r>
              <a:rPr lang="zh-CN" altLang="en-US" kern="0">
                <a:ea typeface="宋体" pitchFamily="2" charset="-122"/>
              </a:rPr>
              <a:t>；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T</a:t>
            </a:r>
            <a:r>
              <a:rPr lang="en-US" altLang="zh-CN" kern="0" baseline="-25000">
                <a:ea typeface="宋体" pitchFamily="2" charset="-122"/>
              </a:rPr>
              <a:t>1000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en-US" altLang="zh-CN" kern="0">
                <a:latin typeface="+mn-ea"/>
              </a:rPr>
              <a:t>)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10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10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5</a:t>
            </a:r>
            <a:r>
              <a:rPr lang="en-US" altLang="zh-CN" kern="0">
                <a:latin typeface="+mn-ea"/>
              </a:rPr>
              <a:t>)</a:t>
            </a:r>
            <a:r>
              <a:rPr lang="en-US" altLang="zh-CN" kern="0">
                <a:ea typeface="宋体" pitchFamily="2" charset="-122"/>
              </a:rPr>
              <a:t>ns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latin typeface="+mn-ea"/>
              </a:rPr>
              <a:t>(</a:t>
            </a:r>
            <a:r>
              <a:rPr lang="en-US" altLang="zh-CN" kern="0">
                <a:ea typeface="宋体" pitchFamily="2" charset="-122"/>
              </a:rPr>
              <a:t>1000</a:t>
            </a:r>
            <a:r>
              <a:rPr lang="zh-CN" altLang="en-US" kern="0">
                <a:ea typeface="宋体" pitchFamily="2" charset="-122"/>
              </a:rPr>
              <a:t>－</a:t>
            </a:r>
            <a:r>
              <a:rPr lang="en-US" altLang="zh-CN" kern="0">
                <a:ea typeface="宋体" pitchFamily="2" charset="-122"/>
              </a:rPr>
              <a:t>1</a:t>
            </a:r>
            <a:r>
              <a:rPr lang="en-US" altLang="zh-CN" kern="0">
                <a:latin typeface="+mn-ea"/>
              </a:rPr>
              <a:t>)</a:t>
            </a:r>
            <a:r>
              <a:rPr lang="en-US" altLang="zh-CN" kern="0">
                <a:ea typeface="宋体" pitchFamily="2" charset="-122"/>
              </a:rPr>
              <a:t>×10ns</a:t>
            </a:r>
            <a:endParaRPr lang="en-US" altLang="zh-CN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             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ea typeface="宋体" pitchFamily="2" charset="-122"/>
              </a:rPr>
              <a:t>35ns</a:t>
            </a:r>
            <a:r>
              <a:rPr lang="zh-CN" altLang="en-US" kern="0">
                <a:ea typeface="宋体" pitchFamily="2" charset="-122"/>
              </a:rPr>
              <a:t>＋</a:t>
            </a:r>
            <a:r>
              <a:rPr lang="en-US" altLang="zh-CN" kern="0">
                <a:ea typeface="宋体" pitchFamily="2" charset="-122"/>
              </a:rPr>
              <a:t>999×10ns </a:t>
            </a:r>
            <a:r>
              <a:rPr lang="zh-CN" altLang="en-US" kern="0">
                <a:ea typeface="宋体" pitchFamily="2" charset="-122"/>
              </a:rPr>
              <a:t>＝</a:t>
            </a:r>
            <a:r>
              <a:rPr lang="en-US" altLang="zh-CN" kern="0">
                <a:ea typeface="宋体" pitchFamily="2" charset="-122"/>
              </a:rPr>
              <a:t>10025ns</a:t>
            </a:r>
            <a:r>
              <a:rPr lang="zh-CN" altLang="en-US" kern="0">
                <a:ea typeface="宋体" pitchFamily="2" charset="-122"/>
              </a:rPr>
              <a:t>；</a:t>
            </a:r>
            <a:endParaRPr lang="en-US" altLang="zh-CN" kern="0">
              <a:ea typeface="宋体" pitchFamily="2" charset="-122"/>
            </a:endParaRPr>
          </a:p>
        </p:txBody>
      </p:sp>
      <p:grpSp>
        <p:nvGrpSpPr>
          <p:cNvPr id="6" name="组合 87"/>
          <p:cNvGrpSpPr/>
          <p:nvPr/>
        </p:nvGrpSpPr>
        <p:grpSpPr>
          <a:xfrm>
            <a:off x="467618" y="980728"/>
            <a:ext cx="8064822" cy="863848"/>
            <a:chOff x="467618" y="2493144"/>
            <a:chExt cx="8064822" cy="863848"/>
          </a:xfrm>
        </p:grpSpPr>
        <p:sp>
          <p:nvSpPr>
            <p:cNvPr id="7" name="Rectangle 137"/>
            <p:cNvSpPr>
              <a:spLocks noChangeArrowheads="1"/>
            </p:cNvSpPr>
            <p:nvPr/>
          </p:nvSpPr>
          <p:spPr bwMode="auto">
            <a:xfrm>
              <a:off x="1187897" y="2924944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Line 138"/>
            <p:cNvSpPr>
              <a:spLocks noChangeShapeType="1"/>
            </p:cNvSpPr>
            <p:nvPr/>
          </p:nvSpPr>
          <p:spPr bwMode="auto">
            <a:xfrm>
              <a:off x="467618" y="3140968"/>
              <a:ext cx="72027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Rectangle 139"/>
            <p:cNvSpPr>
              <a:spLocks noChangeArrowheads="1"/>
            </p:cNvSpPr>
            <p:nvPr/>
          </p:nvSpPr>
          <p:spPr bwMode="auto">
            <a:xfrm>
              <a:off x="3061221" y="2925192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Line 140"/>
            <p:cNvSpPr>
              <a:spLocks noChangeShapeType="1"/>
            </p:cNvSpPr>
            <p:nvPr/>
          </p:nvSpPr>
          <p:spPr bwMode="auto">
            <a:xfrm>
              <a:off x="2340025" y="3140968"/>
              <a:ext cx="721195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141"/>
            <p:cNvSpPr>
              <a:spLocks noChangeArrowheads="1"/>
            </p:cNvSpPr>
            <p:nvPr/>
          </p:nvSpPr>
          <p:spPr bwMode="auto">
            <a:xfrm>
              <a:off x="4212605" y="2925192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Line 142"/>
            <p:cNvSpPr>
              <a:spLocks noChangeShapeType="1"/>
            </p:cNvSpPr>
            <p:nvPr/>
          </p:nvSpPr>
          <p:spPr bwMode="auto">
            <a:xfrm>
              <a:off x="3636342" y="3142679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Line 144"/>
            <p:cNvSpPr>
              <a:spLocks noChangeShapeType="1"/>
            </p:cNvSpPr>
            <p:nvPr/>
          </p:nvSpPr>
          <p:spPr bwMode="auto">
            <a:xfrm>
              <a:off x="4788298" y="3140968"/>
              <a:ext cx="720080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Rectangle 145"/>
            <p:cNvSpPr>
              <a:spLocks noChangeArrowheads="1"/>
            </p:cNvSpPr>
            <p:nvPr/>
          </p:nvSpPr>
          <p:spPr bwMode="auto">
            <a:xfrm>
              <a:off x="7380585" y="2924944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46"/>
            <p:cNvSpPr>
              <a:spLocks noChangeShapeType="1"/>
            </p:cNvSpPr>
            <p:nvPr/>
          </p:nvSpPr>
          <p:spPr bwMode="auto">
            <a:xfrm flipV="1">
              <a:off x="6660306" y="3140968"/>
              <a:ext cx="720279" cy="17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Line 147"/>
            <p:cNvSpPr>
              <a:spLocks noChangeShapeType="1"/>
            </p:cNvSpPr>
            <p:nvPr/>
          </p:nvSpPr>
          <p:spPr bwMode="auto">
            <a:xfrm>
              <a:off x="7956177" y="3140720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48"/>
            <p:cNvSpPr>
              <a:spLocks noChangeArrowheads="1"/>
            </p:cNvSpPr>
            <p:nvPr/>
          </p:nvSpPr>
          <p:spPr bwMode="auto">
            <a:xfrm>
              <a:off x="1187897" y="2493392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49"/>
            <p:cNvSpPr>
              <a:spLocks noChangeArrowheads="1"/>
            </p:cNvSpPr>
            <p:nvPr/>
          </p:nvSpPr>
          <p:spPr bwMode="auto">
            <a:xfrm>
              <a:off x="2844131" y="2493392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50"/>
            <p:cNvSpPr>
              <a:spLocks noChangeArrowheads="1"/>
            </p:cNvSpPr>
            <p:nvPr/>
          </p:nvSpPr>
          <p:spPr bwMode="auto">
            <a:xfrm>
              <a:off x="3996259" y="2493392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51"/>
            <p:cNvSpPr>
              <a:spLocks noChangeArrowheads="1"/>
            </p:cNvSpPr>
            <p:nvPr/>
          </p:nvSpPr>
          <p:spPr bwMode="auto">
            <a:xfrm>
              <a:off x="5508674" y="2493392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52"/>
            <p:cNvSpPr>
              <a:spLocks noChangeArrowheads="1"/>
            </p:cNvSpPr>
            <p:nvPr/>
          </p:nvSpPr>
          <p:spPr bwMode="auto">
            <a:xfrm>
              <a:off x="7164561" y="2493144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37"/>
            <p:cNvSpPr>
              <a:spLocks noChangeArrowheads="1"/>
            </p:cNvSpPr>
            <p:nvPr/>
          </p:nvSpPr>
          <p:spPr bwMode="auto">
            <a:xfrm>
              <a:off x="5507905" y="2924944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对象 22"/>
              <p:cNvSpPr txBox="1"/>
              <p:nvPr/>
            </p:nvSpPr>
            <p:spPr bwMode="auto">
              <a:xfrm>
                <a:off x="468313" y="3657376"/>
                <a:ext cx="8351837" cy="10683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3" name="对象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3657376"/>
                <a:ext cx="8351837" cy="1068388"/>
              </a:xfrm>
              <a:prstGeom prst="rect">
                <a:avLst/>
              </a:prstGeom>
              <a:blipFill rotWithShape="1">
                <a:blip r:embed="rId1"/>
                <a:stretch>
                  <a:fillRect l="-4" t="-38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对象 23"/>
              <p:cNvSpPr txBox="1"/>
              <p:nvPr/>
            </p:nvSpPr>
            <p:spPr bwMode="auto">
              <a:xfrm>
                <a:off x="495300" y="4695031"/>
                <a:ext cx="4940796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35000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4" name="对象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4695031"/>
                <a:ext cx="4940796" cy="1038225"/>
              </a:xfrm>
              <a:prstGeom prst="rect">
                <a:avLst/>
              </a:prstGeom>
              <a:blipFill rotWithShape="1">
                <a:blip r:embed="rId2"/>
                <a:stretch>
                  <a:fillRect t="-46" r="10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对象 23"/>
              <p:cNvSpPr txBox="1"/>
              <p:nvPr/>
            </p:nvSpPr>
            <p:spPr bwMode="auto">
              <a:xfrm>
                <a:off x="495300" y="5703143"/>
                <a:ext cx="8578850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zh-CN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10025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69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83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en-US" b="0"/>
              </a:p>
            </p:txBody>
          </p:sp>
        </mc:Choice>
        <mc:Fallback>
          <p:sp>
            <p:nvSpPr>
              <p:cNvPr id="25" name="对象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5703143"/>
                <a:ext cx="8578850" cy="1038225"/>
              </a:xfrm>
              <a:prstGeom prst="rect">
                <a:avLst/>
              </a:prstGeom>
              <a:blipFill rotWithShape="1">
                <a:blip r:embed="rId3"/>
                <a:stretch>
                  <a:fillRect t="-20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r>
              <a:rPr lang="en-US" altLang="zh-CN"/>
              <a:t>		</a:t>
            </a:r>
            <a:r>
              <a:rPr lang="en-US" altLang="zh-CN">
                <a:ea typeface="黑体" pitchFamily="2" charset="-122"/>
              </a:rPr>
              <a:t> </a:t>
            </a:r>
            <a:r>
              <a:rPr lang="en-US" altLang="zh-CN">
                <a:solidFill>
                  <a:srgbClr val="FF6600"/>
                </a:solidFill>
                <a:ea typeface="黑体" pitchFamily="2" charset="-122"/>
              </a:rPr>
              <a:t>P321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ea typeface="黑体" pitchFamily="2" charset="-122"/>
              </a:rPr>
              <a:t>7.7</a:t>
            </a:r>
            <a:endParaRPr lang="zh-CN" altLang="en-US">
              <a:solidFill>
                <a:srgbClr val="FF66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323528" y="548928"/>
            <a:ext cx="8712968" cy="39601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② </a:t>
            </a:r>
            <a:r>
              <a:rPr lang="zh-CN" altLang="en-US" kern="0">
                <a:ea typeface="宋体" pitchFamily="2" charset="-122"/>
              </a:rPr>
              <a:t>改进流水线的性能，如何改造？改造后的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吞吐率</a:t>
            </a:r>
            <a:r>
              <a:rPr lang="zh-CN" altLang="en-US" kern="0">
                <a:ea typeface="宋体" pitchFamily="2" charset="-122"/>
              </a:rPr>
              <a:t>？</a:t>
            </a:r>
            <a:endParaRPr lang="zh-CN" altLang="zh-CN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【</a:t>
            </a:r>
            <a:r>
              <a:rPr lang="zh-CN" altLang="en-US" sz="2400" kern="0">
                <a:ea typeface="宋体" pitchFamily="2" charset="-122"/>
              </a:rPr>
              <a:t>解</a:t>
            </a:r>
            <a:r>
              <a:rPr lang="en-US" altLang="zh-CN" sz="2400" kern="0">
                <a:ea typeface="宋体" pitchFamily="2" charset="-122"/>
              </a:rPr>
              <a:t>】</a:t>
            </a:r>
            <a:r>
              <a:rPr lang="zh-CN" altLang="en-US" sz="2400" kern="0">
                <a:ea typeface="宋体" pitchFamily="2" charset="-122"/>
              </a:rPr>
              <a:t>细分瓶颈段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T</a:t>
            </a:r>
            <a:r>
              <a:rPr lang="en-US" altLang="zh-CN" sz="2400" kern="0" baseline="-25000">
                <a:ea typeface="宋体" pitchFamily="2" charset="-122"/>
              </a:rPr>
              <a:t>1000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latin typeface="+mn-ea"/>
              </a:rPr>
              <a:t>[(</a:t>
            </a:r>
            <a:r>
              <a:rPr lang="en-US" altLang="zh-CN" sz="2400" kern="0">
                <a:ea typeface="宋体" pitchFamily="2" charset="-122"/>
              </a:rPr>
              <a:t>5+5)+5+5+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5+5</a:t>
            </a:r>
            <a:r>
              <a:rPr lang="en-US" altLang="zh-CN" sz="2400" kern="0">
                <a:latin typeface="+mn-ea"/>
              </a:rPr>
              <a:t>)</a:t>
            </a:r>
            <a:r>
              <a:rPr lang="en-US" altLang="zh-CN" sz="2400" kern="0">
                <a:ea typeface="宋体" pitchFamily="2" charset="-122"/>
              </a:rPr>
              <a:t>+5</a:t>
            </a:r>
            <a:r>
              <a:rPr lang="en-US" altLang="zh-CN" sz="2400" kern="0">
                <a:latin typeface="+mn-ea"/>
              </a:rPr>
              <a:t>]</a:t>
            </a:r>
            <a:r>
              <a:rPr lang="en-US" altLang="zh-CN" sz="2400" kern="0">
                <a:ea typeface="宋体" pitchFamily="2" charset="-122"/>
              </a:rPr>
              <a:t>ns×1000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35000ns</a:t>
            </a:r>
            <a:r>
              <a:rPr lang="zh-CN" altLang="en-US" sz="2400" kern="0">
                <a:ea typeface="宋体" pitchFamily="2" charset="-122"/>
              </a:rPr>
              <a:t>；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T</a:t>
            </a:r>
            <a:r>
              <a:rPr lang="en-US" altLang="zh-CN" sz="2400" kern="0" baseline="-25000">
                <a:ea typeface="宋体" pitchFamily="2" charset="-122"/>
              </a:rPr>
              <a:t>1000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7</a:t>
            </a:r>
            <a:r>
              <a:rPr lang="en-US" altLang="zh-CN" sz="2400" kern="0">
                <a:latin typeface="+mn-ea"/>
              </a:rPr>
              <a:t>)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latin typeface="+mn-ea"/>
              </a:rPr>
              <a:t>[(</a:t>
            </a:r>
            <a:r>
              <a:rPr lang="en-US" altLang="zh-CN" sz="2400" kern="0">
                <a:ea typeface="宋体" pitchFamily="2" charset="-122"/>
              </a:rPr>
              <a:t>5+5</a:t>
            </a:r>
            <a:r>
              <a:rPr lang="en-US" altLang="zh-CN" sz="2400" kern="0">
                <a:latin typeface="+mn-ea"/>
              </a:rPr>
              <a:t>)</a:t>
            </a:r>
            <a:r>
              <a:rPr lang="en-US" altLang="zh-CN" sz="2400" kern="0">
                <a:ea typeface="宋体" pitchFamily="2" charset="-122"/>
              </a:rPr>
              <a:t>+5+5+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5+5</a:t>
            </a:r>
            <a:r>
              <a:rPr lang="en-US" altLang="zh-CN" sz="2400" kern="0">
                <a:latin typeface="+mn-ea"/>
              </a:rPr>
              <a:t>)</a:t>
            </a:r>
            <a:r>
              <a:rPr lang="en-US" altLang="zh-CN" sz="2400" kern="0">
                <a:ea typeface="宋体" pitchFamily="2" charset="-122"/>
              </a:rPr>
              <a:t>+5</a:t>
            </a:r>
            <a:r>
              <a:rPr lang="en-US" altLang="zh-CN" sz="2400" kern="0">
                <a:latin typeface="+mn-ea"/>
              </a:rPr>
              <a:t>]</a:t>
            </a:r>
            <a:r>
              <a:rPr lang="en-US" altLang="zh-CN" sz="2400" kern="0">
                <a:ea typeface="宋体" pitchFamily="2" charset="-122"/>
              </a:rPr>
              <a:t>ns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latin typeface="+mn-ea"/>
              </a:rPr>
              <a:t>(</a:t>
            </a:r>
            <a:r>
              <a:rPr lang="en-US" altLang="zh-CN" sz="2400" kern="0">
                <a:ea typeface="宋体" pitchFamily="2" charset="-122"/>
              </a:rPr>
              <a:t>1000</a:t>
            </a:r>
            <a:r>
              <a:rPr lang="zh-CN" altLang="en-US" sz="2400" kern="0">
                <a:ea typeface="宋体" pitchFamily="2" charset="-122"/>
              </a:rPr>
              <a:t>－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en-US" altLang="zh-CN" sz="2400" kern="0">
                <a:latin typeface="+mn-ea"/>
              </a:rPr>
              <a:t>)</a:t>
            </a:r>
            <a:r>
              <a:rPr lang="en-US" altLang="zh-CN" sz="2400" kern="0">
                <a:ea typeface="宋体" pitchFamily="2" charset="-122"/>
              </a:rPr>
              <a:t>×5ns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              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35ns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999×5ns 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5030ns</a:t>
            </a:r>
            <a:r>
              <a:rPr lang="zh-CN" altLang="en-US" sz="2400" kern="0">
                <a:ea typeface="宋体" pitchFamily="2" charset="-122"/>
              </a:rPr>
              <a:t>；</a:t>
            </a:r>
            <a:endParaRPr lang="en-US" altLang="zh-CN" sz="2400" kern="0"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67345" y="1090482"/>
            <a:ext cx="8065095" cy="1080120"/>
            <a:chOff x="467345" y="3573016"/>
            <a:chExt cx="8065095" cy="1080120"/>
          </a:xfrm>
        </p:grpSpPr>
        <p:sp>
          <p:nvSpPr>
            <p:cNvPr id="7" name="Rectangle 139"/>
            <p:cNvSpPr>
              <a:spLocks noChangeArrowheads="1"/>
            </p:cNvSpPr>
            <p:nvPr/>
          </p:nvSpPr>
          <p:spPr bwMode="auto">
            <a:xfrm>
              <a:off x="1043409" y="4005560"/>
              <a:ext cx="57494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Rectangle 139"/>
            <p:cNvSpPr>
              <a:spLocks noChangeArrowheads="1"/>
            </p:cNvSpPr>
            <p:nvPr/>
          </p:nvSpPr>
          <p:spPr bwMode="auto">
            <a:xfrm>
              <a:off x="1907505" y="4005560"/>
              <a:ext cx="57494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Line 138"/>
            <p:cNvSpPr>
              <a:spLocks noChangeShapeType="1"/>
            </p:cNvSpPr>
            <p:nvPr/>
          </p:nvSpPr>
          <p:spPr bwMode="auto">
            <a:xfrm>
              <a:off x="467345" y="422158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Line 138"/>
            <p:cNvSpPr>
              <a:spLocks noChangeShapeType="1"/>
            </p:cNvSpPr>
            <p:nvPr/>
          </p:nvSpPr>
          <p:spPr bwMode="auto">
            <a:xfrm>
              <a:off x="1619474" y="4221584"/>
              <a:ext cx="2880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Line 138"/>
            <p:cNvSpPr>
              <a:spLocks noChangeShapeType="1"/>
            </p:cNvSpPr>
            <p:nvPr/>
          </p:nvSpPr>
          <p:spPr bwMode="auto">
            <a:xfrm>
              <a:off x="2483569" y="422158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139"/>
            <p:cNvSpPr>
              <a:spLocks noChangeArrowheads="1"/>
            </p:cNvSpPr>
            <p:nvPr/>
          </p:nvSpPr>
          <p:spPr bwMode="auto">
            <a:xfrm>
              <a:off x="3059633" y="4005312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Rectangle 141"/>
            <p:cNvSpPr>
              <a:spLocks noChangeArrowheads="1"/>
            </p:cNvSpPr>
            <p:nvPr/>
          </p:nvSpPr>
          <p:spPr bwMode="auto">
            <a:xfrm>
              <a:off x="4211761" y="4005312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Line 142"/>
            <p:cNvSpPr>
              <a:spLocks noChangeShapeType="1"/>
            </p:cNvSpPr>
            <p:nvPr/>
          </p:nvSpPr>
          <p:spPr bwMode="auto">
            <a:xfrm>
              <a:off x="3635498" y="4222799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42"/>
            <p:cNvSpPr>
              <a:spLocks noChangeShapeType="1"/>
            </p:cNvSpPr>
            <p:nvPr/>
          </p:nvSpPr>
          <p:spPr bwMode="auto">
            <a:xfrm>
              <a:off x="4787825" y="4221336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Rectangle 139"/>
            <p:cNvSpPr>
              <a:spLocks noChangeArrowheads="1"/>
            </p:cNvSpPr>
            <p:nvPr/>
          </p:nvSpPr>
          <p:spPr bwMode="auto">
            <a:xfrm>
              <a:off x="5363889" y="4005312"/>
              <a:ext cx="57494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39"/>
            <p:cNvSpPr>
              <a:spLocks noChangeArrowheads="1"/>
            </p:cNvSpPr>
            <p:nvPr/>
          </p:nvSpPr>
          <p:spPr bwMode="auto">
            <a:xfrm>
              <a:off x="6227985" y="4005312"/>
              <a:ext cx="57494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Line 138"/>
            <p:cNvSpPr>
              <a:spLocks noChangeShapeType="1"/>
            </p:cNvSpPr>
            <p:nvPr/>
          </p:nvSpPr>
          <p:spPr bwMode="auto">
            <a:xfrm>
              <a:off x="5939953" y="4221336"/>
              <a:ext cx="2880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45"/>
            <p:cNvSpPr>
              <a:spLocks noChangeArrowheads="1"/>
            </p:cNvSpPr>
            <p:nvPr/>
          </p:nvSpPr>
          <p:spPr bwMode="auto">
            <a:xfrm>
              <a:off x="7380113" y="4005312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Line 146"/>
            <p:cNvSpPr>
              <a:spLocks noChangeShapeType="1"/>
            </p:cNvSpPr>
            <p:nvPr/>
          </p:nvSpPr>
          <p:spPr bwMode="auto">
            <a:xfrm>
              <a:off x="6803850" y="4222799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Line 147"/>
            <p:cNvSpPr>
              <a:spLocks noChangeShapeType="1"/>
            </p:cNvSpPr>
            <p:nvPr/>
          </p:nvSpPr>
          <p:spPr bwMode="auto">
            <a:xfrm>
              <a:off x="7956177" y="4221336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52"/>
            <p:cNvSpPr>
              <a:spLocks noChangeArrowheads="1"/>
            </p:cNvSpPr>
            <p:nvPr/>
          </p:nvSpPr>
          <p:spPr bwMode="auto">
            <a:xfrm>
              <a:off x="899393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Rectangle 152"/>
            <p:cNvSpPr>
              <a:spLocks noChangeArrowheads="1"/>
            </p:cNvSpPr>
            <p:nvPr/>
          </p:nvSpPr>
          <p:spPr bwMode="auto">
            <a:xfrm>
              <a:off x="1763489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Rectangle 152"/>
            <p:cNvSpPr>
              <a:spLocks noChangeArrowheads="1"/>
            </p:cNvSpPr>
            <p:nvPr/>
          </p:nvSpPr>
          <p:spPr bwMode="auto">
            <a:xfrm>
              <a:off x="2915617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Rectangle 152"/>
            <p:cNvSpPr>
              <a:spLocks noChangeArrowheads="1"/>
            </p:cNvSpPr>
            <p:nvPr/>
          </p:nvSpPr>
          <p:spPr bwMode="auto">
            <a:xfrm>
              <a:off x="4067944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Rectangle 152"/>
            <p:cNvSpPr>
              <a:spLocks noChangeArrowheads="1"/>
            </p:cNvSpPr>
            <p:nvPr/>
          </p:nvSpPr>
          <p:spPr bwMode="auto">
            <a:xfrm>
              <a:off x="5220072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Rectangle 152"/>
            <p:cNvSpPr>
              <a:spLocks noChangeArrowheads="1"/>
            </p:cNvSpPr>
            <p:nvPr/>
          </p:nvSpPr>
          <p:spPr bwMode="auto">
            <a:xfrm>
              <a:off x="6084168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Rectangle 152"/>
            <p:cNvSpPr>
              <a:spLocks noChangeArrowheads="1"/>
            </p:cNvSpPr>
            <p:nvPr/>
          </p:nvSpPr>
          <p:spPr bwMode="auto">
            <a:xfrm>
              <a:off x="7236296" y="3573264"/>
              <a:ext cx="864096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827584" y="3573016"/>
              <a:ext cx="1800200" cy="1080120"/>
            </a:xfrm>
            <a:prstGeom prst="rect">
              <a:avLst/>
            </a:prstGeom>
            <a:noFill/>
            <a:ln w="19050" cap="flat" cmpd="sng" algn="ctr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5148064" y="3573016"/>
              <a:ext cx="1800200" cy="1080120"/>
            </a:xfrm>
            <a:prstGeom prst="rect">
              <a:avLst/>
            </a:prstGeom>
            <a:noFill/>
            <a:ln w="19050" cap="flat" cmpd="sng" algn="ctr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4"/>
              <p:cNvSpPr txBox="1"/>
              <p:nvPr/>
            </p:nvSpPr>
            <p:spPr bwMode="auto">
              <a:xfrm>
                <a:off x="444500" y="3835032"/>
                <a:ext cx="8087940" cy="10683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𝑇𝑝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198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3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500" y="3835032"/>
                <a:ext cx="8087940" cy="1068388"/>
              </a:xfrm>
              <a:prstGeom prst="rect">
                <a:avLst/>
              </a:prstGeom>
              <a:blipFill rotWithShape="1">
                <a:blip r:embed="rId1"/>
                <a:stretch>
                  <a:fillRect t="-25" r="7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2"/>
              <p:cNvSpPr txBox="1"/>
              <p:nvPr/>
            </p:nvSpPr>
            <p:spPr bwMode="auto">
              <a:xfrm>
                <a:off x="495300" y="4784169"/>
                <a:ext cx="5012804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35000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3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4784169"/>
                <a:ext cx="5012804" cy="1038225"/>
              </a:xfrm>
              <a:prstGeom prst="rect">
                <a:avLst/>
              </a:prstGeom>
              <a:blipFill rotWithShape="1">
                <a:blip r:embed="rId2"/>
                <a:stretch>
                  <a:fillRect t="-8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对象 23"/>
              <p:cNvSpPr txBox="1"/>
              <p:nvPr/>
            </p:nvSpPr>
            <p:spPr bwMode="auto">
              <a:xfrm>
                <a:off x="495300" y="5703143"/>
                <a:ext cx="8578850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en-US" sz="2400" b="0"/>
              </a:p>
            </p:txBody>
          </p:sp>
        </mc:Choice>
        <mc:Fallback>
          <p:sp>
            <p:nvSpPr>
              <p:cNvPr id="33" name="对象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" y="5703143"/>
                <a:ext cx="8578850" cy="1038225"/>
              </a:xfrm>
              <a:prstGeom prst="rect">
                <a:avLst/>
              </a:prstGeom>
              <a:blipFill rotWithShape="1">
                <a:blip r:embed="rId3"/>
                <a:stretch>
                  <a:fillRect t="-20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 流水线</a:t>
            </a:r>
            <a:r>
              <a:rPr lang="en-US" altLang="zh-CN"/>
              <a:t>		</a:t>
            </a:r>
            <a:r>
              <a:rPr lang="en-US" altLang="zh-CN">
                <a:ea typeface="黑体" pitchFamily="2" charset="-122"/>
              </a:rPr>
              <a:t> </a:t>
            </a:r>
            <a:r>
              <a:rPr lang="en-US" altLang="zh-CN">
                <a:solidFill>
                  <a:srgbClr val="FF6600"/>
                </a:solidFill>
                <a:ea typeface="黑体" pitchFamily="2" charset="-122"/>
              </a:rPr>
              <a:t>P321</a:t>
            </a:r>
            <a:r>
              <a:rPr lang="zh-CN" altLang="en-US">
                <a:solidFill>
                  <a:srgbClr val="FF6600"/>
                </a:solidFill>
                <a:latin typeface="+mn-ea"/>
                <a:ea typeface="+mn-ea"/>
              </a:rPr>
              <a:t>，</a:t>
            </a:r>
            <a:r>
              <a:rPr lang="zh-CN" altLang="en-US">
                <a:solidFill>
                  <a:srgbClr val="FF6600"/>
                </a:solidFill>
                <a:ea typeface="黑体" pitchFamily="2" charset="-122"/>
              </a:rPr>
              <a:t>习题 </a:t>
            </a:r>
            <a:r>
              <a:rPr lang="en-US" altLang="zh-CN">
                <a:solidFill>
                  <a:srgbClr val="FF6600"/>
                </a:solidFill>
                <a:ea typeface="黑体" pitchFamily="2" charset="-122"/>
              </a:rPr>
              <a:t>7.7</a:t>
            </a:r>
            <a:endParaRPr lang="zh-CN" altLang="en-US">
              <a:solidFill>
                <a:srgbClr val="FF66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323528" y="548928"/>
            <a:ext cx="8578850" cy="36001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2005" indent="-279400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39850" indent="-358775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anose="05000000000000000000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879600" indent="-36068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anose="05000000000000000000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3304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7876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2448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7020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4159250" indent="-27178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kern="0">
                <a:ea typeface="宋体" pitchFamily="2" charset="-122"/>
              </a:rPr>
              <a:t>② </a:t>
            </a:r>
            <a:r>
              <a:rPr lang="zh-CN" altLang="en-US" kern="0">
                <a:ea typeface="宋体" pitchFamily="2" charset="-122"/>
              </a:rPr>
              <a:t>改进流水线的性能，如何改造？改造后的</a:t>
            </a:r>
            <a:r>
              <a:rPr lang="zh-CN" altLang="en-US" kern="0">
                <a:solidFill>
                  <a:srgbClr val="FF0000"/>
                </a:solidFill>
                <a:ea typeface="宋体" pitchFamily="2" charset="-122"/>
              </a:rPr>
              <a:t>吞吐率</a:t>
            </a:r>
            <a:r>
              <a:rPr lang="zh-CN" altLang="en-US" kern="0">
                <a:ea typeface="宋体" pitchFamily="2" charset="-122"/>
              </a:rPr>
              <a:t>？</a:t>
            </a:r>
            <a:endParaRPr lang="zh-CN" altLang="zh-CN" kern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kern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kern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6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【</a:t>
            </a:r>
            <a:r>
              <a:rPr lang="zh-CN" altLang="en-US" sz="2400" kern="0">
                <a:ea typeface="宋体" pitchFamily="2" charset="-122"/>
              </a:rPr>
              <a:t>解</a:t>
            </a:r>
            <a:r>
              <a:rPr lang="en-US" altLang="zh-CN" sz="2400" kern="0">
                <a:ea typeface="宋体" pitchFamily="2" charset="-122"/>
              </a:rPr>
              <a:t>】</a:t>
            </a:r>
            <a:r>
              <a:rPr lang="zh-CN" altLang="en-US" sz="2400" kern="0">
                <a:ea typeface="宋体" pitchFamily="2" charset="-122"/>
              </a:rPr>
              <a:t>重复设置瓶颈段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T</a:t>
            </a:r>
            <a:r>
              <a:rPr lang="en-US" altLang="zh-CN" sz="2400" kern="0" baseline="-25000">
                <a:ea typeface="宋体" pitchFamily="2" charset="-122"/>
              </a:rPr>
              <a:t>1000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10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10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)</a:t>
            </a:r>
            <a:r>
              <a:rPr lang="en-US" altLang="zh-CN" sz="2400" kern="0">
                <a:ea typeface="宋体" pitchFamily="2" charset="-122"/>
              </a:rPr>
              <a:t>ns×1000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35000ns</a:t>
            </a:r>
            <a:r>
              <a:rPr lang="zh-CN" altLang="en-US" sz="2400" kern="0">
                <a:ea typeface="宋体" pitchFamily="2" charset="-122"/>
              </a:rPr>
              <a:t>；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T</a:t>
            </a:r>
            <a:r>
              <a:rPr lang="en-US" altLang="zh-CN" sz="2400" kern="0" baseline="-25000">
                <a:ea typeface="宋体" pitchFamily="2" charset="-122"/>
              </a:rPr>
              <a:t>1000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5’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10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10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5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)</a:t>
            </a:r>
            <a:r>
              <a:rPr lang="en-US" altLang="zh-CN" sz="2400" kern="0">
                <a:ea typeface="宋体" pitchFamily="2" charset="-122"/>
              </a:rPr>
              <a:t>ns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(</a:t>
            </a:r>
            <a:r>
              <a:rPr lang="en-US" altLang="zh-CN" sz="2400" kern="0">
                <a:ea typeface="宋体" pitchFamily="2" charset="-122"/>
              </a:rPr>
              <a:t>1000</a:t>
            </a:r>
            <a:r>
              <a:rPr lang="zh-CN" altLang="en-US" sz="2400" kern="0">
                <a:ea typeface="宋体" pitchFamily="2" charset="-122"/>
              </a:rPr>
              <a:t>－</a:t>
            </a:r>
            <a:r>
              <a:rPr lang="en-US" altLang="zh-CN" sz="2400" kern="0">
                <a:ea typeface="宋体" pitchFamily="2" charset="-122"/>
              </a:rPr>
              <a:t>1</a:t>
            </a:r>
            <a:r>
              <a:rPr lang="en-US" altLang="zh-CN" sz="2400" kern="0">
                <a:latin typeface="宋体" pitchFamily="2" charset="-122"/>
                <a:ea typeface="宋体" pitchFamily="2" charset="-122"/>
              </a:rPr>
              <a:t>)</a:t>
            </a:r>
            <a:r>
              <a:rPr lang="en-US" altLang="zh-CN" sz="2400" kern="0">
                <a:ea typeface="宋体" pitchFamily="2" charset="-122"/>
              </a:rPr>
              <a:t>×5ns</a:t>
            </a:r>
            <a:endParaRPr lang="en-US" altLang="zh-CN" sz="2400" kern="0">
              <a:ea typeface="宋体" pitchFamily="2" charset="-122"/>
            </a:endParaRPr>
          </a:p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2400" kern="0">
                <a:ea typeface="宋体" pitchFamily="2" charset="-122"/>
              </a:rPr>
              <a:t>               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35ns</a:t>
            </a:r>
            <a:r>
              <a:rPr lang="zh-CN" altLang="en-US" sz="2400" kern="0">
                <a:ea typeface="宋体" pitchFamily="2" charset="-122"/>
              </a:rPr>
              <a:t>＋</a:t>
            </a:r>
            <a:r>
              <a:rPr lang="en-US" altLang="zh-CN" sz="2400" kern="0">
                <a:ea typeface="宋体" pitchFamily="2" charset="-122"/>
              </a:rPr>
              <a:t>999×5ns </a:t>
            </a:r>
            <a:r>
              <a:rPr lang="zh-CN" altLang="en-US" sz="2400" kern="0">
                <a:ea typeface="宋体" pitchFamily="2" charset="-122"/>
              </a:rPr>
              <a:t>＝</a:t>
            </a:r>
            <a:r>
              <a:rPr lang="en-US" altLang="zh-CN" sz="2400" kern="0">
                <a:ea typeface="宋体" pitchFamily="2" charset="-122"/>
              </a:rPr>
              <a:t>5030ns</a:t>
            </a:r>
            <a:r>
              <a:rPr lang="zh-CN" altLang="en-US" sz="2400" kern="0">
                <a:ea typeface="宋体" pitchFamily="2" charset="-122"/>
              </a:rPr>
              <a:t>；</a:t>
            </a:r>
            <a:endParaRPr lang="en-US" altLang="zh-CN" sz="2400" kern="0">
              <a:ea typeface="宋体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4"/>
              <p:cNvSpPr txBox="1"/>
              <p:nvPr/>
            </p:nvSpPr>
            <p:spPr bwMode="auto">
              <a:xfrm>
                <a:off x="393700" y="3873400"/>
                <a:ext cx="8066732" cy="10683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𝑇𝑝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198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𝑀𝐼𝑃𝑆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700" y="3873400"/>
                <a:ext cx="8066732" cy="1068388"/>
              </a:xfrm>
              <a:prstGeom prst="rect">
                <a:avLst/>
              </a:prstGeom>
              <a:blipFill rotWithShape="1">
                <a:blip r:embed="rId1"/>
                <a:stretch>
                  <a:fillRect t="-50" r="4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2"/>
              <p:cNvSpPr txBox="1"/>
              <p:nvPr/>
            </p:nvSpPr>
            <p:spPr bwMode="auto">
              <a:xfrm>
                <a:off x="393700" y="4803353"/>
                <a:ext cx="4929113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35000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zh-CN" altLang="en-US" sz="2400"/>
              </a:p>
            </p:txBody>
          </p:sp>
        </mc:Choice>
        <mc:Fallback>
          <p:sp>
            <p:nvSpPr>
              <p:cNvPr id="7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700" y="4803353"/>
                <a:ext cx="4929113" cy="1038225"/>
              </a:xfrm>
              <a:prstGeom prst="rect">
                <a:avLst/>
              </a:prstGeom>
              <a:blipFill rotWithShape="1">
                <a:blip r:embed="rId2"/>
                <a:stretch>
                  <a:fillRect t="-21" r="5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539353" y="1052736"/>
            <a:ext cx="7992814" cy="1223640"/>
            <a:chOff x="539353" y="1125488"/>
            <a:chExt cx="7992814" cy="1223640"/>
          </a:xfrm>
        </p:grpSpPr>
        <p:sp>
          <p:nvSpPr>
            <p:cNvPr id="9" name="Rectangle 137"/>
            <p:cNvSpPr>
              <a:spLocks noChangeArrowheads="1"/>
            </p:cNvSpPr>
            <p:nvPr/>
          </p:nvSpPr>
          <p:spPr bwMode="auto">
            <a:xfrm>
              <a:off x="1187624" y="1196752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Line 138"/>
            <p:cNvSpPr>
              <a:spLocks noChangeShapeType="1"/>
            </p:cNvSpPr>
            <p:nvPr/>
          </p:nvSpPr>
          <p:spPr bwMode="auto">
            <a:xfrm>
              <a:off x="539353" y="1773064"/>
              <a:ext cx="3602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139"/>
            <p:cNvSpPr>
              <a:spLocks noChangeArrowheads="1"/>
            </p:cNvSpPr>
            <p:nvPr/>
          </p:nvSpPr>
          <p:spPr bwMode="auto">
            <a:xfrm>
              <a:off x="3060948" y="1557288"/>
              <a:ext cx="574948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141"/>
            <p:cNvSpPr>
              <a:spLocks noChangeArrowheads="1"/>
            </p:cNvSpPr>
            <p:nvPr/>
          </p:nvSpPr>
          <p:spPr bwMode="auto">
            <a:xfrm>
              <a:off x="4212332" y="1557288"/>
              <a:ext cx="575692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3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Line 142"/>
            <p:cNvSpPr>
              <a:spLocks noChangeShapeType="1"/>
            </p:cNvSpPr>
            <p:nvPr/>
          </p:nvSpPr>
          <p:spPr bwMode="auto">
            <a:xfrm>
              <a:off x="3636069" y="1774775"/>
              <a:ext cx="5762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Rectangle 145"/>
            <p:cNvSpPr>
              <a:spLocks noChangeArrowheads="1"/>
            </p:cNvSpPr>
            <p:nvPr/>
          </p:nvSpPr>
          <p:spPr bwMode="auto">
            <a:xfrm>
              <a:off x="7380312" y="1557288"/>
              <a:ext cx="575591" cy="431800"/>
            </a:xfrm>
            <a:prstGeom prst="rect">
              <a:avLst/>
            </a:prstGeom>
            <a:solidFill>
              <a:srgbClr val="FFCC66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5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Line 147"/>
            <p:cNvSpPr>
              <a:spLocks noChangeShapeType="1"/>
            </p:cNvSpPr>
            <p:nvPr/>
          </p:nvSpPr>
          <p:spPr bwMode="auto">
            <a:xfrm>
              <a:off x="7955904" y="1773064"/>
              <a:ext cx="5762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Rectangle 148"/>
            <p:cNvSpPr>
              <a:spLocks noChangeArrowheads="1"/>
            </p:cNvSpPr>
            <p:nvPr/>
          </p:nvSpPr>
          <p:spPr bwMode="auto">
            <a:xfrm>
              <a:off x="1187624" y="1557040"/>
              <a:ext cx="1151905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49"/>
            <p:cNvSpPr>
              <a:spLocks noChangeArrowheads="1"/>
            </p:cNvSpPr>
            <p:nvPr/>
          </p:nvSpPr>
          <p:spPr bwMode="auto">
            <a:xfrm>
              <a:off x="2843858" y="1125488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50"/>
            <p:cNvSpPr>
              <a:spLocks noChangeArrowheads="1"/>
            </p:cNvSpPr>
            <p:nvPr/>
          </p:nvSpPr>
          <p:spPr bwMode="auto">
            <a:xfrm>
              <a:off x="3995986" y="1125488"/>
              <a:ext cx="1008062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51"/>
            <p:cNvSpPr>
              <a:spLocks noChangeArrowheads="1"/>
            </p:cNvSpPr>
            <p:nvPr/>
          </p:nvSpPr>
          <p:spPr bwMode="auto">
            <a:xfrm>
              <a:off x="5580409" y="1557040"/>
              <a:ext cx="1151831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10ns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52"/>
            <p:cNvSpPr>
              <a:spLocks noChangeArrowheads="1"/>
            </p:cNvSpPr>
            <p:nvPr/>
          </p:nvSpPr>
          <p:spPr bwMode="auto">
            <a:xfrm>
              <a:off x="7164288" y="1125488"/>
              <a:ext cx="1008063" cy="431800"/>
            </a:xfrm>
            <a:prstGeom prst="rect">
              <a:avLst/>
            </a:prstGeom>
            <a:noFill/>
            <a:ln w="28575" algn="ctr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</a:rPr>
                <a:t>5ns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37"/>
            <p:cNvSpPr>
              <a:spLocks noChangeArrowheads="1"/>
            </p:cNvSpPr>
            <p:nvPr/>
          </p:nvSpPr>
          <p:spPr bwMode="auto">
            <a:xfrm>
              <a:off x="5508104" y="1196752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4-1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37"/>
            <p:cNvSpPr>
              <a:spLocks noChangeArrowheads="1"/>
            </p:cNvSpPr>
            <p:nvPr/>
          </p:nvSpPr>
          <p:spPr bwMode="auto">
            <a:xfrm>
              <a:off x="1187624" y="1917328"/>
              <a:ext cx="1152128" cy="431800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1-2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Rectangle 137"/>
            <p:cNvSpPr>
              <a:spLocks noChangeArrowheads="1"/>
            </p:cNvSpPr>
            <p:nvPr/>
          </p:nvSpPr>
          <p:spPr bwMode="auto">
            <a:xfrm>
              <a:off x="5508104" y="1917328"/>
              <a:ext cx="1152128" cy="431800"/>
            </a:xfrm>
            <a:prstGeom prst="rect">
              <a:avLst/>
            </a:prstGeom>
            <a:solidFill>
              <a:srgbClr val="CCFF99"/>
            </a:solidFill>
            <a:ln w="28575" algn="ctr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</a:t>
              </a:r>
              <a:r>
                <a:rPr kumimoji="0" lang="en-US" altLang="zh-CN" sz="240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4-2</a:t>
              </a:r>
              <a:endParaRPr kumimoji="0" lang="en-US" altLang="zh-CN" sz="2400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Line 138"/>
            <p:cNvSpPr>
              <a:spLocks noChangeShapeType="1"/>
            </p:cNvSpPr>
            <p:nvPr/>
          </p:nvSpPr>
          <p:spPr bwMode="auto">
            <a:xfrm>
              <a:off x="899592" y="1413024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Line 138"/>
            <p:cNvSpPr>
              <a:spLocks noChangeShapeType="1"/>
            </p:cNvSpPr>
            <p:nvPr/>
          </p:nvSpPr>
          <p:spPr bwMode="auto">
            <a:xfrm>
              <a:off x="899592" y="2133600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 bwMode="auto">
            <a:xfrm rot="5400000">
              <a:off x="539552" y="1773064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Line 138"/>
            <p:cNvSpPr>
              <a:spLocks noChangeShapeType="1"/>
            </p:cNvSpPr>
            <p:nvPr/>
          </p:nvSpPr>
          <p:spPr bwMode="auto">
            <a:xfrm>
              <a:off x="2339752" y="1413024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Line 138"/>
            <p:cNvSpPr>
              <a:spLocks noChangeShapeType="1"/>
            </p:cNvSpPr>
            <p:nvPr/>
          </p:nvSpPr>
          <p:spPr bwMode="auto">
            <a:xfrm>
              <a:off x="2339752" y="2133600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 bwMode="auto">
            <a:xfrm rot="5400000">
              <a:off x="2267744" y="1773064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Line 138"/>
            <p:cNvSpPr>
              <a:spLocks noChangeShapeType="1"/>
            </p:cNvSpPr>
            <p:nvPr/>
          </p:nvSpPr>
          <p:spPr bwMode="auto">
            <a:xfrm>
              <a:off x="2627784" y="1773064"/>
              <a:ext cx="4320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Line 138"/>
            <p:cNvSpPr>
              <a:spLocks noChangeShapeType="1"/>
            </p:cNvSpPr>
            <p:nvPr/>
          </p:nvSpPr>
          <p:spPr bwMode="auto">
            <a:xfrm>
              <a:off x="4787825" y="1773064"/>
              <a:ext cx="43224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Line 138"/>
            <p:cNvSpPr>
              <a:spLocks noChangeShapeType="1"/>
            </p:cNvSpPr>
            <p:nvPr/>
          </p:nvSpPr>
          <p:spPr bwMode="auto">
            <a:xfrm>
              <a:off x="5220072" y="1413024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Line 138"/>
            <p:cNvSpPr>
              <a:spLocks noChangeShapeType="1"/>
            </p:cNvSpPr>
            <p:nvPr/>
          </p:nvSpPr>
          <p:spPr bwMode="auto">
            <a:xfrm>
              <a:off x="5220072" y="2133600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 bwMode="auto">
            <a:xfrm rot="5400000">
              <a:off x="4860032" y="1773064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5" name="Line 138"/>
            <p:cNvSpPr>
              <a:spLocks noChangeShapeType="1"/>
            </p:cNvSpPr>
            <p:nvPr/>
          </p:nvSpPr>
          <p:spPr bwMode="auto">
            <a:xfrm>
              <a:off x="6660232" y="1413024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Line 138"/>
            <p:cNvSpPr>
              <a:spLocks noChangeShapeType="1"/>
            </p:cNvSpPr>
            <p:nvPr/>
          </p:nvSpPr>
          <p:spPr bwMode="auto">
            <a:xfrm>
              <a:off x="6660232" y="2133600"/>
              <a:ext cx="28823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 bwMode="auto">
            <a:xfrm rot="5400000">
              <a:off x="6588224" y="1773064"/>
              <a:ext cx="720080" cy="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8" name="Line 138"/>
            <p:cNvSpPr>
              <a:spLocks noChangeShapeType="1"/>
            </p:cNvSpPr>
            <p:nvPr/>
          </p:nvSpPr>
          <p:spPr bwMode="auto">
            <a:xfrm>
              <a:off x="6948264" y="1773064"/>
              <a:ext cx="4320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lg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对象 23"/>
              <p:cNvSpPr txBox="1"/>
              <p:nvPr/>
            </p:nvSpPr>
            <p:spPr bwMode="auto">
              <a:xfrm>
                <a:off x="393700" y="5703143"/>
                <a:ext cx="8578850" cy="103822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zh-CN" altLang="en-US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′)×</m:t>
                          </m:r>
                          <m:r>
                            <m:rPr>
                              <m:nor/>
                            </m:rPr>
                            <a:rPr lang="zh-CN" altLang="en-US" sz="24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总</m:t>
                          </m:r>
                          <m:r>
                            <m:rPr>
                              <m:nor/>
                            </m:rPr>
                            <a:rPr lang="zh-CN" altLang="en-US" sz="2400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段</m:t>
                          </m:r>
                          <m:r>
                            <m:rPr>
                              <m:nor/>
                            </m:rPr>
                            <a:rPr lang="zh-CN" altLang="en-US" sz="24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数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5030</m:t>
                          </m:r>
                          <m:r>
                            <a:rPr lang="zh-CN" altLang="en-US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𝑛𝑠</m:t>
                          </m:r>
                        </m:den>
                      </m:f>
                      <m:r>
                        <a:rPr lang="zh-CN" altLang="en-US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zh-CN" altLang="en-US" sz="2400" b="0"/>
              </a:p>
            </p:txBody>
          </p:sp>
        </mc:Choice>
        <mc:Fallback>
          <p:sp>
            <p:nvSpPr>
              <p:cNvPr id="39" name="对象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700" y="5703143"/>
                <a:ext cx="8578850" cy="1038225"/>
              </a:xfrm>
              <a:prstGeom prst="rect">
                <a:avLst/>
              </a:prstGeom>
              <a:blipFill rotWithShape="1">
                <a:blip r:embed="rId3"/>
                <a:stretch>
                  <a:fillRect t="-20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本框 39"/>
          <p:cNvSpPr txBox="1"/>
          <p:nvPr/>
        </p:nvSpPr>
        <p:spPr bwMode="auto">
          <a:xfrm>
            <a:off x="7615937" y="45724"/>
            <a:ext cx="148309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9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  总线、</a:t>
            </a:r>
            <a:r>
              <a:rPr lang="en-US" altLang="zh-CN"/>
              <a:t>I/O</a:t>
            </a:r>
            <a:r>
              <a:rPr lang="zh-CN" altLang="en-US"/>
              <a:t>系统</a:t>
            </a:r>
            <a:endParaRPr lang="zh-CN" altLang="en-US">
              <a:solidFill>
                <a:srgbClr val="CC0066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52736"/>
            <a:ext cx="8641836" cy="5472608"/>
          </a:xfrm>
        </p:spPr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集中式</a:t>
            </a:r>
            <a:r>
              <a:rPr lang="zh-CN" altLang="en-US"/>
              <a:t>总线仲裁</a:t>
            </a:r>
            <a:endParaRPr lang="en-US" altLang="zh-CN"/>
          </a:p>
          <a:p>
            <a:pPr>
              <a:spcBef>
                <a:spcPts val="0"/>
              </a:spcBef>
            </a:pPr>
            <a:endParaRPr lang="en-US" altLang="zh-CN"/>
          </a:p>
          <a:p>
            <a:pPr>
              <a:spcBef>
                <a:spcPts val="0"/>
              </a:spcBef>
            </a:pPr>
            <a:endParaRPr lang="en-US" altLang="zh-CN"/>
          </a:p>
          <a:p>
            <a:pPr>
              <a:spcBef>
                <a:spcPts val="0"/>
              </a:spcBef>
            </a:pPr>
            <a:endParaRPr lang="en-US" altLang="zh-CN"/>
          </a:p>
          <a:p>
            <a:pPr>
              <a:spcBef>
                <a:spcPts val="0"/>
              </a:spcBef>
            </a:pPr>
            <a:endParaRPr lang="en-US" altLang="zh-CN"/>
          </a:p>
          <a:p>
            <a:pPr>
              <a:spcBef>
                <a:spcPts val="0"/>
              </a:spcBef>
            </a:pPr>
            <a:endParaRPr lang="en-US" altLang="zh-CN"/>
          </a:p>
          <a:p>
            <a:pPr>
              <a:spcBef>
                <a:spcPts val="0"/>
              </a:spcBef>
            </a:pPr>
            <a:endParaRPr lang="en-US" altLang="zh-CN"/>
          </a:p>
          <a:p>
            <a:pPr>
              <a:spcBef>
                <a:spcPts val="0"/>
              </a:spcBef>
            </a:pP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分布式</a:t>
            </a:r>
            <a:r>
              <a:rPr lang="zh-CN" altLang="en-US"/>
              <a:t>总线仲裁：</a:t>
            </a:r>
            <a:br>
              <a:rPr lang="en-US" altLang="zh-CN"/>
            </a:br>
            <a:r>
              <a:rPr lang="zh-CN" altLang="en-US"/>
              <a:t>无需专门的总线仲裁器，仲裁逻辑分散在各设备中。</a:t>
            </a:r>
            <a:endParaRPr lang="en-US" altLang="zh-CN"/>
          </a:p>
          <a:p>
            <a:pPr lvl="1"/>
            <a:r>
              <a:rPr lang="zh-CN" altLang="en-US"/>
              <a:t>自举分布式仲裁方式</a:t>
            </a:r>
            <a:endParaRPr lang="en-US" altLang="zh-CN"/>
          </a:p>
          <a:p>
            <a:pPr lvl="1"/>
            <a:r>
              <a:rPr lang="zh-CN" altLang="en-US"/>
              <a:t>链式分布式仲裁方式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323850" y="1628877"/>
          <a:ext cx="8568632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2158"/>
                <a:gridCol w="2142158"/>
                <a:gridCol w="2142158"/>
                <a:gridCol w="2142158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菊花链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轮询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solidFill>
                            <a:srgbClr val="CC0066"/>
                          </a:solidFill>
                          <a:latin typeface="+mn-lt"/>
                          <a:ea typeface="+mn-ea"/>
                        </a:rPr>
                        <a:t>独立请求</a:t>
                      </a:r>
                      <a:endParaRPr lang="zh-CN" altLang="en-US" sz="2400" b="1">
                        <a:solidFill>
                          <a:srgbClr val="CC0066"/>
                        </a:solidFill>
                        <a:latin typeface="+mn-lt"/>
                        <a:ea typeface="+mn-ea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线数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  <a:ea typeface="+mn-ea"/>
                        </a:rPr>
                        <a:t>3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/>
                        <a:t>2</a:t>
                      </a:r>
                      <a:r>
                        <a:rPr lang="zh-CN" altLang="en-US" sz="2400" b="1"/>
                        <a:t>＋</a:t>
                      </a:r>
                      <a:r>
                        <a:rPr lang="en-US" altLang="zh-CN" sz="2400" b="1"/>
                        <a:t>[log</a:t>
                      </a:r>
                      <a:r>
                        <a:rPr lang="en-US" altLang="zh-CN" sz="2400" b="1" baseline="-25000"/>
                        <a:t>2</a:t>
                      </a:r>
                      <a:r>
                        <a:rPr lang="en-US" altLang="zh-CN" sz="2400" b="1"/>
                        <a:t>n]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latin typeface="+mn-lt"/>
                          <a:ea typeface="+mn-ea"/>
                        </a:rPr>
                        <a:t>2n</a:t>
                      </a:r>
                      <a:r>
                        <a:rPr lang="zh-CN" altLang="en-US" sz="2400" b="1">
                          <a:latin typeface="+mn-lt"/>
                          <a:ea typeface="+mn-ea"/>
                        </a:rPr>
                        <a:t>＋</a:t>
                      </a:r>
                      <a:r>
                        <a:rPr lang="en-US" altLang="zh-CN" sz="2400" b="1">
                          <a:latin typeface="+mn-lt"/>
                          <a:ea typeface="+mn-ea"/>
                        </a:rPr>
                        <a:t>1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可扩充性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好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差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差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可靠性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低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高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高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优先级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固定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可变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可变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总线分配速度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慢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慢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>
                          <a:latin typeface="+mn-lt"/>
                          <a:ea typeface="+mn-ea"/>
                        </a:rPr>
                        <a:t>快</a:t>
                      </a:r>
                      <a:endParaRPr lang="zh-CN" altLang="en-US" sz="2400" b="1">
                        <a:latin typeface="+mn-lt"/>
                        <a:ea typeface="+mn-ea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 bwMode="auto">
          <a:xfrm>
            <a:off x="5682716" y="45724"/>
            <a:ext cx="3416320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一、总线：总线仲裁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323850" y="555977"/>
            <a:ext cx="5235729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多个设备同时请求总线 </a:t>
            </a:r>
            <a:r>
              <a:rPr lang="zh-CN" altLang="en-US">
                <a:solidFill>
                  <a:srgbClr val="0000FF"/>
                </a:solidFill>
                <a:latin typeface="+mn-ea"/>
                <a:ea typeface="+mn-ea"/>
              </a:rPr>
              <a:t>→</a:t>
            </a:r>
            <a:r>
              <a:rPr lang="zh-CN" altLang="en-US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 仲裁</a:t>
            </a:r>
            <a:endParaRPr lang="zh-CN" altLang="en-US">
              <a:solidFill>
                <a:srgbClr val="0000FF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总线、</a:t>
            </a:r>
            <a:r>
              <a:rPr lang="en-US" altLang="zh-CN" dirty="0"/>
              <a:t>I/O</a:t>
            </a:r>
            <a:r>
              <a:rPr lang="zh-CN" altLang="en-US" dirty="0"/>
              <a:t>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836712"/>
            <a:ext cx="8589962" cy="5544697"/>
          </a:xfrm>
        </p:spPr>
        <p:txBody>
          <a:bodyPr/>
          <a:lstStyle/>
          <a:p>
            <a:r>
              <a:rPr lang="zh-CN" altLang="en-US" dirty="0"/>
              <a:t>典型的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系统总线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00FF"/>
                </a:solidFill>
              </a:rPr>
              <a:t>内总线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en-US" altLang="zh-CN"/>
              <a:t>ISA</a:t>
            </a:r>
            <a:r>
              <a:rPr lang="zh-CN" altLang="en-US"/>
              <a:t>总线（并行）</a:t>
            </a:r>
            <a:endParaRPr lang="zh-CN" altLang="en-US" dirty="0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PCI</a:t>
            </a:r>
            <a:r>
              <a:rPr lang="zh-CN" altLang="en-US"/>
              <a:t>总线（并行）（同步总线、集中式独立请求）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66"/>
                </a:solidFill>
              </a:rPr>
              <a:t>PCI Express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PCIe</a:t>
            </a:r>
            <a:r>
              <a:rPr lang="en-US" altLang="zh-CN">
                <a:latin typeface="+mn-ea"/>
              </a:rPr>
              <a:t>)</a:t>
            </a:r>
            <a:r>
              <a:rPr lang="zh-CN" altLang="en-US"/>
              <a:t>总线（串行、交换结构）</a:t>
            </a:r>
            <a:endParaRPr lang="zh-CN" altLang="en-US" dirty="0"/>
          </a:p>
          <a:p>
            <a:pPr>
              <a:spcBef>
                <a:spcPts val="1200"/>
              </a:spcBef>
            </a:pPr>
            <a:r>
              <a:rPr lang="zh-CN" altLang="en-US" dirty="0"/>
              <a:t>典型的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通信总线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0000FF"/>
                </a:solidFill>
              </a:rPr>
              <a:t>外总线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en-US" altLang="zh-CN"/>
              <a:t>RS-232C</a:t>
            </a:r>
            <a:r>
              <a:rPr lang="zh-CN" altLang="en-US"/>
              <a:t>（串行）</a:t>
            </a:r>
            <a:endParaRPr lang="zh-CN" altLang="en-US" dirty="0"/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USB</a:t>
            </a:r>
            <a:r>
              <a:rPr lang="zh-CN" altLang="en-US"/>
              <a:t>（串行）</a:t>
            </a:r>
            <a:endParaRPr lang="zh-CN" altLang="en-US" dirty="0"/>
          </a:p>
          <a:p>
            <a:pPr lvl="1"/>
            <a:r>
              <a:rPr lang="en-US" altLang="zh-CN"/>
              <a:t>SCSI</a:t>
            </a:r>
            <a:r>
              <a:rPr lang="zh-CN" altLang="en-US"/>
              <a:t>（并行）</a:t>
            </a:r>
            <a:endParaRPr lang="en-US" altLang="zh-CN" dirty="0"/>
          </a:p>
          <a:p>
            <a:pPr lvl="1"/>
            <a:r>
              <a:rPr lang="en-US" altLang="zh-CN"/>
              <a:t>SAS</a:t>
            </a:r>
            <a:r>
              <a:rPr lang="zh-CN" altLang="en-US"/>
              <a:t>（串行）</a:t>
            </a:r>
            <a:endParaRPr lang="zh-CN" altLang="en-US" dirty="0"/>
          </a:p>
          <a:p>
            <a:pPr lvl="1"/>
            <a:r>
              <a:rPr lang="en-US" altLang="zh-CN"/>
              <a:t>ATA</a:t>
            </a:r>
            <a:r>
              <a:rPr lang="zh-CN" altLang="en-US"/>
              <a:t>（并行）</a:t>
            </a:r>
            <a:endParaRPr lang="en-US" altLang="zh-CN" dirty="0"/>
          </a:p>
          <a:p>
            <a:pPr lvl="1"/>
            <a:r>
              <a:rPr lang="en-US" altLang="zh-CN"/>
              <a:t>SATA</a:t>
            </a:r>
            <a:r>
              <a:rPr lang="zh-CN" altLang="en-US"/>
              <a:t>（串行）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5323644" y="45724"/>
            <a:ext cx="3775393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二、总线：典型的总线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箭头: 下 5"/>
          <p:cNvSpPr/>
          <p:nvPr/>
        </p:nvSpPr>
        <p:spPr bwMode="auto">
          <a:xfrm>
            <a:off x="590550" y="1750069"/>
            <a:ext cx="216024" cy="598809"/>
          </a:xfrm>
          <a:prstGeom prst="downArrow">
            <a:avLst>
              <a:gd name="adj1" fmla="val 50000"/>
              <a:gd name="adj2" fmla="val 8495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 bwMode="auto">
          <a:xfrm>
            <a:off x="452389" y="1288405"/>
            <a:ext cx="494045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FF"/>
                </a:solidFill>
                <a:latin typeface="+mj-lt"/>
                <a:ea typeface="黑体" pitchFamily="2" charset="-122"/>
              </a:rPr>
              <a:t>慢</a:t>
            </a:r>
            <a:endParaRPr lang="zh-CN" altLang="en-US" sz="2400">
              <a:solidFill>
                <a:srgbClr val="FF00FF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452389" y="2348880"/>
            <a:ext cx="494045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00FF"/>
                </a:solidFill>
                <a:latin typeface="+mj-lt"/>
                <a:ea typeface="黑体" pitchFamily="2" charset="-122"/>
              </a:rPr>
              <a:t>快</a:t>
            </a:r>
            <a:endParaRPr lang="zh-CN" altLang="en-US" sz="2400">
              <a:solidFill>
                <a:srgbClr val="FF00FF"/>
              </a:solidFill>
              <a:latin typeface="+mj-lt"/>
              <a:ea typeface="黑体" pitchFamily="2" charset="-122"/>
            </a:endParaRP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  总线、</a:t>
            </a:r>
            <a:r>
              <a:rPr lang="en-US" altLang="zh-CN"/>
              <a:t>I/O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2269176" y="836712"/>
            <a:ext cx="6829859" cy="439248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/>
              <a:t>输入输出技术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程序查询 </a:t>
            </a:r>
            <a:r>
              <a:rPr lang="en-US" altLang="zh-CN"/>
              <a:t>—— </a:t>
            </a:r>
            <a:r>
              <a:rPr lang="zh-CN" altLang="en-US"/>
              <a:t>硬件简单、低成本</a:t>
            </a:r>
            <a:br>
              <a:rPr lang="en-US" altLang="zh-CN"/>
            </a:br>
            <a:r>
              <a:rPr lang="zh-CN" altLang="en-US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CPU不忙、外设</a:t>
            </a:r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无实时性</a:t>
            </a:r>
            <a:r>
              <a:rPr lang="zh-CN" altLang="en-US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要求的情况下使用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zh-CN" altLang="en-US"/>
              <a:t>中断 </a:t>
            </a:r>
            <a:r>
              <a:rPr lang="en-US" altLang="zh-CN"/>
              <a:t>—— </a:t>
            </a:r>
            <a:r>
              <a:rPr lang="zh-CN" altLang="en-US"/>
              <a:t>及时处理紧急事务</a:t>
            </a:r>
            <a:br>
              <a:rPr lang="en-US" altLang="zh-CN"/>
            </a:br>
            <a:r>
              <a:rPr lang="zh-CN" altLang="en-US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CPU忙、外设</a:t>
            </a:r>
            <a:r>
              <a:rPr lang="zh-CN" altLang="en-US" sz="240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有实时性</a:t>
            </a:r>
            <a:r>
              <a:rPr lang="zh-CN" altLang="en-US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要求的情况下使用</a:t>
            </a:r>
            <a:endParaRPr lang="en-US" altLang="zh-CN" sz="2400"/>
          </a:p>
          <a:p>
            <a:pPr lvl="1">
              <a:spcBef>
                <a:spcPts val="1200"/>
              </a:spcBef>
            </a:pPr>
            <a:r>
              <a:rPr lang="en-US" altLang="zh-CN"/>
              <a:t>DMA —— </a:t>
            </a:r>
            <a:r>
              <a:rPr lang="zh-CN" altLang="en-US"/>
              <a:t>高速传输大量数据</a:t>
            </a:r>
            <a:br>
              <a:rPr lang="en-US" altLang="zh-CN"/>
            </a:br>
            <a:r>
              <a:rPr lang="zh-CN" altLang="en-US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高速外设不经过</a:t>
            </a:r>
            <a:r>
              <a:rPr lang="en-US" altLang="zh-CN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与主存直接传输数据</a:t>
            </a:r>
            <a:endParaRPr lang="en-US" altLang="zh-CN"/>
          </a:p>
          <a:p>
            <a:pPr lvl="1">
              <a:spcBef>
                <a:spcPts val="1200"/>
              </a:spcBef>
            </a:pPr>
            <a:r>
              <a:rPr lang="en-US" altLang="zh-CN"/>
              <a:t>I/O</a:t>
            </a:r>
            <a:r>
              <a:rPr lang="zh-CN" altLang="en-US"/>
              <a:t>通道 </a:t>
            </a:r>
            <a:r>
              <a:rPr lang="en-US" altLang="zh-CN"/>
              <a:t>—— </a:t>
            </a:r>
            <a:r>
              <a:rPr lang="zh-CN" altLang="en-US"/>
              <a:t>用于大型计算机系统</a:t>
            </a:r>
            <a:br>
              <a:rPr lang="en-US" altLang="zh-CN"/>
            </a:b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大型计算机系统多设备</a:t>
            </a:r>
            <a:r>
              <a:rPr lang="zh-CN" altLang="en-US" sz="240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管理、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并发高速传输</a:t>
            </a:r>
            <a:endParaRPr lang="zh-CN" altLang="en-US"/>
          </a:p>
        </p:txBody>
      </p:sp>
      <p:sp>
        <p:nvSpPr>
          <p:cNvPr id="3" name="箭头: 燕尾形 2"/>
          <p:cNvSpPr/>
          <p:nvPr/>
        </p:nvSpPr>
        <p:spPr bwMode="auto">
          <a:xfrm rot="5400000">
            <a:off x="1171261" y="2879358"/>
            <a:ext cx="2213084" cy="432048"/>
          </a:xfrm>
          <a:prstGeom prst="notchedRightArrow">
            <a:avLst>
              <a:gd name="adj1" fmla="val 50000"/>
              <a:gd name="adj2" fmla="val 93192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107504" y="2751311"/>
            <a:ext cx="2073003" cy="461665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6600"/>
                </a:solidFill>
                <a:latin typeface="+mj-lt"/>
                <a:ea typeface="黑体" pitchFamily="2" charset="-122"/>
              </a:rPr>
              <a:t>占用CPU资源</a:t>
            </a:r>
            <a:endParaRPr lang="zh-CN" altLang="en-US" sz="2400">
              <a:solidFill>
                <a:srgbClr val="FF6600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2005132" y="1412776"/>
            <a:ext cx="54534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+mj-lt"/>
                <a:ea typeface="黑体" pitchFamily="2" charset="-122"/>
              </a:rPr>
              <a:t>高</a:t>
            </a:r>
            <a:endParaRPr lang="zh-CN" altLang="en-US">
              <a:solidFill>
                <a:srgbClr val="FF00FF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2005132" y="4201924"/>
            <a:ext cx="545341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FF"/>
                </a:solidFill>
                <a:latin typeface="+mj-lt"/>
                <a:ea typeface="黑体" pitchFamily="2" charset="-122"/>
              </a:rPr>
              <a:t>低</a:t>
            </a:r>
            <a:endParaRPr lang="zh-CN" altLang="en-US">
              <a:solidFill>
                <a:srgbClr val="FF00FF"/>
              </a:solidFill>
              <a:latin typeface="+mj-lt"/>
              <a:ea typeface="黑体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 bwMode="auto">
          <a:xfrm>
            <a:off x="5871869" y="45724"/>
            <a:ext cx="3227167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三、输入</a:t>
            </a:r>
            <a:r>
              <a:rPr lang="en-US" altLang="zh-CN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ker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输出技术</a:t>
            </a:r>
            <a:endParaRPr lang="zh-CN" altLang="en-US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 bwMode="auto">
          <a:xfrm>
            <a:off x="2267744" y="5786100"/>
            <a:ext cx="2844048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marL="355600" indent="-355600" algn="l">
              <a:spcBef>
                <a:spcPts val="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>
                <a:latin typeface="+mn-lt"/>
                <a:ea typeface="+mn-ea"/>
              </a:rPr>
              <a:t>DMA</a:t>
            </a:r>
            <a:r>
              <a:rPr lang="zh-CN" altLang="en-US">
                <a:latin typeface="+mn-lt"/>
                <a:ea typeface="+mn-ea"/>
              </a:rPr>
              <a:t>的过程。</a:t>
            </a:r>
            <a:endParaRPr lang="zh-CN" altLang="en-US">
              <a:latin typeface="+mn-lt"/>
              <a:ea typeface="+mn-ea"/>
            </a:endParaRPr>
          </a:p>
        </p:txBody>
      </p:sp>
      <p:sp>
        <p:nvSpPr>
          <p:cNvPr id="13" name="文本框 12"/>
          <p:cNvSpPr txBox="1"/>
          <p:nvPr/>
        </p:nvSpPr>
        <p:spPr bwMode="auto">
          <a:xfrm>
            <a:off x="2267744" y="5290873"/>
            <a:ext cx="2707793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>
            <a:spAutoFit/>
          </a:bodyPr>
          <a:lstStyle/>
          <a:p>
            <a:pPr marL="355600" indent="-355600" algn="l">
              <a:spcBef>
                <a:spcPts val="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>
                <a:latin typeface="+mn-lt"/>
                <a:ea typeface="+mn-ea"/>
              </a:rPr>
              <a:t>中断的过程。</a:t>
            </a:r>
            <a:endParaRPr lang="zh-CN" altLang="en-US">
              <a:latin typeface="+mn-lt"/>
              <a:ea typeface="+mn-ea"/>
            </a:endParaRP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章  并行体系结构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052736"/>
            <a:ext cx="8280598" cy="5688806"/>
          </a:xfrm>
        </p:spPr>
        <p:txBody>
          <a:bodyPr/>
          <a:lstStyle/>
          <a:p>
            <a:pPr algn="l">
              <a:spcBef>
                <a:spcPts val="0"/>
              </a:spcBef>
            </a:pPr>
            <a:r>
              <a:rPr lang="en-US" altLang="zh-CN">
                <a:solidFill>
                  <a:srgbClr val="FF0066"/>
                </a:solidFill>
              </a:rPr>
              <a:t>SISD: </a:t>
            </a:r>
            <a:r>
              <a:rPr lang="zh-CN" altLang="en-US">
                <a:solidFill>
                  <a:srgbClr val="FF0066"/>
                </a:solidFill>
              </a:rPr>
              <a:t>单指令流单数据流</a:t>
            </a:r>
            <a:endParaRPr lang="en-US" altLang="zh-CN">
              <a:solidFill>
                <a:srgbClr val="FF0066"/>
              </a:solidFill>
            </a:endParaRPr>
          </a:p>
          <a:p>
            <a:pPr marL="361950" lvl="1" indent="0" algn="l">
              <a:spcBef>
                <a:spcPts val="0"/>
              </a:spcBef>
              <a:buNone/>
            </a:pPr>
            <a:r>
              <a:rPr lang="zh-CN" altLang="en-US"/>
              <a:t>这是传统的</a:t>
            </a:r>
            <a:r>
              <a:rPr lang="zh-CN" altLang="en-US">
                <a:solidFill>
                  <a:srgbClr val="0000FF"/>
                </a:solidFill>
              </a:rPr>
              <a:t>串行计算机</a:t>
            </a:r>
            <a:r>
              <a:rPr lang="zh-CN" altLang="en-US"/>
              <a:t>。</a:t>
            </a:r>
            <a:endParaRPr lang="en-US" altLang="zh-CN"/>
          </a:p>
          <a:p>
            <a:pPr algn="l">
              <a:spcBef>
                <a:spcPts val="0"/>
              </a:spcBef>
            </a:pPr>
            <a:r>
              <a:rPr lang="en-US" altLang="zh-CN">
                <a:solidFill>
                  <a:srgbClr val="FF0066"/>
                </a:solidFill>
              </a:rPr>
              <a:t>SIMD: </a:t>
            </a:r>
            <a:r>
              <a:rPr lang="zh-CN" altLang="en-US">
                <a:solidFill>
                  <a:srgbClr val="FF0066"/>
                </a:solidFill>
              </a:rPr>
              <a:t>单指令流多数据流</a:t>
            </a:r>
            <a:endParaRPr lang="en-US" altLang="zh-CN">
              <a:solidFill>
                <a:srgbClr val="FF0066"/>
              </a:solidFill>
            </a:endParaRPr>
          </a:p>
          <a:p>
            <a:pPr lvl="1" algn="l"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</a:rPr>
              <a:t>阵列处理机</a:t>
            </a:r>
            <a:endParaRPr lang="en-US" altLang="zh-CN">
              <a:solidFill>
                <a:srgbClr val="0000FF"/>
              </a:solidFill>
            </a:endParaRPr>
          </a:p>
          <a:p>
            <a:pPr lvl="1" algn="l"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</a:rPr>
              <a:t>向量处理机</a:t>
            </a:r>
            <a:endParaRPr lang="en-US" altLang="zh-CN">
              <a:solidFill>
                <a:srgbClr val="0000FF"/>
              </a:solidFill>
            </a:endParaRPr>
          </a:p>
          <a:p>
            <a:pPr algn="l">
              <a:spcBef>
                <a:spcPts val="0"/>
              </a:spcBef>
            </a:pPr>
            <a:r>
              <a:rPr lang="en-US" altLang="zh-CN">
                <a:solidFill>
                  <a:srgbClr val="FF0066"/>
                </a:solidFill>
              </a:rPr>
              <a:t>MIMD: </a:t>
            </a:r>
            <a:r>
              <a:rPr lang="zh-CN" altLang="en-US">
                <a:solidFill>
                  <a:srgbClr val="FF0066"/>
                </a:solidFill>
              </a:rPr>
              <a:t>多指令流多数据流</a:t>
            </a:r>
            <a:endParaRPr lang="en-US" altLang="zh-CN">
              <a:solidFill>
                <a:srgbClr val="FF0066"/>
              </a:solidFill>
            </a:endParaRPr>
          </a:p>
          <a:p>
            <a:pPr lvl="1" algn="l"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</a:rPr>
              <a:t>多处理器系统</a:t>
            </a:r>
            <a:endParaRPr lang="en-US" altLang="zh-CN">
              <a:solidFill>
                <a:srgbClr val="0000FF"/>
              </a:solidFill>
            </a:endParaRPr>
          </a:p>
          <a:p>
            <a:pPr lvl="2" algn="l">
              <a:spcBef>
                <a:spcPts val="0"/>
              </a:spcBef>
            </a:pPr>
            <a:r>
              <a:rPr lang="en-US" altLang="zh-CN"/>
              <a:t>UMA</a:t>
            </a:r>
            <a:r>
              <a:rPr lang="zh-CN" altLang="en-US"/>
              <a:t>：一致性存储器访问</a:t>
            </a:r>
            <a:endParaRPr lang="en-US" altLang="zh-CN"/>
          </a:p>
          <a:p>
            <a:pPr lvl="2" algn="l">
              <a:spcBef>
                <a:spcPts val="0"/>
              </a:spcBef>
            </a:pPr>
            <a:r>
              <a:rPr lang="en-US" altLang="zh-CN"/>
              <a:t>NUMA</a:t>
            </a:r>
            <a:r>
              <a:rPr lang="zh-CN" altLang="en-US"/>
              <a:t>：非一致性存储器访问</a:t>
            </a:r>
            <a:endParaRPr lang="en-US" altLang="zh-CN"/>
          </a:p>
          <a:p>
            <a:pPr lvl="1" algn="l"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</a:rPr>
              <a:t>多计算机系统</a:t>
            </a:r>
            <a:r>
              <a:rPr lang="zh-CN" altLang="en-US"/>
              <a:t>：性能与节点数成正比</a:t>
            </a:r>
            <a:endParaRPr lang="en-US" altLang="zh-CN"/>
          </a:p>
          <a:p>
            <a:pPr lvl="2" algn="l">
              <a:spcBef>
                <a:spcPts val="0"/>
              </a:spcBef>
            </a:pPr>
            <a:r>
              <a:rPr lang="zh-CN" altLang="en-US"/>
              <a:t>大规模并行处理机 </a:t>
            </a:r>
            <a:r>
              <a:rPr lang="en-US" altLang="zh-CN"/>
              <a:t>MPP</a:t>
            </a:r>
            <a:endParaRPr lang="en-US" altLang="zh-CN"/>
          </a:p>
          <a:p>
            <a:pPr lvl="2" algn="l">
              <a:spcBef>
                <a:spcPts val="0"/>
              </a:spcBef>
            </a:pPr>
            <a:r>
              <a:rPr lang="zh-CN" altLang="en-US"/>
              <a:t>集群 </a:t>
            </a:r>
            <a:r>
              <a:rPr lang="en-US" altLang="zh-CN"/>
              <a:t>Cluster</a:t>
            </a:r>
            <a:endParaRPr lang="en-US" altLang="zh-CN"/>
          </a:p>
          <a:p>
            <a:pPr lvl="2" algn="l">
              <a:spcBef>
                <a:spcPts val="0"/>
              </a:spcBef>
            </a:pPr>
            <a:r>
              <a:rPr lang="zh-CN" altLang="en-US"/>
              <a:t>网格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 bwMode="auto">
          <a:xfrm>
            <a:off x="457200" y="548680"/>
            <a:ext cx="6923112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/>
              <a:t>计算机系统的分类（</a:t>
            </a:r>
            <a:r>
              <a:rPr lang="en-US" altLang="zh-CN"/>
              <a:t>Flynn</a:t>
            </a:r>
            <a:r>
              <a:rPr lang="zh-CN" altLang="en-US"/>
              <a:t>分类法）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章  并行体系结构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692696"/>
            <a:ext cx="8892480" cy="5976664"/>
          </a:xfrm>
        </p:spPr>
        <p:txBody>
          <a:bodyPr/>
          <a:lstStyle/>
          <a:p>
            <a:pPr algn="l"/>
            <a:r>
              <a:rPr lang="zh-CN" altLang="en-US" sz="2400"/>
              <a:t>因为</a:t>
            </a:r>
            <a:r>
              <a:rPr lang="zh-CN" altLang="en-US" sz="2400">
                <a:solidFill>
                  <a:srgbClr val="9900FF"/>
                </a:solidFill>
              </a:rPr>
              <a:t>微处理器芯片</a:t>
            </a:r>
            <a:r>
              <a:rPr lang="zh-CN" altLang="en-US" sz="2400"/>
              <a:t>和</a:t>
            </a:r>
            <a:r>
              <a:rPr lang="zh-CN" altLang="en-US" sz="2400">
                <a:solidFill>
                  <a:srgbClr val="9900FF"/>
                </a:solidFill>
              </a:rPr>
              <a:t>内存条</a:t>
            </a:r>
            <a:r>
              <a:rPr lang="zh-CN" altLang="en-US" sz="2400"/>
              <a:t>都安装在一块电路板</a:t>
            </a:r>
            <a:r>
              <a:rPr lang="en-US" altLang="zh-CN" sz="2400">
                <a:latin typeface="宋体" pitchFamily="2" charset="-122"/>
              </a:rPr>
              <a:t>(</a:t>
            </a:r>
            <a:r>
              <a:rPr lang="zh-CN" altLang="en-US" sz="2400"/>
              <a:t>主板</a:t>
            </a:r>
            <a:r>
              <a:rPr lang="en-US" altLang="zh-CN" sz="2400">
                <a:latin typeface="宋体" pitchFamily="2" charset="-122"/>
              </a:rPr>
              <a:t>)</a:t>
            </a:r>
            <a:r>
              <a:rPr lang="zh-CN" altLang="en-US" sz="2400"/>
              <a:t>上，</a:t>
            </a:r>
            <a:br>
              <a:rPr lang="en-US" altLang="zh-CN" sz="2400"/>
            </a:br>
            <a:r>
              <a:rPr lang="zh-CN" altLang="en-US" sz="2400"/>
              <a:t>每个处理器</a:t>
            </a:r>
            <a:r>
              <a:rPr lang="en-US" altLang="zh-CN" sz="2400">
                <a:latin typeface="宋体" pitchFamily="2" charset="-122"/>
              </a:rPr>
              <a:t>(</a:t>
            </a:r>
            <a:r>
              <a:rPr lang="zh-CN" altLang="en-US" sz="2400"/>
              <a:t>内核</a:t>
            </a:r>
            <a:r>
              <a:rPr lang="en-US" altLang="zh-CN" sz="2400">
                <a:latin typeface="宋体" pitchFamily="2" charset="-122"/>
              </a:rPr>
              <a:t>)</a:t>
            </a:r>
            <a:r>
              <a:rPr lang="zh-CN" altLang="en-US" sz="2400"/>
              <a:t>访问内存的延时都很小，</a:t>
            </a:r>
            <a:br>
              <a:rPr lang="en-US" altLang="zh-CN" sz="2400"/>
            </a:br>
            <a:r>
              <a:rPr lang="zh-CN" altLang="en-US" sz="2400"/>
              <a:t>所以</a:t>
            </a:r>
            <a:r>
              <a:rPr lang="zh-CN" altLang="en-US" sz="24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所有处理器</a:t>
            </a:r>
            <a:r>
              <a:rPr lang="en-US" altLang="zh-CN" sz="24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4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内核</a:t>
            </a:r>
            <a:r>
              <a:rPr lang="en-US" altLang="zh-CN" sz="2400">
                <a:solidFill>
                  <a:srgbClr val="0080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共享内存</a:t>
            </a:r>
            <a:r>
              <a:rPr lang="zh-CN" altLang="en-US" sz="2400"/>
              <a:t>。</a:t>
            </a:r>
            <a:endParaRPr lang="en-US" altLang="zh-CN" sz="2400"/>
          </a:p>
          <a:p>
            <a:pPr algn="l"/>
            <a:r>
              <a:rPr lang="zh-CN" altLang="en-US" sz="2400"/>
              <a:t>根据每个处理器</a:t>
            </a:r>
            <a:r>
              <a:rPr lang="en-US" altLang="zh-CN" sz="2400"/>
              <a:t>/</a:t>
            </a:r>
            <a:r>
              <a:rPr lang="zh-CN" altLang="en-US" sz="2400"/>
              <a:t>内核访问内存的时间是否一样，分为</a:t>
            </a:r>
            <a:endParaRPr lang="en-US" altLang="zh-CN" sz="2400"/>
          </a:p>
          <a:p>
            <a:pPr marL="630555" lvl="1" indent="-274955" algn="l"/>
            <a:r>
              <a:rPr lang="en-US" altLang="zh-CN" sz="2400"/>
              <a:t>UMA</a:t>
            </a:r>
            <a:r>
              <a:rPr lang="zh-CN" altLang="en-US" sz="2400"/>
              <a:t>：每个处理器</a:t>
            </a:r>
            <a:r>
              <a:rPr lang="en-US" altLang="zh-CN" sz="2400"/>
              <a:t>/</a:t>
            </a:r>
            <a:r>
              <a:rPr lang="zh-CN" altLang="en-US" sz="2400"/>
              <a:t>内核访问内存的时间一样</a:t>
            </a:r>
            <a:endParaRPr lang="en-US" altLang="zh-CN" sz="2400"/>
          </a:p>
          <a:p>
            <a:pPr marL="630555" lvl="1" indent="-274955" algn="l"/>
            <a:r>
              <a:rPr lang="en-US" altLang="zh-CN" sz="2400"/>
              <a:t>NUMA</a:t>
            </a:r>
            <a:r>
              <a:rPr lang="zh-CN" altLang="en-US" sz="2400"/>
              <a:t>：～不一样。</a:t>
            </a:r>
            <a:endParaRPr lang="en-US" altLang="zh-CN" sz="2400"/>
          </a:p>
          <a:p>
            <a:pPr algn="l"/>
            <a:r>
              <a:rPr lang="zh-CN" altLang="en-US" sz="2400"/>
              <a:t>每个处理器</a:t>
            </a:r>
            <a:r>
              <a:rPr lang="en-US" altLang="zh-CN" sz="2400"/>
              <a:t>/</a:t>
            </a:r>
            <a:r>
              <a:rPr lang="zh-CN" altLang="en-US" sz="2400"/>
              <a:t>内核</a:t>
            </a:r>
            <a:r>
              <a:rPr lang="zh-CN" altLang="en-US" sz="2400">
                <a:solidFill>
                  <a:srgbClr val="FF0000"/>
                </a:solidFill>
              </a:rPr>
              <a:t>功能相同</a:t>
            </a:r>
            <a:r>
              <a:rPr lang="en-US" altLang="zh-CN" sz="2400">
                <a:latin typeface="宋体" pitchFamily="2" charset="-122"/>
                <a:ea typeface="宋体" pitchFamily="2" charset="-122"/>
              </a:rPr>
              <a:t>(</a:t>
            </a:r>
            <a:r>
              <a:rPr lang="zh-CN" altLang="en-US" sz="2400"/>
              <a:t>在操作系统看来是可以互换的</a:t>
            </a:r>
            <a:r>
              <a:rPr lang="en-US" altLang="zh-CN" sz="2400"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400"/>
              <a:t>的</a:t>
            </a:r>
            <a:r>
              <a:rPr lang="en-US" altLang="zh-CN" sz="2400"/>
              <a:t>UMA</a:t>
            </a:r>
            <a:r>
              <a:rPr lang="zh-CN" altLang="en-US" sz="2400"/>
              <a:t>叫做</a:t>
            </a:r>
            <a:r>
              <a:rPr lang="en-US" altLang="zh-CN" sz="2400"/>
              <a:t>SMP</a:t>
            </a:r>
            <a:r>
              <a:rPr lang="zh-CN" altLang="en-US" sz="2400"/>
              <a:t>。</a:t>
            </a:r>
            <a:endParaRPr lang="en-US" altLang="zh-CN" sz="2400"/>
          </a:p>
          <a:p>
            <a:pPr marL="630555" lvl="1" indent="-274955"/>
            <a:r>
              <a:rPr lang="zh-CN" altLang="en-US" sz="2400"/>
              <a:t>多个处理机</a:t>
            </a:r>
            <a:r>
              <a:rPr lang="zh-CN" altLang="en-US" sz="2400">
                <a:solidFill>
                  <a:srgbClr val="FF0000"/>
                </a:solidFill>
              </a:rPr>
              <a:t>共享同一主存储器</a:t>
            </a:r>
            <a:r>
              <a:rPr lang="zh-CN" altLang="en-US" sz="2400"/>
              <a:t>。</a:t>
            </a:r>
            <a:br>
              <a:rPr lang="en-US" altLang="zh-CN" sz="2400"/>
            </a:br>
            <a:r>
              <a:rPr lang="zh-CN" altLang="en-US" sz="2400"/>
              <a:t>并且，每一个处理机访问主存储器的</a:t>
            </a:r>
            <a:r>
              <a:rPr lang="zh-CN" altLang="en-US" sz="2400">
                <a:solidFill>
                  <a:srgbClr val="FF0000"/>
                </a:solidFill>
              </a:rPr>
              <a:t>时间</a:t>
            </a:r>
            <a:r>
              <a:rPr lang="zh-CN" altLang="en-US" sz="2400"/>
              <a:t>是</a:t>
            </a:r>
            <a:r>
              <a:rPr lang="zh-CN" altLang="en-US" sz="2400">
                <a:solidFill>
                  <a:srgbClr val="FF0000"/>
                </a:solidFill>
              </a:rPr>
              <a:t>相同</a:t>
            </a:r>
            <a:r>
              <a:rPr lang="zh-CN" altLang="en-US" sz="2400"/>
              <a:t>的。</a:t>
            </a:r>
            <a:endParaRPr lang="en-US" altLang="zh-CN" sz="2400"/>
          </a:p>
          <a:p>
            <a:pPr marL="630555" lvl="1" indent="-274955"/>
            <a:r>
              <a:rPr lang="zh-CN" altLang="en-US" sz="2400"/>
              <a:t>每一</a:t>
            </a:r>
            <a:r>
              <a:rPr lang="zh-CN" altLang="en-US" sz="2400">
                <a:solidFill>
                  <a:srgbClr val="0000FF"/>
                </a:solidFill>
              </a:rPr>
              <a:t>处理机</a:t>
            </a:r>
            <a:r>
              <a:rPr lang="zh-CN" altLang="en-US" sz="2400"/>
              <a:t>都能完成</a:t>
            </a:r>
            <a:r>
              <a:rPr lang="zh-CN" altLang="en-US" sz="2400">
                <a:solidFill>
                  <a:srgbClr val="0000FF"/>
                </a:solidFill>
              </a:rPr>
              <a:t>相同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0000FF"/>
                </a:solidFill>
              </a:rPr>
              <a:t>功能</a:t>
            </a:r>
            <a:r>
              <a:rPr lang="zh-CN" altLang="en-US" sz="2400"/>
              <a:t>。</a:t>
            </a:r>
            <a:endParaRPr lang="en-US" altLang="zh-CN" sz="2400"/>
          </a:p>
          <a:p>
            <a:pPr marL="630555" lvl="1" indent="-274955"/>
            <a:r>
              <a:rPr lang="zh-CN" altLang="en-US" sz="2400"/>
              <a:t>所有的处理机通过相同的通道或不同的通道</a:t>
            </a:r>
            <a:r>
              <a:rPr lang="zh-CN" altLang="en-US" sz="2400">
                <a:solidFill>
                  <a:srgbClr val="FF0000"/>
                </a:solidFill>
              </a:rPr>
              <a:t>共享</a:t>
            </a:r>
            <a:r>
              <a:rPr lang="en-US" altLang="zh-CN" sz="2400">
                <a:solidFill>
                  <a:srgbClr val="FF0000"/>
                </a:solidFill>
              </a:rPr>
              <a:t>IO</a:t>
            </a:r>
            <a:r>
              <a:rPr lang="zh-CN" altLang="en-US" sz="2400">
                <a:solidFill>
                  <a:srgbClr val="FF0000"/>
                </a:solidFill>
              </a:rPr>
              <a:t>设备</a:t>
            </a:r>
            <a:r>
              <a:rPr lang="zh-CN" altLang="en-US" sz="2400"/>
              <a:t>。</a:t>
            </a:r>
            <a:endParaRPr lang="en-US" altLang="zh-CN" sz="2400"/>
          </a:p>
          <a:p>
            <a:pPr algn="l"/>
            <a:r>
              <a:rPr lang="zh-CN" altLang="en-US" sz="2400">
                <a:solidFill>
                  <a:srgbClr val="D60093"/>
                </a:solidFill>
              </a:rPr>
              <a:t>多处理器系统</a:t>
            </a:r>
            <a:r>
              <a:rPr lang="zh-CN" altLang="en-US" sz="2400"/>
              <a:t>在一个集中的</a:t>
            </a:r>
            <a:r>
              <a:rPr lang="zh-CN" altLang="en-US" sz="2400">
                <a:solidFill>
                  <a:srgbClr val="9900FF"/>
                </a:solidFill>
              </a:rPr>
              <a:t>操作系统</a:t>
            </a:r>
            <a:r>
              <a:rPr lang="zh-CN" altLang="en-US" sz="2400"/>
              <a:t>统一管理下工作。</a:t>
            </a:r>
            <a:endParaRPr lang="en-US" altLang="zh-CN" sz="2400"/>
          </a:p>
          <a:p>
            <a:pPr algn="l"/>
            <a:r>
              <a:rPr lang="zh-CN" altLang="en-US" sz="2400">
                <a:solidFill>
                  <a:srgbClr val="9900FF"/>
                </a:solidFill>
              </a:rPr>
              <a:t>操作系统</a:t>
            </a:r>
            <a:r>
              <a:rPr lang="zh-CN" altLang="en-US" sz="2400"/>
              <a:t>为每一个</a:t>
            </a:r>
            <a:r>
              <a:rPr lang="zh-CN" altLang="en-US" sz="2400">
                <a:solidFill>
                  <a:srgbClr val="0000FF"/>
                </a:solidFill>
              </a:rPr>
              <a:t>逻辑内核</a:t>
            </a:r>
            <a:r>
              <a:rPr lang="zh-CN" altLang="en-US" sz="2400"/>
              <a:t>按排</a:t>
            </a:r>
            <a:r>
              <a:rPr lang="zh-CN" altLang="en-US" sz="2400">
                <a:solidFill>
                  <a:srgbClr val="008000"/>
                </a:solidFill>
              </a:rPr>
              <a:t>进程</a:t>
            </a:r>
            <a:r>
              <a:rPr lang="zh-CN" altLang="en-US" sz="2400"/>
              <a:t>或</a:t>
            </a:r>
            <a:r>
              <a:rPr lang="zh-CN" altLang="en-US" sz="2400">
                <a:solidFill>
                  <a:srgbClr val="008000"/>
                </a:solidFill>
              </a:rPr>
              <a:t>线程</a:t>
            </a:r>
            <a:r>
              <a:rPr lang="zh-CN" altLang="en-US" sz="2400"/>
              <a:t>，</a:t>
            </a:r>
            <a:br>
              <a:rPr lang="en-US" altLang="zh-CN" sz="2400"/>
            </a:br>
            <a:r>
              <a:rPr lang="zh-CN" altLang="en-US" sz="2400"/>
              <a:t>进行统一调度与控制。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 bwMode="auto">
          <a:xfrm>
            <a:off x="5796136" y="44777"/>
            <a:ext cx="2592288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zh-CN" altLang="en-US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多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处理器</a:t>
            </a:r>
            <a:r>
              <a:rPr lang="zh-CN" altLang="en-US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系统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章  并行体系结构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620688"/>
            <a:ext cx="8892480" cy="5976838"/>
          </a:xfrm>
        </p:spPr>
        <p:txBody>
          <a:bodyPr/>
          <a:lstStyle/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D60093"/>
                </a:solidFill>
              </a:rPr>
              <a:t>MPP</a:t>
            </a:r>
            <a:r>
              <a:rPr lang="zh-CN" altLang="en-US" sz="2400"/>
              <a:t>：</a:t>
            </a:r>
            <a:r>
              <a:rPr lang="zh-CN" altLang="en-US" sz="2400">
                <a:solidFill>
                  <a:srgbClr val="D60093"/>
                </a:solidFill>
              </a:rPr>
              <a:t>大规模并行处理机</a:t>
            </a:r>
            <a:endParaRPr lang="en-US" altLang="zh-CN" sz="2400">
              <a:solidFill>
                <a:srgbClr val="D60093"/>
              </a:solidFill>
            </a:endParaRPr>
          </a:p>
          <a:p>
            <a:pPr marL="630555" lvl="1" indent="-274955" algn="l">
              <a:spcBef>
                <a:spcPts val="0"/>
              </a:spcBef>
            </a:pPr>
            <a:r>
              <a:rPr lang="zh-CN" altLang="en-US" sz="2400"/>
              <a:t>强调</a:t>
            </a:r>
            <a:r>
              <a:rPr lang="zh-CN" altLang="en-US" sz="2400">
                <a:solidFill>
                  <a:srgbClr val="008000"/>
                </a:solidFill>
              </a:rPr>
              <a:t>高性能</a:t>
            </a:r>
            <a:r>
              <a:rPr lang="zh-CN" altLang="en-US" sz="2400"/>
              <a:t>，节点定制。</a:t>
            </a:r>
            <a:endParaRPr lang="en-US" altLang="zh-CN" sz="2400"/>
          </a:p>
          <a:p>
            <a:pPr marL="630555" lvl="1" indent="-274955" algn="l">
              <a:spcBef>
                <a:spcPts val="0"/>
              </a:spcBef>
            </a:pPr>
            <a:r>
              <a:rPr lang="zh-CN" altLang="en-US" sz="2400"/>
              <a:t>节点之间使用高性能的</a:t>
            </a:r>
            <a:r>
              <a:rPr lang="zh-CN" altLang="en-US" sz="2400">
                <a:solidFill>
                  <a:srgbClr val="0000FF"/>
                </a:solidFill>
              </a:rPr>
              <a:t>定制</a:t>
            </a:r>
            <a:r>
              <a:rPr lang="zh-CN" altLang="en-US" sz="2400"/>
              <a:t>的高速</a:t>
            </a:r>
            <a:r>
              <a:rPr lang="zh-CN" altLang="en-US" sz="2400">
                <a:solidFill>
                  <a:srgbClr val="0000FF"/>
                </a:solidFill>
              </a:rPr>
              <a:t>互连网络</a:t>
            </a:r>
            <a:r>
              <a:rPr lang="zh-CN" altLang="en-US" sz="2400"/>
              <a:t>。</a:t>
            </a:r>
            <a:endParaRPr lang="zh-CN" altLang="en-US" sz="2400"/>
          </a:p>
          <a:p>
            <a:pPr algn="l">
              <a:spcBef>
                <a:spcPts val="0"/>
              </a:spcBef>
            </a:pPr>
            <a:r>
              <a:rPr lang="en-US" altLang="zh-CN" sz="2400">
                <a:solidFill>
                  <a:srgbClr val="D60093"/>
                </a:solidFill>
              </a:rPr>
              <a:t>Cluster</a:t>
            </a:r>
            <a:r>
              <a:rPr lang="zh-CN" altLang="en-US" sz="2400"/>
              <a:t>：</a:t>
            </a:r>
            <a:r>
              <a:rPr lang="zh-CN" altLang="en-US" sz="2400">
                <a:solidFill>
                  <a:srgbClr val="D60093"/>
                </a:solidFill>
              </a:rPr>
              <a:t>集群</a:t>
            </a:r>
            <a:endParaRPr lang="en-US" altLang="zh-CN" sz="2400">
              <a:solidFill>
                <a:srgbClr val="D60093"/>
              </a:solidFill>
            </a:endParaRPr>
          </a:p>
          <a:p>
            <a:pPr marL="630555" lvl="1" indent="-274955" algn="l">
              <a:spcBef>
                <a:spcPts val="0"/>
              </a:spcBef>
            </a:pPr>
            <a:r>
              <a:rPr lang="zh-CN" altLang="en-US" sz="2400"/>
              <a:t>强调</a:t>
            </a:r>
            <a:r>
              <a:rPr lang="zh-CN" altLang="en-US" sz="2400">
                <a:solidFill>
                  <a:srgbClr val="008000"/>
                </a:solidFill>
              </a:rPr>
              <a:t>性价比</a:t>
            </a:r>
            <a:r>
              <a:rPr lang="zh-CN" altLang="en-US" sz="2400"/>
              <a:t>，节点用商用的</a:t>
            </a:r>
            <a:r>
              <a:rPr lang="en-US" altLang="zh-CN" sz="2400"/>
              <a:t>PC</a:t>
            </a:r>
            <a:r>
              <a:rPr lang="zh-CN" altLang="en-US" sz="2400"/>
              <a:t>机或服务器。</a:t>
            </a:r>
            <a:endParaRPr lang="en-US" altLang="zh-CN" sz="2400"/>
          </a:p>
          <a:p>
            <a:pPr marL="630555" lvl="1" indent="-274955" algn="l">
              <a:spcBef>
                <a:spcPts val="0"/>
              </a:spcBef>
            </a:pPr>
            <a:r>
              <a:rPr lang="zh-CN" altLang="en-US" sz="2400"/>
              <a:t>结点之间采用</a:t>
            </a:r>
            <a:r>
              <a:rPr lang="zh-CN" altLang="en-US" sz="2400">
                <a:solidFill>
                  <a:srgbClr val="0000FF"/>
                </a:solidFill>
              </a:rPr>
              <a:t>商品化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0000FF"/>
                </a:solidFill>
              </a:rPr>
              <a:t>网络</a:t>
            </a:r>
            <a:r>
              <a:rPr lang="en-US" altLang="zh-CN" sz="2400">
                <a:latin typeface="楷体" panose="02010609060101010101" pitchFamily="49" charset="-122"/>
              </a:rPr>
              <a:t>(</a:t>
            </a:r>
            <a:r>
              <a:rPr lang="zh-CN" altLang="en-US" sz="2400"/>
              <a:t>比如千兆以太网</a:t>
            </a:r>
            <a:r>
              <a:rPr lang="en-US" altLang="zh-CN" sz="2400">
                <a:latin typeface="楷体" panose="02010609060101010101" pitchFamily="49" charset="-122"/>
              </a:rPr>
              <a:t>)</a:t>
            </a:r>
            <a:r>
              <a:rPr lang="zh-CN" altLang="en-US" sz="2400"/>
              <a:t>互连。</a:t>
            </a:r>
            <a:endParaRPr lang="zh-CN" altLang="en-US" sz="2400"/>
          </a:p>
          <a:p>
            <a:pPr algn="l">
              <a:spcBef>
                <a:spcPts val="0"/>
              </a:spcBef>
            </a:pPr>
            <a:r>
              <a:rPr lang="zh-CN" altLang="en-US" sz="2400">
                <a:solidFill>
                  <a:srgbClr val="D60093"/>
                </a:solidFill>
              </a:rPr>
              <a:t>网格</a:t>
            </a:r>
            <a:r>
              <a:rPr lang="zh-CN" altLang="en-US" sz="2400"/>
              <a:t>：</a:t>
            </a:r>
            <a:endParaRPr lang="en-US" altLang="zh-CN" sz="2400"/>
          </a:p>
          <a:p>
            <a:pPr marL="630555" lvl="1" indent="-274955" algn="l">
              <a:spcBef>
                <a:spcPts val="0"/>
              </a:spcBef>
            </a:pPr>
            <a:r>
              <a:rPr lang="zh-CN" altLang="en-US" sz="2400">
                <a:solidFill>
                  <a:srgbClr val="FF0066"/>
                </a:solidFill>
              </a:rPr>
              <a:t>客户端</a:t>
            </a:r>
            <a:r>
              <a:rPr lang="zh-CN" altLang="en-US" sz="2400">
                <a:solidFill>
                  <a:srgbClr val="0000FF"/>
                </a:solidFill>
              </a:rPr>
              <a:t>节点</a:t>
            </a:r>
            <a:r>
              <a:rPr lang="zh-CN" altLang="en-US" sz="2400"/>
              <a:t>配置各不相同，属私人所有。</a:t>
            </a:r>
            <a:endParaRPr lang="en-US" altLang="zh-CN" sz="2400"/>
          </a:p>
          <a:p>
            <a:pPr marL="630555" lvl="1" indent="-274955" algn="l">
              <a:spcBef>
                <a:spcPts val="0"/>
              </a:spcBef>
            </a:pPr>
            <a:r>
              <a:rPr lang="zh-CN" altLang="en-US" sz="2400">
                <a:solidFill>
                  <a:srgbClr val="FF0066"/>
                </a:solidFill>
              </a:rPr>
              <a:t>客户端</a:t>
            </a:r>
            <a:r>
              <a:rPr lang="zh-CN" altLang="en-US" sz="2400">
                <a:solidFill>
                  <a:srgbClr val="0000FF"/>
                </a:solidFill>
              </a:rPr>
              <a:t>节点</a:t>
            </a:r>
            <a:r>
              <a:rPr lang="zh-CN" altLang="en-US" sz="2400"/>
              <a:t>通过</a:t>
            </a:r>
            <a:r>
              <a:rPr lang="zh-CN" altLang="en-US" sz="2400">
                <a:solidFill>
                  <a:srgbClr val="9900FF"/>
                </a:solidFill>
              </a:rPr>
              <a:t>国际互联网</a:t>
            </a:r>
            <a:r>
              <a:rPr lang="zh-CN" altLang="en-US" sz="2400"/>
              <a:t>连接到</a:t>
            </a:r>
            <a:r>
              <a:rPr lang="zh-CN" altLang="en-US" sz="2400">
                <a:solidFill>
                  <a:srgbClr val="FF0066"/>
                </a:solidFill>
              </a:rPr>
              <a:t>服务器</a:t>
            </a:r>
            <a:r>
              <a:rPr lang="zh-CN" altLang="en-US" sz="2400"/>
              <a:t>。</a:t>
            </a:r>
            <a:endParaRPr lang="en-US" altLang="zh-CN" sz="2400"/>
          </a:p>
          <a:p>
            <a:pPr marL="630555" lvl="1" indent="-274955" algn="l">
              <a:spcBef>
                <a:spcPts val="0"/>
              </a:spcBef>
            </a:pPr>
            <a:r>
              <a:rPr lang="zh-CN" altLang="en-US" sz="2400">
                <a:solidFill>
                  <a:srgbClr val="FF0066"/>
                </a:solidFill>
              </a:rPr>
              <a:t>服务器</a:t>
            </a:r>
            <a:r>
              <a:rPr lang="zh-CN" altLang="en-US" sz="2400"/>
              <a:t>只负责任务的分发和结果的收集，</a:t>
            </a:r>
            <a:br>
              <a:rPr lang="en-US" altLang="zh-CN" sz="2400"/>
            </a:br>
            <a:r>
              <a:rPr lang="zh-CN" altLang="en-US" sz="2400"/>
              <a:t>计算任务在</a:t>
            </a:r>
            <a:r>
              <a:rPr lang="zh-CN" altLang="en-US" sz="2400">
                <a:solidFill>
                  <a:srgbClr val="FF0066"/>
                </a:solidFill>
              </a:rPr>
              <a:t>客户端</a:t>
            </a:r>
            <a:r>
              <a:rPr lang="zh-CN" altLang="en-US" sz="2400">
                <a:solidFill>
                  <a:srgbClr val="0000FF"/>
                </a:solidFill>
              </a:rPr>
              <a:t>节点</a:t>
            </a:r>
            <a:r>
              <a:rPr lang="zh-CN" altLang="en-US" sz="2400"/>
              <a:t>上进行。</a:t>
            </a:r>
            <a:endParaRPr lang="en-US" altLang="zh-CN" sz="2400"/>
          </a:p>
          <a:p>
            <a:pPr algn="l">
              <a:spcBef>
                <a:spcPts val="0"/>
              </a:spcBef>
            </a:pPr>
            <a:r>
              <a:rPr lang="zh-CN" altLang="en-US" sz="2400"/>
              <a:t>节点之间的访问延迟比较大</a:t>
            </a:r>
            <a:r>
              <a:rPr lang="en-US" altLang="zh-CN" sz="2400">
                <a:latin typeface="宋体" pitchFamily="2" charset="-122"/>
              </a:rPr>
              <a:t>(</a:t>
            </a:r>
            <a:r>
              <a:rPr lang="zh-CN" altLang="en-US" sz="2400"/>
              <a:t>相比内存速度而言</a:t>
            </a:r>
            <a:r>
              <a:rPr lang="en-US" altLang="zh-CN" sz="2400">
                <a:latin typeface="宋体" pitchFamily="2" charset="-122"/>
              </a:rPr>
              <a:t>)</a:t>
            </a:r>
            <a:r>
              <a:rPr lang="zh-CN" altLang="en-US" sz="2400"/>
              <a:t>，</a:t>
            </a:r>
            <a:br>
              <a:rPr lang="en-US" altLang="zh-CN" sz="2400"/>
            </a:br>
            <a:r>
              <a:rPr lang="zh-CN" altLang="en-US" sz="2400"/>
              <a:t>因此</a:t>
            </a:r>
            <a:r>
              <a:rPr lang="zh-CN" altLang="en-US" sz="2400">
                <a:solidFill>
                  <a:srgbClr val="FF6600"/>
                </a:solidFill>
                <a:latin typeface="Arial" panose="020B0604020202090204" pitchFamily="34" charset="0"/>
                <a:ea typeface="黑体" pitchFamily="2" charset="-122"/>
                <a:cs typeface="Arial" panose="020B0604020202090204" pitchFamily="34" charset="0"/>
              </a:rPr>
              <a:t>多计算机系统</a:t>
            </a:r>
            <a:r>
              <a:rPr lang="zh-CN" altLang="en-US" sz="240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不共享内存</a:t>
            </a:r>
            <a:r>
              <a:rPr lang="zh-CN" altLang="en-US" sz="2400"/>
              <a:t>。</a:t>
            </a:r>
            <a:endParaRPr lang="en-US" altLang="zh-CN" sz="2400"/>
          </a:p>
          <a:p>
            <a:pPr algn="l">
              <a:spcBef>
                <a:spcPts val="0"/>
              </a:spcBef>
            </a:pPr>
            <a:r>
              <a:rPr lang="zh-CN" altLang="en-US" sz="2400"/>
              <a:t>节点间通信采用</a:t>
            </a:r>
            <a:r>
              <a:rPr lang="zh-CN" altLang="en-US" sz="2400">
                <a:solidFill>
                  <a:srgbClr val="0000FF"/>
                </a:solidFill>
              </a:rPr>
              <a:t>消息机制</a:t>
            </a:r>
            <a:r>
              <a:rPr lang="zh-CN" altLang="en-US" sz="2400"/>
              <a:t>。</a:t>
            </a:r>
            <a:br>
              <a:rPr lang="en-US" altLang="zh-CN" sz="2400"/>
            </a:br>
            <a:r>
              <a:rPr lang="zh-CN" altLang="en-US" sz="2400"/>
              <a:t>编程模型：</a:t>
            </a:r>
            <a:r>
              <a:rPr lang="en-US" altLang="zh-CN" sz="2400"/>
              <a:t>MPI</a:t>
            </a:r>
            <a:r>
              <a:rPr lang="zh-CN" altLang="en-US" sz="2400"/>
              <a:t>（</a:t>
            </a:r>
            <a:r>
              <a:rPr lang="en-US" altLang="zh-CN" sz="2400"/>
              <a:t>Message-Passing Interface</a:t>
            </a:r>
            <a:r>
              <a:rPr lang="zh-CN" altLang="en-US" sz="2400"/>
              <a:t>，消息传递接口）</a:t>
            </a:r>
            <a:endParaRPr lang="en-US" altLang="zh-CN" sz="2400"/>
          </a:p>
          <a:p>
            <a:pPr algn="l">
              <a:spcBef>
                <a:spcPts val="0"/>
              </a:spcBef>
            </a:pPr>
            <a:r>
              <a:rPr lang="zh-CN" altLang="en-US" sz="2400"/>
              <a:t>节点冗余，容错、故障隔离能力强。</a:t>
            </a: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18C6C0-B767-406C-B47F-6CEDD20A9255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 bwMode="auto">
          <a:xfrm>
            <a:off x="5580112" y="44777"/>
            <a:ext cx="2808312" cy="52322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zh-CN" altLang="en-US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多</a:t>
            </a:r>
            <a:r>
              <a:rPr lang="zh-CN" altLang="en-US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计算机</a:t>
            </a:r>
            <a:r>
              <a:rPr lang="zh-CN" altLang="en-US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系统</a:t>
            </a:r>
            <a:endParaRPr lang="zh-CN" altLang="en-US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CheXQ_class_4比3_组成">
  <a:themeElements>
    <a:clrScheme name="自定义 3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0000FF"/>
      </a:hlink>
      <a:folHlink>
        <a:srgbClr val="9900CC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  <a:txDef>
      <a:spPr bwMode="auto">
        <a:noFill/>
        <a:ln w="28575" algn="ctr">
          <a:noFill/>
          <a:miter lim="800000"/>
          <a:tailEnd type="none" w="med" len="lg"/>
        </a:ln>
      </a:spPr>
      <a:bodyPr wrap="none">
        <a:spAutoFit/>
      </a:bodyPr>
      <a:lstStyle>
        <a:defPPr algn="l">
          <a:defRPr dirty="0"/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20544</Words>
  <Application>WPS 演示</Application>
  <PresentationFormat>全屏显示(4:3)</PresentationFormat>
  <Paragraphs>4789</Paragraphs>
  <Slides>75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75</vt:i4>
      </vt:variant>
    </vt:vector>
  </HeadingPairs>
  <TitlesOfParts>
    <vt:vector size="123" baseType="lpstr">
      <vt:lpstr>Arial</vt:lpstr>
      <vt:lpstr>宋体</vt:lpstr>
      <vt:lpstr>Wingdings</vt:lpstr>
      <vt:lpstr>Times New Roman</vt:lpstr>
      <vt:lpstr>汉仪书宋二KW</vt:lpstr>
      <vt:lpstr>Arial Black</vt:lpstr>
      <vt:lpstr>黑体</vt:lpstr>
      <vt:lpstr>汉仪中黑KW</vt:lpstr>
      <vt:lpstr>楷体</vt:lpstr>
      <vt:lpstr>汉仪楷体KW</vt:lpstr>
      <vt:lpstr>楷体_GB2312</vt:lpstr>
      <vt:lpstr>汉仪楷体简</vt:lpstr>
      <vt:lpstr>黑体</vt:lpstr>
      <vt:lpstr>微软雅黑</vt:lpstr>
      <vt:lpstr>汉仪旗黑</vt:lpstr>
      <vt:lpstr>Times New Roman</vt:lpstr>
      <vt:lpstr>宋体</vt:lpstr>
      <vt:lpstr>Cambria Math</vt:lpstr>
      <vt:lpstr>Arial</vt:lpstr>
      <vt:lpstr>Microsoft Yahei</vt:lpstr>
      <vt:lpstr>苹方-简</vt:lpstr>
      <vt:lpstr>宋体</vt:lpstr>
      <vt:lpstr>Arial Unicode MS</vt:lpstr>
      <vt:lpstr>等线</vt:lpstr>
      <vt:lpstr>汉仪中等线KW</vt:lpstr>
      <vt:lpstr>隶书</vt:lpstr>
      <vt:lpstr>Consolas</vt:lpstr>
      <vt:lpstr>楷体_GB2312</vt:lpstr>
      <vt:lpstr>Courier New</vt:lpstr>
      <vt:lpstr>等线</vt:lpstr>
      <vt:lpstr>Kingsoft Math</vt:lpstr>
      <vt:lpstr>Microsoft Yahei</vt:lpstr>
      <vt:lpstr>Wingdings</vt:lpstr>
      <vt:lpstr>微软雅黑</vt:lpstr>
      <vt:lpstr>楷体</vt:lpstr>
      <vt:lpstr>楷体_GB2312</vt:lpstr>
      <vt:lpstr>黑体</vt:lpstr>
      <vt:lpstr>报隶-简</vt:lpstr>
      <vt:lpstr>DejaVu Math TeX Gyre</vt:lpstr>
      <vt:lpstr>CheXQ_class_4比3_组成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计算机组织与体系结构 期末复习</vt:lpstr>
      <vt:lpstr>PowerPoint 演示文稿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第4章  存储系统</vt:lpstr>
      <vt:lpstr>第5章  指令系统</vt:lpstr>
      <vt:lpstr>第5章  指令系统</vt:lpstr>
      <vt:lpstr>第5章  指令系统</vt:lpstr>
      <vt:lpstr>第5章  指令系统</vt:lpstr>
      <vt:lpstr>第5章  指令系统</vt:lpstr>
      <vt:lpstr>第5章  指令系统</vt:lpstr>
      <vt:lpstr>PowerPoint 演示文稿</vt:lpstr>
      <vt:lpstr>Page 211～212，习题 5.8</vt:lpstr>
      <vt:lpstr>PowerPoint 演示文稿</vt:lpstr>
      <vt:lpstr>PowerPoint 演示文稿</vt:lpstr>
      <vt:lpstr>PowerPoint 演示文稿</vt:lpstr>
      <vt:lpstr>第5章  指令系统</vt:lpstr>
      <vt:lpstr>第5章  指令系统</vt:lpstr>
      <vt:lpstr>第5章  指令系统</vt:lpstr>
      <vt:lpstr>第5章  指令系统</vt:lpstr>
      <vt:lpstr>Page 213～214，习题 5.20</vt:lpstr>
      <vt:lpstr>第5章  指令系统</vt:lpstr>
      <vt:lpstr>第5章  指令系统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全国- 408 计算机专业基础考研 2021      43.(15分)</vt:lpstr>
      <vt:lpstr>全国- 408 计算机专业基础考研 2021      43.(15分)</vt:lpstr>
      <vt:lpstr>全国- 408 计算机专业基础考研 2021      43.(15分)</vt:lpstr>
      <vt:lpstr>全国- 408 计算机专业基础考研 2021      43.(15分)</vt:lpstr>
      <vt:lpstr>第6章  控制器设计、CPU</vt:lpstr>
      <vt:lpstr>第6章  控制器设计、CPU</vt:lpstr>
      <vt:lpstr>第6章  控制器设计、CPU</vt:lpstr>
      <vt:lpstr>第6章  控制器设计、CPU</vt:lpstr>
      <vt:lpstr>根据给定的数据通路，写某指令的微操作、微命令序列</vt:lpstr>
      <vt:lpstr>第6章  控制器设计、CPU</vt:lpstr>
      <vt:lpstr>第6章  控制器设计、CPU</vt:lpstr>
      <vt:lpstr>第6章  控制器设计、CPU</vt:lpstr>
      <vt:lpstr>第6章  控制器设计、CPU</vt:lpstr>
      <vt:lpstr>第6章  控制器设计、CPU</vt:lpstr>
      <vt:lpstr>第7章  流水线</vt:lpstr>
      <vt:lpstr>第7章  流水线</vt:lpstr>
      <vt:lpstr>第7章  流水线</vt:lpstr>
      <vt:lpstr>第7章  流水线</vt:lpstr>
      <vt:lpstr>第7章  流水线</vt:lpstr>
      <vt:lpstr>第7章  流水线</vt:lpstr>
      <vt:lpstr>第7章  流水线</vt:lpstr>
      <vt:lpstr>第7章  流水线		 P321，习题 7.7</vt:lpstr>
      <vt:lpstr>第7章  流水线		 P321，习题 7.7</vt:lpstr>
      <vt:lpstr>第7章  流水线		 P321，习题 7.7</vt:lpstr>
      <vt:lpstr>第7章  流水线		 P321，习题 7.7</vt:lpstr>
      <vt:lpstr>第8章  总线、I/O系统</vt:lpstr>
      <vt:lpstr>第8章  总线、I/O系统</vt:lpstr>
      <vt:lpstr>第8章  总线、I/O系统</vt:lpstr>
      <vt:lpstr>第9章  并行体系结构</vt:lpstr>
      <vt:lpstr>第9章  并行体系结构</vt:lpstr>
      <vt:lpstr>第9章  并行体系结构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计算机组织与体系结构-期末复习</dc:title>
  <dc:creator>车向泉</dc:creator>
  <dc:description>2023年6月</dc:description>
  <cp:lastModifiedBy>快跑</cp:lastModifiedBy>
  <cp:revision>495</cp:revision>
  <dcterms:created xsi:type="dcterms:W3CDTF">2026-06-25T05:11:37Z</dcterms:created>
  <dcterms:modified xsi:type="dcterms:W3CDTF">2026-06-25T05:11:37Z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95ECCC74083B5C2A89B83C6A7829B84C_42</vt:lpwstr>
  </property>
</Properties>
</file>